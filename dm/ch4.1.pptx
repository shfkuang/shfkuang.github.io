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5"/>
  </p:notesMasterIdLst>
  <p:handoutMasterIdLst>
    <p:handoutMasterId r:id="rId26"/>
  </p:handoutMasterIdLst>
  <p:sldIdLst>
    <p:sldId id="475" r:id="rId2"/>
    <p:sldId id="750" r:id="rId3"/>
    <p:sldId id="747" r:id="rId4"/>
    <p:sldId id="748" r:id="rId5"/>
    <p:sldId id="751" r:id="rId6"/>
    <p:sldId id="741" r:id="rId7"/>
    <p:sldId id="752" r:id="rId8"/>
    <p:sldId id="753" r:id="rId9"/>
    <p:sldId id="754" r:id="rId10"/>
    <p:sldId id="256" r:id="rId11"/>
    <p:sldId id="295" r:id="rId12"/>
    <p:sldId id="296" r:id="rId13"/>
    <p:sldId id="297" r:id="rId14"/>
    <p:sldId id="298" r:id="rId15"/>
    <p:sldId id="755" r:id="rId16"/>
    <p:sldId id="281" r:id="rId17"/>
    <p:sldId id="282" r:id="rId18"/>
    <p:sldId id="284" r:id="rId19"/>
    <p:sldId id="266" r:id="rId20"/>
    <p:sldId id="756" r:id="rId21"/>
    <p:sldId id="808" r:id="rId22"/>
    <p:sldId id="809" r:id="rId23"/>
    <p:sldId id="319" r:id="rId24"/>
  </p:sldIdLst>
  <p:sldSz cx="9144000" cy="6858000" type="screen4x3"/>
  <p:notesSz cx="6831013" cy="91170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EEFB3F"/>
    <a:srgbClr val="660033"/>
    <a:srgbClr val="000099"/>
    <a:srgbClr val="000066"/>
    <a:srgbClr val="003300"/>
    <a:srgbClr val="CCECFF"/>
    <a:srgbClr val="DFEB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41" autoAdjust="0"/>
    <p:restoredTop sz="94643"/>
  </p:normalViewPr>
  <p:slideViewPr>
    <p:cSldViewPr>
      <p:cViewPr varScale="1">
        <p:scale>
          <a:sx n="71" d="100"/>
          <a:sy n="71" d="100"/>
        </p:scale>
        <p:origin x="37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8844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872"/>
        <p:guide pos="215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8.wmf"/><Relationship Id="rId7" Type="http://schemas.openxmlformats.org/officeDocument/2006/relationships/image" Target="../media/image16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>
            <a:extLst>
              <a:ext uri="{FF2B5EF4-FFF2-40B4-BE49-F238E27FC236}">
                <a16:creationId xmlns:a16="http://schemas.microsoft.com/office/drawing/2014/main" id="{99F248BA-BECB-4DB1-9E79-8D12D3E987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B1EB1C85-1BDF-4ACB-8D45-EE34E25A402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4900" name="Rectangle 4">
            <a:extLst>
              <a:ext uri="{FF2B5EF4-FFF2-40B4-BE49-F238E27FC236}">
                <a16:creationId xmlns:a16="http://schemas.microsoft.com/office/drawing/2014/main" id="{442B7C70-B419-4136-A3A4-2F0732A7B7C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4901" name="Rectangle 5">
            <a:extLst>
              <a:ext uri="{FF2B5EF4-FFF2-40B4-BE49-F238E27FC236}">
                <a16:creationId xmlns:a16="http://schemas.microsoft.com/office/drawing/2014/main" id="{8E9F9D8D-FDE2-4F9B-AAD8-90BF797AEFA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05DD2B9D-204A-4A7A-8802-7D6C0044F6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5CF17CB-3193-4D56-A940-33121D7C6C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 eaLnBrk="1" hangingPunct="1"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802C1C9-9754-4CD5-B3F7-0354A37FE7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1" hangingPunct="1"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7832653D-2D78-4708-B3C4-B83FDFC43D7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6650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6FC5DDCA-E022-4E62-894C-0CF2976863F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B1E2C32A-5ACD-4E2D-B146-0FB715E9E1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 eaLnBrk="1" hangingPunct="1">
              <a:defRPr sz="120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04A630D8-448D-46C2-BB40-8AFE6B6C0B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 eaLnBrk="1" hangingPunct="1">
              <a:defRPr sz="1200" smtClean="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2141FFDE-7B93-414D-968D-7199CF2F61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>
            <a:extLst>
              <a:ext uri="{FF2B5EF4-FFF2-40B4-BE49-F238E27FC236}">
                <a16:creationId xmlns:a16="http://schemas.microsoft.com/office/drawing/2014/main" id="{5C588C82-CE70-472E-808D-C3EACEE902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4" name="备注占位符 2">
            <a:extLst>
              <a:ext uri="{FF2B5EF4-FFF2-40B4-BE49-F238E27FC236}">
                <a16:creationId xmlns:a16="http://schemas.microsoft.com/office/drawing/2014/main" id="{BF27740B-50CB-4AEB-BE37-F693E25F5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33795" name="幻灯片编号占位符 3">
            <a:extLst>
              <a:ext uri="{FF2B5EF4-FFF2-40B4-BE49-F238E27FC236}">
                <a16:creationId xmlns:a16="http://schemas.microsoft.com/office/drawing/2014/main" id="{C380D8F9-41B5-4A3A-9E8D-CEF30B908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defTabSz="911225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defTabSz="911225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defTabSz="911225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defTabSz="911225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2A52F8D-FB77-4769-A62B-F05660E1DA14}" type="slidenum">
              <a:rPr lang="zh-CN" altLang="en-US" sz="1200"/>
              <a:pPr/>
              <a:t>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B1A2AB4-D5D2-4AA2-8443-3891BEB00DC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6EE88AB1-404A-4B4D-8D69-C383FFBD1769}" type="slidenum">
              <a:rPr lang="en-US" altLang="zh-CN" sz="1200"/>
              <a:pPr algn="r" eaLnBrk="1" hangingPunct="1"/>
              <a:t>18</a:t>
            </a:fld>
            <a:endParaRPr lang="en-US" altLang="zh-CN" sz="1200"/>
          </a:p>
        </p:txBody>
      </p:sp>
      <p:sp>
        <p:nvSpPr>
          <p:cNvPr id="23555" name="幻灯片图像占位符 1">
            <a:extLst>
              <a:ext uri="{FF2B5EF4-FFF2-40B4-BE49-F238E27FC236}">
                <a16:creationId xmlns:a16="http://schemas.microsoft.com/office/drawing/2014/main" id="{D627F093-A8E1-41C4-8FE2-43F8F610F1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100138" y="676275"/>
            <a:ext cx="4608512" cy="3455988"/>
          </a:xfrm>
        </p:spPr>
      </p:sp>
      <p:sp>
        <p:nvSpPr>
          <p:cNvPr id="23556" name="备注占位符 2">
            <a:extLst>
              <a:ext uri="{FF2B5EF4-FFF2-40B4-BE49-F238E27FC236}">
                <a16:creationId xmlns:a16="http://schemas.microsoft.com/office/drawing/2014/main" id="{6E6E49EA-91DD-41D0-B90A-6FD98852D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6938" y="4359275"/>
            <a:ext cx="5013325" cy="4133850"/>
          </a:xfrm>
        </p:spPr>
        <p:txBody>
          <a:bodyPr lIns="77867" tIns="38933" rIns="77867" bIns="38933" anchor="t"/>
          <a:lstStyle/>
          <a:p>
            <a:pPr marL="112713" indent="-112713" defTabSz="1020763"/>
            <a:r>
              <a:rPr lang="en-US" altLang="zh-CN"/>
              <a:t>quack [</a:t>
            </a:r>
            <a:r>
              <a:rPr lang="zh-CN" altLang="en-US"/>
              <a:t>简明英汉词典</a:t>
            </a:r>
            <a:r>
              <a:rPr lang="en-US" altLang="zh-CN"/>
              <a:t>]</a:t>
            </a:r>
          </a:p>
          <a:p>
            <a:pPr marL="112713" indent="-112713" defTabSz="1020763"/>
            <a:r>
              <a:rPr lang="en-US" altLang="zh-CN"/>
              <a:t>[kwAk]</a:t>
            </a:r>
          </a:p>
          <a:p>
            <a:pPr marL="112713" indent="-112713" defTabSz="1020763"/>
            <a:r>
              <a:rPr lang="en-US" altLang="zh-CN"/>
              <a:t>v.(</a:t>
            </a:r>
            <a:r>
              <a:rPr lang="zh-CN" altLang="en-US"/>
              <a:t>指鸭</a:t>
            </a:r>
            <a:r>
              <a:rPr lang="en-US" altLang="zh-CN"/>
              <a:t>)</a:t>
            </a:r>
            <a:r>
              <a:rPr lang="zh-CN" altLang="en-US"/>
              <a:t>呷呷地叫</a:t>
            </a:r>
            <a:r>
              <a:rPr lang="en-US" altLang="zh-CN"/>
              <a:t>, </a:t>
            </a:r>
            <a:r>
              <a:rPr lang="zh-CN" altLang="en-US"/>
              <a:t>大声闲聊</a:t>
            </a:r>
            <a:r>
              <a:rPr lang="en-US" altLang="zh-CN"/>
              <a:t>, </a:t>
            </a:r>
            <a:r>
              <a:rPr lang="zh-CN" altLang="en-US"/>
              <a:t>吹嘘</a:t>
            </a:r>
          </a:p>
          <a:p>
            <a:pPr marL="112713" indent="-112713" defTabSz="1020763"/>
            <a:r>
              <a:rPr lang="en-US" altLang="zh-CN"/>
              <a:t>n.(</a:t>
            </a:r>
            <a:r>
              <a:rPr lang="zh-CN" altLang="en-US"/>
              <a:t>鸭子</a:t>
            </a:r>
            <a:r>
              <a:rPr lang="en-US" altLang="zh-CN"/>
              <a:t>)</a:t>
            </a:r>
            <a:r>
              <a:rPr lang="zh-CN" altLang="en-US"/>
              <a:t>呷呷叫声</a:t>
            </a:r>
            <a:r>
              <a:rPr lang="en-US" altLang="zh-CN"/>
              <a:t>, </a:t>
            </a:r>
            <a:r>
              <a:rPr lang="zh-CN" altLang="en-US"/>
              <a:t>庸医</a:t>
            </a:r>
            <a:r>
              <a:rPr lang="en-US" altLang="zh-CN"/>
              <a:t>, </a:t>
            </a:r>
            <a:r>
              <a:rPr lang="zh-CN" altLang="en-US"/>
              <a:t>骗子</a:t>
            </a:r>
          </a:p>
          <a:p>
            <a:pPr marL="112713" indent="-112713" defTabSz="1020763"/>
            <a:r>
              <a:rPr lang="en-US" altLang="zh-CN"/>
              <a:t>adj.</a:t>
            </a:r>
            <a:r>
              <a:rPr lang="zh-CN" altLang="en-US"/>
              <a:t>骗人</a:t>
            </a:r>
          </a:p>
        </p:txBody>
      </p:sp>
      <p:sp>
        <p:nvSpPr>
          <p:cNvPr id="23557" name="灯片编号占位符 3">
            <a:extLst>
              <a:ext uri="{FF2B5EF4-FFF2-40B4-BE49-F238E27FC236}">
                <a16:creationId xmlns:a16="http://schemas.microsoft.com/office/drawing/2014/main" id="{48CA3A49-261B-4D83-BD76-19D4C0C79C6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9375" y="8718550"/>
            <a:ext cx="2992438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867" tIns="38933" rIns="77867" bIns="38933" anchor="b"/>
          <a:lstStyle>
            <a:lvl1pPr defTabSz="9747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fld id="{7490CCC6-E9E0-446C-A22C-43A7DD634BE3}" type="slidenum">
              <a:rPr lang="en-US" altLang="zh-CN" sz="1300" b="1"/>
              <a:pPr algn="r"/>
              <a:t>18</a:t>
            </a:fld>
            <a:endParaRPr lang="en-US" altLang="zh-CN" sz="1300" b="1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1B5EC0E-579A-47C6-BBCE-AC64D6058FD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1782058E-73EE-46EF-8793-AE557F3F58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18FA7A05-B79D-47E9-BA06-62E389870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59361E49-4B7A-4B6B-9871-8E939DB03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41DD628-91E7-488F-8FB4-1177262B93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6F1DDF2-AE0E-4BBC-9048-03E3977DB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90A7D449-203E-4730-A8F8-5BBF84B04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8C065329-9D9F-406E-8DE4-91ADAAA9D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B566BEDE-690F-42C9-B453-A87E1F1D9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04C2713-AC6E-4437-8799-6EB583038CC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4" name="Rectangle 17">
            <a:extLst>
              <a:ext uri="{FF2B5EF4-FFF2-40B4-BE49-F238E27FC236}">
                <a16:creationId xmlns:a16="http://schemas.microsoft.com/office/drawing/2014/main" id="{9BAC0EE5-FC49-4929-8995-D26B2B23B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4738" y="6553200"/>
            <a:ext cx="449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eaLnBrk="1" hangingPunct="1">
              <a:defRPr/>
            </a:pPr>
            <a:fld id="{046D800C-69B3-4066-89D3-4D2542D1ED81}" type="slidenum">
              <a:rPr lang="zh-CN" altLang="en-US" sz="1400" smtClean="0">
                <a:solidFill>
                  <a:schemeClr val="bg2"/>
                </a:solidFill>
              </a:rPr>
              <a:pPr eaLnBrk="1" hangingPunct="1">
                <a:defRPr/>
              </a:pPr>
              <a:t>‹#›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 w="9525" cmpd="sng">
            <a:noFill/>
          </a:ln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5AB1AC-340F-41D0-ADE9-0C92ACA6CC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990980A-BDBC-4746-B5B4-8FE09797CC12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78913C-0EFC-43E9-AB14-B67295A895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 smtClean="0">
                <a:solidFill>
                  <a:schemeClr val="bg2"/>
                </a:solidFill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9E7BC9-803D-4556-91B4-6D04EE3ADA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A53BBF7C-BB7D-4F31-B9E5-A62C56261CE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60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BCAA9F1-E21E-4B69-AE02-5C9F6D4BA4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0C663-7954-4E7A-A95E-24A6DB01DF5E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C79881E-8823-4C7A-8728-E8252574F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4497472-C606-4850-9D90-31AB21DFAE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3E5D9-EBC7-4FB7-AC1D-3962FCFCBB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643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35AEFC9-6C89-4DEF-9A4B-FC57BC7F64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9C441-BEA3-4442-8CA4-1126A9EFC630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1BABCD4-C63E-4AE4-8789-D74224EC38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3B1F2DC-ABB0-4ECB-859E-6BF12F75A0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D1CB6-6DB6-4EAE-BE97-A2AB94AE06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5879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765175"/>
            <a:ext cx="4064000" cy="5567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765175"/>
            <a:ext cx="4064000" cy="5567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CB53C7B-3D2D-42E2-9F48-EE9445734C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357E7-8731-4DBE-827B-F8E6DB344828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56A06E4-08D2-46F3-9F9E-233140EED2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E6A5C0B-F24F-4C05-9A0C-F873B7AA7D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8CB1B7-090D-45D4-8283-94E5643621E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4689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781F633-001F-4A38-A2DC-F32BF44EEA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EA89B-B551-44D7-801B-EF429B98990C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CDF3F0A-9F6B-4FFE-B9C8-D5E4D0E508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77B5BE5-B82D-44D2-9E27-39E043F1A1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28BDE-B3A9-4B2D-A755-E024E4524D0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403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14F1610-C7CA-4E59-B118-4065516970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FFAB5-961A-45CA-9CE5-20D2D454389D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AA98EE80-6196-492A-8435-830DB443B5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E2B4A07-31F2-4E8A-9BC0-BAD453D099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2C6D5-7D9C-4503-AC1F-8EBC72D1485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6325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2178406-D9C2-4C87-9674-BD3FBDBE3E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6F334-4344-4B5C-A70E-06F38308666E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9B088F7-1CF5-444E-B020-D5CDD3D47A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6857E55-5FDE-4852-9582-21F5A94BBE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65FFB9-2332-49CB-B0B6-99BC147DA67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20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6587D3E-9010-4100-B9DD-402AF5A1AC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5E2A7-43D6-4ACC-AC18-F64BCB2D4E3A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25B0754-F621-4B8C-B488-ECA4EA6D5C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94AD02B-1D9A-49B1-95D4-6FEDAEC42A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65856B-1853-4300-B5EE-910BDCC919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344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0E251C1-155B-4B21-BE5C-C6C78416C6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A77F9-D4BC-487C-BFDF-C6A3A287C18A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B145F1A-82B8-4C41-BE22-582A98298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00CE948-280C-49E2-BA0E-1A3D880B3D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87285-9852-41F7-A763-54F5442AE9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03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F988182-599C-4246-AB39-3CFE05386F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E2726-E61C-4957-9258-F5E9E3BAD50C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939B348-6383-4A38-932F-B34AD5BE30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3EF3E56-DB79-42F7-98EE-08EE54244F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F9F32-EC2E-4C21-8DA7-C3EB0CDF66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677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8613" y="73025"/>
            <a:ext cx="2070100" cy="6259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73025"/>
            <a:ext cx="6057900" cy="6259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A56472B-04FA-492C-B509-9D7DF29E2E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D1859-BDA6-42E9-8A44-AAFF63AB1399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4136118-7D61-444F-8425-3D787AC1CE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940A7A8-B0C4-49BA-AE0B-492416AB97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F843BD-8628-43F5-B30B-C36C068CA3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733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5150" y="73025"/>
            <a:ext cx="6913563" cy="619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765175"/>
            <a:ext cx="4064000" cy="5567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4713" y="765175"/>
            <a:ext cx="4064000" cy="27066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4713" y="3624263"/>
            <a:ext cx="4064000" cy="2708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4BF075A1-2E81-4824-A2D7-C69E0AFB8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CD7F34-64CC-456D-86A6-7F808C484FF9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243AB02B-C897-40DE-A120-294FFA057E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CD98635F-5276-4103-8607-5913BA81BC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85058-E571-4074-9E5E-70856CE420C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5202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5150" y="73025"/>
            <a:ext cx="6913563" cy="619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765175"/>
            <a:ext cx="4064000" cy="5567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4713" y="765175"/>
            <a:ext cx="4064000" cy="27066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4713" y="3624263"/>
            <a:ext cx="4064000" cy="27082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A5DC269-F632-46AD-889F-9E9DE70D2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44B25-5C4B-48E9-B9C9-DE22F7291463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2FC0412-9102-4EEF-9773-1140328F1E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353C88B9-7924-4EEA-BFAE-01DAA2E44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02F76-39BB-43AB-9269-6E04B55F0C6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6757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5150" y="73025"/>
            <a:ext cx="6913563" cy="6191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765175"/>
            <a:ext cx="4064000" cy="5567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765175"/>
            <a:ext cx="4064000" cy="5567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D32D807-EB06-48C7-BDD8-C1016654B7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10476-5A4F-4F4E-9E92-606294268D1A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5FCA016-3EDA-4CBF-AF73-3D603EEA12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22713EC-D8FB-4C35-9332-BF46A72D67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1E6731-053A-4366-809D-4E42A214DB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89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A8E4FD07-E791-4ABA-BE7C-45C49873CDB4}"/>
              </a:ext>
            </a:extLst>
          </p:cNvPr>
          <p:cNvSpPr>
            <a:spLocks noChangeArrowheads="1"/>
          </p:cNvSpPr>
          <p:nvPr/>
        </p:nvSpPr>
        <p:spPr bwMode="gray">
          <a:xfrm flipV="1">
            <a:off x="468313" y="6451600"/>
            <a:ext cx="8280400" cy="7302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57150">
            <a:solidFill>
              <a:srgbClr val="339966"/>
            </a:solidFill>
            <a:miter lim="800000"/>
            <a:headEnd/>
            <a:tailEnd/>
          </a:ln>
        </p:spPr>
        <p:txBody>
          <a:bodyPr rot="10800000" wrap="none" anchor="ctr"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/>
          </a:p>
        </p:txBody>
      </p:sp>
      <p:sp>
        <p:nvSpPr>
          <p:cNvPr id="1027" name="Rectangle 9">
            <a:extLst>
              <a:ext uri="{FF2B5EF4-FFF2-40B4-BE49-F238E27FC236}">
                <a16:creationId xmlns:a16="http://schemas.microsoft.com/office/drawing/2014/main" id="{B2A8CBD7-F06B-4ABA-8D9F-324C7BF473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35150" y="73025"/>
            <a:ext cx="6913563" cy="619125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</a:t>
            </a:r>
          </a:p>
        </p:txBody>
      </p:sp>
      <p:sp>
        <p:nvSpPr>
          <p:cNvPr id="1028" name="Rectangle 10">
            <a:extLst>
              <a:ext uri="{FF2B5EF4-FFF2-40B4-BE49-F238E27FC236}">
                <a16:creationId xmlns:a16="http://schemas.microsoft.com/office/drawing/2014/main" id="{1100733B-0D43-470F-85BF-684836F481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765175"/>
            <a:ext cx="8280400" cy="5567363"/>
          </a:xfrm>
          <a:prstGeom prst="rect">
            <a:avLst/>
          </a:prstGeom>
          <a:noFill/>
          <a:ln w="57150" cmpd="thickThin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 Click to edit Master Click to edit Master 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3323" name="Rectangle 11">
            <a:extLst>
              <a:ext uri="{FF2B5EF4-FFF2-40B4-BE49-F238E27FC236}">
                <a16:creationId xmlns:a16="http://schemas.microsoft.com/office/drawing/2014/main" id="{2FE32634-BDF6-4009-BB87-554C32E88EE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961FE0F1-D0BF-426A-AAEE-09EBE38206F1}" type="datetime4">
              <a:rPr lang="zh-CN" altLang="en-US"/>
              <a:pPr>
                <a:defRPr/>
              </a:pPr>
              <a:t>2018年10月21日星期日</a:t>
            </a:fld>
            <a:endParaRPr lang="en-US" altLang="zh-CN"/>
          </a:p>
        </p:txBody>
      </p:sp>
      <p:sp>
        <p:nvSpPr>
          <p:cNvPr id="13324" name="Rectangle 12">
            <a:extLst>
              <a:ext uri="{FF2B5EF4-FFF2-40B4-BE49-F238E27FC236}">
                <a16:creationId xmlns:a16="http://schemas.microsoft.com/office/drawing/2014/main" id="{116C3DD5-2DEE-4C3A-81D4-B9D2F70B60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>
                <a:latin typeface="Tahom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DMKD  Sides</a:t>
            </a:r>
          </a:p>
        </p:txBody>
      </p:sp>
      <p:sp>
        <p:nvSpPr>
          <p:cNvPr id="13325" name="Rectangle 13">
            <a:extLst>
              <a:ext uri="{FF2B5EF4-FFF2-40B4-BE49-F238E27FC236}">
                <a16:creationId xmlns:a16="http://schemas.microsoft.com/office/drawing/2014/main" id="{F6FF912A-A6B3-45BA-8625-1947C3DF19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07FC6210-190B-4A65-BACA-4DF32C294F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2" name="Picture 22" descr="j0237704">
            <a:extLst>
              <a:ext uri="{FF2B5EF4-FFF2-40B4-BE49-F238E27FC236}">
                <a16:creationId xmlns:a16="http://schemas.microsoft.com/office/drawing/2014/main" id="{180BE58C-FFC4-4FFD-872D-0E8396057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15888"/>
            <a:ext cx="136683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</p:sldLayoutIdLst>
  <p:hf hdr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隶书" pitchFamily="49" charset="-122"/>
          <a:ea typeface="隶书" pitchFamily="49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隶书" pitchFamily="49" charset="-122"/>
          <a:ea typeface="隶书" pitchFamily="49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隶书" pitchFamily="49" charset="-122"/>
          <a:ea typeface="隶书" pitchFamily="49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隶书" pitchFamily="49" charset="-122"/>
          <a:ea typeface="隶书" pitchFamily="49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隶书" pitchFamily="49" charset="-122"/>
          <a:ea typeface="隶书" pitchFamily="49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隶书" pitchFamily="49" charset="-122"/>
          <a:ea typeface="隶书" pitchFamily="49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隶书" pitchFamily="49" charset="-122"/>
          <a:ea typeface="隶书" pitchFamily="49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隶书" pitchFamily="49" charset="-122"/>
          <a:ea typeface="隶书" pitchFamily="49" charset="-122"/>
        </a:defRPr>
      </a:lvl9pPr>
    </p:titleStyle>
    <p:bodyStyle>
      <a:lvl1pPr marL="342900" indent="-342900" algn="l" rtl="0" eaLnBrk="0" fontAlgn="base" hangingPunct="0">
        <a:spcBef>
          <a:spcPct val="10000"/>
        </a:spcBef>
        <a:spcAft>
          <a:spcPct val="0"/>
        </a:spcAft>
        <a:buClr>
          <a:srgbClr val="339966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1pPr>
      <a:lvl2pPr marL="742950" indent="-285750" algn="l" rtl="0" eaLnBrk="0" fontAlgn="base" hangingPunct="0">
        <a:spcBef>
          <a:spcPct val="1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宋体" pitchFamily="2" charset="-122"/>
          <a:ea typeface="宋体" pitchFamily="2" charset="-122"/>
        </a:defRPr>
      </a:lvl2pPr>
      <a:lvl3pPr marL="1143000" indent="-228600" algn="l" rtl="0" eaLnBrk="0" fontAlgn="base" hangingPunct="0">
        <a:spcBef>
          <a:spcPct val="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楷体_GB2312" pitchFamily="49" charset="-122"/>
          <a:ea typeface="楷体_GB2312" pitchFamily="49" charset="-122"/>
          <a:cs typeface="楷体_GB2312" charset="0"/>
        </a:defRPr>
      </a:lvl3pPr>
      <a:lvl4pPr marL="16002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  <a:cs typeface="楷体_GB2312" charset="0"/>
        </a:defRPr>
      </a:lvl4pPr>
      <a:lvl5pPr marL="2057400" indent="-228600" algn="l" rtl="0" eaLnBrk="0" fontAlgn="base" hangingPunct="0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  <a:cs typeface="楷体_GB2312" charset="0"/>
        </a:defRPr>
      </a:lvl5pPr>
      <a:lvl6pPr marL="25146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6pPr>
      <a:lvl7pPr marL="29718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7pPr>
      <a:lvl8pPr marL="34290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8pPr>
      <a:lvl9pPr marL="38862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Tahoma" pitchFamily="34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7.bin"/><Relationship Id="rId4" Type="http://schemas.openxmlformats.org/officeDocument/2006/relationships/image" Target="../media/image6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5.wmf"/><Relationship Id="rId22" Type="http://schemas.openxmlformats.org/officeDocument/2006/relationships/image" Target="../media/image19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2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日期占位符 3">
            <a:extLst>
              <a:ext uri="{FF2B5EF4-FFF2-40B4-BE49-F238E27FC236}">
                <a16:creationId xmlns:a16="http://schemas.microsoft.com/office/drawing/2014/main" id="{9E3DFAB4-EB20-4EA8-AFEE-36671F4202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DE1D75-DFB5-4A19-A72A-3196DEBB1810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4" name="页脚占位符 4">
            <a:extLst>
              <a:ext uri="{FF2B5EF4-FFF2-40B4-BE49-F238E27FC236}">
                <a16:creationId xmlns:a16="http://schemas.microsoft.com/office/drawing/2014/main" id="{7DE742CA-9602-4F57-B3F1-1C4DEB44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18435" name="灯片编号占位符 5">
            <a:extLst>
              <a:ext uri="{FF2B5EF4-FFF2-40B4-BE49-F238E27FC236}">
                <a16:creationId xmlns:a16="http://schemas.microsoft.com/office/drawing/2014/main" id="{46770FD3-2692-412F-AF11-8FC5D876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E2D00F-6681-40E3-A437-9E6934B155F1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E57A6F69-71BA-4FC9-9ADD-1C4E2E085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15888"/>
            <a:ext cx="8424862" cy="1655762"/>
          </a:xfrm>
        </p:spPr>
        <p:txBody>
          <a:bodyPr/>
          <a:lstStyle/>
          <a:p>
            <a:pPr marL="762000" indent="-762000" algn="ctr" eaLnBrk="1" hangingPunct="1"/>
            <a:r>
              <a:rPr lang="zh-CN" altLang="en-US" b="1"/>
              <a:t>第四章  分类方法</a:t>
            </a:r>
            <a:r>
              <a:rPr lang="zh-CN" altLang="en-US"/>
              <a:t> </a:t>
            </a:r>
            <a:br>
              <a:rPr lang="zh-CN" altLang="en-US" b="1"/>
            </a:br>
            <a:r>
              <a:rPr lang="zh-CN" altLang="en-US"/>
              <a:t> </a:t>
            </a:r>
            <a:r>
              <a:rPr lang="zh-CN" altLang="en-US" b="1"/>
              <a:t>                        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内容提要</a:t>
            </a:r>
            <a:endParaRPr lang="en-US" altLang="zh-CN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7" name="Rectangle 3">
            <a:extLst>
              <a:ext uri="{FF2B5EF4-FFF2-40B4-BE49-F238E27FC236}">
                <a16:creationId xmlns:a16="http://schemas.microsoft.com/office/drawing/2014/main" id="{8B476181-632E-4E34-99FA-CC7F9A6C3C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9900" y="1917700"/>
            <a:ext cx="8278813" cy="4391025"/>
          </a:xfrm>
        </p:spPr>
        <p:txBody>
          <a:bodyPr/>
          <a:lstStyle/>
          <a:p>
            <a:pPr marL="533400" indent="-533400" eaLnBrk="1" hangingPunct="1">
              <a:spcBef>
                <a:spcPct val="30000"/>
              </a:spcBef>
              <a:tabLst>
                <a:tab pos="6178550" algn="l"/>
              </a:tabLst>
            </a:pP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分类的基本概念与步骤 </a:t>
            </a:r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533400" indent="-533400" eaLnBrk="1" hangingPunct="1">
              <a:spcBef>
                <a:spcPct val="30000"/>
              </a:spcBef>
              <a:tabLst>
                <a:tab pos="6178550" algn="l"/>
              </a:tabLst>
            </a:pP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基于距离的分类算法 </a:t>
            </a:r>
          </a:p>
          <a:p>
            <a:pPr marL="533400" indent="-533400" eaLnBrk="1" hangingPunct="1">
              <a:spcBef>
                <a:spcPct val="30000"/>
              </a:spcBef>
              <a:tabLst>
                <a:tab pos="6178550" algn="l"/>
              </a:tabLst>
            </a:pP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最近邻分类方法（</a:t>
            </a:r>
            <a:r>
              <a:rPr lang="en-US" altLang="zh-CN" dirty="0">
                <a:latin typeface="隶书" panose="02010509060101010101" pitchFamily="49" charset="-122"/>
                <a:ea typeface="隶书" panose="02010509060101010101" pitchFamily="49" charset="-122"/>
              </a:rPr>
              <a:t>*</a:t>
            </a:r>
            <a:r>
              <a:rPr lang="zh-CN" altLang="en-US" dirty="0">
                <a:latin typeface="隶书" panose="02010509060101010101" pitchFamily="49" charset="-122"/>
                <a:ea typeface="隶书" panose="02010509060101010101" pitchFamily="49" charset="-122"/>
              </a:rPr>
              <a:t>）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  <a:tabLst>
                <a:tab pos="6178550" algn="l"/>
              </a:tabLst>
            </a:pPr>
            <a:endParaRPr lang="en-US" altLang="zh-CN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18438" name="Picture 7" descr="j0237704">
            <a:extLst>
              <a:ext uri="{FF2B5EF4-FFF2-40B4-BE49-F238E27FC236}">
                <a16:creationId xmlns:a16="http://schemas.microsoft.com/office/drawing/2014/main" id="{E387E845-BB4D-47CD-BD81-B64A2858B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3068638"/>
            <a:ext cx="2867025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日期占位符 3">
            <a:extLst>
              <a:ext uri="{FF2B5EF4-FFF2-40B4-BE49-F238E27FC236}">
                <a16:creationId xmlns:a16="http://schemas.microsoft.com/office/drawing/2014/main" id="{BE9D48B7-0291-4776-A765-F55CAB82B6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EA9E0B-6C56-4DAE-AAA4-DEB988F62905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58" name="页脚占位符 4">
            <a:extLst>
              <a:ext uri="{FF2B5EF4-FFF2-40B4-BE49-F238E27FC236}">
                <a16:creationId xmlns:a16="http://schemas.microsoft.com/office/drawing/2014/main" id="{28C4C0F6-813C-467B-AF67-F225A7A8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19459" name="灯片编号占位符 5">
            <a:extLst>
              <a:ext uri="{FF2B5EF4-FFF2-40B4-BE49-F238E27FC236}">
                <a16:creationId xmlns:a16="http://schemas.microsoft.com/office/drawing/2014/main" id="{F651DDF6-3988-4556-ABED-1B2D6E683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DA2EF0-A86A-478A-86D6-A0F523C36647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EA371994-32E7-4D85-B996-64E91722F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分类是数据挖掘中重要的任务 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819D78DB-CA5D-44DE-B723-D2B7288DD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分类的目的是学会一个分类器（分类函数或模型），该分类器能把待分类的数据映射到给定的类别中。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000099"/>
                </a:solidFill>
              </a:rPr>
              <a:t>分类可用于预测。从利用历史数据纪录中自动推导出对给定数据的推广描述，从而能对未来数据进行类预测。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分类具有广泛的应用，例如医疗诊断、信用卡系统的信用分级、图像模式识别等。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000099"/>
                </a:solidFill>
              </a:rPr>
              <a:t>分类器的构造依据的方法很广泛：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rgbClr val="000099"/>
                </a:solidFill>
              </a:rPr>
              <a:t>统计方法：包括贝叶斯法和非参数法等。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rgbClr val="000099"/>
                </a:solidFill>
              </a:rPr>
              <a:t>机器学习方法：包括决策树法和规则归纳法。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rgbClr val="000099"/>
                </a:solidFill>
              </a:rPr>
              <a:t>神经网络方法。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rgbClr val="000099"/>
                </a:solidFill>
              </a:rPr>
              <a:t>其他，如粗糙集等（在前面绪论中也介绍了相关的情况）。</a:t>
            </a:r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日期占位符 3">
            <a:extLst>
              <a:ext uri="{FF2B5EF4-FFF2-40B4-BE49-F238E27FC236}">
                <a16:creationId xmlns:a16="http://schemas.microsoft.com/office/drawing/2014/main" id="{2E8B9787-49DA-41DD-8F88-8BD16A5C6A8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61364A-312F-4439-8015-8F8D6D4B3F20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2" name="页脚占位符 4">
            <a:extLst>
              <a:ext uri="{FF2B5EF4-FFF2-40B4-BE49-F238E27FC236}">
                <a16:creationId xmlns:a16="http://schemas.microsoft.com/office/drawing/2014/main" id="{E3978C47-15FA-4484-80B6-C772A1FF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0483" name="灯片编号占位符 5">
            <a:extLst>
              <a:ext uri="{FF2B5EF4-FFF2-40B4-BE49-F238E27FC236}">
                <a16:creationId xmlns:a16="http://schemas.microsoft.com/office/drawing/2014/main" id="{04A06C2D-EDB0-46E7-BF6E-E10B14A5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E72091-CE06-4364-BA0B-22AE4A8F68E5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81343B32-B8AC-451F-BF45-9011C25E01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分类方法的类型</a:t>
            </a: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06EF6149-D6E9-4640-BE49-BCCF65CF2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从使用的主要技术上看，可以把分类方法归结为四种类型：</a:t>
            </a:r>
          </a:p>
          <a:p>
            <a:pPr lvl="1" eaLnBrk="1" hangingPunct="1"/>
            <a:r>
              <a:rPr lang="zh-CN" altLang="en-US"/>
              <a:t>基于距离的分类方法</a:t>
            </a:r>
          </a:p>
          <a:p>
            <a:pPr lvl="1" eaLnBrk="1" hangingPunct="1"/>
            <a:r>
              <a:rPr lang="zh-CN" altLang="en-US"/>
              <a:t>决策树分类方法</a:t>
            </a:r>
          </a:p>
          <a:p>
            <a:pPr lvl="1" eaLnBrk="1" hangingPunct="1"/>
            <a:r>
              <a:rPr lang="zh-CN" altLang="en-US"/>
              <a:t>贝叶斯分类方法</a:t>
            </a:r>
          </a:p>
          <a:p>
            <a:pPr lvl="1" eaLnBrk="1" hangingPunct="1"/>
            <a:r>
              <a:rPr lang="zh-CN" altLang="en-US"/>
              <a:t>规则归纳方法。</a:t>
            </a:r>
          </a:p>
          <a:p>
            <a:pPr eaLnBrk="1" hangingPunct="1"/>
            <a:r>
              <a:rPr lang="zh-CN" altLang="en-US"/>
              <a:t>本章将择选一些有代表性的方法和算法来介绍这四类分类方法。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日期占位符 3">
            <a:extLst>
              <a:ext uri="{FF2B5EF4-FFF2-40B4-BE49-F238E27FC236}">
                <a16:creationId xmlns:a16="http://schemas.microsoft.com/office/drawing/2014/main" id="{D6E4C7AF-288D-4E8E-AD8B-9EEC245D699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77181AD-880C-4E0E-84FA-5542EF03A5F6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6" name="页脚占位符 4">
            <a:extLst>
              <a:ext uri="{FF2B5EF4-FFF2-40B4-BE49-F238E27FC236}">
                <a16:creationId xmlns:a16="http://schemas.microsoft.com/office/drawing/2014/main" id="{557689DD-DF9F-492A-83F5-3D08BD69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1507" name="灯片编号占位符 5">
            <a:extLst>
              <a:ext uri="{FF2B5EF4-FFF2-40B4-BE49-F238E27FC236}">
                <a16:creationId xmlns:a16="http://schemas.microsoft.com/office/drawing/2014/main" id="{EBBDD55A-0011-43AA-AE90-B0A98030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420614-B7E4-4849-9D60-99F3F1F870E1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728A2BDB-B781-4954-9BE7-823696B97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分类问题的描述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FC55A2D2-BFBD-43FF-97F0-D220FCF91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000000"/>
                </a:solidFill>
              </a:rPr>
              <a:t>定义</a:t>
            </a:r>
            <a:r>
              <a:rPr lang="en-US" altLang="zh-CN" b="1">
                <a:solidFill>
                  <a:srgbClr val="000000"/>
                </a:solidFill>
              </a:rPr>
              <a:t>4-1 </a:t>
            </a:r>
            <a:r>
              <a:rPr lang="zh-CN" altLang="en-US">
                <a:solidFill>
                  <a:srgbClr val="000000"/>
                </a:solidFill>
              </a:rPr>
              <a:t>给定一个数据库 </a:t>
            </a:r>
            <a:r>
              <a:rPr lang="en-US" altLang="zh-CN" i="1">
                <a:solidFill>
                  <a:srgbClr val="000000"/>
                </a:solidFill>
              </a:rPr>
              <a:t>D</a:t>
            </a:r>
            <a:r>
              <a:rPr lang="en-US" altLang="zh-CN">
                <a:solidFill>
                  <a:srgbClr val="000000"/>
                </a:solidFill>
              </a:rPr>
              <a:t>={</a:t>
            </a:r>
            <a:r>
              <a:rPr lang="en-US" altLang="zh-CN" i="1">
                <a:solidFill>
                  <a:srgbClr val="000000"/>
                </a:solidFill>
              </a:rPr>
              <a:t>t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t</a:t>
            </a:r>
            <a:r>
              <a:rPr lang="en-US" altLang="zh-CN" baseline="-30000">
                <a:solidFill>
                  <a:srgbClr val="000000"/>
                </a:solidFill>
              </a:rPr>
              <a:t>2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t</a:t>
            </a:r>
            <a:r>
              <a:rPr lang="en-US" altLang="zh-CN" baseline="-30000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}</a:t>
            </a:r>
            <a:r>
              <a:rPr lang="zh-CN" altLang="en-US">
                <a:solidFill>
                  <a:srgbClr val="000000"/>
                </a:solidFill>
              </a:rPr>
              <a:t>和一组类 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>
                <a:solidFill>
                  <a:srgbClr val="000000"/>
                </a:solidFill>
              </a:rPr>
              <a:t>={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 baseline="-30000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 baseline="-30000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}</a:t>
            </a:r>
            <a:r>
              <a:rPr lang="zh-CN" altLang="en-US">
                <a:solidFill>
                  <a:srgbClr val="000000"/>
                </a:solidFill>
              </a:rPr>
              <a:t>，分类问题是去确定一个映射 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>
                <a:solidFill>
                  <a:srgbClr val="000000"/>
                </a:solidFill>
              </a:rPr>
              <a:t>: </a:t>
            </a:r>
            <a:r>
              <a:rPr lang="en-US" altLang="zh-CN" i="1">
                <a:solidFill>
                  <a:srgbClr val="000000"/>
                </a:solidFill>
              </a:rPr>
              <a:t>D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zh-CN" altLang="en-US">
                <a:solidFill>
                  <a:srgbClr val="000000"/>
                </a:solidFill>
              </a:rPr>
              <a:t>，使得每个元组</a:t>
            </a:r>
            <a:r>
              <a:rPr lang="en-US" altLang="zh-CN">
                <a:solidFill>
                  <a:srgbClr val="000000"/>
                </a:solidFill>
              </a:rPr>
              <a:t>t</a:t>
            </a:r>
            <a:r>
              <a:rPr lang="en-US" altLang="zh-CN" baseline="-30000">
                <a:solidFill>
                  <a:srgbClr val="000000"/>
                </a:solidFill>
              </a:rPr>
              <a:t>i</a:t>
            </a:r>
            <a:r>
              <a:rPr lang="zh-CN" altLang="en-US">
                <a:solidFill>
                  <a:srgbClr val="000000"/>
                </a:solidFill>
              </a:rPr>
              <a:t>被分配到一个类中。一个类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 baseline="-30000">
                <a:solidFill>
                  <a:srgbClr val="000000"/>
                </a:solidFill>
              </a:rPr>
              <a:t>j </a:t>
            </a:r>
            <a:r>
              <a:rPr lang="zh-CN" altLang="en-US">
                <a:solidFill>
                  <a:srgbClr val="000000"/>
                </a:solidFill>
              </a:rPr>
              <a:t>包含映射到该类中的所有元组，即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 baseline="-30000">
                <a:solidFill>
                  <a:srgbClr val="000000"/>
                </a:solidFill>
              </a:rPr>
              <a:t>j </a:t>
            </a:r>
            <a:r>
              <a:rPr lang="en-US" altLang="zh-CN">
                <a:solidFill>
                  <a:srgbClr val="000000"/>
                </a:solidFill>
              </a:rPr>
              <a:t>= {</a:t>
            </a:r>
            <a:r>
              <a:rPr lang="en-US" altLang="zh-CN" i="1">
                <a:solidFill>
                  <a:srgbClr val="000000"/>
                </a:solidFill>
              </a:rPr>
              <a:t>t</a:t>
            </a:r>
            <a:r>
              <a:rPr lang="en-US" altLang="zh-CN" baseline="-30000">
                <a:solidFill>
                  <a:srgbClr val="000000"/>
                </a:solidFill>
              </a:rPr>
              <a:t>i </a:t>
            </a:r>
            <a:r>
              <a:rPr lang="en-US" altLang="zh-CN">
                <a:solidFill>
                  <a:srgbClr val="000000"/>
                </a:solidFill>
              </a:rPr>
              <a:t>| 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t</a:t>
            </a:r>
            <a:r>
              <a:rPr lang="en-US" altLang="zh-CN" baseline="-30000">
                <a:solidFill>
                  <a:srgbClr val="000000"/>
                </a:solidFill>
              </a:rPr>
              <a:t>i</a:t>
            </a:r>
            <a:r>
              <a:rPr lang="en-US" altLang="zh-CN">
                <a:solidFill>
                  <a:srgbClr val="000000"/>
                </a:solidFill>
              </a:rPr>
              <a:t>) = 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 baseline="-30000">
                <a:solidFill>
                  <a:srgbClr val="000000"/>
                </a:solidFill>
              </a:rPr>
              <a:t>j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>
                <a:solidFill>
                  <a:srgbClr val="000000"/>
                </a:solidFill>
              </a:rPr>
              <a:t>1 ≤ </a:t>
            </a:r>
            <a:r>
              <a:rPr lang="en-US" altLang="zh-CN" i="1">
                <a:solidFill>
                  <a:srgbClr val="000000"/>
                </a:solidFill>
              </a:rPr>
              <a:t>i</a:t>
            </a:r>
            <a:r>
              <a:rPr lang="en-US" altLang="zh-CN">
                <a:solidFill>
                  <a:srgbClr val="000000"/>
                </a:solidFill>
              </a:rPr>
              <a:t> ≤ 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zh-CN" altLang="en-US">
                <a:solidFill>
                  <a:srgbClr val="000000"/>
                </a:solidFill>
              </a:rPr>
              <a:t>， 而且</a:t>
            </a:r>
            <a:r>
              <a:rPr lang="en-US" altLang="zh-CN" i="1">
                <a:solidFill>
                  <a:srgbClr val="000000"/>
                </a:solidFill>
              </a:rPr>
              <a:t>t</a:t>
            </a:r>
            <a:r>
              <a:rPr lang="en-US" altLang="zh-CN" baseline="-30000">
                <a:solidFill>
                  <a:srgbClr val="000000"/>
                </a:solidFill>
              </a:rPr>
              <a:t>i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>
                <a:solidFill>
                  <a:srgbClr val="000000"/>
                </a:solidFill>
              </a:rPr>
              <a:t>D</a:t>
            </a:r>
            <a:r>
              <a:rPr lang="en-US" altLang="zh-CN">
                <a:solidFill>
                  <a:srgbClr val="000000"/>
                </a:solidFill>
              </a:rPr>
              <a:t>}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</a:p>
          <a:p>
            <a:pPr eaLnBrk="1" hangingPunct="1"/>
            <a:r>
              <a:rPr lang="zh-CN" altLang="en-US">
                <a:solidFill>
                  <a:srgbClr val="000099"/>
                </a:solidFill>
              </a:rPr>
              <a:t>例如，把学生的百分制分数分成</a:t>
            </a:r>
            <a:r>
              <a:rPr lang="en-US" altLang="zh-CN">
                <a:solidFill>
                  <a:srgbClr val="000099"/>
                </a:solidFill>
              </a:rPr>
              <a:t>A</a:t>
            </a:r>
            <a:r>
              <a:rPr lang="zh-CN" altLang="en-US">
                <a:solidFill>
                  <a:srgbClr val="000099"/>
                </a:solidFill>
              </a:rPr>
              <a:t>、</a:t>
            </a:r>
            <a:r>
              <a:rPr lang="en-US" altLang="zh-CN">
                <a:solidFill>
                  <a:srgbClr val="000099"/>
                </a:solidFill>
              </a:rPr>
              <a:t>B</a:t>
            </a:r>
            <a:r>
              <a:rPr lang="zh-CN" altLang="en-US">
                <a:solidFill>
                  <a:srgbClr val="000099"/>
                </a:solidFill>
              </a:rPr>
              <a:t>、</a:t>
            </a:r>
            <a:r>
              <a:rPr lang="en-US" altLang="zh-CN">
                <a:solidFill>
                  <a:srgbClr val="000099"/>
                </a:solidFill>
              </a:rPr>
              <a:t>C</a:t>
            </a:r>
            <a:r>
              <a:rPr lang="zh-CN" altLang="en-US">
                <a:solidFill>
                  <a:srgbClr val="000099"/>
                </a:solidFill>
              </a:rPr>
              <a:t>、</a:t>
            </a:r>
            <a:r>
              <a:rPr lang="en-US" altLang="zh-CN">
                <a:solidFill>
                  <a:srgbClr val="000099"/>
                </a:solidFill>
              </a:rPr>
              <a:t>D</a:t>
            </a:r>
            <a:r>
              <a:rPr lang="zh-CN" altLang="en-US">
                <a:solidFill>
                  <a:srgbClr val="000099"/>
                </a:solidFill>
              </a:rPr>
              <a:t>、</a:t>
            </a:r>
            <a:r>
              <a:rPr lang="en-US" altLang="zh-CN">
                <a:solidFill>
                  <a:srgbClr val="000099"/>
                </a:solidFill>
              </a:rPr>
              <a:t>F</a:t>
            </a:r>
            <a:r>
              <a:rPr lang="zh-CN" altLang="en-US">
                <a:solidFill>
                  <a:srgbClr val="000099"/>
                </a:solidFill>
              </a:rPr>
              <a:t>五类，就是一个分类问题： </a:t>
            </a:r>
            <a:r>
              <a:rPr lang="en-US" altLang="zh-CN" i="1">
                <a:solidFill>
                  <a:srgbClr val="000099"/>
                </a:solidFill>
              </a:rPr>
              <a:t>D</a:t>
            </a:r>
            <a:r>
              <a:rPr lang="zh-CN" altLang="en-US">
                <a:solidFill>
                  <a:srgbClr val="000099"/>
                </a:solidFill>
              </a:rPr>
              <a:t>是包含百分制分数在内的学生信息， </a:t>
            </a:r>
            <a:r>
              <a:rPr lang="en-US" altLang="zh-CN" i="1">
                <a:solidFill>
                  <a:srgbClr val="000099"/>
                </a:solidFill>
              </a:rPr>
              <a:t>C</a:t>
            </a:r>
            <a:r>
              <a:rPr lang="en-US" altLang="zh-CN">
                <a:solidFill>
                  <a:srgbClr val="000099"/>
                </a:solidFill>
              </a:rPr>
              <a:t>={A</a:t>
            </a:r>
            <a:r>
              <a:rPr lang="zh-CN" altLang="en-US">
                <a:solidFill>
                  <a:srgbClr val="000099"/>
                </a:solidFill>
              </a:rPr>
              <a:t>、</a:t>
            </a:r>
            <a:r>
              <a:rPr lang="en-US" altLang="zh-CN">
                <a:solidFill>
                  <a:srgbClr val="000099"/>
                </a:solidFill>
              </a:rPr>
              <a:t>B</a:t>
            </a:r>
            <a:r>
              <a:rPr lang="zh-CN" altLang="en-US">
                <a:solidFill>
                  <a:srgbClr val="000099"/>
                </a:solidFill>
              </a:rPr>
              <a:t>、</a:t>
            </a:r>
            <a:r>
              <a:rPr lang="en-US" altLang="zh-CN">
                <a:solidFill>
                  <a:srgbClr val="000099"/>
                </a:solidFill>
              </a:rPr>
              <a:t>C</a:t>
            </a:r>
            <a:r>
              <a:rPr lang="zh-CN" altLang="en-US">
                <a:solidFill>
                  <a:srgbClr val="000099"/>
                </a:solidFill>
              </a:rPr>
              <a:t>、</a:t>
            </a:r>
            <a:r>
              <a:rPr lang="en-US" altLang="zh-CN">
                <a:solidFill>
                  <a:srgbClr val="000099"/>
                </a:solidFill>
              </a:rPr>
              <a:t>D</a:t>
            </a:r>
            <a:r>
              <a:rPr lang="zh-CN" altLang="en-US">
                <a:solidFill>
                  <a:srgbClr val="000099"/>
                </a:solidFill>
              </a:rPr>
              <a:t>、</a:t>
            </a:r>
            <a:r>
              <a:rPr lang="en-US" altLang="zh-CN">
                <a:solidFill>
                  <a:srgbClr val="000099"/>
                </a:solidFill>
              </a:rPr>
              <a:t>F}</a:t>
            </a:r>
            <a:r>
              <a:rPr lang="zh-CN" altLang="en-US">
                <a:solidFill>
                  <a:srgbClr val="000099"/>
                </a:solidFill>
              </a:rPr>
              <a:t>。</a:t>
            </a:r>
          </a:p>
          <a:p>
            <a:pPr eaLnBrk="1" hangingPunct="1"/>
            <a:r>
              <a:rPr lang="zh-CN" altLang="en-US"/>
              <a:t>解决分类问题的关键是构造一个合适的分类器：从数据库到一组类别集的映射。一般地，这些类是被预先定义的、非交叠的。</a:t>
            </a:r>
            <a:endParaRPr lang="zh-CN" altLang="en-US">
              <a:solidFill>
                <a:srgbClr val="000099"/>
              </a:solidFill>
            </a:endParaRPr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日期占位符 3">
            <a:extLst>
              <a:ext uri="{FF2B5EF4-FFF2-40B4-BE49-F238E27FC236}">
                <a16:creationId xmlns:a16="http://schemas.microsoft.com/office/drawing/2014/main" id="{D0C0E3F9-3668-49D9-8AF6-5F1A2E8AC3C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98C50D-88F9-4E7F-A0A3-28FAF5BC8EF1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页脚占位符 4">
            <a:extLst>
              <a:ext uri="{FF2B5EF4-FFF2-40B4-BE49-F238E27FC236}">
                <a16:creationId xmlns:a16="http://schemas.microsoft.com/office/drawing/2014/main" id="{18891EAE-695D-4277-92C2-2A7664EA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2531" name="灯片编号占位符 5">
            <a:extLst>
              <a:ext uri="{FF2B5EF4-FFF2-40B4-BE49-F238E27FC236}">
                <a16:creationId xmlns:a16="http://schemas.microsoft.com/office/drawing/2014/main" id="{23BA0BE8-7444-4516-A87F-BE4EF023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CEF77F-6F05-47D8-ACCD-DF9FAEC2922C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FB090DB4-F3D3-460C-A653-92EF9C7FF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数据分类的两个步骤</a:t>
            </a: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5E6159A8-81D3-4F93-9020-EC91FE135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/>
              <a:t>1</a:t>
            </a:r>
            <a:r>
              <a:rPr lang="zh-CN" altLang="en-US" b="1"/>
              <a:t>．建立一个模型，描述预定的数据类集或概念集</a:t>
            </a:r>
            <a:endParaRPr lang="zh-CN" altLang="en-US"/>
          </a:p>
          <a:p>
            <a:pPr lvl="1" eaLnBrk="1" hangingPunct="1"/>
            <a:r>
              <a:rPr lang="zh-CN" altLang="en-US"/>
              <a:t>数据元组也称作样本、实例或对象。</a:t>
            </a:r>
          </a:p>
          <a:p>
            <a:pPr lvl="1" eaLnBrk="1" hangingPunct="1"/>
            <a:r>
              <a:rPr lang="zh-CN" altLang="en-US"/>
              <a:t>为建立模型而被分析的数据元组形成</a:t>
            </a:r>
            <a:r>
              <a:rPr lang="zh-CN" altLang="en-US">
                <a:solidFill>
                  <a:schemeClr val="hlink"/>
                </a:solidFill>
              </a:rPr>
              <a:t>训练数据集</a:t>
            </a:r>
            <a:r>
              <a:rPr lang="zh-CN" altLang="en-US"/>
              <a:t>。</a:t>
            </a:r>
          </a:p>
          <a:p>
            <a:pPr lvl="1" eaLnBrk="1" hangingPunct="1"/>
            <a:r>
              <a:rPr lang="zh-CN" altLang="en-US"/>
              <a:t>训练数据集中的单个元组称作训练样本，由于提供了每个训练样本的类标号，因此也称作有指导的学习。</a:t>
            </a:r>
          </a:p>
          <a:p>
            <a:pPr lvl="1" eaLnBrk="1" hangingPunct="1"/>
            <a:r>
              <a:rPr lang="zh-CN" altLang="en-US"/>
              <a:t>通过分析训练数据集来构造分类模型，可用分类规则、决策树或数学公式等形式提供。</a:t>
            </a:r>
            <a:endParaRPr lang="zh-CN" altLang="en-US" b="1"/>
          </a:p>
          <a:p>
            <a:pPr eaLnBrk="1" hangingPunct="1"/>
            <a:r>
              <a:rPr lang="en-US" altLang="zh-CN" b="1"/>
              <a:t>2</a:t>
            </a:r>
            <a:r>
              <a:rPr lang="zh-CN" altLang="en-US" b="1"/>
              <a:t>．使用模型进行分类</a:t>
            </a:r>
            <a:endParaRPr lang="zh-CN" altLang="en-US"/>
          </a:p>
          <a:p>
            <a:pPr lvl="1" eaLnBrk="1" hangingPunct="1"/>
            <a:r>
              <a:rPr lang="zh-CN" altLang="en-US"/>
              <a:t>首先评估模型（分类法）的预测准确率。</a:t>
            </a:r>
          </a:p>
          <a:p>
            <a:pPr lvl="1" eaLnBrk="1" hangingPunct="1"/>
            <a:r>
              <a:rPr lang="zh-CN" altLang="en-US"/>
              <a:t>如果认为模型的准确率可以接受，就可以用它对类标号未知的数据元组或对象进行分类。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日期占位符 1">
            <a:extLst>
              <a:ext uri="{FF2B5EF4-FFF2-40B4-BE49-F238E27FC236}">
                <a16:creationId xmlns:a16="http://schemas.microsoft.com/office/drawing/2014/main" id="{953CBC13-8749-4E1F-A082-1C40C493AB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E626D7-FA45-418C-9215-1EB8157BDBF8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4" name="页脚占位符 2">
            <a:extLst>
              <a:ext uri="{FF2B5EF4-FFF2-40B4-BE49-F238E27FC236}">
                <a16:creationId xmlns:a16="http://schemas.microsoft.com/office/drawing/2014/main" id="{48D0ED42-7E22-41B2-AE09-8D8D9D426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E152B4C8-368B-438B-8D20-EBC1A3D7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DF9EE5-5613-4479-B1CA-219518CAF501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Rectangle 5">
            <a:extLst>
              <a:ext uri="{FF2B5EF4-FFF2-40B4-BE49-F238E27FC236}">
                <a16:creationId xmlns:a16="http://schemas.microsoft.com/office/drawing/2014/main" id="{E5B5860D-33F4-4674-82A0-58E79722F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15888"/>
            <a:ext cx="8424862" cy="1655762"/>
          </a:xfrm>
          <a:prstGeom prst="rect">
            <a:avLst/>
          </a:prstGeom>
          <a:solidFill>
            <a:srgbClr val="3399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762000" indent="-762000"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第四章  分类方法</a:t>
            </a:r>
            <a:r>
              <a:rPr lang="zh-CN" altLang="en-US" sz="320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br>
              <a:rPr lang="zh-CN" altLang="en-US" sz="32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</a:br>
            <a:r>
              <a:rPr lang="zh-CN" altLang="en-US" sz="320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                      </a:t>
            </a:r>
            <a:r>
              <a:rPr lang="zh-CN" altLang="en-US" sz="2400" b="1">
                <a:solidFill>
                  <a:schemeClr val="bg1"/>
                </a:solidFill>
              </a:rPr>
              <a:t>内容提要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23557" name="Rectangle 6">
            <a:extLst>
              <a:ext uri="{FF2B5EF4-FFF2-40B4-BE49-F238E27FC236}">
                <a16:creationId xmlns:a16="http://schemas.microsoft.com/office/drawing/2014/main" id="{983037D2-CDC3-4E38-83F2-58175843F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1917700"/>
            <a:ext cx="8278813" cy="4391025"/>
          </a:xfrm>
          <a:prstGeom prst="rect">
            <a:avLst/>
          </a:prstGeom>
          <a:noFill/>
          <a:ln w="57150" cmpd="thickThin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533400" indent="-533400"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tabLst>
                <a:tab pos="6178550" algn="l"/>
              </a:tabLst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6178550" algn="l"/>
              </a:tabLst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6178550" algn="l"/>
              </a:tabLst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61785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1785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1785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1785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1785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6178550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分类的基本概念与步骤 </a:t>
            </a: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zh-CN" altLang="en-US">
                <a:solidFill>
                  <a:schemeClr val="hlin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基于距离的分类算法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决策树分类方法 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贝叶斯分类 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规则归纳 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与分类有关的问题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23558" name="Picture 8" descr="j0237704">
            <a:extLst>
              <a:ext uri="{FF2B5EF4-FFF2-40B4-BE49-F238E27FC236}">
                <a16:creationId xmlns:a16="http://schemas.microsoft.com/office/drawing/2014/main" id="{09CC84D1-7E69-4D3E-A1B4-C2B3C505E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3068638"/>
            <a:ext cx="2867025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日期占位符 3">
            <a:extLst>
              <a:ext uri="{FF2B5EF4-FFF2-40B4-BE49-F238E27FC236}">
                <a16:creationId xmlns:a16="http://schemas.microsoft.com/office/drawing/2014/main" id="{ED32F8E5-ED20-4B8A-B787-22811CD4DA4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EEAA4B-D5E6-41E5-B716-AD7E98E67ABE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78" name="页脚占位符 4">
            <a:extLst>
              <a:ext uri="{FF2B5EF4-FFF2-40B4-BE49-F238E27FC236}">
                <a16:creationId xmlns:a16="http://schemas.microsoft.com/office/drawing/2014/main" id="{E80ADB9B-5835-4269-BA5E-C8B27230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4579" name="灯片编号占位符 5">
            <a:extLst>
              <a:ext uri="{FF2B5EF4-FFF2-40B4-BE49-F238E27FC236}">
                <a16:creationId xmlns:a16="http://schemas.microsoft.com/office/drawing/2014/main" id="{DDD69C3C-BB3A-4580-8756-6CA36C3B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D3CCF4-8BD3-4F81-AD25-8442E5AA0CA1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CD59134E-9335-4B6B-A774-3206573ED6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基于距离的分类算法的思路</a:t>
            </a: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6864CF93-5A8A-4AED-914C-D760EF807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定义</a:t>
            </a:r>
            <a:r>
              <a:rPr lang="en-US" altLang="zh-CN" b="1"/>
              <a:t>4-2 </a:t>
            </a:r>
            <a:r>
              <a:rPr lang="zh-CN" altLang="en-US" b="1"/>
              <a:t>给定一个数据库 </a:t>
            </a:r>
            <a:r>
              <a:rPr lang="en-US" altLang="zh-CN" b="1" i="1"/>
              <a:t>D</a:t>
            </a:r>
            <a:r>
              <a:rPr lang="en-US" altLang="zh-CN" b="1"/>
              <a:t>={</a:t>
            </a:r>
            <a:r>
              <a:rPr lang="en-US" altLang="zh-CN" b="1" i="1"/>
              <a:t>t</a:t>
            </a:r>
            <a:r>
              <a:rPr lang="en-US" altLang="zh-CN" b="1" baseline="-25000"/>
              <a:t>1</a:t>
            </a:r>
            <a:r>
              <a:rPr lang="zh-CN" altLang="en-US" b="1"/>
              <a:t>，</a:t>
            </a:r>
            <a:r>
              <a:rPr lang="en-US" altLang="zh-CN" b="1" i="1"/>
              <a:t>t</a:t>
            </a:r>
            <a:r>
              <a:rPr lang="en-US" altLang="zh-CN" b="1" baseline="-25000"/>
              <a:t>2</a:t>
            </a:r>
            <a:r>
              <a:rPr lang="zh-CN" altLang="en-US" b="1"/>
              <a:t>，</a:t>
            </a:r>
            <a:r>
              <a:rPr lang="en-US" altLang="zh-CN" b="1">
                <a:latin typeface="Tahoma" panose="020B0604030504040204" pitchFamily="34" charset="0"/>
              </a:rPr>
              <a:t>…</a:t>
            </a:r>
            <a:r>
              <a:rPr lang="zh-CN" altLang="en-US" b="1"/>
              <a:t>，</a:t>
            </a:r>
            <a:r>
              <a:rPr lang="en-US" altLang="zh-CN" b="1" i="1"/>
              <a:t>t</a:t>
            </a:r>
            <a:r>
              <a:rPr lang="en-US" altLang="zh-CN" b="1" baseline="-25000"/>
              <a:t>n</a:t>
            </a:r>
            <a:r>
              <a:rPr lang="en-US" altLang="zh-CN" b="1"/>
              <a:t>}</a:t>
            </a:r>
            <a:r>
              <a:rPr lang="zh-CN" altLang="en-US" b="1"/>
              <a:t>和一组类</a:t>
            </a:r>
            <a:r>
              <a:rPr lang="en-US" altLang="zh-CN" b="1" i="1"/>
              <a:t>C</a:t>
            </a:r>
            <a:r>
              <a:rPr lang="en-US" altLang="zh-CN" b="1"/>
              <a:t>={</a:t>
            </a:r>
            <a:r>
              <a:rPr lang="en-US" altLang="zh-CN" b="1" i="1"/>
              <a:t>C</a:t>
            </a:r>
            <a:r>
              <a:rPr lang="en-US" altLang="zh-CN" b="1" baseline="-25000"/>
              <a:t>1</a:t>
            </a:r>
            <a:r>
              <a:rPr lang="zh-CN" altLang="en-US" b="1"/>
              <a:t>，</a:t>
            </a:r>
            <a:r>
              <a:rPr lang="en-US" altLang="zh-CN" b="1">
                <a:latin typeface="Tahoma" panose="020B0604030504040204" pitchFamily="34" charset="0"/>
              </a:rPr>
              <a:t>…</a:t>
            </a:r>
            <a:r>
              <a:rPr lang="zh-CN" altLang="en-US" b="1"/>
              <a:t>，</a:t>
            </a:r>
            <a:r>
              <a:rPr lang="en-US" altLang="zh-CN" b="1" i="1"/>
              <a:t>C</a:t>
            </a:r>
            <a:r>
              <a:rPr lang="en-US" altLang="zh-CN" b="1" baseline="-25000"/>
              <a:t>m</a:t>
            </a:r>
            <a:r>
              <a:rPr lang="en-US" altLang="zh-CN" b="1"/>
              <a:t>}</a:t>
            </a:r>
            <a:r>
              <a:rPr lang="zh-CN" altLang="en-US" b="1"/>
              <a:t>。假定每个元组包括一些数值型的属性值：</a:t>
            </a:r>
            <a:r>
              <a:rPr lang="en-US" altLang="zh-CN" b="1" i="1"/>
              <a:t>t</a:t>
            </a:r>
            <a:r>
              <a:rPr lang="en-US" altLang="zh-CN" b="1" baseline="-25000"/>
              <a:t>i</a:t>
            </a:r>
            <a:r>
              <a:rPr lang="en-US" altLang="zh-CN" b="1"/>
              <a:t>={</a:t>
            </a:r>
            <a:r>
              <a:rPr lang="en-US" altLang="zh-CN" b="1" i="1"/>
              <a:t>t</a:t>
            </a:r>
            <a:r>
              <a:rPr lang="en-US" altLang="zh-CN" b="1" baseline="-25000"/>
              <a:t>i1</a:t>
            </a:r>
            <a:r>
              <a:rPr lang="zh-CN" altLang="en-US" b="1"/>
              <a:t>，</a:t>
            </a:r>
            <a:r>
              <a:rPr lang="en-US" altLang="zh-CN" b="1" i="1"/>
              <a:t>t</a:t>
            </a:r>
            <a:r>
              <a:rPr lang="en-US" altLang="zh-CN" b="1" baseline="-25000"/>
              <a:t>i2</a:t>
            </a:r>
            <a:r>
              <a:rPr lang="zh-CN" altLang="en-US" b="1"/>
              <a:t>，</a:t>
            </a:r>
            <a:r>
              <a:rPr lang="en-US" altLang="zh-CN" b="1">
                <a:latin typeface="Tahoma" panose="020B0604030504040204" pitchFamily="34" charset="0"/>
              </a:rPr>
              <a:t>…</a:t>
            </a:r>
            <a:r>
              <a:rPr lang="zh-CN" altLang="en-US" b="1"/>
              <a:t>，</a:t>
            </a:r>
            <a:r>
              <a:rPr lang="en-US" altLang="zh-CN" b="1" i="1"/>
              <a:t>t</a:t>
            </a:r>
            <a:r>
              <a:rPr lang="en-US" altLang="zh-CN" b="1" baseline="-25000"/>
              <a:t>ik</a:t>
            </a:r>
            <a:r>
              <a:rPr lang="en-US" altLang="zh-CN" b="1"/>
              <a:t>}</a:t>
            </a:r>
            <a:r>
              <a:rPr lang="zh-CN" altLang="en-US" b="1"/>
              <a:t>，每个类也包含数值性属性值：</a:t>
            </a:r>
            <a:r>
              <a:rPr lang="en-US" altLang="zh-CN" b="1" i="1"/>
              <a:t>C</a:t>
            </a:r>
            <a:r>
              <a:rPr lang="en-US" altLang="zh-CN" b="1" baseline="-25000"/>
              <a:t>j</a:t>
            </a:r>
            <a:r>
              <a:rPr lang="en-US" altLang="zh-CN" b="1"/>
              <a:t>={</a:t>
            </a:r>
            <a:r>
              <a:rPr lang="en-US" altLang="zh-CN" b="1" i="1"/>
              <a:t>C</a:t>
            </a:r>
            <a:r>
              <a:rPr lang="en-US" altLang="zh-CN" b="1" baseline="-25000"/>
              <a:t>j1</a:t>
            </a:r>
            <a:r>
              <a:rPr lang="zh-CN" altLang="en-US" b="1"/>
              <a:t>，</a:t>
            </a:r>
            <a:r>
              <a:rPr lang="en-US" altLang="zh-CN" b="1" i="1"/>
              <a:t>C</a:t>
            </a:r>
            <a:r>
              <a:rPr lang="en-US" altLang="zh-CN" b="1" baseline="-25000"/>
              <a:t>j2</a:t>
            </a:r>
            <a:r>
              <a:rPr lang="zh-CN" altLang="en-US" b="1"/>
              <a:t>，</a:t>
            </a:r>
            <a:r>
              <a:rPr lang="en-US" altLang="zh-CN" b="1">
                <a:latin typeface="Tahoma" panose="020B0604030504040204" pitchFamily="34" charset="0"/>
              </a:rPr>
              <a:t>…</a:t>
            </a:r>
            <a:r>
              <a:rPr lang="zh-CN" altLang="en-US" b="1"/>
              <a:t>，</a:t>
            </a:r>
            <a:r>
              <a:rPr lang="en-US" altLang="zh-CN" b="1" i="1"/>
              <a:t>C</a:t>
            </a:r>
            <a:r>
              <a:rPr lang="en-US" altLang="zh-CN" b="1" baseline="-25000"/>
              <a:t>jk</a:t>
            </a:r>
            <a:r>
              <a:rPr lang="en-US" altLang="zh-CN" b="1"/>
              <a:t>}</a:t>
            </a:r>
            <a:r>
              <a:rPr lang="zh-CN" altLang="en-US" b="1"/>
              <a:t>，则分类问题是要分配每个</a:t>
            </a:r>
            <a:r>
              <a:rPr lang="en-US" altLang="zh-CN" b="1"/>
              <a:t>t</a:t>
            </a:r>
            <a:r>
              <a:rPr lang="en-US" altLang="zh-CN" b="1" baseline="-25000"/>
              <a:t>i</a:t>
            </a:r>
            <a:r>
              <a:rPr lang="zh-CN" altLang="en-US" b="1"/>
              <a:t>到满足如下条件的类</a:t>
            </a:r>
            <a:r>
              <a:rPr lang="en-US" altLang="zh-CN" b="1" i="1"/>
              <a:t>C</a:t>
            </a:r>
            <a:r>
              <a:rPr lang="en-US" altLang="zh-CN" b="1" baseline="-25000"/>
              <a:t>j</a:t>
            </a:r>
            <a:r>
              <a:rPr lang="zh-CN" altLang="en-US" b="1"/>
              <a:t>：</a:t>
            </a:r>
            <a:endParaRPr lang="zh-CN" altLang="en-US" b="1" i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i="1"/>
              <a:t>sim</a:t>
            </a:r>
            <a:r>
              <a:rPr lang="en-US" altLang="zh-CN" b="1"/>
              <a:t>(</a:t>
            </a:r>
            <a:r>
              <a:rPr lang="en-US" altLang="zh-CN" b="1" i="1"/>
              <a:t>t</a:t>
            </a:r>
            <a:r>
              <a:rPr lang="en-US" altLang="zh-CN" b="1" baseline="-25000"/>
              <a:t>i</a:t>
            </a:r>
            <a:r>
              <a:rPr lang="zh-CN" altLang="en-US" b="1"/>
              <a:t>，</a:t>
            </a:r>
            <a:r>
              <a:rPr lang="en-US" altLang="zh-CN" b="1" i="1"/>
              <a:t>C</a:t>
            </a:r>
            <a:r>
              <a:rPr lang="en-US" altLang="zh-CN" b="1" baseline="-25000"/>
              <a:t>j</a:t>
            </a:r>
            <a:r>
              <a:rPr lang="en-US" altLang="zh-CN" b="1"/>
              <a:t>)&gt;=</a:t>
            </a:r>
            <a:r>
              <a:rPr lang="en-US" altLang="zh-CN" b="1" i="1"/>
              <a:t>sim</a:t>
            </a:r>
            <a:r>
              <a:rPr lang="en-US" altLang="zh-CN" b="1"/>
              <a:t>(</a:t>
            </a:r>
            <a:r>
              <a:rPr lang="en-US" altLang="zh-CN" b="1" i="1"/>
              <a:t>t</a:t>
            </a:r>
            <a:r>
              <a:rPr lang="en-US" altLang="zh-CN" b="1" baseline="-25000"/>
              <a:t>i</a:t>
            </a:r>
            <a:r>
              <a:rPr lang="zh-CN" altLang="en-US" b="1"/>
              <a:t>，</a:t>
            </a:r>
            <a:r>
              <a:rPr lang="en-US" altLang="zh-CN" b="1" i="1"/>
              <a:t>C</a:t>
            </a:r>
            <a:r>
              <a:rPr lang="en-US" altLang="zh-CN" b="1" baseline="-25000"/>
              <a:t>l</a:t>
            </a:r>
            <a:r>
              <a:rPr lang="en-US" altLang="zh-CN" b="1"/>
              <a:t>) </a:t>
            </a:r>
            <a:r>
              <a:rPr lang="zh-CN" altLang="en-US" b="1"/>
              <a:t>，</a:t>
            </a:r>
            <a:r>
              <a:rPr lang="zh-CN" altLang="en-US" b="1">
                <a:sym typeface="Symbol" panose="05050102010706020507" pitchFamily="18" charset="2"/>
              </a:rPr>
              <a:t></a:t>
            </a:r>
            <a:r>
              <a:rPr lang="en-US" altLang="zh-CN" b="1" i="1"/>
              <a:t>C</a:t>
            </a:r>
            <a:r>
              <a:rPr lang="en-US" altLang="zh-CN" b="1" baseline="-25000"/>
              <a:t>l</a:t>
            </a:r>
            <a:r>
              <a:rPr lang="en-US" altLang="zh-CN" b="1"/>
              <a:t>∈</a:t>
            </a:r>
            <a:r>
              <a:rPr lang="en-US" altLang="zh-CN" b="1" i="1"/>
              <a:t>C</a:t>
            </a:r>
            <a:r>
              <a:rPr lang="zh-CN" altLang="en-US" b="1"/>
              <a:t>，</a:t>
            </a:r>
            <a:r>
              <a:rPr lang="en-US" altLang="zh-CN" b="1" i="1"/>
              <a:t>C</a:t>
            </a:r>
            <a:r>
              <a:rPr lang="en-US" altLang="zh-CN" b="1" baseline="-25000"/>
              <a:t>l</a:t>
            </a:r>
            <a:r>
              <a:rPr lang="en-US" altLang="zh-CN" b="1"/>
              <a:t>≠</a:t>
            </a:r>
            <a:r>
              <a:rPr lang="en-US" altLang="zh-CN" b="1" i="1"/>
              <a:t>C</a:t>
            </a:r>
            <a:r>
              <a:rPr lang="en-US" altLang="zh-CN" b="1" baseline="-25000"/>
              <a:t>j</a:t>
            </a:r>
            <a:r>
              <a:rPr lang="zh-CN" altLang="en-US" b="1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其中</a:t>
            </a:r>
            <a:r>
              <a:rPr lang="en-US" altLang="zh-CN" b="1" i="1"/>
              <a:t>sim</a:t>
            </a:r>
            <a:r>
              <a:rPr lang="en-US" altLang="zh-CN" b="1"/>
              <a:t>(</a:t>
            </a:r>
            <a:r>
              <a:rPr lang="en-US" altLang="zh-CN" b="1" i="1"/>
              <a:t>t</a:t>
            </a:r>
            <a:r>
              <a:rPr lang="en-US" altLang="zh-CN" b="1" baseline="-25000"/>
              <a:t>i</a:t>
            </a:r>
            <a:r>
              <a:rPr lang="zh-CN" altLang="en-US" b="1"/>
              <a:t>，</a:t>
            </a:r>
            <a:r>
              <a:rPr lang="en-US" altLang="zh-CN" b="1" i="1"/>
              <a:t>C</a:t>
            </a:r>
            <a:r>
              <a:rPr lang="en-US" altLang="zh-CN" b="1" baseline="-25000"/>
              <a:t>j</a:t>
            </a:r>
            <a:r>
              <a:rPr lang="en-US" altLang="zh-CN" b="1"/>
              <a:t>)</a:t>
            </a:r>
            <a:r>
              <a:rPr lang="zh-CN" altLang="en-US" b="1"/>
              <a:t>被称为相似性。</a:t>
            </a:r>
          </a:p>
          <a:p>
            <a:pPr eaLnBrk="1" hangingPunct="1"/>
            <a:r>
              <a:rPr lang="zh-CN" altLang="en-US" b="1">
                <a:solidFill>
                  <a:srgbClr val="000066"/>
                </a:solidFill>
              </a:rPr>
              <a:t>在实际的计算中往往用</a:t>
            </a:r>
            <a:r>
              <a:rPr lang="zh-CN" altLang="en-US" b="1">
                <a:solidFill>
                  <a:schemeClr val="hlink"/>
                </a:solidFill>
              </a:rPr>
              <a:t>距离</a:t>
            </a:r>
            <a:r>
              <a:rPr lang="zh-CN" altLang="en-US" b="1">
                <a:solidFill>
                  <a:srgbClr val="000066"/>
                </a:solidFill>
              </a:rPr>
              <a:t>来表征，距离越近，相似性越大，距离越远，相似性越小。</a:t>
            </a:r>
          </a:p>
          <a:p>
            <a:pPr eaLnBrk="1" hangingPunct="1"/>
            <a:r>
              <a:rPr lang="zh-CN" altLang="en-US" b="1"/>
              <a:t>距离的计算方法有多种，最常用的是通过计算每个类的中心来完成。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日期占位符 3">
            <a:extLst>
              <a:ext uri="{FF2B5EF4-FFF2-40B4-BE49-F238E27FC236}">
                <a16:creationId xmlns:a16="http://schemas.microsoft.com/office/drawing/2014/main" id="{6BF08A87-30A0-4187-841E-28436175D0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E08F78-72C9-4536-B177-9F587862E267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2" name="页脚占位符 4">
            <a:extLst>
              <a:ext uri="{FF2B5EF4-FFF2-40B4-BE49-F238E27FC236}">
                <a16:creationId xmlns:a16="http://schemas.microsoft.com/office/drawing/2014/main" id="{6940EBD8-AD63-493C-B660-C394C9F9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5603" name="灯片编号占位符 5">
            <a:extLst>
              <a:ext uri="{FF2B5EF4-FFF2-40B4-BE49-F238E27FC236}">
                <a16:creationId xmlns:a16="http://schemas.microsoft.com/office/drawing/2014/main" id="{3E2C4033-C5AD-4600-B4C3-F3865A636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C6471B-9F6E-48CC-B3D4-5A40829B800A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D0720D83-DC30-4E3F-81EC-BE6BE9B7F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 基于距离的分类搜索算法描述</a:t>
            </a:r>
            <a:endParaRPr lang="en-US" altLang="zh-CN"/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43E301C8-53D6-4471-9934-0D7CDE101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zh-CN" altLang="en-US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/>
              <a:t>算法 </a:t>
            </a:r>
            <a:r>
              <a:rPr lang="en-US" altLang="zh-CN"/>
              <a:t>4-1</a:t>
            </a:r>
            <a:r>
              <a:rPr lang="zh-CN" altLang="en-US"/>
              <a:t>通过对每个元组和各个类的中心来比较，从而可以找出他的最近的类中心，得到确定的类别标记。</a:t>
            </a:r>
          </a:p>
        </p:txBody>
      </p:sp>
      <p:sp>
        <p:nvSpPr>
          <p:cNvPr id="25606" name="Text Box 4">
            <a:extLst>
              <a:ext uri="{FF2B5EF4-FFF2-40B4-BE49-F238E27FC236}">
                <a16:creationId xmlns:a16="http://schemas.microsoft.com/office/drawing/2014/main" id="{EC7BE934-39F8-4D44-857F-B1068BD1B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52513"/>
            <a:ext cx="7848600" cy="317023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>
                <a:latin typeface="Tahoma" panose="020B0604030504040204" pitchFamily="34" charset="0"/>
                <a:ea typeface="宋体" panose="02010600030101010101" pitchFamily="2" charset="-122"/>
              </a:rPr>
              <a:t>算法 </a:t>
            </a:r>
            <a:r>
              <a:rPr lang="en-US" altLang="zh-CN" sz="2000" b="1">
                <a:latin typeface="Tahoma" panose="020B0604030504040204" pitchFamily="34" charset="0"/>
                <a:ea typeface="宋体" panose="02010600030101010101" pitchFamily="2" charset="-122"/>
              </a:rPr>
              <a:t>4-1 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基于距离的分类算法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输入：每个类的中心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；待分类的元组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。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输出：输出类别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。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dist=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∞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//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距离初始化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FOR i:=1 to m DO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）	   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IF 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dis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i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)&lt;dist THEN BEGIN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da-DK" altLang="zh-CN" sz="20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da-DK" sz="2000">
                <a:latin typeface="Tahoma" panose="020B0604030504040204" pitchFamily="34" charset="0"/>
                <a:ea typeface="宋体" panose="02010600030101010101" pitchFamily="2" charset="-122"/>
              </a:rPr>
              <a:t>）		</a:t>
            </a:r>
            <a:r>
              <a:rPr lang="da-DK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da-DK" altLang="zh-CN" sz="2000">
                <a:latin typeface="Tahoma" panose="020B0604030504040204" pitchFamily="34" charset="0"/>
                <a:ea typeface="宋体" panose="02010600030101010101" pitchFamily="2" charset="-122"/>
              </a:rPr>
              <a:t>← i</a:t>
            </a:r>
            <a:r>
              <a:rPr lang="zh-CN" altLang="da-DK" sz="2000">
                <a:latin typeface="Tahoma" panose="020B0604030504040204" pitchFamily="34" charset="0"/>
                <a:ea typeface="宋体" panose="02010600030101010101" pitchFamily="2" charset="-122"/>
              </a:rPr>
              <a:t>；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da-DK" sz="20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da-DK" altLang="zh-CN" sz="20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lang="zh-CN" altLang="da-DK" sz="2000">
                <a:latin typeface="Tahoma" panose="020B0604030504040204" pitchFamily="34" charset="0"/>
                <a:ea typeface="宋体" panose="02010600030101010101" pitchFamily="2" charset="-122"/>
              </a:rPr>
              <a:t>）		</a:t>
            </a:r>
            <a:r>
              <a:rPr lang="da-DK" altLang="zh-CN" sz="2000">
                <a:latin typeface="Tahoma" panose="020B0604030504040204" pitchFamily="34" charset="0"/>
                <a:ea typeface="宋体" panose="02010600030101010101" pitchFamily="2" charset="-122"/>
              </a:rPr>
              <a:t>dist←dist(</a:t>
            </a:r>
            <a:r>
              <a:rPr lang="da-DK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da-DK" altLang="zh-CN" sz="2000" baseline="-25000">
                <a:latin typeface="Tahoma" panose="020B0604030504040204" pitchFamily="34" charset="0"/>
                <a:ea typeface="宋体" panose="02010600030101010101" pitchFamily="2" charset="-122"/>
              </a:rPr>
              <a:t>i</a:t>
            </a:r>
            <a:r>
              <a:rPr lang="zh-CN" altLang="da-DK" sz="200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da-DK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da-DK" altLang="zh-CN" sz="200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  <a:r>
              <a:rPr lang="zh-CN" altLang="da-DK" sz="2000">
                <a:latin typeface="Tahoma" panose="020B0604030504040204" pitchFamily="34" charset="0"/>
                <a:ea typeface="宋体" panose="02010600030101010101" pitchFamily="2" charset="-122"/>
              </a:rPr>
              <a:t>；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da-DK" sz="20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da-DK" altLang="zh-CN" sz="2000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  <a:r>
              <a:rPr lang="zh-CN" altLang="da-DK" sz="2000">
                <a:latin typeface="Tahoma" panose="020B0604030504040204" pitchFamily="34" charset="0"/>
                <a:ea typeface="宋体" panose="02010600030101010101" pitchFamily="2" charset="-122"/>
              </a:rPr>
              <a:t>）	   </a:t>
            </a:r>
            <a:r>
              <a:rPr lang="da-DK" altLang="zh-CN" sz="2000">
                <a:latin typeface="Tahoma" panose="020B0604030504040204" pitchFamily="34" charset="0"/>
                <a:ea typeface="宋体" panose="02010600030101010101" pitchFamily="2" charset="-122"/>
              </a:rPr>
              <a:t>END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endParaRPr lang="en-US" altLang="zh-CN" sz="200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） 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flag 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 with </a:t>
            </a:r>
            <a:r>
              <a:rPr lang="en-US" altLang="zh-CN" sz="2000" i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.</a:t>
            </a:r>
            <a:endParaRPr lang="zh-CN" altLang="en-US" sz="20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日期占位符 3">
            <a:extLst>
              <a:ext uri="{FF2B5EF4-FFF2-40B4-BE49-F238E27FC236}">
                <a16:creationId xmlns:a16="http://schemas.microsoft.com/office/drawing/2014/main" id="{250BBFF9-D6B0-4206-9B4B-E954F929E1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6E1E40-3E31-47F8-99C6-AF1E1508386F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6" name="页脚占位符 4">
            <a:extLst>
              <a:ext uri="{FF2B5EF4-FFF2-40B4-BE49-F238E27FC236}">
                <a16:creationId xmlns:a16="http://schemas.microsoft.com/office/drawing/2014/main" id="{566C612B-8976-4FD4-BFA9-17466ACE7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6627" name="灯片编号占位符 5">
            <a:extLst>
              <a:ext uri="{FF2B5EF4-FFF2-40B4-BE49-F238E27FC236}">
                <a16:creationId xmlns:a16="http://schemas.microsoft.com/office/drawing/2014/main" id="{36646421-51E3-4EE5-B51B-DCFF3F75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CEBDC0-8A6B-466C-9CF4-7856F1C9DECD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D3493273-424B-48AB-9EE8-271B1E5B6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基于距离的分类方法的直观解释</a:t>
            </a:r>
            <a:endParaRPr lang="en-US" altLang="zh-CN"/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04C5F71A-6E33-4113-92BE-7E95F00FAB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6630" name="Text Box 4">
            <a:extLst>
              <a:ext uri="{FF2B5EF4-FFF2-40B4-BE49-F238E27FC236}">
                <a16:creationId xmlns:a16="http://schemas.microsoft.com/office/drawing/2014/main" id="{C2E84AF5-30C8-4C49-BFEB-AFD57D1AF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738" y="22240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6631" name="Picture 7" descr="ZHOU2">
            <a:extLst>
              <a:ext uri="{FF2B5EF4-FFF2-40B4-BE49-F238E27FC236}">
                <a16:creationId xmlns:a16="http://schemas.microsoft.com/office/drawing/2014/main" id="{9D57D6E6-9CE1-46FE-83A2-1EB1E1B4C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989138"/>
            <a:ext cx="1724025" cy="168592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</p:pic>
      <p:pic>
        <p:nvPicPr>
          <p:cNvPr id="26632" name="Picture 6" descr="ZHOU2">
            <a:extLst>
              <a:ext uri="{FF2B5EF4-FFF2-40B4-BE49-F238E27FC236}">
                <a16:creationId xmlns:a16="http://schemas.microsoft.com/office/drawing/2014/main" id="{274BCA9A-3675-4B27-B72B-39A32D45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2060575"/>
            <a:ext cx="1724025" cy="1685925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3" name="Picture 5" descr="ZHOU1">
            <a:extLst>
              <a:ext uri="{FF2B5EF4-FFF2-40B4-BE49-F238E27FC236}">
                <a16:creationId xmlns:a16="http://schemas.microsoft.com/office/drawing/2014/main" id="{B1574FD7-B752-4290-8359-FC374CE4A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2060575"/>
            <a:ext cx="1714500" cy="1676400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34" name="Rectangle 8">
            <a:extLst>
              <a:ext uri="{FF2B5EF4-FFF2-40B4-BE49-F238E27FC236}">
                <a16:creationId xmlns:a16="http://schemas.microsoft.com/office/drawing/2014/main" id="{FB5B54BE-7147-4B63-B077-C1B58485C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5" name="Rectangle 9">
            <a:extLst>
              <a:ext uri="{FF2B5EF4-FFF2-40B4-BE49-F238E27FC236}">
                <a16:creationId xmlns:a16="http://schemas.microsoft.com/office/drawing/2014/main" id="{4FE2A8EE-E866-4443-9348-941AF20C7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71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36" name="Rectangle 11">
            <a:extLst>
              <a:ext uri="{FF2B5EF4-FFF2-40B4-BE49-F238E27FC236}">
                <a16:creationId xmlns:a16="http://schemas.microsoft.com/office/drawing/2014/main" id="{04463AC0-EC7C-4366-BA90-1BAB7D393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933825"/>
            <a:ext cx="1597025" cy="406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Tahoma" panose="020B060403050404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000">
                <a:latin typeface="Tahoma" panose="020B0604030504040204" pitchFamily="34" charset="0"/>
                <a:ea typeface="宋体" panose="02010600030101010101" pitchFamily="2" charset="-122"/>
              </a:rPr>
              <a:t>）类定义</a:t>
            </a:r>
          </a:p>
        </p:txBody>
      </p:sp>
      <p:sp>
        <p:nvSpPr>
          <p:cNvPr id="26637" name="Rectangle 13">
            <a:extLst>
              <a:ext uri="{FF2B5EF4-FFF2-40B4-BE49-F238E27FC236}">
                <a16:creationId xmlns:a16="http://schemas.microsoft.com/office/drawing/2014/main" id="{30F6AC66-D073-43D2-8CB9-0037FC14B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3984625"/>
            <a:ext cx="1920875" cy="376238"/>
          </a:xfrm>
          <a:prstGeom prst="rect">
            <a:avLst/>
          </a:prstGeom>
          <a:noFill/>
          <a:ln w="9525">
            <a:solidFill>
              <a:srgbClr val="00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）待分类样例</a:t>
            </a:r>
          </a:p>
        </p:txBody>
      </p:sp>
      <p:sp>
        <p:nvSpPr>
          <p:cNvPr id="26638" name="Rectangle 14">
            <a:extLst>
              <a:ext uri="{FF2B5EF4-FFF2-40B4-BE49-F238E27FC236}">
                <a16:creationId xmlns:a16="http://schemas.microsoft.com/office/drawing/2014/main" id="{00E73B22-F7D4-4799-ACD3-6D6C0E28D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005263"/>
            <a:ext cx="1670050" cy="376237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800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1800">
                <a:latin typeface="Tahoma" panose="020B0604030504040204" pitchFamily="34" charset="0"/>
                <a:ea typeface="宋体" panose="02010600030101010101" pitchFamily="2" charset="-122"/>
              </a:rPr>
              <a:t>）分类结果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61081CE-76E2-4984-A661-0CC56DAB7B29}"/>
              </a:ext>
            </a:extLst>
          </p:cNvPr>
          <p:cNvSpPr>
            <a:spLocks noGrp="1" noRot="1" noChangeArrowheads="1"/>
          </p:cNvSpPr>
          <p:nvPr>
            <p:ph type="ctrTitle" idx="4294967295"/>
          </p:nvPr>
        </p:nvSpPr>
        <p:spPr>
          <a:xfrm>
            <a:off x="685800" y="2286000"/>
            <a:ext cx="7772400" cy="1143000"/>
          </a:xfrm>
        </p:spPr>
        <p:txBody>
          <a:bodyPr anchorCtr="0"/>
          <a:lstStyle/>
          <a:p>
            <a:pPr algn="ctr"/>
            <a:r>
              <a:rPr lang="en-US" altLang="zh-CN" sz="5400" dirty="0"/>
              <a:t>K-</a:t>
            </a:r>
            <a:r>
              <a:rPr lang="zh-CN" altLang="en-US" sz="5400" dirty="0"/>
              <a:t>最近邻分类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EDFF946-0761-46F0-8E89-70B6E27841B3}"/>
              </a:ext>
            </a:extLst>
          </p:cNvPr>
          <p:cNvSpPr>
            <a:spLocks noGrp="1" noRot="1" noChangeArrowheads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31">
            <a:extLst>
              <a:ext uri="{FF2B5EF4-FFF2-40B4-BE49-F238E27FC236}">
                <a16:creationId xmlns:a16="http://schemas.microsoft.com/office/drawing/2014/main" id="{80AC25F4-1FDD-4512-AFAF-4BC0D8EC8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865188"/>
            <a:ext cx="27717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c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类问题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,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设</a:t>
            </a:r>
          </a:p>
        </p:txBody>
      </p:sp>
      <p:graphicFrame>
        <p:nvGraphicFramePr>
          <p:cNvPr id="36867" name="Object 148">
            <a:extLst>
              <a:ext uri="{FF2B5EF4-FFF2-40B4-BE49-F238E27FC236}">
                <a16:creationId xmlns:a16="http://schemas.microsoft.com/office/drawing/2014/main" id="{AE73CDEB-2E11-4302-96B1-76FC627854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857250"/>
          <a:ext cx="62039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18" name="Equation" r:id="rId3" imgW="2222280" imgH="253800" progId="Equation.DSMT4">
                  <p:embed/>
                </p:oleObj>
              </mc:Choice>
              <mc:Fallback>
                <p:oleObj name="Equation" r:id="rId3" imgW="2222280" imgH="253800" progId="Equation.DSMT4">
                  <p:embed/>
                  <p:pic>
                    <p:nvPicPr>
                      <p:cNvPr id="36867" name="Object 148">
                        <a:extLst>
                          <a:ext uri="{FF2B5EF4-FFF2-40B4-BE49-F238E27FC236}">
                            <a16:creationId xmlns:a16="http://schemas.microsoft.com/office/drawing/2014/main" id="{AE73CDEB-2E11-4302-96B1-76FC627854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857250"/>
                        <a:ext cx="620395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Rectangle 110">
            <a:extLst>
              <a:ext uri="{FF2B5EF4-FFF2-40B4-BE49-F238E27FC236}">
                <a16:creationId xmlns:a16="http://schemas.microsoft.com/office/drawing/2014/main" id="{63FD50C2-19DD-4A05-8407-AC8DE7E2E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60350"/>
            <a:ext cx="85693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最近邻方法			</a:t>
            </a:r>
            <a:r>
              <a:rPr lang="zh-CN" altLang="en-US" sz="3200" b="1" dirty="0">
                <a:solidFill>
                  <a:schemeClr val="bg2"/>
                </a:solidFill>
                <a:latin typeface="楷体_GB2312"/>
                <a:ea typeface="楷体_GB2312"/>
                <a:cs typeface="楷体_GB2312"/>
              </a:rPr>
              <a:t>最近邻决策规则</a:t>
            </a:r>
            <a:r>
              <a:rPr lang="en-US" altLang="zh-CN" sz="3200" b="1" dirty="0">
                <a:solidFill>
                  <a:schemeClr val="bg2"/>
                </a:solidFill>
                <a:ea typeface="楷体_GB2312"/>
                <a:cs typeface="楷体_GB2312"/>
              </a:rPr>
              <a:t>—</a:t>
            </a:r>
            <a:r>
              <a:rPr lang="en-US" altLang="zh-CN" sz="3200" b="1" dirty="0">
                <a:solidFill>
                  <a:schemeClr val="bg2"/>
                </a:solidFill>
                <a:latin typeface="楷体_GB2312"/>
                <a:ea typeface="楷体_GB2312"/>
                <a:cs typeface="楷体_GB2312"/>
              </a:rPr>
              <a:t>1-NN</a:t>
            </a:r>
          </a:p>
        </p:txBody>
      </p:sp>
      <p:grpSp>
        <p:nvGrpSpPr>
          <p:cNvPr id="36869" name="Group 163">
            <a:extLst>
              <a:ext uri="{FF2B5EF4-FFF2-40B4-BE49-F238E27FC236}">
                <a16:creationId xmlns:a16="http://schemas.microsoft.com/office/drawing/2014/main" id="{CAAB6A92-D71C-4A97-B1A1-33B3217E1283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1643063"/>
            <a:ext cx="8858250" cy="2800350"/>
            <a:chOff x="385" y="1389"/>
            <a:chExt cx="5580" cy="1764"/>
          </a:xfrm>
        </p:grpSpPr>
        <p:sp>
          <p:nvSpPr>
            <p:cNvPr id="36870" name="Text Box 132">
              <a:extLst>
                <a:ext uri="{FF2B5EF4-FFF2-40B4-BE49-F238E27FC236}">
                  <a16:creationId xmlns:a16="http://schemas.microsoft.com/office/drawing/2014/main" id="{034A40F4-A70C-4000-963C-9452997C0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389"/>
              <a:ext cx="5580" cy="17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FF66"/>
                  </a:solidFill>
                  <a:latin typeface="楷体_GB2312"/>
                  <a:ea typeface="楷体_GB2312"/>
                  <a:cs typeface="楷体_GB2312"/>
                </a:rPr>
                <a:t>最近邻分类规则</a:t>
              </a:r>
              <a:r>
                <a:rPr lang="en-US" altLang="zh-CN" sz="3200" b="1" dirty="0">
                  <a:solidFill>
                    <a:srgbClr val="FFFF66"/>
                  </a:solidFill>
                  <a:latin typeface="楷体_GB2312"/>
                  <a:ea typeface="楷体_GB2312"/>
                  <a:cs typeface="楷体_GB2312"/>
                </a:rPr>
                <a:t>: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sz="3200" b="1" dirty="0">
                  <a:latin typeface="Times New Roman" panose="02020603050405020304" pitchFamily="18" charset="0"/>
                </a:rPr>
                <a:t>       </a:t>
              </a:r>
              <a:r>
                <a:rPr lang="zh-CN" altLang="en-US" sz="3200" b="1" dirty="0">
                  <a:latin typeface="楷体_GB2312"/>
                  <a:ea typeface="楷体_GB2312"/>
                  <a:cs typeface="楷体_GB2312"/>
                </a:rPr>
                <a:t>对待识别模式   </a:t>
              </a:r>
              <a:r>
                <a:rPr lang="en-US" altLang="zh-CN" sz="3200" b="1" dirty="0">
                  <a:latin typeface="楷体_GB2312"/>
                  <a:ea typeface="楷体_GB2312"/>
                  <a:cs typeface="楷体_GB2312"/>
                </a:rPr>
                <a:t>, </a:t>
              </a:r>
              <a:r>
                <a:rPr lang="zh-CN" altLang="en-US" sz="3200" b="1" dirty="0">
                  <a:latin typeface="楷体_GB2312"/>
                  <a:ea typeface="楷体_GB2312"/>
                  <a:cs typeface="楷体_GB2312"/>
                </a:rPr>
                <a:t>分别计算它与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sz="3200" b="1" dirty="0">
                  <a:latin typeface="楷体_GB2312"/>
                  <a:ea typeface="楷体_GB2312"/>
                  <a:cs typeface="楷体_GB2312"/>
                </a:rPr>
                <a:t>个已知类别的样本    的距离</a:t>
              </a:r>
              <a:r>
                <a:rPr lang="en-US" altLang="zh-CN" sz="3200" b="1" dirty="0">
                  <a:latin typeface="楷体_GB2312"/>
                  <a:ea typeface="楷体_GB2312"/>
                  <a:cs typeface="楷体_GB2312"/>
                </a:rPr>
                <a:t>,</a:t>
              </a:r>
              <a:r>
                <a:rPr lang="zh-CN" altLang="en-US" sz="3200" b="1" dirty="0">
                  <a:latin typeface="楷体_GB2312"/>
                  <a:ea typeface="楷体_GB2312"/>
                  <a:cs typeface="楷体_GB2312"/>
                </a:rPr>
                <a:t>将它判为距离最近的那个样本所属的类。</a:t>
              </a:r>
              <a:endParaRPr lang="en-US" altLang="zh-CN" sz="3200" b="1" dirty="0">
                <a:latin typeface="楷体_GB2312"/>
                <a:ea typeface="楷体_GB2312"/>
                <a:cs typeface="楷体_GB2312"/>
              </a:endParaRPr>
            </a:p>
          </p:txBody>
        </p:sp>
        <p:graphicFrame>
          <p:nvGraphicFramePr>
            <p:cNvPr id="36871" name="Object 150">
              <a:extLst>
                <a:ext uri="{FF2B5EF4-FFF2-40B4-BE49-F238E27FC236}">
                  <a16:creationId xmlns:a16="http://schemas.microsoft.com/office/drawing/2014/main" id="{C9D23E02-99C0-4B9B-8B3D-6AB7EA53F6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7829168"/>
                </p:ext>
              </p:extLst>
            </p:nvPr>
          </p:nvGraphicFramePr>
          <p:xfrm>
            <a:off x="4418" y="1578"/>
            <a:ext cx="1294" cy="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19" name="Equation" r:id="rId5" imgW="660240" imgH="431640" progId="Equation.DSMT4">
                    <p:embed/>
                  </p:oleObj>
                </mc:Choice>
                <mc:Fallback>
                  <p:oleObj name="Equation" r:id="rId5" imgW="660240" imgH="431640" progId="Equation.DSMT4">
                    <p:embed/>
                    <p:pic>
                      <p:nvPicPr>
                        <p:cNvPr id="36871" name="Object 150">
                          <a:extLst>
                            <a:ext uri="{FF2B5EF4-FFF2-40B4-BE49-F238E27FC236}">
                              <a16:creationId xmlns:a16="http://schemas.microsoft.com/office/drawing/2014/main" id="{C9D23E02-99C0-4B9B-8B3D-6AB7EA53F6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8" y="1578"/>
                          <a:ext cx="1294" cy="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2" name="Object 155">
              <a:extLst>
                <a:ext uri="{FF2B5EF4-FFF2-40B4-BE49-F238E27FC236}">
                  <a16:creationId xmlns:a16="http://schemas.microsoft.com/office/drawing/2014/main" id="{471462F1-2626-4564-91F1-BB9F18653EF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6926368"/>
                </p:ext>
              </p:extLst>
            </p:nvPr>
          </p:nvGraphicFramePr>
          <p:xfrm>
            <a:off x="2384" y="2178"/>
            <a:ext cx="483" cy="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0" name="Equation" r:id="rId7" imgW="228600" imgH="253800" progId="Equation.DSMT4">
                    <p:embed/>
                  </p:oleObj>
                </mc:Choice>
                <mc:Fallback>
                  <p:oleObj name="Equation" r:id="rId7" imgW="228600" imgH="253800" progId="Equation.DSMT4">
                    <p:embed/>
                    <p:pic>
                      <p:nvPicPr>
                        <p:cNvPr id="36872" name="Object 155">
                          <a:extLst>
                            <a:ext uri="{FF2B5EF4-FFF2-40B4-BE49-F238E27FC236}">
                              <a16:creationId xmlns:a16="http://schemas.microsoft.com/office/drawing/2014/main" id="{471462F1-2626-4564-91F1-BB9F18653EF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4" y="2178"/>
                          <a:ext cx="483" cy="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3" name="Object 162">
              <a:extLst>
                <a:ext uri="{FF2B5EF4-FFF2-40B4-BE49-F238E27FC236}">
                  <a16:creationId xmlns:a16="http://schemas.microsoft.com/office/drawing/2014/main" id="{9C3CDD69-067C-4ADE-A9A6-9DF6BF5EF3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55" y="1704"/>
            <a:ext cx="315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1" name="Equation" r:id="rId9" imgW="126720" imgH="177480" progId="Equation.DSMT4">
                    <p:embed/>
                  </p:oleObj>
                </mc:Choice>
                <mc:Fallback>
                  <p:oleObj name="Equation" r:id="rId9" imgW="126720" imgH="177480" progId="Equation.DSMT4">
                    <p:embed/>
                    <p:pic>
                      <p:nvPicPr>
                        <p:cNvPr id="36873" name="Object 162">
                          <a:extLst>
                            <a:ext uri="{FF2B5EF4-FFF2-40B4-BE49-F238E27FC236}">
                              <a16:creationId xmlns:a16="http://schemas.microsoft.com/office/drawing/2014/main" id="{9C3CDD69-067C-4ADE-A9A6-9DF6BF5EF33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5" y="1704"/>
                          <a:ext cx="315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6">
            <a:extLst>
              <a:ext uri="{FF2B5EF4-FFF2-40B4-BE49-F238E27FC236}">
                <a16:creationId xmlns:a16="http://schemas.microsoft.com/office/drawing/2014/main" id="{2827B877-261F-4F30-A063-E53E02BB1583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429125"/>
            <a:ext cx="8389937" cy="2357438"/>
            <a:chOff x="385" y="2790"/>
            <a:chExt cx="5285" cy="1485"/>
          </a:xfrm>
        </p:grpSpPr>
        <p:graphicFrame>
          <p:nvGraphicFramePr>
            <p:cNvPr id="36875" name="Object 151">
              <a:extLst>
                <a:ext uri="{FF2B5EF4-FFF2-40B4-BE49-F238E27FC236}">
                  <a16:creationId xmlns:a16="http://schemas.microsoft.com/office/drawing/2014/main" id="{89F7C911-8B21-4B0B-910A-B9BAF84465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0" y="2790"/>
            <a:ext cx="3085" cy="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2" name="Equation" r:id="rId11" imgW="1473120" imgH="380880" progId="Equation.DSMT4">
                    <p:embed/>
                  </p:oleObj>
                </mc:Choice>
                <mc:Fallback>
                  <p:oleObj name="Equation" r:id="rId11" imgW="1473120" imgH="380880" progId="Equation.DSMT4">
                    <p:embed/>
                    <p:pic>
                      <p:nvPicPr>
                        <p:cNvPr id="36875" name="Object 151">
                          <a:extLst>
                            <a:ext uri="{FF2B5EF4-FFF2-40B4-BE49-F238E27FC236}">
                              <a16:creationId xmlns:a16="http://schemas.microsoft.com/office/drawing/2014/main" id="{89F7C911-8B21-4B0B-910A-B9BAF84465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0" y="2790"/>
                          <a:ext cx="3085" cy="7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6" name="Object 152">
              <a:extLst>
                <a:ext uri="{FF2B5EF4-FFF2-40B4-BE49-F238E27FC236}">
                  <a16:creationId xmlns:a16="http://schemas.microsoft.com/office/drawing/2014/main" id="{A79CF345-DA3F-4477-AFCB-E7DE50A497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4" y="2970"/>
            <a:ext cx="1516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3" name="Equation" r:id="rId13" imgW="749160" imgH="203040" progId="Equation.DSMT4">
                    <p:embed/>
                  </p:oleObj>
                </mc:Choice>
                <mc:Fallback>
                  <p:oleObj name="Equation" r:id="rId13" imgW="749160" imgH="203040" progId="Equation.DSMT4">
                    <p:embed/>
                    <p:pic>
                      <p:nvPicPr>
                        <p:cNvPr id="36876" name="Object 152">
                          <a:extLst>
                            <a:ext uri="{FF2B5EF4-FFF2-40B4-BE49-F238E27FC236}">
                              <a16:creationId xmlns:a16="http://schemas.microsoft.com/office/drawing/2014/main" id="{A79CF345-DA3F-4477-AFCB-E7DE50A497E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4" y="2970"/>
                          <a:ext cx="1516" cy="40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7" name="Object 153">
              <a:extLst>
                <a:ext uri="{FF2B5EF4-FFF2-40B4-BE49-F238E27FC236}">
                  <a16:creationId xmlns:a16="http://schemas.microsoft.com/office/drawing/2014/main" id="{8793AF1E-1D45-4C26-BA54-1AD6C4EA5B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5" y="3624"/>
            <a:ext cx="2362" cy="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4" name="Equation" r:id="rId15" imgW="1244520" imgH="342720" progId="Equation.DSMT4">
                    <p:embed/>
                  </p:oleObj>
                </mc:Choice>
                <mc:Fallback>
                  <p:oleObj name="Equation" r:id="rId15" imgW="1244520" imgH="342720" progId="Equation.DSMT4">
                    <p:embed/>
                    <p:pic>
                      <p:nvPicPr>
                        <p:cNvPr id="36877" name="Object 153">
                          <a:extLst>
                            <a:ext uri="{FF2B5EF4-FFF2-40B4-BE49-F238E27FC236}">
                              <a16:creationId xmlns:a16="http://schemas.microsoft.com/office/drawing/2014/main" id="{8793AF1E-1D45-4C26-BA54-1AD6C4EA5B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3624"/>
                          <a:ext cx="2362" cy="6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8" name="Object 154">
              <a:extLst>
                <a:ext uri="{FF2B5EF4-FFF2-40B4-BE49-F238E27FC236}">
                  <a16:creationId xmlns:a16="http://schemas.microsoft.com/office/drawing/2014/main" id="{5E1B1CED-FA39-4477-877E-2F469F50D3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39" y="3612"/>
            <a:ext cx="1021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25" name="Equation" r:id="rId17" imgW="444240" imgH="228600" progId="Equation.DSMT4">
                    <p:embed/>
                  </p:oleObj>
                </mc:Choice>
                <mc:Fallback>
                  <p:oleObj name="Equation" r:id="rId17" imgW="444240" imgH="228600" progId="Equation.DSMT4">
                    <p:embed/>
                    <p:pic>
                      <p:nvPicPr>
                        <p:cNvPr id="36878" name="Object 154">
                          <a:extLst>
                            <a:ext uri="{FF2B5EF4-FFF2-40B4-BE49-F238E27FC236}">
                              <a16:creationId xmlns:a16="http://schemas.microsoft.com/office/drawing/2014/main" id="{5E1B1CED-FA39-4477-877E-2F469F50D38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9" y="3612"/>
                          <a:ext cx="1021" cy="5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79" name="Text Box 156">
              <a:extLst>
                <a:ext uri="{FF2B5EF4-FFF2-40B4-BE49-F238E27FC236}">
                  <a16:creationId xmlns:a16="http://schemas.microsoft.com/office/drawing/2014/main" id="{21D20408-C296-43AE-A473-21A8DF261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612"/>
              <a:ext cx="68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如果</a:t>
              </a:r>
            </a:p>
          </p:txBody>
        </p:sp>
        <p:sp>
          <p:nvSpPr>
            <p:cNvPr id="36880" name="Text Box 157">
              <a:extLst>
                <a:ext uri="{FF2B5EF4-FFF2-40B4-BE49-F238E27FC236}">
                  <a16:creationId xmlns:a16="http://schemas.microsoft.com/office/drawing/2014/main" id="{2C6241BF-F87D-4034-B94A-13D7FE28E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1" y="3612"/>
              <a:ext cx="40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则</a:t>
              </a:r>
            </a:p>
          </p:txBody>
        </p:sp>
        <p:sp>
          <p:nvSpPr>
            <p:cNvPr id="36881" name="Text Box 164">
              <a:extLst>
                <a:ext uri="{FF2B5EF4-FFF2-40B4-BE49-F238E27FC236}">
                  <a16:creationId xmlns:a16="http://schemas.microsoft.com/office/drawing/2014/main" id="{64103EC0-E1EB-432E-AD4F-FB6711066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2925"/>
              <a:ext cx="36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即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>
            <a:extLst>
              <a:ext uri="{FF2B5EF4-FFF2-40B4-BE49-F238E27FC236}">
                <a16:creationId xmlns:a16="http://schemas.microsoft.com/office/drawing/2014/main" id="{6EE995DD-3227-4B28-ACDE-E45686535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1438"/>
            <a:ext cx="8569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最近邻方法			</a:t>
            </a:r>
            <a:r>
              <a:rPr lang="zh-CN" altLang="en-US" sz="3200" b="1" dirty="0">
                <a:solidFill>
                  <a:schemeClr val="bg2"/>
                </a:solidFill>
                <a:latin typeface="楷体_GB2312"/>
                <a:ea typeface="楷体_GB2312"/>
                <a:cs typeface="楷体_GB2312"/>
              </a:rPr>
              <a:t>最近邻决策规则</a:t>
            </a:r>
            <a:r>
              <a:rPr lang="en-US" altLang="zh-CN" sz="3200" b="1" dirty="0">
                <a:solidFill>
                  <a:schemeClr val="bg2"/>
                </a:solidFill>
                <a:ea typeface="楷体_GB2312"/>
                <a:cs typeface="楷体_GB2312"/>
              </a:rPr>
              <a:t>—</a:t>
            </a:r>
            <a:r>
              <a:rPr lang="en-US" altLang="zh-CN" sz="3200" b="1" dirty="0">
                <a:solidFill>
                  <a:schemeClr val="bg2"/>
                </a:solidFill>
                <a:latin typeface="楷体_GB2312"/>
                <a:ea typeface="楷体_GB2312"/>
                <a:cs typeface="楷体_GB2312"/>
              </a:rPr>
              <a:t>1-NN</a:t>
            </a:r>
          </a:p>
        </p:txBody>
      </p:sp>
      <p:sp>
        <p:nvSpPr>
          <p:cNvPr id="37891" name="Oval 18">
            <a:extLst>
              <a:ext uri="{FF2B5EF4-FFF2-40B4-BE49-F238E27FC236}">
                <a16:creationId xmlns:a16="http://schemas.microsoft.com/office/drawing/2014/main" id="{A3EA4B41-2847-40B2-82DF-4786AD1C1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25654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892" name="Oval 19">
            <a:extLst>
              <a:ext uri="{FF2B5EF4-FFF2-40B4-BE49-F238E27FC236}">
                <a16:creationId xmlns:a16="http://schemas.microsoft.com/office/drawing/2014/main" id="{2FD6C56F-94D0-466E-A600-7473885CE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0686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893" name="Oval 20">
            <a:extLst>
              <a:ext uri="{FF2B5EF4-FFF2-40B4-BE49-F238E27FC236}">
                <a16:creationId xmlns:a16="http://schemas.microsoft.com/office/drawing/2014/main" id="{4DF6E218-F719-4B79-969F-2FF3D305A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0686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894" name="Oval 21">
            <a:extLst>
              <a:ext uri="{FF2B5EF4-FFF2-40B4-BE49-F238E27FC236}">
                <a16:creationId xmlns:a16="http://schemas.microsoft.com/office/drawing/2014/main" id="{2D8EE912-FC47-470A-AEC7-6DEDEE973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8527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895" name="Oval 22">
            <a:extLst>
              <a:ext uri="{FF2B5EF4-FFF2-40B4-BE49-F238E27FC236}">
                <a16:creationId xmlns:a16="http://schemas.microsoft.com/office/drawing/2014/main" id="{4A7EC8DF-B575-4B1B-B997-2F752F242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5654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896" name="Oval 23">
            <a:extLst>
              <a:ext uri="{FF2B5EF4-FFF2-40B4-BE49-F238E27FC236}">
                <a16:creationId xmlns:a16="http://schemas.microsoft.com/office/drawing/2014/main" id="{41BDE4B9-107C-441A-B448-081D49BEB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276475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897" name="Oval 24">
            <a:extLst>
              <a:ext uri="{FF2B5EF4-FFF2-40B4-BE49-F238E27FC236}">
                <a16:creationId xmlns:a16="http://schemas.microsoft.com/office/drawing/2014/main" id="{12F30509-0703-4D58-82DA-4FFD424C0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21336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898" name="Oval 25">
            <a:extLst>
              <a:ext uri="{FF2B5EF4-FFF2-40B4-BE49-F238E27FC236}">
                <a16:creationId xmlns:a16="http://schemas.microsoft.com/office/drawing/2014/main" id="{9BF17615-F237-462C-8428-C45B9B97F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5654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899" name="Oval 26">
            <a:extLst>
              <a:ext uri="{FF2B5EF4-FFF2-40B4-BE49-F238E27FC236}">
                <a16:creationId xmlns:a16="http://schemas.microsoft.com/office/drawing/2014/main" id="{2B02D5A6-EDD6-4AA2-B75C-3D5C9034D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708275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0" name="Oval 27">
            <a:extLst>
              <a:ext uri="{FF2B5EF4-FFF2-40B4-BE49-F238E27FC236}">
                <a16:creationId xmlns:a16="http://schemas.microsoft.com/office/drawing/2014/main" id="{F4F450EF-766A-4C34-973F-82A58D5F2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2050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1" name="Oval 28">
            <a:extLst>
              <a:ext uri="{FF2B5EF4-FFF2-40B4-BE49-F238E27FC236}">
                <a16:creationId xmlns:a16="http://schemas.microsoft.com/office/drawing/2014/main" id="{A3C9A622-C422-48BF-9AA6-C44D709A6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141663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2" name="Oval 29">
            <a:extLst>
              <a:ext uri="{FF2B5EF4-FFF2-40B4-BE49-F238E27FC236}">
                <a16:creationId xmlns:a16="http://schemas.microsoft.com/office/drawing/2014/main" id="{829183A2-2303-4BEE-B698-056710B86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6368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3" name="Oval 30">
            <a:extLst>
              <a:ext uri="{FF2B5EF4-FFF2-40B4-BE49-F238E27FC236}">
                <a16:creationId xmlns:a16="http://schemas.microsoft.com/office/drawing/2014/main" id="{219943A8-5211-4C2A-9959-4C753AF08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31400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4" name="Oval 31">
            <a:extLst>
              <a:ext uri="{FF2B5EF4-FFF2-40B4-BE49-F238E27FC236}">
                <a16:creationId xmlns:a16="http://schemas.microsoft.com/office/drawing/2014/main" id="{FE9FFF33-FDCB-462A-85A3-0B1BACB74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1400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5" name="Oval 32">
            <a:extLst>
              <a:ext uri="{FF2B5EF4-FFF2-40B4-BE49-F238E27FC236}">
                <a16:creationId xmlns:a16="http://schemas.microsoft.com/office/drawing/2014/main" id="{5D26286C-8AE4-4886-9E74-DDDAF55D4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9241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6" name="Oval 33">
            <a:extLst>
              <a:ext uri="{FF2B5EF4-FFF2-40B4-BE49-F238E27FC236}">
                <a16:creationId xmlns:a16="http://schemas.microsoft.com/office/drawing/2014/main" id="{D6D6DDD8-2382-4CFB-B0AE-54537C59C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6368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7" name="Oval 34">
            <a:extLst>
              <a:ext uri="{FF2B5EF4-FFF2-40B4-BE49-F238E27FC236}">
                <a16:creationId xmlns:a16="http://schemas.microsoft.com/office/drawing/2014/main" id="{455392FC-ACC8-48FB-B884-AFC27731F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347913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8" name="Oval 35">
            <a:extLst>
              <a:ext uri="{FF2B5EF4-FFF2-40B4-BE49-F238E27FC236}">
                <a16:creationId xmlns:a16="http://schemas.microsoft.com/office/drawing/2014/main" id="{7314F411-7121-48FA-BF99-1ABC26C80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2050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09" name="Oval 36">
            <a:extLst>
              <a:ext uri="{FF2B5EF4-FFF2-40B4-BE49-F238E27FC236}">
                <a16:creationId xmlns:a16="http://schemas.microsoft.com/office/drawing/2014/main" id="{AECF4FD1-F4D7-4C12-82B9-108D451CB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6368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10" name="Oval 37">
            <a:extLst>
              <a:ext uri="{FF2B5EF4-FFF2-40B4-BE49-F238E27FC236}">
                <a16:creationId xmlns:a16="http://schemas.microsoft.com/office/drawing/2014/main" id="{DEB8CCCF-C464-4F80-943C-4A760AE38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779713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11" name="Oval 38">
            <a:extLst>
              <a:ext uri="{FF2B5EF4-FFF2-40B4-BE49-F238E27FC236}">
                <a16:creationId xmlns:a16="http://schemas.microsoft.com/office/drawing/2014/main" id="{E958528E-6C6E-44D3-80CB-2B9724F59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2764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12" name="Oval 39">
            <a:extLst>
              <a:ext uri="{FF2B5EF4-FFF2-40B4-BE49-F238E27FC236}">
                <a16:creationId xmlns:a16="http://schemas.microsoft.com/office/drawing/2014/main" id="{794DA8F3-A90A-4F8B-AF83-1C44D30E4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3213100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13" name="Oval 40">
            <a:extLst>
              <a:ext uri="{FF2B5EF4-FFF2-40B4-BE49-F238E27FC236}">
                <a16:creationId xmlns:a16="http://schemas.microsoft.com/office/drawing/2014/main" id="{B60EA091-3375-49AE-8597-00FCBCAE2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213100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14" name="Oval 42">
            <a:extLst>
              <a:ext uri="{FF2B5EF4-FFF2-40B4-BE49-F238E27FC236}">
                <a16:creationId xmlns:a16="http://schemas.microsoft.com/office/drawing/2014/main" id="{4F9F8B5A-F4C3-4337-A51F-1EDA3131A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7163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15" name="Oval 43">
            <a:extLst>
              <a:ext uri="{FF2B5EF4-FFF2-40B4-BE49-F238E27FC236}">
                <a16:creationId xmlns:a16="http://schemas.microsoft.com/office/drawing/2014/main" id="{15E7EC33-7CCF-49EF-AD0C-72F48BEEC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5004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16" name="Oval 44">
            <a:extLst>
              <a:ext uri="{FF2B5EF4-FFF2-40B4-BE49-F238E27FC236}">
                <a16:creationId xmlns:a16="http://schemas.microsoft.com/office/drawing/2014/main" id="{09882DDF-39F2-4614-8DF1-40730B0A6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213100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17" name="Oval 45">
            <a:extLst>
              <a:ext uri="{FF2B5EF4-FFF2-40B4-BE49-F238E27FC236}">
                <a16:creationId xmlns:a16="http://schemas.microsoft.com/office/drawing/2014/main" id="{681353C4-D06A-436B-B813-6FBA9192A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075" y="29241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451630" name="Oval 46">
            <a:extLst>
              <a:ext uri="{FF2B5EF4-FFF2-40B4-BE49-F238E27FC236}">
                <a16:creationId xmlns:a16="http://schemas.microsoft.com/office/drawing/2014/main" id="{3783322B-E342-4CD6-ACC5-D39851E3E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781300"/>
            <a:ext cx="142875" cy="14287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Tahoma" pitchFamily="34" charset="0"/>
            </a:endParaRPr>
          </a:p>
        </p:txBody>
      </p:sp>
      <p:sp>
        <p:nvSpPr>
          <p:cNvPr id="37919" name="Oval 47">
            <a:extLst>
              <a:ext uri="{FF2B5EF4-FFF2-40B4-BE49-F238E27FC236}">
                <a16:creationId xmlns:a16="http://schemas.microsoft.com/office/drawing/2014/main" id="{7F6C710C-0960-4F23-AB31-A71C680F4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213100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20" name="Oval 48">
            <a:extLst>
              <a:ext uri="{FF2B5EF4-FFF2-40B4-BE49-F238E27FC236}">
                <a16:creationId xmlns:a16="http://schemas.microsoft.com/office/drawing/2014/main" id="{DC42E0B2-FA42-4420-B2D3-05D585153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3559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21" name="Oval 49">
            <a:extLst>
              <a:ext uri="{FF2B5EF4-FFF2-40B4-BE49-F238E27FC236}">
                <a16:creationId xmlns:a16="http://schemas.microsoft.com/office/drawing/2014/main" id="{6AA449A3-E036-4DF9-A17F-F2EC20E6D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8527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37922" name="Oval 50">
            <a:extLst>
              <a:ext uri="{FF2B5EF4-FFF2-40B4-BE49-F238E27FC236}">
                <a16:creationId xmlns:a16="http://schemas.microsoft.com/office/drawing/2014/main" id="{D73EB586-4A9D-4328-A1AE-5B5C05962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3789363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  <p:grpSp>
        <p:nvGrpSpPr>
          <p:cNvPr id="2" name="Group 64">
            <a:extLst>
              <a:ext uri="{FF2B5EF4-FFF2-40B4-BE49-F238E27FC236}">
                <a16:creationId xmlns:a16="http://schemas.microsoft.com/office/drawing/2014/main" id="{2710C36F-1D00-4C8D-BE01-B0FF3EA44266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642938"/>
            <a:ext cx="5157788" cy="3433762"/>
            <a:chOff x="810" y="405"/>
            <a:chExt cx="3249" cy="2163"/>
          </a:xfrm>
        </p:grpSpPr>
        <p:sp>
          <p:nvSpPr>
            <p:cNvPr id="451636" name="AutoShape 52">
              <a:extLst>
                <a:ext uri="{FF2B5EF4-FFF2-40B4-BE49-F238E27FC236}">
                  <a16:creationId xmlns:a16="http://schemas.microsoft.com/office/drawing/2014/main" id="{8C4EB2D8-99D0-4463-9E25-27E9B43F6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0" y="405"/>
              <a:ext cx="2161" cy="687"/>
            </a:xfrm>
            <a:prstGeom prst="wedgeRoundRectCallout">
              <a:avLst>
                <a:gd name="adj1" fmla="val 27300"/>
                <a:gd name="adj2" fmla="val 56298"/>
                <a:gd name="adj3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3200" b="1">
                  <a:latin typeface="楷体_GB2312" pitchFamily="49" charset="-122"/>
                  <a:ea typeface="楷体_GB2312" pitchFamily="49" charset="-122"/>
                </a:rPr>
                <a:t>(1)</a:t>
              </a:r>
              <a:r>
                <a:rPr lang="zh-CN" altLang="en-US" sz="3200" b="1">
                  <a:latin typeface="楷体_GB2312" pitchFamily="49" charset="-122"/>
                  <a:ea typeface="楷体_GB2312" pitchFamily="49" charset="-122"/>
                </a:rPr>
                <a:t>已知</a:t>
              </a:r>
              <a:r>
                <a:rPr lang="en-US" altLang="zh-CN" sz="3200" b="1">
                  <a:latin typeface="楷体_GB2312" pitchFamily="49" charset="-122"/>
                  <a:ea typeface="楷体_GB2312" pitchFamily="49" charset="-122"/>
                </a:rPr>
                <a:t>N</a:t>
              </a:r>
              <a:r>
                <a:rPr lang="zh-CN" altLang="en-US" sz="3200" b="1">
                  <a:latin typeface="楷体_GB2312" pitchFamily="49" charset="-122"/>
                  <a:ea typeface="楷体_GB2312" pitchFamily="49" charset="-122"/>
                </a:rPr>
                <a:t>个已知类别样本</a:t>
              </a:r>
              <a:r>
                <a:rPr lang="en-US" altLang="zh-CN" sz="3200" b="1">
                  <a:latin typeface="楷体_GB2312" pitchFamily="49" charset="-122"/>
                  <a:ea typeface="楷体_GB2312" pitchFamily="49" charset="-122"/>
                </a:rPr>
                <a:t>X</a:t>
              </a:r>
              <a:endParaRPr lang="en-US" altLang="zh-CN" sz="3200">
                <a:latin typeface="Tahoma" pitchFamily="34" charset="0"/>
              </a:endParaRPr>
            </a:p>
          </p:txBody>
        </p:sp>
        <p:sp>
          <p:nvSpPr>
            <p:cNvPr id="37925" name="Oval 53">
              <a:extLst>
                <a:ext uri="{FF2B5EF4-FFF2-40B4-BE49-F238E27FC236}">
                  <a16:creationId xmlns:a16="http://schemas.microsoft.com/office/drawing/2014/main" id="{F743135B-7FE0-487C-885D-8DCDB8D6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117"/>
              <a:ext cx="3039" cy="14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65">
            <a:extLst>
              <a:ext uri="{FF2B5EF4-FFF2-40B4-BE49-F238E27FC236}">
                <a16:creationId xmlns:a16="http://schemas.microsoft.com/office/drawing/2014/main" id="{4A34E5D3-B6DF-4D72-88B0-D0D20223D03A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642938"/>
            <a:ext cx="4360863" cy="1704975"/>
            <a:chOff x="2608" y="405"/>
            <a:chExt cx="2747" cy="1074"/>
          </a:xfrm>
        </p:grpSpPr>
        <p:sp>
          <p:nvSpPr>
            <p:cNvPr id="37927" name="Oval 54">
              <a:extLst>
                <a:ext uri="{FF2B5EF4-FFF2-40B4-BE49-F238E27FC236}">
                  <a16:creationId xmlns:a16="http://schemas.microsoft.com/office/drawing/2014/main" id="{7F5EE2D7-8747-4BED-9682-32EE4BD9C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389"/>
              <a:ext cx="90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>
                <a:latin typeface="Tahoma" panose="020B0604030504040204" pitchFamily="34" charset="0"/>
              </a:endParaRPr>
            </a:p>
          </p:txBody>
        </p:sp>
        <p:sp>
          <p:nvSpPr>
            <p:cNvPr id="451639" name="AutoShape 55">
              <a:extLst>
                <a:ext uri="{FF2B5EF4-FFF2-40B4-BE49-F238E27FC236}">
                  <a16:creationId xmlns:a16="http://schemas.microsoft.com/office/drawing/2014/main" id="{124FF8C5-CA4B-49A0-A862-498D92C93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" y="405"/>
              <a:ext cx="2295" cy="675"/>
            </a:xfrm>
            <a:prstGeom prst="wedgeRoundRectCallout">
              <a:avLst>
                <a:gd name="adj1" fmla="val -67515"/>
                <a:gd name="adj2" fmla="val 100640"/>
                <a:gd name="adj3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(2)</a:t>
              </a:r>
              <a:r>
                <a:rPr lang="zh-CN" altLang="en-US" sz="3200" b="1" dirty="0">
                  <a:latin typeface="楷体_GB2312" pitchFamily="49" charset="-122"/>
                  <a:ea typeface="楷体_GB2312" pitchFamily="49" charset="-122"/>
                </a:rPr>
                <a:t>输入未知类别样本</a:t>
              </a: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x</a:t>
              </a:r>
              <a:endParaRPr lang="en-US" altLang="zh-CN" sz="3200" dirty="0">
                <a:latin typeface="Tahoma" pitchFamily="34" charset="0"/>
              </a:endParaRPr>
            </a:p>
          </p:txBody>
        </p:sp>
      </p:grpSp>
      <p:grpSp>
        <p:nvGrpSpPr>
          <p:cNvPr id="4" name="Group 66">
            <a:extLst>
              <a:ext uri="{FF2B5EF4-FFF2-40B4-BE49-F238E27FC236}">
                <a16:creationId xmlns:a16="http://schemas.microsoft.com/office/drawing/2014/main" id="{BF4C9211-B307-41F3-9C3A-E82E02B5BCDC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1916113"/>
            <a:ext cx="5651500" cy="2155825"/>
            <a:chOff x="2200" y="1207"/>
            <a:chExt cx="3560" cy="1358"/>
          </a:xfrm>
        </p:grpSpPr>
        <p:sp>
          <p:nvSpPr>
            <p:cNvPr id="37930" name="Line 56">
              <a:extLst>
                <a:ext uri="{FF2B5EF4-FFF2-40B4-BE49-F238E27FC236}">
                  <a16:creationId xmlns:a16="http://schemas.microsoft.com/office/drawing/2014/main" id="{CD0D196A-8176-4B98-89CA-8839EE726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434"/>
              <a:ext cx="408" cy="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Line 57">
              <a:extLst>
                <a:ext uri="{FF2B5EF4-FFF2-40B4-BE49-F238E27FC236}">
                  <a16:creationId xmlns:a16="http://schemas.microsoft.com/office/drawing/2014/main" id="{CE0830C9-E840-4487-B039-13F666E01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0" y="1480"/>
              <a:ext cx="318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2" name="Line 58">
              <a:extLst>
                <a:ext uri="{FF2B5EF4-FFF2-40B4-BE49-F238E27FC236}">
                  <a16:creationId xmlns:a16="http://schemas.microsoft.com/office/drawing/2014/main" id="{B5F91EF2-9998-4CA7-A6D6-A280CC5D4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2" y="1480"/>
              <a:ext cx="181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3" name="Line 59">
              <a:extLst>
                <a:ext uri="{FF2B5EF4-FFF2-40B4-BE49-F238E27FC236}">
                  <a16:creationId xmlns:a16="http://schemas.microsoft.com/office/drawing/2014/main" id="{1242FB0F-6DBF-43D9-8F9D-609BE3B58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1480"/>
              <a:ext cx="1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44" name="AutoShape 60">
              <a:extLst>
                <a:ext uri="{FF2B5EF4-FFF2-40B4-BE49-F238E27FC236}">
                  <a16:creationId xmlns:a16="http://schemas.microsoft.com/office/drawing/2014/main" id="{D3017463-61B4-413B-867F-9ED029D09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207"/>
              <a:ext cx="1610" cy="1358"/>
            </a:xfrm>
            <a:prstGeom prst="wedgeRoundRectCallout">
              <a:avLst>
                <a:gd name="adj1" fmla="val -146223"/>
                <a:gd name="adj2" fmla="val -17545"/>
                <a:gd name="adj3" fmla="val 16667"/>
              </a:avLst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ts val="0"/>
                </a:spcBef>
                <a:defRPr/>
              </a:pP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(3)</a:t>
              </a:r>
              <a:r>
                <a:rPr lang="zh-CN" altLang="en-US" sz="3200" b="1" dirty="0">
                  <a:latin typeface="楷体_GB2312" pitchFamily="49" charset="-122"/>
                  <a:ea typeface="楷体_GB2312" pitchFamily="49" charset="-122"/>
                </a:rPr>
                <a:t>计算</a:t>
              </a: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zh-CN" altLang="en-US" sz="3200" b="1" dirty="0">
                  <a:latin typeface="楷体_GB2312" pitchFamily="49" charset="-122"/>
                  <a:ea typeface="楷体_GB2312" pitchFamily="49" charset="-122"/>
                </a:rPr>
                <a:t>到</a:t>
              </a:r>
              <a:r>
                <a:rPr lang="en-US" altLang="zh-CN" sz="3200" b="1" dirty="0" err="1"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3200" b="1" baseline="-25000" dirty="0" err="1"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lang="en-US" altLang="zh-CN" sz="3200" b="1" dirty="0" err="1"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X</a:t>
              </a:r>
              <a:r>
                <a:rPr lang="zh-CN" altLang="en-US" sz="3200" b="1" dirty="0">
                  <a:latin typeface="楷体_GB2312" pitchFamily="49" charset="-122"/>
                  <a:ea typeface="楷体_GB2312" pitchFamily="49" charset="-122"/>
                </a:rPr>
                <a:t>，</a:t>
              </a: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sz="3200" b="1" dirty="0" err="1"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=1,</a:t>
              </a:r>
            </a:p>
            <a:p>
              <a:pPr>
                <a:spcBef>
                  <a:spcPts val="0"/>
                </a:spcBef>
                <a:defRPr/>
              </a:pP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2,</a:t>
              </a:r>
              <a:r>
                <a:rPr lang="en-US" altLang="zh-CN" sz="3200" b="1" dirty="0">
                  <a:latin typeface="Arial"/>
                  <a:ea typeface="楷体_GB2312" pitchFamily="49" charset="-122"/>
                </a:rPr>
                <a:t>…</a:t>
              </a: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,N)</a:t>
              </a:r>
              <a:r>
                <a:rPr lang="zh-CN" altLang="en-US" sz="3200" b="1" dirty="0">
                  <a:latin typeface="楷体_GB2312" pitchFamily="49" charset="-122"/>
                  <a:ea typeface="楷体_GB2312" pitchFamily="49" charset="-122"/>
                </a:rPr>
                <a:t>的距离</a:t>
              </a:r>
              <a:r>
                <a:rPr lang="en-US" altLang="zh-CN" sz="3200" b="1" dirty="0" err="1"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lang="en-US" altLang="zh-CN" sz="3200" b="1" baseline="-25000" dirty="0" err="1"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(x)</a:t>
              </a:r>
              <a:endParaRPr lang="zh-CN" altLang="en-US" sz="3200" dirty="0">
                <a:latin typeface="Tahoma" pitchFamily="34" charset="0"/>
              </a:endParaRPr>
            </a:p>
          </p:txBody>
        </p:sp>
      </p:grpSp>
      <p:sp>
        <p:nvSpPr>
          <p:cNvPr id="451645" name="AutoShape 61">
            <a:extLst>
              <a:ext uri="{FF2B5EF4-FFF2-40B4-BE49-F238E27FC236}">
                <a16:creationId xmlns:a16="http://schemas.microsoft.com/office/drawing/2014/main" id="{8FB67C9F-7B3D-488D-B36F-BFCC5C60E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4221163"/>
            <a:ext cx="3643312" cy="1350962"/>
          </a:xfrm>
          <a:prstGeom prst="wedgeRoundRectCallout">
            <a:avLst>
              <a:gd name="adj1" fmla="val -78824"/>
              <a:gd name="adj2" fmla="val -189423"/>
              <a:gd name="adj3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(4)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找出最小距离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3200" b="1" baseline="-25000" dirty="0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(x)=min{</a:t>
            </a:r>
            <a:r>
              <a:rPr lang="en-US" altLang="zh-CN" sz="3200" b="1" dirty="0" err="1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en-US" altLang="zh-CN" sz="3200" b="1" baseline="-25000" dirty="0" err="1"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(x)}</a:t>
            </a:r>
            <a:endParaRPr lang="zh-CN" altLang="en-US" sz="3200" dirty="0">
              <a:latin typeface="Tahoma" pitchFamily="34" charset="0"/>
            </a:endParaRPr>
          </a:p>
        </p:txBody>
      </p:sp>
      <p:sp>
        <p:nvSpPr>
          <p:cNvPr id="451646" name="AutoShape 62">
            <a:extLst>
              <a:ext uri="{FF2B5EF4-FFF2-40B4-BE49-F238E27FC236}">
                <a16:creationId xmlns:a16="http://schemas.microsoft.com/office/drawing/2014/main" id="{61831B81-8C20-49D7-955F-5E96504DA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5514975"/>
            <a:ext cx="3289300" cy="1055687"/>
          </a:xfrm>
          <a:prstGeom prst="wedgeRoundRectCallout">
            <a:avLst>
              <a:gd name="adj1" fmla="val 28629"/>
              <a:gd name="adj2" fmla="val -351050"/>
              <a:gd name="adj3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(5)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看</a:t>
            </a:r>
            <a:r>
              <a:rPr lang="en-US" altLang="zh-CN" sz="3200" b="1" dirty="0" err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3200" b="1" baseline="-25000" dirty="0" err="1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属于哪一类：</a:t>
            </a:r>
            <a:r>
              <a:rPr lang="en-US" altLang="zh-CN" sz="3200" b="1" dirty="0" err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3200" b="1" baseline="-25000" dirty="0" err="1">
                <a:latin typeface="楷体_GB2312" pitchFamily="49" charset="-122"/>
                <a:ea typeface="楷体_GB2312" pitchFamily="49" charset="-122"/>
              </a:rPr>
              <a:t>m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</a:t>
            </a:r>
            <a:r>
              <a:rPr lang="el-GR" altLang="zh-CN" sz="3200" b="1" dirty="0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ω</a:t>
            </a:r>
            <a:r>
              <a:rPr lang="en-US" altLang="zh-CN" sz="3200" b="1" baseline="-25000" dirty="0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2</a:t>
            </a:r>
            <a:endParaRPr lang="el-GR" altLang="zh-CN" sz="3200" baseline="-25000" dirty="0">
              <a:latin typeface="楷体_GB2312" pitchFamily="49" charset="-122"/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51647" name="AutoShape 63">
            <a:extLst>
              <a:ext uri="{FF2B5EF4-FFF2-40B4-BE49-F238E27FC236}">
                <a16:creationId xmlns:a16="http://schemas.microsoft.com/office/drawing/2014/main" id="{636E078C-500A-4DEB-AFBB-1A03C9F9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4286250"/>
            <a:ext cx="2808287" cy="719138"/>
          </a:xfrm>
          <a:prstGeom prst="wedgeRoundRectCallout">
            <a:avLst>
              <a:gd name="adj1" fmla="val 86228"/>
              <a:gd name="adj2" fmla="val -325023"/>
              <a:gd name="adj3" fmla="val 16667"/>
            </a:avLst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(6)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判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3200" b="1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</a:t>
            </a:r>
            <a:r>
              <a:rPr lang="el-GR" altLang="zh-CN" sz="3200" b="1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ω</a:t>
            </a:r>
            <a:r>
              <a:rPr lang="en-US" altLang="zh-CN" sz="3200" b="1" baseline="-25000">
                <a:latin typeface="楷体_GB2312" pitchFamily="49" charset="-122"/>
                <a:ea typeface="楷体_GB2312" pitchFamily="49" charset="-122"/>
                <a:sym typeface="Symbol" pitchFamily="18" charset="2"/>
              </a:rPr>
              <a:t>2</a:t>
            </a:r>
            <a:endParaRPr lang="el-GR" altLang="zh-CN" sz="3200" baseline="-25000">
              <a:latin typeface="楷体_GB2312" pitchFamily="49" charset="-122"/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451625" name="Oval 41">
            <a:extLst>
              <a:ext uri="{FF2B5EF4-FFF2-40B4-BE49-F238E27FC236}">
                <a16:creationId xmlns:a16="http://schemas.microsoft.com/office/drawing/2014/main" id="{9370E331-949A-4DEA-A2AE-6B7DC918C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22050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645" grpId="0" animBg="1"/>
      <p:bldP spid="451646" grpId="0" animBg="1"/>
      <p:bldP spid="451647" grpId="0" animBg="1"/>
      <p:bldP spid="4516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33">
            <a:extLst>
              <a:ext uri="{FF2B5EF4-FFF2-40B4-BE49-F238E27FC236}">
                <a16:creationId xmlns:a16="http://schemas.microsoft.com/office/drawing/2014/main" id="{DDE18574-B577-46AD-A064-B65AF79D6652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642938"/>
            <a:ext cx="8893175" cy="3424237"/>
            <a:chOff x="385" y="1389"/>
            <a:chExt cx="5095" cy="2157"/>
          </a:xfrm>
        </p:grpSpPr>
        <p:sp>
          <p:nvSpPr>
            <p:cNvPr id="38915" name="Text Box 34">
              <a:extLst>
                <a:ext uri="{FF2B5EF4-FFF2-40B4-BE49-F238E27FC236}">
                  <a16:creationId xmlns:a16="http://schemas.microsoft.com/office/drawing/2014/main" id="{1AA6D77D-A9A7-447A-A6BD-5B2864D9F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389"/>
              <a:ext cx="5095" cy="21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FF66"/>
                  </a:solidFill>
                  <a:latin typeface="楷体_GB2312"/>
                  <a:ea typeface="楷体_GB2312"/>
                  <a:cs typeface="楷体_GB2312"/>
                </a:rPr>
                <a:t>k-NN</a:t>
              </a:r>
              <a:r>
                <a:rPr lang="zh-CN" altLang="en-US" sz="3200" b="1">
                  <a:solidFill>
                    <a:srgbClr val="FFFF66"/>
                  </a:solidFill>
                  <a:latin typeface="楷体_GB2312"/>
                  <a:ea typeface="楷体_GB2312"/>
                  <a:cs typeface="楷体_GB2312"/>
                </a:rPr>
                <a:t>分类思想</a:t>
              </a:r>
              <a:r>
                <a:rPr lang="en-US" altLang="zh-CN" sz="3200" b="1">
                  <a:solidFill>
                    <a:srgbClr val="FFFF66"/>
                  </a:solidFill>
                  <a:latin typeface="楷体_GB2312"/>
                  <a:ea typeface="楷体_GB2312"/>
                  <a:cs typeface="楷体_GB2312"/>
                </a:rPr>
                <a:t>:</a:t>
              </a:r>
              <a:r>
                <a:rPr lang="zh-CN" altLang="en-US" sz="3200" b="1">
                  <a:latin typeface="Times New Roman" panose="02020603050405020304" pitchFamily="18" charset="0"/>
                </a:rPr>
                <a:t> 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sz="3200" b="1">
                  <a:latin typeface="Times New Roman" panose="02020603050405020304" pitchFamily="18" charset="0"/>
                </a:rPr>
                <a:t>       </a:t>
              </a: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对待识别模式   </a:t>
              </a:r>
              <a:r>
                <a:rPr lang="en-US" altLang="zh-CN" sz="3200" b="1">
                  <a:latin typeface="楷体_GB2312"/>
                  <a:ea typeface="楷体_GB2312"/>
                  <a:cs typeface="楷体_GB2312"/>
                </a:rPr>
                <a:t>, </a:t>
              </a: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分别计算它与</a:t>
              </a:r>
            </a:p>
            <a:p>
              <a:pPr eaLnBrk="1" hangingPunct="1">
                <a:lnSpc>
                  <a:spcPct val="150000"/>
                </a:lnSpc>
              </a:pP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个已知类别的样本    的距离</a:t>
              </a:r>
              <a:r>
                <a:rPr lang="en-US" altLang="zh-CN" sz="3200" b="1">
                  <a:latin typeface="楷体_GB2312"/>
                  <a:ea typeface="楷体_GB2312"/>
                  <a:cs typeface="楷体_GB2312"/>
                </a:rPr>
                <a:t>,</a:t>
              </a:r>
              <a:r>
                <a:rPr lang="zh-CN" altLang="zh-CN" sz="3200" b="1">
                  <a:latin typeface="楷体_GB2312"/>
                  <a:ea typeface="楷体_GB2312"/>
                  <a:cs typeface="楷体_GB2312"/>
                </a:rPr>
                <a:t>取</a:t>
              </a:r>
              <a:r>
                <a:rPr lang="zh-CN" altLang="zh-CN" sz="3200" b="1">
                  <a:solidFill>
                    <a:srgbClr val="66FFFF"/>
                  </a:solidFill>
                  <a:latin typeface="楷体_GB2312"/>
                  <a:ea typeface="楷体_GB2312"/>
                  <a:cs typeface="楷体_GB2312"/>
                </a:rPr>
                <a:t>k</a:t>
              </a:r>
              <a:r>
                <a:rPr lang="zh-CN" altLang="zh-CN" sz="3200" b="1">
                  <a:latin typeface="楷体_GB2312"/>
                  <a:ea typeface="楷体_GB2312"/>
                  <a:cs typeface="楷体_GB2312"/>
                </a:rPr>
                <a:t>个最近邻样本,这</a:t>
              </a:r>
              <a:r>
                <a:rPr lang="zh-CN" altLang="zh-CN" sz="3200" b="1">
                  <a:solidFill>
                    <a:srgbClr val="66FFFF"/>
                  </a:solidFill>
                  <a:latin typeface="楷体_GB2312"/>
                  <a:ea typeface="楷体_GB2312"/>
                  <a:cs typeface="楷体_GB2312"/>
                </a:rPr>
                <a:t>k</a:t>
              </a:r>
              <a:r>
                <a:rPr lang="zh-CN" altLang="zh-CN" sz="3200" b="1">
                  <a:latin typeface="楷体_GB2312"/>
                  <a:ea typeface="楷体_GB2312"/>
                  <a:cs typeface="楷体_GB2312"/>
                </a:rPr>
                <a:t>个样本中哪一类最多, 就判属哪一类</a:t>
              </a: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。</a:t>
              </a:r>
              <a:endParaRPr lang="en-US" altLang="zh-CN" sz="3200" b="1">
                <a:latin typeface="楷体_GB2312"/>
                <a:ea typeface="楷体_GB2312"/>
                <a:cs typeface="楷体_GB2312"/>
              </a:endParaRPr>
            </a:p>
          </p:txBody>
        </p:sp>
        <p:graphicFrame>
          <p:nvGraphicFramePr>
            <p:cNvPr id="38916" name="Object 35">
              <a:extLst>
                <a:ext uri="{FF2B5EF4-FFF2-40B4-BE49-F238E27FC236}">
                  <a16:creationId xmlns:a16="http://schemas.microsoft.com/office/drawing/2014/main" id="{B4D9812D-6FF6-4FE4-BB7A-8213B8A74C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4186877"/>
                </p:ext>
              </p:extLst>
            </p:nvPr>
          </p:nvGraphicFramePr>
          <p:xfrm>
            <a:off x="4008" y="1677"/>
            <a:ext cx="1073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2" name="Equation" r:id="rId3" imgW="660240" imgH="431640" progId="Equation.DSMT4">
                    <p:embed/>
                  </p:oleObj>
                </mc:Choice>
                <mc:Fallback>
                  <p:oleObj name="Equation" r:id="rId3" imgW="660240" imgH="431640" progId="Equation.DSMT4">
                    <p:embed/>
                    <p:pic>
                      <p:nvPicPr>
                        <p:cNvPr id="38916" name="Object 35">
                          <a:extLst>
                            <a:ext uri="{FF2B5EF4-FFF2-40B4-BE49-F238E27FC236}">
                              <a16:creationId xmlns:a16="http://schemas.microsoft.com/office/drawing/2014/main" id="{B4D9812D-6FF6-4FE4-BB7A-8213B8A74CA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8" y="1677"/>
                          <a:ext cx="1073" cy="6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7" name="Object 36">
              <a:extLst>
                <a:ext uri="{FF2B5EF4-FFF2-40B4-BE49-F238E27FC236}">
                  <a16:creationId xmlns:a16="http://schemas.microsoft.com/office/drawing/2014/main" id="{9EDD8DC7-D4D9-4D33-BD20-B99359B85B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3821778"/>
                </p:ext>
              </p:extLst>
            </p:nvPr>
          </p:nvGraphicFramePr>
          <p:xfrm>
            <a:off x="2241" y="2200"/>
            <a:ext cx="448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3" name="Equation" r:id="rId5" imgW="228600" imgH="253800" progId="Equation.DSMT4">
                    <p:embed/>
                  </p:oleObj>
                </mc:Choice>
                <mc:Fallback>
                  <p:oleObj name="Equation" r:id="rId5" imgW="228600" imgH="253800" progId="Equation.DSMT4">
                    <p:embed/>
                    <p:pic>
                      <p:nvPicPr>
                        <p:cNvPr id="38917" name="Object 36">
                          <a:extLst>
                            <a:ext uri="{FF2B5EF4-FFF2-40B4-BE49-F238E27FC236}">
                              <a16:creationId xmlns:a16="http://schemas.microsoft.com/office/drawing/2014/main" id="{9EDD8DC7-D4D9-4D33-BD20-B99359B85B5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1" y="2200"/>
                          <a:ext cx="448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18" name="Object 37">
              <a:extLst>
                <a:ext uri="{FF2B5EF4-FFF2-40B4-BE49-F238E27FC236}">
                  <a16:creationId xmlns:a16="http://schemas.microsoft.com/office/drawing/2014/main" id="{CA1AF0B9-481B-4B6D-B203-2F208B66FE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1" y="1704"/>
            <a:ext cx="333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4" name="Equation" r:id="rId7" imgW="126720" imgH="177480" progId="Equation.DSMT4">
                    <p:embed/>
                  </p:oleObj>
                </mc:Choice>
                <mc:Fallback>
                  <p:oleObj name="Equation" r:id="rId7" imgW="126720" imgH="177480" progId="Equation.DSMT4">
                    <p:embed/>
                    <p:pic>
                      <p:nvPicPr>
                        <p:cNvPr id="38918" name="Object 37">
                          <a:extLst>
                            <a:ext uri="{FF2B5EF4-FFF2-40B4-BE49-F238E27FC236}">
                              <a16:creationId xmlns:a16="http://schemas.microsoft.com/office/drawing/2014/main" id="{CA1AF0B9-481B-4B6D-B203-2F208B66FE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1" y="1704"/>
                          <a:ext cx="333" cy="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19" name="Rectangle 32">
            <a:extLst>
              <a:ext uri="{FF2B5EF4-FFF2-40B4-BE49-F238E27FC236}">
                <a16:creationId xmlns:a16="http://schemas.microsoft.com/office/drawing/2014/main" id="{37E63A0F-96CC-47C8-8E8E-A99ED70F1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1438"/>
            <a:ext cx="8569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最近邻方法			</a:t>
            </a:r>
            <a:r>
              <a:rPr lang="zh-CN" altLang="en-US" sz="3200" b="1" dirty="0">
                <a:solidFill>
                  <a:schemeClr val="bg2"/>
                </a:solidFill>
                <a:latin typeface="楷体_GB2312"/>
                <a:ea typeface="楷体_GB2312"/>
                <a:cs typeface="楷体_GB2312"/>
              </a:rPr>
              <a:t>最近邻决策规则</a:t>
            </a:r>
            <a:r>
              <a:rPr lang="en-US" altLang="zh-CN" sz="3200" b="1" dirty="0">
                <a:solidFill>
                  <a:schemeClr val="bg2"/>
                </a:solidFill>
                <a:ea typeface="楷体_GB2312"/>
                <a:cs typeface="楷体_GB2312"/>
              </a:rPr>
              <a:t>—</a:t>
            </a:r>
            <a:r>
              <a:rPr lang="en-US" altLang="zh-CN" sz="3200" b="1" dirty="0">
                <a:solidFill>
                  <a:schemeClr val="bg2"/>
                </a:solidFill>
                <a:latin typeface="楷体_GB2312"/>
                <a:ea typeface="楷体_GB2312"/>
                <a:cs typeface="楷体_GB2312"/>
              </a:rPr>
              <a:t>k-NN</a:t>
            </a:r>
          </a:p>
        </p:txBody>
      </p:sp>
      <p:grpSp>
        <p:nvGrpSpPr>
          <p:cNvPr id="3" name="Group 44">
            <a:extLst>
              <a:ext uri="{FF2B5EF4-FFF2-40B4-BE49-F238E27FC236}">
                <a16:creationId xmlns:a16="http://schemas.microsoft.com/office/drawing/2014/main" id="{6708FDA7-ABCF-4D76-A95B-0C4BA32159FD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357563"/>
            <a:ext cx="9072562" cy="2286000"/>
            <a:chOff x="204" y="2115"/>
            <a:chExt cx="5556" cy="1440"/>
          </a:xfrm>
        </p:grpSpPr>
        <p:sp>
          <p:nvSpPr>
            <p:cNvPr id="38921" name="Text Box 42">
              <a:extLst>
                <a:ext uri="{FF2B5EF4-FFF2-40B4-BE49-F238E27FC236}">
                  <a16:creationId xmlns:a16="http://schemas.microsoft.com/office/drawing/2014/main" id="{288CAB86-84B5-4B82-9DAB-9B048B2BB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160"/>
              <a:ext cx="2495" cy="4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即</a:t>
              </a:r>
              <a:r>
                <a:rPr lang="en-US" altLang="zh-CN" sz="3200" b="1">
                  <a:latin typeface="楷体_GB2312"/>
                  <a:ea typeface="楷体_GB2312"/>
                  <a:cs typeface="楷体_GB2312"/>
                </a:rPr>
                <a:t>,</a:t>
              </a: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令  与</a:t>
              </a:r>
              <a:r>
                <a:rPr lang="el-GR" altLang="zh-CN" sz="3200" b="1">
                  <a:solidFill>
                    <a:srgbClr val="66FFFF"/>
                  </a:solidFill>
                  <a:latin typeface="楷体_GB2312"/>
                  <a:ea typeface="楷体_GB2312"/>
                  <a:cs typeface="楷体_GB2312"/>
                </a:rPr>
                <a:t>ω</a:t>
              </a:r>
              <a:r>
                <a:rPr lang="en-US" altLang="zh-CN" sz="3200" b="1" baseline="-25000">
                  <a:solidFill>
                    <a:srgbClr val="66FFFF"/>
                  </a:solidFill>
                  <a:latin typeface="楷体_GB2312"/>
                  <a:ea typeface="楷体_GB2312"/>
                  <a:cs typeface="楷体_GB2312"/>
                </a:rPr>
                <a:t>i</a:t>
              </a: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的距离</a:t>
              </a:r>
              <a:endParaRPr lang="zh-CN" altLang="en-US" sz="3200">
                <a:latin typeface="Tahoma" panose="020B0604030504040204" pitchFamily="34" charset="0"/>
              </a:endParaRPr>
            </a:p>
          </p:txBody>
        </p:sp>
        <p:graphicFrame>
          <p:nvGraphicFramePr>
            <p:cNvPr id="38922" name="Object 21">
              <a:extLst>
                <a:ext uri="{FF2B5EF4-FFF2-40B4-BE49-F238E27FC236}">
                  <a16:creationId xmlns:a16="http://schemas.microsoft.com/office/drawing/2014/main" id="{95252D99-D1ED-4E97-AE83-167226522B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97" y="2250"/>
            <a:ext cx="1059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5" name="Equation" r:id="rId9" imgW="609480" imgH="228600" progId="Equation.DSMT4">
                    <p:embed/>
                  </p:oleObj>
                </mc:Choice>
                <mc:Fallback>
                  <p:oleObj name="Equation" r:id="rId9" imgW="609480" imgH="228600" progId="Equation.DSMT4">
                    <p:embed/>
                    <p:pic>
                      <p:nvPicPr>
                        <p:cNvPr id="38922" name="Object 21">
                          <a:extLst>
                            <a:ext uri="{FF2B5EF4-FFF2-40B4-BE49-F238E27FC236}">
                              <a16:creationId xmlns:a16="http://schemas.microsoft.com/office/drawing/2014/main" id="{95252D99-D1ED-4E97-AE83-167226522B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7" y="2250"/>
                          <a:ext cx="1059" cy="3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3" name="Object 20">
              <a:extLst>
                <a:ext uri="{FF2B5EF4-FFF2-40B4-BE49-F238E27FC236}">
                  <a16:creationId xmlns:a16="http://schemas.microsoft.com/office/drawing/2014/main" id="{C07A2608-BD0A-4FA9-9570-35F4DDEC90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46" y="2250"/>
            <a:ext cx="140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6" name="Equation" r:id="rId11" imgW="774360" imgH="203040" progId="Equation.DSMT4">
                    <p:embed/>
                  </p:oleObj>
                </mc:Choice>
                <mc:Fallback>
                  <p:oleObj name="Equation" r:id="rId11" imgW="774360" imgH="203040" progId="Equation.DSMT4">
                    <p:embed/>
                    <p:pic>
                      <p:nvPicPr>
                        <p:cNvPr id="38923" name="Object 20">
                          <a:extLst>
                            <a:ext uri="{FF2B5EF4-FFF2-40B4-BE49-F238E27FC236}">
                              <a16:creationId xmlns:a16="http://schemas.microsoft.com/office/drawing/2014/main" id="{C07A2608-BD0A-4FA9-9570-35F4DDEC90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6" y="2250"/>
                          <a:ext cx="1409" cy="3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4" name="Object 17">
              <a:extLst>
                <a:ext uri="{FF2B5EF4-FFF2-40B4-BE49-F238E27FC236}">
                  <a16:creationId xmlns:a16="http://schemas.microsoft.com/office/drawing/2014/main" id="{4E542AE5-D95E-4E40-85C1-546961BBAA3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77" y="2840"/>
            <a:ext cx="1033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7" name="Equation" r:id="rId13" imgW="444240" imgH="228600" progId="Equation.DSMT4">
                    <p:embed/>
                  </p:oleObj>
                </mc:Choice>
                <mc:Fallback>
                  <p:oleObj name="Equation" r:id="rId13" imgW="444240" imgH="228600" progId="Equation.DSMT4">
                    <p:embed/>
                    <p:pic>
                      <p:nvPicPr>
                        <p:cNvPr id="38924" name="Object 17">
                          <a:extLst>
                            <a:ext uri="{FF2B5EF4-FFF2-40B4-BE49-F238E27FC236}">
                              <a16:creationId xmlns:a16="http://schemas.microsoft.com/office/drawing/2014/main" id="{4E542AE5-D95E-4E40-85C1-546961BBAA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7" y="2840"/>
                          <a:ext cx="1033" cy="5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5" name="Text Box 18">
              <a:extLst>
                <a:ext uri="{FF2B5EF4-FFF2-40B4-BE49-F238E27FC236}">
                  <a16:creationId xmlns:a16="http://schemas.microsoft.com/office/drawing/2014/main" id="{5F7E2065-0CB3-4701-BE2D-83E8309EF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840"/>
              <a:ext cx="68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如果</a:t>
              </a:r>
            </a:p>
          </p:txBody>
        </p:sp>
        <p:sp>
          <p:nvSpPr>
            <p:cNvPr id="38926" name="Text Box 19">
              <a:extLst>
                <a:ext uri="{FF2B5EF4-FFF2-40B4-BE49-F238E27FC236}">
                  <a16:creationId xmlns:a16="http://schemas.microsoft.com/office/drawing/2014/main" id="{C9854190-E70A-40AA-A5C3-5929E6014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2" y="2872"/>
              <a:ext cx="409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latin typeface="楷体_GB2312"/>
                  <a:ea typeface="楷体_GB2312"/>
                  <a:cs typeface="楷体_GB2312"/>
                </a:rPr>
                <a:t>则</a:t>
              </a:r>
            </a:p>
          </p:txBody>
        </p:sp>
        <p:graphicFrame>
          <p:nvGraphicFramePr>
            <p:cNvPr id="38927" name="Object 25">
              <a:extLst>
                <a:ext uri="{FF2B5EF4-FFF2-40B4-BE49-F238E27FC236}">
                  <a16:creationId xmlns:a16="http://schemas.microsoft.com/office/drawing/2014/main" id="{27063463-D143-427D-8128-C97412F74F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0" y="2834"/>
            <a:ext cx="2679" cy="7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8" name="Equation" r:id="rId15" imgW="1269720" imgH="342720" progId="Equation.DSMT4">
                    <p:embed/>
                  </p:oleObj>
                </mc:Choice>
                <mc:Fallback>
                  <p:oleObj name="Equation" r:id="rId15" imgW="1269720" imgH="342720" progId="Equation.DSMT4">
                    <p:embed/>
                    <p:pic>
                      <p:nvPicPr>
                        <p:cNvPr id="38927" name="Object 25">
                          <a:extLst>
                            <a:ext uri="{FF2B5EF4-FFF2-40B4-BE49-F238E27FC236}">
                              <a16:creationId xmlns:a16="http://schemas.microsoft.com/office/drawing/2014/main" id="{27063463-D143-427D-8128-C97412F74F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" y="2834"/>
                          <a:ext cx="2679" cy="7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8" name="Object 28">
              <a:extLst>
                <a:ext uri="{FF2B5EF4-FFF2-40B4-BE49-F238E27FC236}">
                  <a16:creationId xmlns:a16="http://schemas.microsoft.com/office/drawing/2014/main" id="{5F3FFE53-BAA9-4054-92F6-D6174003B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2" y="2115"/>
            <a:ext cx="888" cy="6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49" name="Equation" r:id="rId17" imgW="571320" imgH="431640" progId="Equation.DSMT4">
                    <p:embed/>
                  </p:oleObj>
                </mc:Choice>
                <mc:Fallback>
                  <p:oleObj name="Equation" r:id="rId17" imgW="571320" imgH="431640" progId="Equation.DSMT4">
                    <p:embed/>
                    <p:pic>
                      <p:nvPicPr>
                        <p:cNvPr id="38928" name="Object 28">
                          <a:extLst>
                            <a:ext uri="{FF2B5EF4-FFF2-40B4-BE49-F238E27FC236}">
                              <a16:creationId xmlns:a16="http://schemas.microsoft.com/office/drawing/2014/main" id="{5F3FFE53-BAA9-4054-92F6-D6174003B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2" y="2115"/>
                          <a:ext cx="888" cy="6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29" name="Object 38">
              <a:extLst>
                <a:ext uri="{FF2B5EF4-FFF2-40B4-BE49-F238E27FC236}">
                  <a16:creationId xmlns:a16="http://schemas.microsoft.com/office/drawing/2014/main" id="{409021F4-9FE6-4226-BEE5-822E77B176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5649406"/>
                </p:ext>
              </p:extLst>
            </p:nvPr>
          </p:nvGraphicFramePr>
          <p:xfrm>
            <a:off x="740" y="2200"/>
            <a:ext cx="338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50" name="Equation" r:id="rId19" imgW="126720" imgH="177480" progId="Equation.DSMT4">
                    <p:embed/>
                  </p:oleObj>
                </mc:Choice>
                <mc:Fallback>
                  <p:oleObj name="Equation" r:id="rId19" imgW="126720" imgH="177480" progId="Equation.DSMT4">
                    <p:embed/>
                    <p:pic>
                      <p:nvPicPr>
                        <p:cNvPr id="38929" name="Object 38">
                          <a:extLst>
                            <a:ext uri="{FF2B5EF4-FFF2-40B4-BE49-F238E27FC236}">
                              <a16:creationId xmlns:a16="http://schemas.microsoft.com/office/drawing/2014/main" id="{409021F4-9FE6-4226-BEE5-822E77B1769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" y="2200"/>
                          <a:ext cx="338" cy="4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39">
            <a:extLst>
              <a:ext uri="{FF2B5EF4-FFF2-40B4-BE49-F238E27FC236}">
                <a16:creationId xmlns:a16="http://schemas.microsoft.com/office/drawing/2014/main" id="{A85A707C-A2DD-413B-8396-38A0848D19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715000"/>
          <a:ext cx="3984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1" name="Equation" r:id="rId21" imgW="139680" imgH="228600" progId="Equation.DSMT4">
                  <p:embed/>
                </p:oleObj>
              </mc:Choice>
              <mc:Fallback>
                <p:oleObj name="Equation" r:id="rId21" imgW="139680" imgH="228600" progId="Equation.DSMT4">
                  <p:embed/>
                  <p:pic>
                    <p:nvPicPr>
                      <p:cNvPr id="18" name="Object 39">
                        <a:extLst>
                          <a:ext uri="{FF2B5EF4-FFF2-40B4-BE49-F238E27FC236}">
                            <a16:creationId xmlns:a16="http://schemas.microsoft.com/office/drawing/2014/main" id="{A85A707C-A2DD-413B-8396-38A0848D19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715000"/>
                        <a:ext cx="398463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3">
            <a:extLst>
              <a:ext uri="{FF2B5EF4-FFF2-40B4-BE49-F238E27FC236}">
                <a16:creationId xmlns:a16="http://schemas.microsoft.com/office/drawing/2014/main" id="{9ABAB18A-67C4-45AD-91B0-EABA1BEC3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5695950"/>
            <a:ext cx="8429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其中    表示</a:t>
            </a:r>
            <a:r>
              <a:rPr lang="en-US" altLang="zh-CN" sz="3200" b="1" i="1" dirty="0">
                <a:solidFill>
                  <a:srgbClr val="66FFFF"/>
                </a:solidFill>
                <a:latin typeface="楷体_GB2312"/>
                <a:ea typeface="楷体_GB2312"/>
                <a:cs typeface="楷体_GB2312"/>
              </a:rPr>
              <a:t>k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个近邻元中属于</a:t>
            </a:r>
            <a:r>
              <a:rPr lang="el-GR" altLang="zh-CN" sz="3200" b="1" dirty="0">
                <a:solidFill>
                  <a:srgbClr val="66FFFF"/>
                </a:solidFill>
                <a:latin typeface="楷体_GB2312"/>
                <a:ea typeface="楷体_GB2312"/>
                <a:cs typeface="楷体_GB2312"/>
              </a:rPr>
              <a:t>ω</a:t>
            </a:r>
            <a:r>
              <a:rPr lang="en-US" altLang="zh-CN" sz="3200" b="1" baseline="-25000" dirty="0" err="1">
                <a:solidFill>
                  <a:srgbClr val="66FFFF"/>
                </a:solidFill>
                <a:latin typeface="楷体_GB2312"/>
                <a:ea typeface="楷体_GB2312"/>
                <a:cs typeface="楷体_GB2312"/>
              </a:rPr>
              <a:t>i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的样本个数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C6AECB0-60E7-4C7D-8F1B-2E487B4D3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71438"/>
            <a:ext cx="8569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最近邻方法			</a:t>
            </a:r>
            <a:r>
              <a:rPr lang="zh-CN" altLang="en-US" sz="3200" b="1" dirty="0">
                <a:solidFill>
                  <a:schemeClr val="bg2"/>
                </a:solidFill>
                <a:latin typeface="楷体_GB2312"/>
                <a:ea typeface="楷体_GB2312"/>
                <a:cs typeface="楷体_GB2312"/>
              </a:rPr>
              <a:t>最近邻决策规则</a:t>
            </a:r>
            <a:r>
              <a:rPr lang="en-US" altLang="zh-CN" sz="3200" b="1" dirty="0">
                <a:solidFill>
                  <a:schemeClr val="bg2"/>
                </a:solidFill>
                <a:ea typeface="楷体_GB2312"/>
                <a:cs typeface="楷体_GB2312"/>
              </a:rPr>
              <a:t>—</a:t>
            </a:r>
            <a:r>
              <a:rPr lang="en-US" altLang="zh-CN" sz="3200" b="1" dirty="0">
                <a:solidFill>
                  <a:schemeClr val="bg2"/>
                </a:solidFill>
                <a:latin typeface="楷体_GB2312"/>
                <a:ea typeface="楷体_GB2312"/>
                <a:cs typeface="楷体_GB2312"/>
              </a:rPr>
              <a:t>k-NN</a:t>
            </a:r>
          </a:p>
        </p:txBody>
      </p:sp>
      <p:sp>
        <p:nvSpPr>
          <p:cNvPr id="39939" name="Oval 3">
            <a:extLst>
              <a:ext uri="{FF2B5EF4-FFF2-40B4-BE49-F238E27FC236}">
                <a16:creationId xmlns:a16="http://schemas.microsoft.com/office/drawing/2014/main" id="{6AF5011F-4A2B-4260-8DDD-D480BD88D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25654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0" name="Oval 4">
            <a:extLst>
              <a:ext uri="{FF2B5EF4-FFF2-40B4-BE49-F238E27FC236}">
                <a16:creationId xmlns:a16="http://schemas.microsoft.com/office/drawing/2014/main" id="{35606DF6-8DF5-4892-873D-7C21785D6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0686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1" name="Oval 5">
            <a:extLst>
              <a:ext uri="{FF2B5EF4-FFF2-40B4-BE49-F238E27FC236}">
                <a16:creationId xmlns:a16="http://schemas.microsoft.com/office/drawing/2014/main" id="{2A42BB2D-18EC-4AB3-9752-8D3EF61F7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0686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2" name="Oval 6">
            <a:extLst>
              <a:ext uri="{FF2B5EF4-FFF2-40B4-BE49-F238E27FC236}">
                <a16:creationId xmlns:a16="http://schemas.microsoft.com/office/drawing/2014/main" id="{01DD5F9A-7CF8-42C5-AD37-BEF586725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8527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3" name="Oval 7">
            <a:extLst>
              <a:ext uri="{FF2B5EF4-FFF2-40B4-BE49-F238E27FC236}">
                <a16:creationId xmlns:a16="http://schemas.microsoft.com/office/drawing/2014/main" id="{187E36FB-5DB1-4E5E-8E96-F888E1006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5654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4" name="Oval 8">
            <a:extLst>
              <a:ext uri="{FF2B5EF4-FFF2-40B4-BE49-F238E27FC236}">
                <a16:creationId xmlns:a16="http://schemas.microsoft.com/office/drawing/2014/main" id="{4F6E2F05-D05C-472C-AA8D-D62632A6F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276475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5" name="Oval 9">
            <a:extLst>
              <a:ext uri="{FF2B5EF4-FFF2-40B4-BE49-F238E27FC236}">
                <a16:creationId xmlns:a16="http://schemas.microsoft.com/office/drawing/2014/main" id="{8A70C32F-D8BB-4D22-82CA-FD1D3F2BA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21336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6" name="Oval 10">
            <a:extLst>
              <a:ext uri="{FF2B5EF4-FFF2-40B4-BE49-F238E27FC236}">
                <a16:creationId xmlns:a16="http://schemas.microsoft.com/office/drawing/2014/main" id="{62DEB78A-2425-441E-B08B-C7E45D533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5654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7" name="Oval 11">
            <a:extLst>
              <a:ext uri="{FF2B5EF4-FFF2-40B4-BE49-F238E27FC236}">
                <a16:creationId xmlns:a16="http://schemas.microsoft.com/office/drawing/2014/main" id="{E071E72A-8957-4BA7-9302-CDFE72055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708275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8" name="Oval 12">
            <a:extLst>
              <a:ext uri="{FF2B5EF4-FFF2-40B4-BE49-F238E27FC236}">
                <a16:creationId xmlns:a16="http://schemas.microsoft.com/office/drawing/2014/main" id="{15AE8F0D-A774-4D8F-A35B-D3C1F2697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2050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49" name="Oval 13">
            <a:extLst>
              <a:ext uri="{FF2B5EF4-FFF2-40B4-BE49-F238E27FC236}">
                <a16:creationId xmlns:a16="http://schemas.microsoft.com/office/drawing/2014/main" id="{FEDC0D7E-ED46-433A-8CE1-E8CB79359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141663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0" name="Oval 14">
            <a:extLst>
              <a:ext uri="{FF2B5EF4-FFF2-40B4-BE49-F238E27FC236}">
                <a16:creationId xmlns:a16="http://schemas.microsoft.com/office/drawing/2014/main" id="{4C3D3BCC-BCFB-4285-B509-6C98FD508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6368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1" name="Oval 15">
            <a:extLst>
              <a:ext uri="{FF2B5EF4-FFF2-40B4-BE49-F238E27FC236}">
                <a16:creationId xmlns:a16="http://schemas.microsoft.com/office/drawing/2014/main" id="{66C034E1-6F1E-4CEB-9610-033D7C41E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31400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2" name="Oval 16">
            <a:extLst>
              <a:ext uri="{FF2B5EF4-FFF2-40B4-BE49-F238E27FC236}">
                <a16:creationId xmlns:a16="http://schemas.microsoft.com/office/drawing/2014/main" id="{5C86C547-58F1-4622-BACA-4722157E8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1400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3" name="Oval 17">
            <a:extLst>
              <a:ext uri="{FF2B5EF4-FFF2-40B4-BE49-F238E27FC236}">
                <a16:creationId xmlns:a16="http://schemas.microsoft.com/office/drawing/2014/main" id="{9049CE7D-9D79-4FE4-B548-2A0FC1808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9241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4" name="Oval 18">
            <a:extLst>
              <a:ext uri="{FF2B5EF4-FFF2-40B4-BE49-F238E27FC236}">
                <a16:creationId xmlns:a16="http://schemas.microsoft.com/office/drawing/2014/main" id="{EF444CFB-86D7-419A-A043-439E0BD99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6368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5" name="Oval 19">
            <a:extLst>
              <a:ext uri="{FF2B5EF4-FFF2-40B4-BE49-F238E27FC236}">
                <a16:creationId xmlns:a16="http://schemas.microsoft.com/office/drawing/2014/main" id="{CDE89060-2418-48BD-AF98-2C2CF5EE7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347913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6" name="Oval 20">
            <a:extLst>
              <a:ext uri="{FF2B5EF4-FFF2-40B4-BE49-F238E27FC236}">
                <a16:creationId xmlns:a16="http://schemas.microsoft.com/office/drawing/2014/main" id="{16F9135C-D8C7-4C4A-B1B1-5094933E6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2050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7" name="Oval 21">
            <a:extLst>
              <a:ext uri="{FF2B5EF4-FFF2-40B4-BE49-F238E27FC236}">
                <a16:creationId xmlns:a16="http://schemas.microsoft.com/office/drawing/2014/main" id="{141CC849-A93E-4546-B72F-23424FA12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6368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8" name="Oval 22">
            <a:extLst>
              <a:ext uri="{FF2B5EF4-FFF2-40B4-BE49-F238E27FC236}">
                <a16:creationId xmlns:a16="http://schemas.microsoft.com/office/drawing/2014/main" id="{76A78FDD-AD51-4DC5-8D4E-7361BB9CD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779713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59" name="Oval 23">
            <a:extLst>
              <a:ext uri="{FF2B5EF4-FFF2-40B4-BE49-F238E27FC236}">
                <a16:creationId xmlns:a16="http://schemas.microsoft.com/office/drawing/2014/main" id="{B3637B11-259A-41B6-A821-646C97319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2764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0" name="Oval 24">
            <a:extLst>
              <a:ext uri="{FF2B5EF4-FFF2-40B4-BE49-F238E27FC236}">
                <a16:creationId xmlns:a16="http://schemas.microsoft.com/office/drawing/2014/main" id="{D2DFF175-D8CD-42FA-BB66-9E5C1B4E4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3213100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1" name="Oval 25">
            <a:extLst>
              <a:ext uri="{FF2B5EF4-FFF2-40B4-BE49-F238E27FC236}">
                <a16:creationId xmlns:a16="http://schemas.microsoft.com/office/drawing/2014/main" id="{2836D65B-BBA7-4C3B-B519-572D287E8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213100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2" name="Oval 26">
            <a:extLst>
              <a:ext uri="{FF2B5EF4-FFF2-40B4-BE49-F238E27FC236}">
                <a16:creationId xmlns:a16="http://schemas.microsoft.com/office/drawing/2014/main" id="{D5E4A60C-7D29-4422-B0D4-D0813DFC9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7163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3" name="Oval 27">
            <a:extLst>
              <a:ext uri="{FF2B5EF4-FFF2-40B4-BE49-F238E27FC236}">
                <a16:creationId xmlns:a16="http://schemas.microsoft.com/office/drawing/2014/main" id="{7EF8B644-5063-432B-8DB8-37172F08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5004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4" name="Oval 28">
            <a:extLst>
              <a:ext uri="{FF2B5EF4-FFF2-40B4-BE49-F238E27FC236}">
                <a16:creationId xmlns:a16="http://schemas.microsoft.com/office/drawing/2014/main" id="{E9B1268D-68BA-44AE-8149-D7C2E20E0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213100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5" name="Oval 29">
            <a:extLst>
              <a:ext uri="{FF2B5EF4-FFF2-40B4-BE49-F238E27FC236}">
                <a16:creationId xmlns:a16="http://schemas.microsoft.com/office/drawing/2014/main" id="{DDF0C52B-FD7A-48B0-9652-CAF21822F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075" y="29241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6" name="Oval 30">
            <a:extLst>
              <a:ext uri="{FF2B5EF4-FFF2-40B4-BE49-F238E27FC236}">
                <a16:creationId xmlns:a16="http://schemas.microsoft.com/office/drawing/2014/main" id="{64A5AE47-8B91-429D-836F-6363A70EB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781300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7" name="Oval 31">
            <a:extLst>
              <a:ext uri="{FF2B5EF4-FFF2-40B4-BE49-F238E27FC236}">
                <a16:creationId xmlns:a16="http://schemas.microsoft.com/office/drawing/2014/main" id="{0342471C-75FD-4388-AAF1-16180ECE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3213100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8" name="Oval 32">
            <a:extLst>
              <a:ext uri="{FF2B5EF4-FFF2-40B4-BE49-F238E27FC236}">
                <a16:creationId xmlns:a16="http://schemas.microsoft.com/office/drawing/2014/main" id="{7B17A5F4-ECD9-4343-BBE9-1DB703BA7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355975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69" name="Oval 33">
            <a:extLst>
              <a:ext uri="{FF2B5EF4-FFF2-40B4-BE49-F238E27FC236}">
                <a16:creationId xmlns:a16="http://schemas.microsoft.com/office/drawing/2014/main" id="{67B07E4D-F729-4BCE-9D9D-0AD0D7D0C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2852738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sp>
        <p:nvSpPr>
          <p:cNvPr id="39970" name="Oval 34">
            <a:extLst>
              <a:ext uri="{FF2B5EF4-FFF2-40B4-BE49-F238E27FC236}">
                <a16:creationId xmlns:a16="http://schemas.microsoft.com/office/drawing/2014/main" id="{2E1AF7EB-B64A-4302-96B6-55E4B09EC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3789363"/>
            <a:ext cx="142875" cy="142875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27A5D6E7-E3BD-4F4C-90B6-E53022CF4AD8}"/>
              </a:ext>
            </a:extLst>
          </p:cNvPr>
          <p:cNvGrpSpPr>
            <a:grpSpLocks/>
          </p:cNvGrpSpPr>
          <p:nvPr/>
        </p:nvGrpSpPr>
        <p:grpSpPr bwMode="auto">
          <a:xfrm>
            <a:off x="285750" y="642938"/>
            <a:ext cx="6157913" cy="3433762"/>
            <a:chOff x="180" y="405"/>
            <a:chExt cx="3879" cy="2163"/>
          </a:xfrm>
        </p:grpSpPr>
        <p:sp>
          <p:nvSpPr>
            <p:cNvPr id="39972" name="AutoShape 36">
              <a:extLst>
                <a:ext uri="{FF2B5EF4-FFF2-40B4-BE49-F238E27FC236}">
                  <a16:creationId xmlns:a16="http://schemas.microsoft.com/office/drawing/2014/main" id="{3AD9AD4D-69BD-492F-A644-2968148B1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" y="405"/>
              <a:ext cx="2025" cy="720"/>
            </a:xfrm>
            <a:prstGeom prst="wedgeRoundRectCallout">
              <a:avLst>
                <a:gd name="adj1" fmla="val 26227"/>
                <a:gd name="adj2" fmla="val 64528"/>
                <a:gd name="adj3" fmla="val 16667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(1)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已知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N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个已知类别样本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X</a:t>
              </a:r>
              <a:endParaRPr lang="en-US" altLang="zh-CN" sz="32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3" name="Oval 37">
              <a:extLst>
                <a:ext uri="{FF2B5EF4-FFF2-40B4-BE49-F238E27FC236}">
                  <a16:creationId xmlns:a16="http://schemas.microsoft.com/office/drawing/2014/main" id="{193C2E5D-015E-48DB-9DFD-78ACC4CDB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1117"/>
              <a:ext cx="3039" cy="14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38">
            <a:extLst>
              <a:ext uri="{FF2B5EF4-FFF2-40B4-BE49-F238E27FC236}">
                <a16:creationId xmlns:a16="http://schemas.microsoft.com/office/drawing/2014/main" id="{1DED8AFA-05AF-4CF9-A060-73901F37AF7A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571500"/>
            <a:ext cx="4432300" cy="1776413"/>
            <a:chOff x="2608" y="360"/>
            <a:chExt cx="2792" cy="1119"/>
          </a:xfrm>
        </p:grpSpPr>
        <p:sp>
          <p:nvSpPr>
            <p:cNvPr id="39975" name="Oval 39">
              <a:extLst>
                <a:ext uri="{FF2B5EF4-FFF2-40B4-BE49-F238E27FC236}">
                  <a16:creationId xmlns:a16="http://schemas.microsoft.com/office/drawing/2014/main" id="{B0CC9E4B-9AD3-4F09-AD82-8E7A5663B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389"/>
              <a:ext cx="90" cy="9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>
                <a:latin typeface="Tahoma" panose="020B0604030504040204" pitchFamily="34" charset="0"/>
              </a:endParaRPr>
            </a:p>
          </p:txBody>
        </p:sp>
        <p:sp>
          <p:nvSpPr>
            <p:cNvPr id="39976" name="AutoShape 40">
              <a:extLst>
                <a:ext uri="{FF2B5EF4-FFF2-40B4-BE49-F238E27FC236}">
                  <a16:creationId xmlns:a16="http://schemas.microsoft.com/office/drawing/2014/main" id="{38DB471C-ED38-4B64-BA64-432706BEEE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360"/>
              <a:ext cx="2293" cy="666"/>
            </a:xfrm>
            <a:prstGeom prst="wedgeRoundRectCallout">
              <a:avLst>
                <a:gd name="adj1" fmla="val -67676"/>
                <a:gd name="adj2" fmla="val 108412"/>
                <a:gd name="adj3" fmla="val 16667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(2)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输入未知类别样本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x</a:t>
              </a:r>
              <a:endParaRPr lang="en-US" altLang="zh-CN" sz="32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52657" name="AutoShape 49">
            <a:extLst>
              <a:ext uri="{FF2B5EF4-FFF2-40B4-BE49-F238E27FC236}">
                <a16:creationId xmlns:a16="http://schemas.microsoft.com/office/drawing/2014/main" id="{4B9481B8-6197-4879-91ED-B18342EA0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4437063"/>
            <a:ext cx="2808288" cy="719137"/>
          </a:xfrm>
          <a:prstGeom prst="wedgeRoundRectCallout">
            <a:avLst>
              <a:gd name="adj1" fmla="val 95523"/>
              <a:gd name="adj2" fmla="val -353250"/>
              <a:gd name="adj3" fmla="val 16667"/>
            </a:avLst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(6) </a:t>
            </a:r>
            <a:r>
              <a:rPr lang="zh-CN" altLang="en-US" sz="32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判</a:t>
            </a:r>
            <a:r>
              <a:rPr lang="en-US" altLang="zh-CN" sz="32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x</a:t>
            </a:r>
            <a:r>
              <a:rPr lang="en-US" altLang="zh-CN" sz="32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</a:t>
            </a:r>
            <a:r>
              <a:rPr lang="el-GR" altLang="zh-CN" sz="32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ω</a:t>
            </a:r>
            <a:r>
              <a:rPr lang="en-US" altLang="zh-CN" sz="3200" b="1" baseline="-250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rPr>
              <a:t>2</a:t>
            </a:r>
            <a:endParaRPr lang="el-GR" altLang="zh-CN" sz="3200" baseline="-25000" dirty="0">
              <a:solidFill>
                <a:srgbClr val="FF0000"/>
              </a:solidFill>
              <a:latin typeface="楷体_GB2312"/>
              <a:ea typeface="楷体_GB2312"/>
              <a:cs typeface="楷体_GB2312"/>
              <a:sym typeface="Symbol" panose="05050102010706020507" pitchFamily="18" charset="2"/>
            </a:endParaRPr>
          </a:p>
        </p:txBody>
      </p:sp>
      <p:sp>
        <p:nvSpPr>
          <p:cNvPr id="452658" name="Oval 50">
            <a:extLst>
              <a:ext uri="{FF2B5EF4-FFF2-40B4-BE49-F238E27FC236}">
                <a16:creationId xmlns:a16="http://schemas.microsoft.com/office/drawing/2014/main" id="{B69DA30B-FB04-4525-80B2-792987543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788" y="2205038"/>
            <a:ext cx="142875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latin typeface="Tahoma" panose="020B0604030504040204" pitchFamily="34" charset="0"/>
            </a:endParaRPr>
          </a:p>
        </p:txBody>
      </p:sp>
      <p:grpSp>
        <p:nvGrpSpPr>
          <p:cNvPr id="4" name="Group 56">
            <a:extLst>
              <a:ext uri="{FF2B5EF4-FFF2-40B4-BE49-F238E27FC236}">
                <a16:creationId xmlns:a16="http://schemas.microsoft.com/office/drawing/2014/main" id="{8F4959EA-E82A-4019-A327-AEE44E32D5EE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1714501"/>
            <a:ext cx="5651500" cy="2143126"/>
            <a:chOff x="2200" y="1080"/>
            <a:chExt cx="3560" cy="1350"/>
          </a:xfrm>
          <a:solidFill>
            <a:schemeClr val="bg2"/>
          </a:solidFill>
        </p:grpSpPr>
        <p:sp>
          <p:nvSpPr>
            <p:cNvPr id="452650" name="Line 42">
              <a:extLst>
                <a:ext uri="{FF2B5EF4-FFF2-40B4-BE49-F238E27FC236}">
                  <a16:creationId xmlns:a16="http://schemas.microsoft.com/office/drawing/2014/main" id="{FDC22379-94CC-441E-9247-D3D04556D3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434"/>
              <a:ext cx="408" cy="46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3200">
                <a:latin typeface="Tahoma" pitchFamily="34" charset="0"/>
              </a:endParaRPr>
            </a:p>
          </p:txBody>
        </p:sp>
        <p:sp>
          <p:nvSpPr>
            <p:cNvPr id="452651" name="Line 43">
              <a:extLst>
                <a:ext uri="{FF2B5EF4-FFF2-40B4-BE49-F238E27FC236}">
                  <a16:creationId xmlns:a16="http://schemas.microsoft.com/office/drawing/2014/main" id="{7ACEC9E0-0773-4488-9EA7-7B01E6092C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0" y="1480"/>
              <a:ext cx="318" cy="136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3200">
                <a:latin typeface="Tahoma" pitchFamily="34" charset="0"/>
              </a:endParaRPr>
            </a:p>
          </p:txBody>
        </p:sp>
        <p:sp>
          <p:nvSpPr>
            <p:cNvPr id="452652" name="Line 44">
              <a:extLst>
                <a:ext uri="{FF2B5EF4-FFF2-40B4-BE49-F238E27FC236}">
                  <a16:creationId xmlns:a16="http://schemas.microsoft.com/office/drawing/2014/main" id="{4F20D5BE-307C-4DF1-A38B-747A4BDCB5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2" y="1480"/>
              <a:ext cx="181" cy="272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3200">
                <a:latin typeface="Tahoma" pitchFamily="34" charset="0"/>
              </a:endParaRPr>
            </a:p>
          </p:txBody>
        </p:sp>
        <p:sp>
          <p:nvSpPr>
            <p:cNvPr id="452653" name="Line 45">
              <a:extLst>
                <a:ext uri="{FF2B5EF4-FFF2-40B4-BE49-F238E27FC236}">
                  <a16:creationId xmlns:a16="http://schemas.microsoft.com/office/drawing/2014/main" id="{CD5D9A80-9103-4E73-A995-414267F9F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1480"/>
              <a:ext cx="181" cy="0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3200">
                <a:latin typeface="Tahoma" pitchFamily="34" charset="0"/>
              </a:endParaRPr>
            </a:p>
          </p:txBody>
        </p:sp>
        <p:sp>
          <p:nvSpPr>
            <p:cNvPr id="452654" name="AutoShape 46">
              <a:extLst>
                <a:ext uri="{FF2B5EF4-FFF2-40B4-BE49-F238E27FC236}">
                  <a16:creationId xmlns:a16="http://schemas.microsoft.com/office/drawing/2014/main" id="{FAC05062-ADAA-4525-B441-FF9A58CF5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080"/>
              <a:ext cx="1610" cy="1350"/>
            </a:xfrm>
            <a:prstGeom prst="wedgeRoundRectCallout">
              <a:avLst>
                <a:gd name="adj1" fmla="val -133151"/>
                <a:gd name="adj2" fmla="val -10267"/>
                <a:gd name="adj3" fmla="val 16667"/>
              </a:avLst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spcBef>
                  <a:spcPts val="0"/>
                </a:spcBef>
                <a:defRPr/>
              </a:pPr>
              <a:r>
                <a:rPr lang="en-US" altLang="zh-CN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(3)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计算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到</a:t>
              </a:r>
              <a:r>
                <a:rPr lang="en-US" altLang="zh-CN" sz="3200" b="1" dirty="0" err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3200" b="1" baseline="-25000" dirty="0" err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lang="en-US" altLang="zh-CN" sz="3200" b="1" dirty="0" err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  <a:sym typeface="Symbol" pitchFamily="18" charset="2"/>
                </a:rPr>
                <a:t>X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(</a:t>
              </a:r>
              <a:r>
                <a:rPr lang="en-US" altLang="zh-CN" sz="3200" b="1" dirty="0" err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=1,</a:t>
              </a:r>
            </a:p>
            <a:p>
              <a:pPr>
                <a:spcBef>
                  <a:spcPts val="0"/>
                </a:spcBef>
                <a:defRPr/>
              </a:pPr>
              <a:r>
                <a:rPr lang="en-US" altLang="zh-CN" sz="3200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2,</a:t>
              </a:r>
              <a:r>
                <a:rPr lang="en-US" altLang="zh-CN" sz="3200" b="1" dirty="0">
                  <a:solidFill>
                    <a:srgbClr val="C00000"/>
                  </a:solidFill>
                  <a:latin typeface="Arial"/>
                  <a:ea typeface="楷体_GB2312" pitchFamily="49" charset="-122"/>
                </a:rPr>
                <a:t>…</a:t>
              </a:r>
              <a:r>
                <a:rPr lang="en-US" altLang="zh-CN" sz="3200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,N)</a:t>
              </a:r>
              <a:r>
                <a:rPr lang="zh-CN" altLang="en-US" sz="3200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的距离</a:t>
              </a:r>
              <a:r>
                <a:rPr lang="en-US" altLang="zh-CN" sz="3200" b="1" dirty="0" err="1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d</a:t>
              </a:r>
              <a:r>
                <a:rPr lang="en-US" altLang="zh-CN" sz="3200" b="1" baseline="-25000" dirty="0" err="1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i</a:t>
              </a:r>
              <a:r>
                <a:rPr lang="en-US" altLang="zh-CN" sz="3200" b="1" dirty="0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</a:rPr>
                <a:t>(x)</a:t>
              </a:r>
              <a:endParaRPr lang="zh-CN" altLang="en-US" sz="3200" dirty="0">
                <a:solidFill>
                  <a:srgbClr val="C00000"/>
                </a:solidFill>
              </a:endParaRPr>
            </a:p>
          </p:txBody>
        </p:sp>
        <p:sp>
          <p:nvSpPr>
            <p:cNvPr id="452659" name="Line 51">
              <a:extLst>
                <a:ext uri="{FF2B5EF4-FFF2-40B4-BE49-F238E27FC236}">
                  <a16:creationId xmlns:a16="http://schemas.microsoft.com/office/drawing/2014/main" id="{CC323F78-5A3E-47D7-86A5-87F56A456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0" y="1480"/>
              <a:ext cx="317" cy="317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3200">
                <a:latin typeface="Tahoma" pitchFamily="34" charset="0"/>
              </a:endParaRPr>
            </a:p>
          </p:txBody>
        </p:sp>
        <p:sp>
          <p:nvSpPr>
            <p:cNvPr id="452660" name="Line 52">
              <a:extLst>
                <a:ext uri="{FF2B5EF4-FFF2-40B4-BE49-F238E27FC236}">
                  <a16:creationId xmlns:a16="http://schemas.microsoft.com/office/drawing/2014/main" id="{747836BA-93B2-4C0A-ACD9-C9E6CD64C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480"/>
              <a:ext cx="91" cy="362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3200">
                <a:latin typeface="Tahoma" pitchFamily="34" charset="0"/>
              </a:endParaRPr>
            </a:p>
          </p:txBody>
        </p:sp>
        <p:sp>
          <p:nvSpPr>
            <p:cNvPr id="452661" name="Line 53">
              <a:extLst>
                <a:ext uri="{FF2B5EF4-FFF2-40B4-BE49-F238E27FC236}">
                  <a16:creationId xmlns:a16="http://schemas.microsoft.com/office/drawing/2014/main" id="{F4A32543-FE8E-416E-8BFC-ED92D847F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480"/>
              <a:ext cx="228" cy="271"/>
            </a:xfrm>
            <a:prstGeom prst="line">
              <a:avLst/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3200">
                <a:latin typeface="Tahoma" pitchFamily="34" charset="0"/>
              </a:endParaRPr>
            </a:p>
          </p:txBody>
        </p:sp>
      </p:grpSp>
      <p:grpSp>
        <p:nvGrpSpPr>
          <p:cNvPr id="5" name="Group 57">
            <a:extLst>
              <a:ext uri="{FF2B5EF4-FFF2-40B4-BE49-F238E27FC236}">
                <a16:creationId xmlns:a16="http://schemas.microsoft.com/office/drawing/2014/main" id="{94437D70-B5B5-4351-B6F4-D76818EE9B96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844675"/>
            <a:ext cx="5867400" cy="3298825"/>
            <a:chOff x="2064" y="1162"/>
            <a:chExt cx="3696" cy="2078"/>
          </a:xfrm>
        </p:grpSpPr>
        <p:sp>
          <p:nvSpPr>
            <p:cNvPr id="39981" name="AutoShape 47">
              <a:extLst>
                <a:ext uri="{FF2B5EF4-FFF2-40B4-BE49-F238E27FC236}">
                  <a16:creationId xmlns:a16="http://schemas.microsoft.com/office/drawing/2014/main" id="{F9DFAD0A-4E30-4A35-B8AE-3105213D5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523"/>
              <a:ext cx="2835" cy="717"/>
            </a:xfrm>
            <a:prstGeom prst="wedgeRoundRectCallout">
              <a:avLst>
                <a:gd name="adj1" fmla="val -47176"/>
                <a:gd name="adj2" fmla="val -152833"/>
                <a:gd name="adj3" fmla="val 16667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(4)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找出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x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的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k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个最近邻元</a:t>
              </a:r>
              <a:r>
                <a:rPr lang="en-US" altLang="zh-CN" sz="3200" b="1" dirty="0" err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X</a:t>
              </a:r>
              <a:r>
                <a:rPr lang="en-US" altLang="zh-CN" sz="3200" b="1" baseline="-25000" dirty="0" err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k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={</a:t>
              </a:r>
              <a:r>
                <a:rPr lang="en-US" altLang="zh-CN" sz="3200" b="1" dirty="0" err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x</a:t>
              </a:r>
              <a:r>
                <a:rPr lang="en-US" altLang="zh-CN" sz="3200" b="1" baseline="-25000" dirty="0" err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i</a:t>
              </a:r>
              <a:r>
                <a:rPr lang="en-US" altLang="zh-CN" sz="3200" b="1" dirty="0" err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,i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=1,2,</a:t>
              </a:r>
              <a:r>
                <a:rPr lang="en-US" altLang="zh-CN" sz="3200" b="1" dirty="0">
                  <a:solidFill>
                    <a:srgbClr val="FF0000"/>
                  </a:solidFill>
                  <a:ea typeface="楷体_GB2312"/>
                  <a:cs typeface="楷体_GB2312"/>
                </a:rPr>
                <a:t>…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,k}</a:t>
              </a:r>
              <a:endParaRPr lang="zh-CN" altLang="en-US" sz="32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82" name="Oval 54">
              <a:extLst>
                <a:ext uri="{FF2B5EF4-FFF2-40B4-BE49-F238E27FC236}">
                  <a16:creationId xmlns:a16="http://schemas.microsoft.com/office/drawing/2014/main" id="{4BCBF32A-598D-47E0-8EE5-DAD20AAF9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162"/>
              <a:ext cx="974" cy="862"/>
            </a:xfrm>
            <a:prstGeom prst="ellipse">
              <a:avLst/>
            </a:prstGeom>
            <a:noFill/>
            <a:ln w="38100">
              <a:solidFill>
                <a:srgbClr val="00FF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59">
            <a:extLst>
              <a:ext uri="{FF2B5EF4-FFF2-40B4-BE49-F238E27FC236}">
                <a16:creationId xmlns:a16="http://schemas.microsoft.com/office/drawing/2014/main" id="{3921317D-519E-45F0-92E7-F10FDB1668BA}"/>
              </a:ext>
            </a:extLst>
          </p:cNvPr>
          <p:cNvGrpSpPr>
            <a:grpSpLocks/>
          </p:cNvGrpSpPr>
          <p:nvPr/>
        </p:nvGrpSpPr>
        <p:grpSpPr bwMode="auto">
          <a:xfrm>
            <a:off x="2700338" y="1928813"/>
            <a:ext cx="4943475" cy="4643437"/>
            <a:chOff x="1701" y="1208"/>
            <a:chExt cx="3114" cy="2925"/>
          </a:xfrm>
        </p:grpSpPr>
        <p:sp>
          <p:nvSpPr>
            <p:cNvPr id="39984" name="AutoShape 48">
              <a:extLst>
                <a:ext uri="{FF2B5EF4-FFF2-40B4-BE49-F238E27FC236}">
                  <a16:creationId xmlns:a16="http://schemas.microsoft.com/office/drawing/2014/main" id="{5E2194A2-CC29-46B7-9E74-A9B7E4CE0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3339"/>
              <a:ext cx="3114" cy="794"/>
            </a:xfrm>
            <a:prstGeom prst="wedgeRoundRectCallout">
              <a:avLst>
                <a:gd name="adj1" fmla="val -24213"/>
                <a:gd name="adj2" fmla="val -227398"/>
                <a:gd name="adj3" fmla="val 16667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(5)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看</a:t>
              </a:r>
              <a:r>
                <a:rPr lang="en-US" altLang="zh-CN" sz="3200" b="1" dirty="0" err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X</a:t>
              </a:r>
              <a:r>
                <a:rPr lang="en-US" altLang="zh-CN" sz="3200" b="1" baseline="-25000" dirty="0" err="1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k</a:t>
              </a:r>
              <a:r>
                <a:rPr lang="zh-CN" altLang="en-US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中属于哪一类的样本最多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k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1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=3&lt;k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2</a:t>
              </a:r>
              <a:r>
                <a:rPr lang="en-US" altLang="zh-CN" sz="3200" b="1" dirty="0">
                  <a:solidFill>
                    <a:srgbClr val="FF0000"/>
                  </a:solidFill>
                  <a:latin typeface="楷体_GB2312"/>
                  <a:ea typeface="楷体_GB2312"/>
                  <a:cs typeface="楷体_GB2312"/>
                </a:rPr>
                <a:t>=4</a:t>
              </a:r>
              <a:endParaRPr lang="el-GR" altLang="zh-CN" sz="3200" b="1" baseline="-250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  <a:sym typeface="Symbol" panose="05050102010706020507" pitchFamily="18" charset="2"/>
              </a:endParaRPr>
            </a:p>
          </p:txBody>
        </p:sp>
        <p:sp>
          <p:nvSpPr>
            <p:cNvPr id="39985" name="Oval 58">
              <a:extLst>
                <a:ext uri="{FF2B5EF4-FFF2-40B4-BE49-F238E27FC236}">
                  <a16:creationId xmlns:a16="http://schemas.microsoft.com/office/drawing/2014/main" id="{B0991CAF-38C3-4D38-85F2-8DBD838B4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0" y="1208"/>
              <a:ext cx="675" cy="77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2657" grpId="0" animBg="1"/>
      <p:bldP spid="45265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日期占位符 3">
            <a:extLst>
              <a:ext uri="{FF2B5EF4-FFF2-40B4-BE49-F238E27FC236}">
                <a16:creationId xmlns:a16="http://schemas.microsoft.com/office/drawing/2014/main" id="{81C60640-E60B-4B78-B051-980EF0D1974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2E03B7-94DB-4ADF-89BA-94EC5FD832C9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0" name="页脚占位符 4">
            <a:extLst>
              <a:ext uri="{FF2B5EF4-FFF2-40B4-BE49-F238E27FC236}">
                <a16:creationId xmlns:a16="http://schemas.microsoft.com/office/drawing/2014/main" id="{E49E82FF-1F1B-4FA4-A246-46C6461B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7651" name="灯片编号占位符 5">
            <a:extLst>
              <a:ext uri="{FF2B5EF4-FFF2-40B4-BE49-F238E27FC236}">
                <a16:creationId xmlns:a16="http://schemas.microsoft.com/office/drawing/2014/main" id="{BA64B6A3-607B-4FC5-A33B-56692B1E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7CC97C-9F70-410C-B3A4-95542EB83023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DFBAB5FB-D653-4E34-9FAE-10CBB4959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K-</a:t>
            </a:r>
            <a:r>
              <a:rPr lang="zh-CN" altLang="en-US"/>
              <a:t>近邻分类算法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AC6D0A57-DE39-4522-8ED1-231C6A4A0A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/>
              <a:t>K-</a:t>
            </a:r>
            <a:r>
              <a:rPr lang="zh-CN" altLang="en-US" sz="2400"/>
              <a:t>近邻分类算法（</a:t>
            </a:r>
            <a:r>
              <a:rPr lang="en-US" altLang="zh-CN" sz="2400"/>
              <a:t>K Nearest Neighbors</a:t>
            </a:r>
            <a:r>
              <a:rPr lang="zh-CN" altLang="en-US" sz="2400"/>
              <a:t>，简称</a:t>
            </a:r>
            <a:r>
              <a:rPr lang="en-US" altLang="zh-CN" sz="2400"/>
              <a:t>KNN</a:t>
            </a:r>
            <a:r>
              <a:rPr lang="zh-CN" altLang="en-US" sz="2400"/>
              <a:t>）通过计算每个训练数据到待分类元组的距离，取和待分类元组距离最近的</a:t>
            </a:r>
            <a:r>
              <a:rPr lang="en-US" altLang="zh-CN" sz="2400"/>
              <a:t>K</a:t>
            </a:r>
            <a:r>
              <a:rPr lang="zh-CN" altLang="en-US" sz="2400"/>
              <a:t>个训练数据，</a:t>
            </a:r>
            <a:r>
              <a:rPr lang="en-US" altLang="zh-CN" sz="2400"/>
              <a:t>K</a:t>
            </a:r>
            <a:r>
              <a:rPr lang="zh-CN" altLang="en-US" sz="2400"/>
              <a:t>个数据中哪个类别的训练数据占多数，则待分类元组就属于哪个类别。</a:t>
            </a:r>
            <a:endParaRPr lang="zh-CN" altLang="en-US"/>
          </a:p>
        </p:txBody>
      </p:sp>
      <p:sp>
        <p:nvSpPr>
          <p:cNvPr id="27654" name="Text Box 4">
            <a:extLst>
              <a:ext uri="{FF2B5EF4-FFF2-40B4-BE49-F238E27FC236}">
                <a16:creationId xmlns:a16="http://schemas.microsoft.com/office/drawing/2014/main" id="{791A8924-FE14-4016-A95B-A3353DAD5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20938"/>
            <a:ext cx="7848600" cy="3525837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1600" b="1">
                <a:latin typeface="Tahoma" panose="020B0604030504040204" pitchFamily="34" charset="0"/>
                <a:ea typeface="宋体" panose="02010600030101010101" pitchFamily="2" charset="-122"/>
              </a:rPr>
              <a:t>算法 </a:t>
            </a:r>
            <a:r>
              <a:rPr lang="en-US" altLang="zh-CN" sz="1600" b="1">
                <a:latin typeface="Tahoma" panose="020B0604030504040204" pitchFamily="34" charset="0"/>
                <a:ea typeface="宋体" panose="02010600030101010101" pitchFamily="2" charset="-122"/>
              </a:rPr>
              <a:t>4-2 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K-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近邻分类算法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输入：  训练数据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；近邻数目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K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；待分类的元组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。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输出：  输出类别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。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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FOR each 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d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∈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 DO BEGIN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  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IF |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|≤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K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 THEN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    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∪{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}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；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  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ELSE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	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IF 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u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∈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  such that 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sim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u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)〈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sim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) THEN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BEGIN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	     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-{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u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}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	     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=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∪{</a:t>
            </a:r>
            <a:r>
              <a:rPr lang="en-US" altLang="zh-CN" sz="1600" i="1">
                <a:latin typeface="Tahoma" panose="020B060403050404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}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9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	  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END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END</a:t>
            </a:r>
          </a:p>
          <a:p>
            <a:pPr eaLnBrk="1" hangingPunct="1">
              <a:lnSpc>
                <a:spcPct val="6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  <a:r>
              <a:rPr lang="zh-CN" altLang="en-US" sz="160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1600">
                <a:latin typeface="Tahoma" panose="020B0604030504040204" pitchFamily="34" charset="0"/>
                <a:ea typeface="宋体" panose="02010600030101010101" pitchFamily="2" charset="-122"/>
              </a:rPr>
              <a:t>c=class to which the most u∈N.</a:t>
            </a:r>
            <a:r>
              <a:rPr lang="en-US" altLang="zh-CN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9450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04BE4AF-3AA5-4119-97D1-907223BFCEAA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228600"/>
            <a:ext cx="8229600" cy="1143000"/>
          </a:xfrm>
        </p:spPr>
        <p:txBody>
          <a:bodyPr anchorCtr="0"/>
          <a:lstStyle/>
          <a:p>
            <a:r>
              <a:rPr lang="en-US" altLang="zh-CN" sz="3600" b="1"/>
              <a:t>KNN</a:t>
            </a:r>
            <a:r>
              <a:rPr lang="zh-CN" altLang="en-US" sz="3600" b="1"/>
              <a:t>的直观解释</a:t>
            </a: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EB82A122-3245-4B1D-86F2-047F18699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13604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</a:endParaRP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F9F0EE33-FFF4-416D-99C4-DC187C846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74676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/>
              <a:t>1</a:t>
            </a:r>
            <a:r>
              <a:rPr lang="zh-CN" altLang="en-US" sz="2400" dirty="0"/>
              <a:t>、定义的直观形式：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 dirty="0"/>
              <a:t>找出与目标最接近的</a:t>
            </a:r>
            <a:r>
              <a:rPr lang="en-US" altLang="zh-CN" sz="2000" dirty="0"/>
              <a:t>K</a:t>
            </a:r>
            <a:r>
              <a:rPr lang="zh-CN" altLang="en-US" sz="2000" dirty="0"/>
              <a:t>个样本；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 dirty="0"/>
              <a:t>将目标划分到找出的</a:t>
            </a:r>
            <a:r>
              <a:rPr lang="en-US" altLang="zh-CN" sz="2000" dirty="0"/>
              <a:t>K</a:t>
            </a:r>
            <a:r>
              <a:rPr lang="zh-CN" altLang="en-US" sz="2000" dirty="0"/>
              <a:t>个样本中出现最频繁的类。</a:t>
            </a:r>
            <a:endParaRPr lang="zh-CN" altLang="en-US" sz="800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K</a:t>
            </a:r>
            <a:r>
              <a:rPr lang="zh-CN" altLang="en-US" sz="2400" dirty="0"/>
              <a:t>的直观形式：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 dirty="0"/>
              <a:t>以目标样本为中心；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 dirty="0"/>
              <a:t>划出一个刚好包含</a:t>
            </a:r>
            <a:r>
              <a:rPr lang="en-US" altLang="zh-CN" sz="2000" dirty="0"/>
              <a:t>K</a:t>
            </a:r>
            <a:r>
              <a:rPr lang="zh-CN" altLang="en-US" sz="2000" dirty="0"/>
              <a:t>个样本的圆；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 dirty="0"/>
              <a:t>当</a:t>
            </a:r>
            <a:r>
              <a:rPr lang="en-US" altLang="zh-CN" sz="2000" dirty="0"/>
              <a:t>K</a:t>
            </a:r>
            <a:r>
              <a:rPr lang="zh-CN" altLang="en-US" sz="2000" dirty="0"/>
              <a:t>增大时，圆半径增大。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endParaRPr lang="zh-CN" altLang="en-US" sz="800" dirty="0"/>
          </a:p>
          <a:p>
            <a:pPr eaLnBrk="1" hangingPunct="1">
              <a:spcBef>
                <a:spcPct val="50000"/>
              </a:spcBef>
            </a:pPr>
            <a:endParaRPr lang="zh-CN" altLang="en-US" sz="2400" dirty="0"/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endParaRPr lang="zh-CN" altLang="en-US" sz="2000" dirty="0"/>
          </a:p>
          <a:p>
            <a:pPr eaLnBrk="1" hangingPunct="1">
              <a:spcBef>
                <a:spcPct val="50000"/>
              </a:spcBef>
            </a:pPr>
            <a:endParaRPr lang="en-US" altLang="zh-CN" sz="2000" dirty="0"/>
          </a:p>
        </p:txBody>
      </p:sp>
      <p:graphicFrame>
        <p:nvGraphicFramePr>
          <p:cNvPr id="20485" name="Object 4">
            <a:extLst>
              <a:ext uri="{FF2B5EF4-FFF2-40B4-BE49-F238E27FC236}">
                <a16:creationId xmlns:a16="http://schemas.microsoft.com/office/drawing/2014/main" id="{E7D09259-72C1-49DF-9B43-83D9E6DDD4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1295400"/>
          <a:ext cx="2438400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6" r:id="rId3" imgW="6663960" imgH="5482800" progId="">
                  <p:embed/>
                </p:oleObj>
              </mc:Choice>
              <mc:Fallback>
                <p:oleObj r:id="rId3" imgW="6663960" imgH="5482800" progId="">
                  <p:embed/>
                  <p:pic>
                    <p:nvPicPr>
                      <p:cNvPr id="20485" name="Object 4">
                        <a:extLst>
                          <a:ext uri="{FF2B5EF4-FFF2-40B4-BE49-F238E27FC236}">
                            <a16:creationId xmlns:a16="http://schemas.microsoft.com/office/drawing/2014/main" id="{E7D09259-72C1-49DF-9B43-83D9E6DDD4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1295400"/>
                        <a:ext cx="2438400" cy="206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3">
            <a:extLst>
              <a:ext uri="{FF2B5EF4-FFF2-40B4-BE49-F238E27FC236}">
                <a16:creationId xmlns:a16="http://schemas.microsoft.com/office/drawing/2014/main" id="{DD226472-6C37-49BB-B37E-E5F6EDB7A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4495800"/>
          <a:ext cx="69342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7" r:id="rId5" imgW="9218520" imgH="4274280" progId="Visio.Drawing.11">
                  <p:embed/>
                </p:oleObj>
              </mc:Choice>
              <mc:Fallback>
                <p:oleObj r:id="rId5" imgW="9218520" imgH="4274280" progId="Visio.Drawing.11">
                  <p:embed/>
                  <p:pic>
                    <p:nvPicPr>
                      <p:cNvPr id="20486" name="Object 3">
                        <a:extLst>
                          <a:ext uri="{FF2B5EF4-FFF2-40B4-BE49-F238E27FC236}">
                            <a16:creationId xmlns:a16="http://schemas.microsoft.com/office/drawing/2014/main" id="{DD226472-6C37-49BB-B37E-E5F6EDB7A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495800"/>
                        <a:ext cx="693420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73EE554-0770-4591-A602-6C96763C0858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457200"/>
            <a:ext cx="8229600" cy="1143000"/>
          </a:xfrm>
        </p:spPr>
        <p:txBody>
          <a:bodyPr anchorCtr="0"/>
          <a:lstStyle/>
          <a:p>
            <a:r>
              <a:rPr lang="en-US" altLang="zh-CN" sz="3600" b="1"/>
              <a:t>KNN</a:t>
            </a:r>
            <a:r>
              <a:rPr lang="zh-CN" altLang="en-US" sz="3600" b="1"/>
              <a:t>的直观解释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3AC56268-B988-41EA-A659-2CDA082D9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13604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</a:endParaRP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9303FF92-8246-4F42-A682-446ED0F84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5105400" cy="679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</a:pPr>
            <a:r>
              <a:rPr lang="en-US" altLang="zh-CN" sz="2400" b="1"/>
              <a:t>3</a:t>
            </a:r>
            <a:r>
              <a:rPr lang="zh-CN" altLang="en-US" sz="2400" b="1"/>
              <a:t>、直观的例子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400"/>
              <a:t>手写识别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记录手写体特征；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计算手写体与标准汉字的相似度；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根据相似度（距离），找出</a:t>
            </a:r>
            <a:r>
              <a:rPr lang="en-US" altLang="zh-CN" sz="2000"/>
              <a:t>K</a:t>
            </a:r>
            <a:r>
              <a:rPr lang="zh-CN" altLang="en-US" sz="2000"/>
              <a:t>个备选集；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人工选择一个正确汉字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endParaRPr lang="zh-CN" altLang="en-US" sz="800"/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400"/>
              <a:t>人种识别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欧洲人的鼻子、亚洲人的眼睛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非洲人的肤色、亚洲人的头发</a:t>
            </a:r>
          </a:p>
          <a:p>
            <a:pPr lvl="2" eaLnBrk="1" hangingPunct="1">
              <a:spcBef>
                <a:spcPct val="50000"/>
              </a:spcBef>
              <a:buFontTx/>
              <a:buChar char="•"/>
            </a:pPr>
            <a:endParaRPr lang="zh-CN" altLang="en-US" sz="2400"/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endParaRPr lang="zh-CN" altLang="en-US" sz="2400"/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endParaRPr lang="zh-CN" altLang="en-US" sz="2000"/>
          </a:p>
          <a:p>
            <a:pPr eaLnBrk="1" hangingPunct="1">
              <a:spcBef>
                <a:spcPct val="50000"/>
              </a:spcBef>
            </a:pPr>
            <a:endParaRPr lang="en-US" altLang="zh-CN" sz="2000"/>
          </a:p>
        </p:txBody>
      </p:sp>
      <p:graphicFrame>
        <p:nvGraphicFramePr>
          <p:cNvPr id="21509" name="Object 4">
            <a:extLst>
              <a:ext uri="{FF2B5EF4-FFF2-40B4-BE49-F238E27FC236}">
                <a16:creationId xmlns:a16="http://schemas.microsoft.com/office/drawing/2014/main" id="{4DB0F0AE-CF22-4D6A-8FDD-BAE2D203C9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1447800"/>
          <a:ext cx="3062288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0" r:id="rId3" imgW="7094160" imgH="8390880" progId="">
                  <p:embed/>
                </p:oleObj>
              </mc:Choice>
              <mc:Fallback>
                <p:oleObj r:id="rId3" imgW="7094160" imgH="8390880" progId="">
                  <p:embed/>
                  <p:pic>
                    <p:nvPicPr>
                      <p:cNvPr id="21509" name="Object 4">
                        <a:extLst>
                          <a:ext uri="{FF2B5EF4-FFF2-40B4-BE49-F238E27FC236}">
                            <a16:creationId xmlns:a16="http://schemas.microsoft.com/office/drawing/2014/main" id="{4DB0F0AE-CF22-4D6A-8FDD-BAE2D203C9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447800"/>
                        <a:ext cx="3062288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1BC3DD8-59A5-4964-90ED-E85CC14B08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1625" y="609600"/>
            <a:ext cx="8540750" cy="1143000"/>
          </a:xfrm>
        </p:spPr>
        <p:txBody>
          <a:bodyPr anchorCtr="0"/>
          <a:lstStyle/>
          <a:p>
            <a:r>
              <a:rPr lang="zh-CN" altLang="en-US"/>
              <a:t>形象的例子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7A80171-C801-4C3C-804B-9E9661A0594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371600"/>
            <a:ext cx="8540750" cy="45751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/>
              <a:t>KNN</a:t>
            </a:r>
            <a:r>
              <a:rPr lang="zh-CN" altLang="en-US"/>
              <a:t>的分类思想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800"/>
          </a:p>
          <a:p>
            <a:pPr lvl="1">
              <a:buFontTx/>
              <a:buNone/>
            </a:pPr>
            <a:r>
              <a:rPr lang="zh-CN" altLang="en-US" sz="2400">
                <a:solidFill>
                  <a:schemeClr val="hlink"/>
                </a:solidFill>
              </a:rPr>
              <a:t>如果它走路像鸭子</a:t>
            </a:r>
            <a:r>
              <a:rPr lang="en-US" altLang="zh-CN" sz="2400">
                <a:solidFill>
                  <a:schemeClr val="hlink"/>
                </a:solidFill>
              </a:rPr>
              <a:t>, </a:t>
            </a:r>
            <a:r>
              <a:rPr lang="zh-CN" altLang="en-US" sz="2400">
                <a:solidFill>
                  <a:schemeClr val="hlink"/>
                </a:solidFill>
              </a:rPr>
              <a:t>叫声也像鸭子</a:t>
            </a:r>
            <a:r>
              <a:rPr lang="en-US" altLang="zh-CN" sz="2400">
                <a:solidFill>
                  <a:schemeClr val="hlink"/>
                </a:solidFill>
              </a:rPr>
              <a:t>, </a:t>
            </a:r>
            <a:r>
              <a:rPr lang="zh-CN" altLang="en-US" sz="2400">
                <a:solidFill>
                  <a:schemeClr val="hlink"/>
                </a:solidFill>
              </a:rPr>
              <a:t>那么他可能就是只鸭子</a:t>
            </a:r>
          </a:p>
        </p:txBody>
      </p:sp>
      <p:grpSp>
        <p:nvGrpSpPr>
          <p:cNvPr id="22532" name="Group 4">
            <a:extLst>
              <a:ext uri="{FF2B5EF4-FFF2-40B4-BE49-F238E27FC236}">
                <a16:creationId xmlns:a16="http://schemas.microsoft.com/office/drawing/2014/main" id="{867B3261-7CED-4461-B396-72789EA3CA4B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819400"/>
            <a:ext cx="8229600" cy="3429000"/>
            <a:chOff x="0" y="0"/>
            <a:chExt cx="5184" cy="2160"/>
          </a:xfrm>
        </p:grpSpPr>
        <p:pic>
          <p:nvPicPr>
            <p:cNvPr id="22533" name="Picture 5" descr="j0345807">
              <a:extLst>
                <a:ext uri="{FF2B5EF4-FFF2-40B4-BE49-F238E27FC236}">
                  <a16:creationId xmlns:a16="http://schemas.microsoft.com/office/drawing/2014/main" id="{3058CDE0-7910-4AAD-A24A-840BFC6CE8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" y="384"/>
              <a:ext cx="528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4" name="Picture 6" descr="j0239589">
              <a:extLst>
                <a:ext uri="{FF2B5EF4-FFF2-40B4-BE49-F238E27FC236}">
                  <a16:creationId xmlns:a16="http://schemas.microsoft.com/office/drawing/2014/main" id="{CEA93DCA-ABF7-4615-A0B5-8FF8086086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864"/>
              <a:ext cx="720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5" name="Picture 7" descr="j0350383">
              <a:extLst>
                <a:ext uri="{FF2B5EF4-FFF2-40B4-BE49-F238E27FC236}">
                  <a16:creationId xmlns:a16="http://schemas.microsoft.com/office/drawing/2014/main" id="{30D03832-B959-4568-B02D-EC95BC6C0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192"/>
              <a:ext cx="444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6" name="Picture 8" descr="j0330631">
              <a:extLst>
                <a:ext uri="{FF2B5EF4-FFF2-40B4-BE49-F238E27FC236}">
                  <a16:creationId xmlns:a16="http://schemas.microsoft.com/office/drawing/2014/main" id="{47CD9843-245F-4652-A7B0-7E9D35F78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200"/>
              <a:ext cx="373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7" name="Picture 9" descr="j0350389">
              <a:extLst>
                <a:ext uri="{FF2B5EF4-FFF2-40B4-BE49-F238E27FC236}">
                  <a16:creationId xmlns:a16="http://schemas.microsoft.com/office/drawing/2014/main" id="{74BD0DB2-3B43-49A7-A39D-C43D382A1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6" y="1392"/>
              <a:ext cx="62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538" name="Picture 10" descr="j0350356">
              <a:extLst>
                <a:ext uri="{FF2B5EF4-FFF2-40B4-BE49-F238E27FC236}">
                  <a16:creationId xmlns:a16="http://schemas.microsoft.com/office/drawing/2014/main" id="{BA42D1F4-B54B-4AEF-9FE7-E02ED167AA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" y="672"/>
              <a:ext cx="720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539" name="Oval 11">
              <a:extLst>
                <a:ext uri="{FF2B5EF4-FFF2-40B4-BE49-F238E27FC236}">
                  <a16:creationId xmlns:a16="http://schemas.microsoft.com/office/drawing/2014/main" id="{A8BB5E6B-DDF9-4BA3-AA01-26A26567D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0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0" name="Text Box 12">
              <a:extLst>
                <a:ext uri="{FF2B5EF4-FFF2-40B4-BE49-F238E27FC236}">
                  <a16:creationId xmlns:a16="http://schemas.microsoft.com/office/drawing/2014/main" id="{DF9326FE-AEDB-48C5-89D5-1D10C84135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536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Training Records</a:t>
              </a:r>
            </a:p>
          </p:txBody>
        </p:sp>
        <p:sp>
          <p:nvSpPr>
            <p:cNvPr id="22541" name="Text Box 13">
              <a:extLst>
                <a:ext uri="{FF2B5EF4-FFF2-40B4-BE49-F238E27FC236}">
                  <a16:creationId xmlns:a16="http://schemas.microsoft.com/office/drawing/2014/main" id="{6F199B9F-61C9-4BFF-9CEC-7C54A6610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88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/>
                <a:t>Test Record</a:t>
              </a:r>
            </a:p>
          </p:txBody>
        </p:sp>
      </p:grpSp>
      <p:grpSp>
        <p:nvGrpSpPr>
          <p:cNvPr id="22542" name="Group 14">
            <a:extLst>
              <a:ext uri="{FF2B5EF4-FFF2-40B4-BE49-F238E27FC236}">
                <a16:creationId xmlns:a16="http://schemas.microsoft.com/office/drawing/2014/main" id="{B8237906-7805-4C4B-9AA3-D6E4773163F5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048000"/>
            <a:ext cx="4572000" cy="2286000"/>
            <a:chOff x="0" y="0"/>
            <a:chExt cx="2880" cy="1440"/>
          </a:xfrm>
        </p:grpSpPr>
        <p:sp>
          <p:nvSpPr>
            <p:cNvPr id="22543" name="Text Box 15">
              <a:extLst>
                <a:ext uri="{FF2B5EF4-FFF2-40B4-BE49-F238E27FC236}">
                  <a16:creationId xmlns:a16="http://schemas.microsoft.com/office/drawing/2014/main" id="{C520B561-B3F1-4B8E-8A80-D623291BB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0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Compute Distance</a:t>
              </a:r>
            </a:p>
          </p:txBody>
        </p:sp>
        <p:grpSp>
          <p:nvGrpSpPr>
            <p:cNvPr id="22544" name="Group 16">
              <a:extLst>
                <a:ext uri="{FF2B5EF4-FFF2-40B4-BE49-F238E27FC236}">
                  <a16:creationId xmlns:a16="http://schemas.microsoft.com/office/drawing/2014/main" id="{43EFBBE5-68C3-4080-B715-61A0A9CEA2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36"/>
              <a:ext cx="2880" cy="1104"/>
              <a:chOff x="0" y="0"/>
              <a:chExt cx="2880" cy="1104"/>
            </a:xfrm>
          </p:grpSpPr>
          <p:sp>
            <p:nvSpPr>
              <p:cNvPr id="22545" name="Line 17">
                <a:extLst>
                  <a:ext uri="{FF2B5EF4-FFF2-40B4-BE49-F238E27FC236}">
                    <a16:creationId xmlns:a16="http://schemas.microsoft.com/office/drawing/2014/main" id="{7E0EC601-57B3-4091-BE77-949096D40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0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6" name="Line 18">
                <a:extLst>
                  <a:ext uri="{FF2B5EF4-FFF2-40B4-BE49-F238E27FC236}">
                    <a16:creationId xmlns:a16="http://schemas.microsoft.com/office/drawing/2014/main" id="{FA5BC507-1C81-4DBD-9E20-5C77F9A61C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624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7" name="Line 19">
                <a:extLst>
                  <a:ext uri="{FF2B5EF4-FFF2-40B4-BE49-F238E27FC236}">
                    <a16:creationId xmlns:a16="http://schemas.microsoft.com/office/drawing/2014/main" id="{14E80043-A611-4AE0-B67F-CB25FB7C08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8" y="816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8" name="Line 20">
                <a:extLst>
                  <a:ext uri="{FF2B5EF4-FFF2-40B4-BE49-F238E27FC236}">
                    <a16:creationId xmlns:a16="http://schemas.microsoft.com/office/drawing/2014/main" id="{C2D13E90-8EEC-4F4C-B932-7F2D336FD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0" y="768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49" name="Line 21">
                <a:extLst>
                  <a:ext uri="{FF2B5EF4-FFF2-40B4-BE49-F238E27FC236}">
                    <a16:creationId xmlns:a16="http://schemas.microsoft.com/office/drawing/2014/main" id="{A1FA4494-2C2B-4B6B-BBFC-C005BAD27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" y="96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2550" name="Group 22">
            <a:extLst>
              <a:ext uri="{FF2B5EF4-FFF2-40B4-BE49-F238E27FC236}">
                <a16:creationId xmlns:a16="http://schemas.microsoft.com/office/drawing/2014/main" id="{9B7B3451-5425-494B-BFC1-E9020CBC68A6}"/>
              </a:ext>
            </a:extLst>
          </p:cNvPr>
          <p:cNvGrpSpPr>
            <a:grpSpLocks/>
          </p:cNvGrpSpPr>
          <p:nvPr/>
        </p:nvGrpSpPr>
        <p:grpSpPr bwMode="auto">
          <a:xfrm>
            <a:off x="4038600" y="4572000"/>
            <a:ext cx="3352800" cy="1327150"/>
            <a:chOff x="0" y="0"/>
            <a:chExt cx="2112" cy="836"/>
          </a:xfrm>
        </p:grpSpPr>
        <p:sp>
          <p:nvSpPr>
            <p:cNvPr id="22551" name="Text Box 23">
              <a:extLst>
                <a:ext uri="{FF2B5EF4-FFF2-40B4-BE49-F238E27FC236}">
                  <a16:creationId xmlns:a16="http://schemas.microsoft.com/office/drawing/2014/main" id="{16935D27-2FA0-4E65-A58D-17B6636A4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432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Choose k of the “nearest” records</a:t>
              </a:r>
            </a:p>
          </p:txBody>
        </p:sp>
        <p:grpSp>
          <p:nvGrpSpPr>
            <p:cNvPr id="22552" name="Group 24">
              <a:extLst>
                <a:ext uri="{FF2B5EF4-FFF2-40B4-BE49-F238E27FC236}">
                  <a16:creationId xmlns:a16="http://schemas.microsoft.com/office/drawing/2014/main" id="{DB5AC40B-5B9B-4172-80E0-4CBFC24C0E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16" cy="480"/>
              <a:chOff x="0" y="0"/>
              <a:chExt cx="2016" cy="480"/>
            </a:xfrm>
          </p:grpSpPr>
          <p:sp>
            <p:nvSpPr>
              <p:cNvPr id="22553" name="Line 25">
                <a:extLst>
                  <a:ext uri="{FF2B5EF4-FFF2-40B4-BE49-F238E27FC236}">
                    <a16:creationId xmlns:a16="http://schemas.microsoft.com/office/drawing/2014/main" id="{4B11EEB4-3616-418F-A455-358B658076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4" name="Line 26">
                <a:extLst>
                  <a:ext uri="{FF2B5EF4-FFF2-40B4-BE49-F238E27FC236}">
                    <a16:creationId xmlns:a16="http://schemas.microsoft.com/office/drawing/2014/main" id="{03A6F861-298E-4EEA-85D2-01F68CD07A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" y="19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04B7C15-943F-480E-8B53-9BC94B36037C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457200" y="228600"/>
            <a:ext cx="8229600" cy="1143000"/>
          </a:xfrm>
        </p:spPr>
        <p:txBody>
          <a:bodyPr anchorCtr="0"/>
          <a:lstStyle/>
          <a:p>
            <a:r>
              <a:rPr lang="en-US" altLang="zh-CN" sz="3600" b="1"/>
              <a:t>KNN</a:t>
            </a:r>
            <a:r>
              <a:rPr lang="zh-CN" altLang="en-US" sz="3600" b="1"/>
              <a:t>的特点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A35B1288-884F-471E-9F42-659F535A2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13604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latin typeface="Tahoma" panose="020B0604030504040204" pitchFamily="34" charset="0"/>
            </a:endParaRPr>
          </a:p>
        </p:txBody>
      </p:sp>
      <p:sp>
        <p:nvSpPr>
          <p:cNvPr id="24580" name="Text Box 75">
            <a:extLst>
              <a:ext uri="{FF2B5EF4-FFF2-40B4-BE49-F238E27FC236}">
                <a16:creationId xmlns:a16="http://schemas.microsoft.com/office/drawing/2014/main" id="{95A50857-B66E-4C89-9445-BCDFD540E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43000"/>
            <a:ext cx="7543800" cy="524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1</a:t>
            </a:r>
            <a:r>
              <a:rPr lang="zh-CN" altLang="en-US" sz="2400"/>
              <a:t>、非参数统计方法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不需引入参数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回归分析是参数统计方法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/>
              <a:t>2</a:t>
            </a:r>
            <a:r>
              <a:rPr lang="zh-CN" altLang="en-US" sz="2400"/>
              <a:t>、</a:t>
            </a:r>
            <a:r>
              <a:rPr lang="en-US" altLang="zh-CN" sz="2400"/>
              <a:t>k</a:t>
            </a:r>
            <a:r>
              <a:rPr lang="zh-CN" altLang="en-US" sz="2400"/>
              <a:t>的选择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000"/>
              <a:t>K=1</a:t>
            </a:r>
            <a:r>
              <a:rPr lang="zh-CN" altLang="en-US" sz="2000"/>
              <a:t>时，将待分类样本划入与其最接近的样本的类；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000"/>
              <a:t>K=|X|</a:t>
            </a:r>
            <a:r>
              <a:rPr lang="zh-CN" altLang="en-US" sz="2000"/>
              <a:t>时，仅根据训练样本进行频率统计，将待分类样本划入最多的类；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000"/>
              <a:t>K</a:t>
            </a:r>
            <a:r>
              <a:rPr lang="zh-CN" altLang="en-US" sz="2000"/>
              <a:t>需要合理选择，太小容易受干扰、太大增加计算复杂性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zh-CN" altLang="en-US" sz="800"/>
          </a:p>
          <a:p>
            <a:pPr eaLnBrk="1" hangingPunct="1">
              <a:spcBef>
                <a:spcPct val="50000"/>
              </a:spcBef>
            </a:pPr>
            <a:r>
              <a:rPr lang="en-US" altLang="zh-CN" sz="2400"/>
              <a:t>3</a:t>
            </a:r>
            <a:r>
              <a:rPr lang="zh-CN" altLang="en-US" sz="2400"/>
              <a:t>、算法的复杂度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维数灾难：当维数增加时，所需的训练样本数急剧增加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000"/>
              <a:t>一般采用降维处理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日期占位符 3">
            <a:extLst>
              <a:ext uri="{FF2B5EF4-FFF2-40B4-BE49-F238E27FC236}">
                <a16:creationId xmlns:a16="http://schemas.microsoft.com/office/drawing/2014/main" id="{89114D1E-7902-4D16-8E8D-5F0408207F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733370-9E4B-4590-8E4D-D34FCC6741F7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4" name="页脚占位符 4">
            <a:extLst>
              <a:ext uri="{FF2B5EF4-FFF2-40B4-BE49-F238E27FC236}">
                <a16:creationId xmlns:a16="http://schemas.microsoft.com/office/drawing/2014/main" id="{5F9ABCE7-9BC4-49C1-A74B-0A4CACE2C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8675" name="灯片编号占位符 5">
            <a:extLst>
              <a:ext uri="{FF2B5EF4-FFF2-40B4-BE49-F238E27FC236}">
                <a16:creationId xmlns:a16="http://schemas.microsoft.com/office/drawing/2014/main" id="{53521994-2528-4CAF-A5AE-A57E0AE81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FFEFBD-057A-47F8-8D3E-8DEC0EBA7A2C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1945965D-035D-413E-BAF1-A32AFB20E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KNN</a:t>
            </a:r>
            <a:r>
              <a:rPr lang="zh-CN" altLang="en-US"/>
              <a:t>的例子</a:t>
            </a:r>
            <a:r>
              <a:rPr lang="en-US" altLang="zh-CN"/>
              <a:t>-</a:t>
            </a:r>
            <a:r>
              <a:rPr lang="zh-CN" altLang="en-US"/>
              <a:t>训练数据</a:t>
            </a:r>
            <a:endParaRPr lang="en-US" altLang="zh-CN"/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CD48BF2C-11AA-44B4-BC24-AF632F369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28678" name="Text Box 6">
            <a:extLst>
              <a:ext uri="{FF2B5EF4-FFF2-40B4-BE49-F238E27FC236}">
                <a16:creationId xmlns:a16="http://schemas.microsoft.com/office/drawing/2014/main" id="{4A66D7E6-7326-4D87-9BF2-1CE47A942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13604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8679" name="Picture 10">
            <a:extLst>
              <a:ext uri="{FF2B5EF4-FFF2-40B4-BE49-F238E27FC236}">
                <a16:creationId xmlns:a16="http://schemas.microsoft.com/office/drawing/2014/main" id="{88DEE5C2-028A-4050-A919-7C83B5FA6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920750"/>
            <a:ext cx="7786688" cy="497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日期占位符 3">
            <a:extLst>
              <a:ext uri="{FF2B5EF4-FFF2-40B4-BE49-F238E27FC236}">
                <a16:creationId xmlns:a16="http://schemas.microsoft.com/office/drawing/2014/main" id="{1ADCA277-B08D-4664-800D-AD473DD902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F4C45A-0139-4F16-BCF7-B30CB7E707E7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698" name="页脚占位符 4">
            <a:extLst>
              <a:ext uri="{FF2B5EF4-FFF2-40B4-BE49-F238E27FC236}">
                <a16:creationId xmlns:a16="http://schemas.microsoft.com/office/drawing/2014/main" id="{5BF0AF12-A494-435B-9210-56F8CB06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29699" name="灯片编号占位符 5">
            <a:extLst>
              <a:ext uri="{FF2B5EF4-FFF2-40B4-BE49-F238E27FC236}">
                <a16:creationId xmlns:a16="http://schemas.microsoft.com/office/drawing/2014/main" id="{44BE08B5-7B58-4E9A-BEA6-3962C2F0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C4D7C1-8A2F-4864-BBF6-E54E49D56019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19EDB682-DEC6-4168-86FB-531A1765C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KNN</a:t>
            </a:r>
            <a:r>
              <a:rPr lang="zh-CN" altLang="en-US"/>
              <a:t>的例子</a:t>
            </a:r>
            <a:r>
              <a:rPr lang="en-US" altLang="zh-CN"/>
              <a:t>-</a:t>
            </a:r>
            <a:r>
              <a:rPr lang="zh-CN" altLang="en-US"/>
              <a:t>挖掘过程</a:t>
            </a:r>
            <a:endParaRPr lang="en-US" altLang="zh-CN"/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4B84EFBA-9210-45D0-A980-A2C12E016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/>
              <a:t>假如高度参与距离计算，</a:t>
            </a:r>
            <a:r>
              <a:rPr lang="en-US" altLang="zh-CN"/>
              <a:t> k=5</a:t>
            </a:r>
            <a:r>
              <a:rPr lang="zh-CN" altLang="zh-CN"/>
              <a:t>。跟踪</a:t>
            </a:r>
            <a:r>
              <a:rPr lang="en-US" altLang="zh-CN"/>
              <a:t> </a:t>
            </a:r>
            <a:r>
              <a:rPr lang="zh-CN" altLang="en-US"/>
              <a:t>算法</a:t>
            </a:r>
            <a:r>
              <a:rPr lang="zh-CN" altLang="zh-CN"/>
              <a:t>：</a:t>
            </a:r>
          </a:p>
          <a:p>
            <a:r>
              <a:rPr lang="zh-CN" altLang="zh-CN" sz="2000"/>
              <a:t>前</a:t>
            </a:r>
            <a:r>
              <a:rPr lang="en-US" altLang="zh-CN" sz="2000"/>
              <a:t> 5</a:t>
            </a:r>
            <a:r>
              <a:rPr lang="zh-CN" altLang="zh-CN" sz="2000"/>
              <a:t>个记录，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N={&lt;</a:t>
            </a:r>
            <a:r>
              <a:rPr lang="zh-CN" altLang="zh-CN" sz="2000">
                <a:solidFill>
                  <a:srgbClr val="FF0000"/>
                </a:solidFill>
              </a:rPr>
              <a:t>李莉，女， 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吉米，男，</a:t>
            </a:r>
            <a:r>
              <a:rPr lang="en-US" altLang="zh-CN" sz="2000">
                <a:solidFill>
                  <a:srgbClr val="FF0000"/>
                </a:solidFill>
              </a:rPr>
              <a:t>1.92&gt;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马大华，女，</a:t>
            </a:r>
            <a:r>
              <a:rPr lang="en-US" altLang="zh-CN" sz="2000">
                <a:solidFill>
                  <a:srgbClr val="FF0000"/>
                </a:solidFill>
              </a:rPr>
              <a:t>1.70&gt;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王小华，女，</a:t>
            </a:r>
            <a:r>
              <a:rPr lang="en-US" altLang="zh-CN" sz="2000">
                <a:solidFill>
                  <a:srgbClr val="FF0000"/>
                </a:solidFill>
              </a:rPr>
              <a:t>1.73&gt;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刘敏杰，女，</a:t>
            </a:r>
            <a:r>
              <a:rPr lang="en-US" altLang="zh-CN" sz="2000">
                <a:solidFill>
                  <a:srgbClr val="FF0000"/>
                </a:solidFill>
              </a:rPr>
              <a:t>1.60&gt;}</a:t>
            </a:r>
            <a:r>
              <a:rPr lang="zh-CN" altLang="zh-CN" sz="2000">
                <a:solidFill>
                  <a:srgbClr val="FF0000"/>
                </a:solidFill>
              </a:rPr>
              <a:t>。</a:t>
            </a:r>
          </a:p>
          <a:p>
            <a:r>
              <a:rPr lang="zh-CN" altLang="zh-CN" sz="2000"/>
              <a:t>第</a:t>
            </a:r>
            <a:r>
              <a:rPr lang="en-US" altLang="zh-CN" sz="2000"/>
              <a:t>6</a:t>
            </a:r>
            <a:r>
              <a:rPr lang="zh-CN" altLang="zh-CN" sz="2000"/>
              <a:t>个记录</a:t>
            </a:r>
            <a:r>
              <a:rPr lang="en-US" altLang="zh-CN" sz="2000"/>
              <a:t> =&lt;</a:t>
            </a:r>
            <a:r>
              <a:rPr lang="zh-CN" altLang="zh-CN" sz="2000"/>
              <a:t>包博，男，</a:t>
            </a:r>
            <a:r>
              <a:rPr lang="en-US" altLang="zh-CN" sz="2000"/>
              <a:t>1.75&gt;</a:t>
            </a:r>
            <a:r>
              <a:rPr lang="zh-CN" altLang="zh-CN" sz="2000"/>
              <a:t>，相比测试记录</a:t>
            </a:r>
            <a:r>
              <a:rPr lang="en-US" altLang="zh-CN" sz="2000"/>
              <a:t>&lt;</a:t>
            </a:r>
            <a:r>
              <a:rPr lang="zh-CN" altLang="zh-CN" sz="2000"/>
              <a:t>范可可，女，</a:t>
            </a:r>
            <a:r>
              <a:rPr lang="en-US" altLang="zh-CN" sz="2000"/>
              <a:t>1.50&gt;</a:t>
            </a:r>
            <a:r>
              <a:rPr lang="zh-CN" altLang="zh-CN" sz="2000"/>
              <a:t>，需要替换掉</a:t>
            </a:r>
            <a:r>
              <a:rPr lang="en-US" altLang="zh-CN" sz="2000" i="1"/>
              <a:t>N</a:t>
            </a:r>
            <a:r>
              <a:rPr lang="zh-CN" altLang="zh-CN" sz="2000"/>
              <a:t>中和测试记录差别最大的</a:t>
            </a:r>
            <a:r>
              <a:rPr lang="en-US" altLang="zh-CN" sz="2000"/>
              <a:t>&lt; </a:t>
            </a:r>
            <a:r>
              <a:rPr lang="zh-CN" altLang="zh-CN" sz="2000"/>
              <a:t>吉米，男，</a:t>
            </a:r>
            <a:r>
              <a:rPr lang="en-US" altLang="zh-CN" sz="2000"/>
              <a:t>1.92&gt;</a:t>
            </a:r>
            <a:r>
              <a:rPr lang="zh-CN" altLang="zh-CN" sz="2000"/>
              <a:t>，得到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N={&lt;</a:t>
            </a:r>
            <a:r>
              <a:rPr lang="zh-CN" altLang="zh-CN" sz="2000">
                <a:solidFill>
                  <a:srgbClr val="FF0000"/>
                </a:solidFill>
              </a:rPr>
              <a:t>李莉，女， 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包博，男，</a:t>
            </a:r>
            <a:r>
              <a:rPr lang="en-US" altLang="zh-CN" sz="2000">
                <a:solidFill>
                  <a:srgbClr val="FF0000"/>
                </a:solidFill>
              </a:rPr>
              <a:t>1.75&gt;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马大华，女，</a:t>
            </a:r>
            <a:r>
              <a:rPr lang="en-US" altLang="zh-CN" sz="2000">
                <a:solidFill>
                  <a:srgbClr val="FF0000"/>
                </a:solidFill>
              </a:rPr>
              <a:t>1.70&gt;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王小华，女，</a:t>
            </a:r>
            <a:r>
              <a:rPr lang="en-US" altLang="zh-CN" sz="2000">
                <a:solidFill>
                  <a:srgbClr val="FF0000"/>
                </a:solidFill>
              </a:rPr>
              <a:t>1.73&gt;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 </a:t>
            </a:r>
            <a:r>
              <a:rPr lang="zh-CN" altLang="zh-CN" sz="2000">
                <a:solidFill>
                  <a:srgbClr val="FF0000"/>
                </a:solidFill>
              </a:rPr>
              <a:t>刘敏杰，女，</a:t>
            </a:r>
            <a:r>
              <a:rPr lang="en-US" altLang="zh-CN" sz="2000">
                <a:solidFill>
                  <a:srgbClr val="FF0000"/>
                </a:solidFill>
              </a:rPr>
              <a:t>1.60&gt;}</a:t>
            </a:r>
            <a:r>
              <a:rPr lang="zh-CN" altLang="zh-CN" sz="2000">
                <a:solidFill>
                  <a:srgbClr val="FF0000"/>
                </a:solidFill>
              </a:rPr>
              <a:t>。</a:t>
            </a:r>
          </a:p>
          <a:p>
            <a:r>
              <a:rPr lang="zh-CN" altLang="zh-CN" sz="2000"/>
              <a:t>第</a:t>
            </a:r>
            <a:r>
              <a:rPr lang="en-US" altLang="zh-CN" sz="2000"/>
              <a:t>7</a:t>
            </a:r>
            <a:r>
              <a:rPr lang="zh-CN" altLang="zh-CN" sz="2000"/>
              <a:t>个记录</a:t>
            </a:r>
            <a:r>
              <a:rPr lang="en-US" altLang="zh-CN" sz="2000"/>
              <a:t> =&lt;</a:t>
            </a:r>
            <a:r>
              <a:rPr lang="zh-CN" altLang="zh-CN" sz="2000"/>
              <a:t>张烨，女，</a:t>
            </a:r>
            <a:r>
              <a:rPr lang="en-US" altLang="zh-CN" sz="2000"/>
              <a:t>1.50&gt;</a:t>
            </a:r>
            <a:r>
              <a:rPr lang="zh-CN" altLang="zh-CN" sz="2000"/>
              <a:t>，需要替换掉</a:t>
            </a:r>
            <a:r>
              <a:rPr lang="en-US" altLang="zh-CN" sz="2000"/>
              <a:t>&lt;</a:t>
            </a:r>
            <a:r>
              <a:rPr lang="zh-CN" altLang="zh-CN" sz="2000"/>
              <a:t>包博，男，</a:t>
            </a:r>
            <a:r>
              <a:rPr lang="en-US" altLang="zh-CN" sz="2000"/>
              <a:t>1.75&gt;</a:t>
            </a:r>
            <a:r>
              <a:rPr lang="zh-CN" altLang="zh-CN" sz="2000"/>
              <a:t>，得到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N={&lt;</a:t>
            </a:r>
            <a:r>
              <a:rPr lang="zh-CN" altLang="zh-CN" sz="2000">
                <a:solidFill>
                  <a:srgbClr val="FF0000"/>
                </a:solidFill>
              </a:rPr>
              <a:t>李莉，女， 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张烨，女，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马大华，女，</a:t>
            </a:r>
            <a:r>
              <a:rPr lang="en-US" altLang="zh-CN" sz="2000">
                <a:solidFill>
                  <a:srgbClr val="FF0000"/>
                </a:solidFill>
              </a:rPr>
              <a:t>1.70&gt;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王小华，女，</a:t>
            </a:r>
            <a:r>
              <a:rPr lang="en-US" altLang="zh-CN" sz="2000">
                <a:solidFill>
                  <a:srgbClr val="FF0000"/>
                </a:solidFill>
              </a:rPr>
              <a:t>1.73&gt;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 </a:t>
            </a:r>
            <a:r>
              <a:rPr lang="zh-CN" altLang="zh-CN" sz="2000">
                <a:solidFill>
                  <a:srgbClr val="FF0000"/>
                </a:solidFill>
              </a:rPr>
              <a:t>刘敏杰，女，</a:t>
            </a:r>
            <a:r>
              <a:rPr lang="en-US" altLang="zh-CN" sz="2000">
                <a:solidFill>
                  <a:srgbClr val="FF0000"/>
                </a:solidFill>
              </a:rPr>
              <a:t>1.60&gt;}</a:t>
            </a:r>
            <a:r>
              <a:rPr lang="zh-CN" altLang="zh-CN" sz="2000">
                <a:solidFill>
                  <a:srgbClr val="FF0000"/>
                </a:solidFill>
              </a:rPr>
              <a:t>。</a:t>
            </a:r>
          </a:p>
          <a:p>
            <a:r>
              <a:rPr lang="zh-CN" altLang="zh-CN" sz="2000"/>
              <a:t>第</a:t>
            </a:r>
            <a:r>
              <a:rPr lang="en-US" altLang="zh-CN" sz="2000"/>
              <a:t>8</a:t>
            </a:r>
            <a:r>
              <a:rPr lang="zh-CN" altLang="zh-CN" sz="2000"/>
              <a:t>个记录</a:t>
            </a:r>
            <a:r>
              <a:rPr lang="en-US" altLang="zh-CN" sz="2000"/>
              <a:t> =&lt;</a:t>
            </a:r>
            <a:r>
              <a:rPr lang="zh-CN" altLang="zh-CN" sz="2000"/>
              <a:t>戴维，男，</a:t>
            </a:r>
            <a:r>
              <a:rPr lang="en-US" altLang="zh-CN" sz="2000"/>
              <a:t>1.60&gt;</a:t>
            </a:r>
            <a:r>
              <a:rPr lang="zh-CN" altLang="zh-CN" sz="2000"/>
              <a:t>，需要替换掉</a:t>
            </a:r>
            <a:r>
              <a:rPr lang="en-US" altLang="zh-CN" sz="2000"/>
              <a:t>&lt;</a:t>
            </a:r>
            <a:r>
              <a:rPr lang="zh-CN" altLang="zh-CN" sz="2000"/>
              <a:t>王小华，女，</a:t>
            </a:r>
            <a:r>
              <a:rPr lang="en-US" altLang="zh-CN" sz="2000"/>
              <a:t>1.73&gt;</a:t>
            </a:r>
            <a:r>
              <a:rPr lang="zh-CN" altLang="zh-CN" sz="2000"/>
              <a:t>，得到</a:t>
            </a:r>
            <a:r>
              <a:rPr lang="en-US" altLang="zh-CN" sz="2000">
                <a:solidFill>
                  <a:srgbClr val="FF0000"/>
                </a:solidFill>
              </a:rPr>
              <a:t>N ={&lt;</a:t>
            </a:r>
            <a:r>
              <a:rPr lang="zh-CN" altLang="zh-CN" sz="2000">
                <a:solidFill>
                  <a:srgbClr val="FF0000"/>
                </a:solidFill>
              </a:rPr>
              <a:t>李莉，女， 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张烨，女，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马大华，女，</a:t>
            </a:r>
            <a:r>
              <a:rPr lang="en-US" altLang="zh-CN" sz="2000">
                <a:solidFill>
                  <a:srgbClr val="FF0000"/>
                </a:solidFill>
              </a:rPr>
              <a:t>1.70&gt;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戴维，男，</a:t>
            </a:r>
            <a:r>
              <a:rPr lang="en-US" altLang="zh-CN" sz="2000">
                <a:solidFill>
                  <a:srgbClr val="FF0000"/>
                </a:solidFill>
              </a:rPr>
              <a:t>1.60&gt;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 </a:t>
            </a:r>
            <a:r>
              <a:rPr lang="zh-CN" altLang="zh-CN" sz="2000">
                <a:solidFill>
                  <a:srgbClr val="FF0000"/>
                </a:solidFill>
              </a:rPr>
              <a:t>刘敏杰，女，</a:t>
            </a:r>
            <a:r>
              <a:rPr lang="en-US" altLang="zh-CN" sz="2000">
                <a:solidFill>
                  <a:srgbClr val="FF0000"/>
                </a:solidFill>
              </a:rPr>
              <a:t>1.60&gt;}</a:t>
            </a:r>
            <a:r>
              <a:rPr lang="zh-CN" altLang="zh-CN" sz="2000">
                <a:solidFill>
                  <a:srgbClr val="FF0000"/>
                </a:solidFill>
              </a:rPr>
              <a:t>。</a:t>
            </a:r>
          </a:p>
          <a:p>
            <a:r>
              <a:rPr lang="zh-CN" altLang="zh-CN" sz="2000"/>
              <a:t>对</a:t>
            </a:r>
            <a:r>
              <a:rPr lang="en-US" altLang="zh-CN" sz="2000"/>
              <a:t> </a:t>
            </a:r>
            <a:r>
              <a:rPr lang="zh-CN" altLang="zh-CN" sz="2000"/>
              <a:t>的第</a:t>
            </a:r>
            <a:r>
              <a:rPr lang="en-US" altLang="zh-CN" sz="2000"/>
              <a:t>9</a:t>
            </a:r>
            <a:r>
              <a:rPr lang="zh-CN" altLang="zh-CN" sz="2000"/>
              <a:t>、</a:t>
            </a:r>
            <a:r>
              <a:rPr lang="en-US" altLang="zh-CN" sz="2000"/>
              <a:t>10</a:t>
            </a:r>
            <a:r>
              <a:rPr lang="zh-CN" altLang="zh-CN" sz="2000"/>
              <a:t>个记录，没变化。</a:t>
            </a:r>
            <a:endParaRPr lang="en-US" altLang="zh-CN" sz="2000"/>
          </a:p>
          <a:p>
            <a:r>
              <a:rPr lang="zh-CN" altLang="en-US" sz="2000"/>
              <a:t>第</a:t>
            </a:r>
            <a:r>
              <a:rPr lang="en-US" altLang="zh-CN" sz="2000"/>
              <a:t>11</a:t>
            </a:r>
            <a:r>
              <a:rPr lang="zh-CN" altLang="en-US" sz="2000"/>
              <a:t>个记录</a:t>
            </a:r>
            <a:r>
              <a:rPr lang="en-US" altLang="zh-CN" sz="2000"/>
              <a:t> =&lt;</a:t>
            </a:r>
            <a:r>
              <a:rPr lang="zh-CN" altLang="en-US" sz="2000"/>
              <a:t>刘冰冰，女，</a:t>
            </a:r>
            <a:r>
              <a:rPr lang="en-US" altLang="zh-CN" sz="2000"/>
              <a:t>1.68&gt;</a:t>
            </a:r>
            <a:r>
              <a:rPr lang="zh-CN" altLang="en-US" sz="2000"/>
              <a:t>，需要替换掉</a:t>
            </a:r>
            <a:r>
              <a:rPr lang="en-US" altLang="zh-CN" sz="2000"/>
              <a:t>&lt;</a:t>
            </a:r>
            <a:r>
              <a:rPr lang="zh-CN" altLang="en-US" sz="2000"/>
              <a:t>马大华，女，</a:t>
            </a:r>
            <a:r>
              <a:rPr lang="en-US" altLang="zh-CN" sz="2000"/>
              <a:t>1.70&gt;</a:t>
            </a:r>
            <a:r>
              <a:rPr lang="zh-CN" altLang="en-US" sz="2000"/>
              <a:t>，得到</a:t>
            </a:r>
            <a:r>
              <a:rPr lang="en-US" altLang="zh-CN" sz="2000">
                <a:solidFill>
                  <a:srgbClr val="FF0000"/>
                </a:solidFill>
              </a:rPr>
              <a:t>N ={&lt;</a:t>
            </a:r>
            <a:r>
              <a:rPr lang="zh-CN" altLang="en-US" sz="2000">
                <a:solidFill>
                  <a:srgbClr val="FF0000"/>
                </a:solidFill>
              </a:rPr>
              <a:t>李莉，女， 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en-US" sz="2000">
                <a:solidFill>
                  <a:srgbClr val="FF0000"/>
                </a:solidFill>
              </a:rPr>
              <a:t>张烨，女，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en-US" sz="2000">
                <a:solidFill>
                  <a:srgbClr val="FF0000"/>
                </a:solidFill>
              </a:rPr>
              <a:t>刘冰冰，女，</a:t>
            </a:r>
            <a:r>
              <a:rPr lang="en-US" altLang="zh-CN" sz="2000">
                <a:solidFill>
                  <a:srgbClr val="FF0000"/>
                </a:solidFill>
              </a:rPr>
              <a:t>1.68&gt;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en-US" sz="2000">
                <a:solidFill>
                  <a:srgbClr val="FF0000"/>
                </a:solidFill>
              </a:rPr>
              <a:t>戴维，男，</a:t>
            </a:r>
            <a:r>
              <a:rPr lang="en-US" altLang="zh-CN" sz="2000">
                <a:solidFill>
                  <a:srgbClr val="FF0000"/>
                </a:solidFill>
              </a:rPr>
              <a:t>1.60&gt;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 </a:t>
            </a:r>
            <a:r>
              <a:rPr lang="zh-CN" altLang="en-US" sz="2000">
                <a:solidFill>
                  <a:srgbClr val="FF0000"/>
                </a:solidFill>
              </a:rPr>
              <a:t>刘敏杰，女，</a:t>
            </a:r>
            <a:r>
              <a:rPr lang="en-US" altLang="zh-CN" sz="2000">
                <a:solidFill>
                  <a:srgbClr val="FF0000"/>
                </a:solidFill>
              </a:rPr>
              <a:t>1.60&gt;}</a:t>
            </a:r>
            <a:r>
              <a:rPr lang="zh-CN" altLang="en-US" sz="2000">
                <a:solidFill>
                  <a:srgbClr val="FF0000"/>
                </a:solidFill>
              </a:rPr>
              <a:t>。</a:t>
            </a:r>
          </a:p>
          <a:p>
            <a:endParaRPr lang="zh-CN" altLang="zh-CN" sz="200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7A96B25A-009B-45C9-B750-A9DAAC0BF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13604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日期占位符 3">
            <a:extLst>
              <a:ext uri="{FF2B5EF4-FFF2-40B4-BE49-F238E27FC236}">
                <a16:creationId xmlns:a16="http://schemas.microsoft.com/office/drawing/2014/main" id="{0DA4BBC2-659F-49EA-AD9A-DA09185147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87041D-AD41-4EE0-ADA8-B9C74CD6CD3A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2" name="页脚占位符 4">
            <a:extLst>
              <a:ext uri="{FF2B5EF4-FFF2-40B4-BE49-F238E27FC236}">
                <a16:creationId xmlns:a16="http://schemas.microsoft.com/office/drawing/2014/main" id="{B9C4F5FB-C3BF-446C-B03D-A5B2BEFF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30723" name="灯片编号占位符 5">
            <a:extLst>
              <a:ext uri="{FF2B5EF4-FFF2-40B4-BE49-F238E27FC236}">
                <a16:creationId xmlns:a16="http://schemas.microsoft.com/office/drawing/2014/main" id="{7E211C02-153C-4EAB-9F81-DFC5AD03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28F41B-C76A-4909-AD63-64FEA1482BB0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0AD19165-B5A0-47CD-8FF5-1903E197B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KNN</a:t>
            </a:r>
            <a:r>
              <a:rPr lang="zh-CN" altLang="en-US"/>
              <a:t>的例子</a:t>
            </a:r>
            <a:r>
              <a:rPr lang="en-US" altLang="zh-CN"/>
              <a:t>-</a:t>
            </a:r>
            <a:r>
              <a:rPr lang="zh-CN" altLang="en-US"/>
              <a:t>挖掘过程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1A3CC6E2-D717-4523-A41C-E097C3646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000"/>
              <a:t>第</a:t>
            </a:r>
            <a:r>
              <a:rPr lang="en-US" altLang="zh-CN" sz="2000"/>
              <a:t>11</a:t>
            </a:r>
            <a:r>
              <a:rPr lang="zh-CN" altLang="en-US" sz="2000"/>
              <a:t>个记录</a:t>
            </a:r>
            <a:r>
              <a:rPr lang="en-US" altLang="zh-CN" sz="2000"/>
              <a:t> =&lt;</a:t>
            </a:r>
            <a:r>
              <a:rPr lang="zh-CN" altLang="en-US" sz="2000"/>
              <a:t>刘冰冰，女，</a:t>
            </a:r>
            <a:r>
              <a:rPr lang="en-US" altLang="zh-CN" sz="2000"/>
              <a:t>1.68&gt;</a:t>
            </a:r>
            <a:r>
              <a:rPr lang="zh-CN" altLang="en-US" sz="2000"/>
              <a:t>，需要替换掉</a:t>
            </a:r>
            <a:r>
              <a:rPr lang="en-US" altLang="zh-CN" sz="2000"/>
              <a:t>&lt;</a:t>
            </a:r>
            <a:r>
              <a:rPr lang="zh-CN" altLang="en-US" sz="2000"/>
              <a:t>马大华，女，</a:t>
            </a:r>
            <a:r>
              <a:rPr lang="en-US" altLang="zh-CN" sz="2000"/>
              <a:t>1.70&gt;</a:t>
            </a:r>
            <a:r>
              <a:rPr lang="zh-CN" altLang="en-US" sz="2000"/>
              <a:t>，得到</a:t>
            </a:r>
            <a:r>
              <a:rPr lang="en-US" altLang="zh-CN" sz="2000">
                <a:solidFill>
                  <a:srgbClr val="FF0000"/>
                </a:solidFill>
              </a:rPr>
              <a:t>N ={&lt;</a:t>
            </a:r>
            <a:r>
              <a:rPr lang="zh-CN" altLang="en-US" sz="2000">
                <a:solidFill>
                  <a:srgbClr val="FF0000"/>
                </a:solidFill>
              </a:rPr>
              <a:t>李莉，女， 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en-US" sz="2000">
                <a:solidFill>
                  <a:srgbClr val="FF0000"/>
                </a:solidFill>
              </a:rPr>
              <a:t>张烨，女，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en-US" sz="2000">
                <a:solidFill>
                  <a:srgbClr val="FF0000"/>
                </a:solidFill>
              </a:rPr>
              <a:t>刘冰冰，女，</a:t>
            </a:r>
            <a:r>
              <a:rPr lang="en-US" altLang="zh-CN" sz="2000">
                <a:solidFill>
                  <a:srgbClr val="FF0000"/>
                </a:solidFill>
              </a:rPr>
              <a:t>1.68&gt;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en-US" sz="2000">
                <a:solidFill>
                  <a:srgbClr val="FF0000"/>
                </a:solidFill>
              </a:rPr>
              <a:t>戴维，男，</a:t>
            </a:r>
            <a:r>
              <a:rPr lang="en-US" altLang="zh-CN" sz="2000">
                <a:solidFill>
                  <a:srgbClr val="FF0000"/>
                </a:solidFill>
              </a:rPr>
              <a:t>1.60&gt;</a:t>
            </a:r>
            <a:r>
              <a:rPr lang="zh-CN" altLang="en-US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 </a:t>
            </a:r>
            <a:r>
              <a:rPr lang="zh-CN" altLang="en-US" sz="2000">
                <a:solidFill>
                  <a:srgbClr val="FF0000"/>
                </a:solidFill>
              </a:rPr>
              <a:t>刘敏杰，女，</a:t>
            </a:r>
            <a:r>
              <a:rPr lang="en-US" altLang="zh-CN" sz="2000">
                <a:solidFill>
                  <a:srgbClr val="FF0000"/>
                </a:solidFill>
              </a:rPr>
              <a:t>1.60&gt;}</a:t>
            </a:r>
            <a:r>
              <a:rPr lang="zh-CN" altLang="en-US" sz="2000">
                <a:solidFill>
                  <a:srgbClr val="FF0000"/>
                </a:solidFill>
              </a:rPr>
              <a:t>。</a:t>
            </a:r>
          </a:p>
          <a:p>
            <a:r>
              <a:rPr lang="zh-CN" altLang="zh-CN" sz="2000"/>
              <a:t>第</a:t>
            </a:r>
            <a:r>
              <a:rPr lang="en-US" altLang="zh-CN" sz="2000"/>
              <a:t>12</a:t>
            </a:r>
            <a:r>
              <a:rPr lang="zh-CN" altLang="zh-CN" sz="2000"/>
              <a:t>～</a:t>
            </a:r>
            <a:r>
              <a:rPr lang="en-US" altLang="zh-CN" sz="2000"/>
              <a:t>14</a:t>
            </a:r>
            <a:r>
              <a:rPr lang="zh-CN" altLang="zh-CN" sz="2000"/>
              <a:t>个记录，没变化。</a:t>
            </a:r>
          </a:p>
          <a:p>
            <a:r>
              <a:rPr lang="zh-CN" altLang="zh-CN" sz="2000"/>
              <a:t>第</a:t>
            </a:r>
            <a:r>
              <a:rPr lang="en-US" altLang="zh-CN" sz="2000"/>
              <a:t>15</a:t>
            </a:r>
            <a:r>
              <a:rPr lang="zh-CN" altLang="zh-CN" sz="2000"/>
              <a:t>个记录</a:t>
            </a:r>
            <a:r>
              <a:rPr lang="en-US" altLang="zh-CN" sz="2000"/>
              <a:t> =&lt;</a:t>
            </a:r>
            <a:r>
              <a:rPr lang="zh-CN" altLang="zh-CN" sz="2000"/>
              <a:t>徐甜甜，女，</a:t>
            </a:r>
            <a:r>
              <a:rPr lang="en-US" altLang="zh-CN" sz="2000"/>
              <a:t>1.65&gt;</a:t>
            </a:r>
            <a:r>
              <a:rPr lang="zh-CN" altLang="zh-CN" sz="2000"/>
              <a:t>，需要替换掉</a:t>
            </a:r>
            <a:r>
              <a:rPr lang="en-US" altLang="zh-CN" sz="2000"/>
              <a:t>&lt;</a:t>
            </a:r>
            <a:r>
              <a:rPr lang="zh-CN" altLang="zh-CN" sz="2000"/>
              <a:t>刘冰冰，女，</a:t>
            </a:r>
            <a:r>
              <a:rPr lang="en-US" altLang="zh-CN" sz="2000"/>
              <a:t>1.68&gt;</a:t>
            </a:r>
            <a:r>
              <a:rPr lang="zh-CN" altLang="zh-CN" sz="2000"/>
              <a:t>，得到</a:t>
            </a:r>
            <a:r>
              <a:rPr lang="en-US" altLang="zh-CN" sz="2000"/>
              <a:t> </a:t>
            </a:r>
            <a:r>
              <a:rPr lang="en-US" altLang="zh-CN" sz="2000">
                <a:solidFill>
                  <a:srgbClr val="FF0000"/>
                </a:solidFill>
              </a:rPr>
              <a:t>N={&lt;</a:t>
            </a:r>
            <a:r>
              <a:rPr lang="zh-CN" altLang="zh-CN" sz="2000">
                <a:solidFill>
                  <a:srgbClr val="FF0000"/>
                </a:solidFill>
              </a:rPr>
              <a:t>李莉，女， 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张烨，女，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徐甜甜，女，</a:t>
            </a:r>
            <a:r>
              <a:rPr lang="en-US" altLang="zh-CN" sz="2000">
                <a:solidFill>
                  <a:srgbClr val="FF0000"/>
                </a:solidFill>
              </a:rPr>
              <a:t>1.65&gt;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戴维，男，</a:t>
            </a:r>
            <a:r>
              <a:rPr lang="en-US" altLang="zh-CN" sz="2000">
                <a:solidFill>
                  <a:srgbClr val="FF0000"/>
                </a:solidFill>
              </a:rPr>
              <a:t>1.60&gt;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 </a:t>
            </a:r>
            <a:r>
              <a:rPr lang="zh-CN" altLang="zh-CN" sz="2000">
                <a:solidFill>
                  <a:srgbClr val="FF0000"/>
                </a:solidFill>
              </a:rPr>
              <a:t>刘敏杰，女，</a:t>
            </a:r>
            <a:r>
              <a:rPr lang="en-US" altLang="zh-CN" sz="2000">
                <a:solidFill>
                  <a:srgbClr val="FF0000"/>
                </a:solidFill>
              </a:rPr>
              <a:t>1.60&gt;}</a:t>
            </a:r>
            <a:r>
              <a:rPr lang="zh-CN" altLang="zh-CN" sz="2000">
                <a:solidFill>
                  <a:srgbClr val="FF0000"/>
                </a:solidFill>
              </a:rPr>
              <a:t>。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FF0000"/>
                </a:solidFill>
              </a:rPr>
              <a:t>最后的输出</a:t>
            </a:r>
            <a:r>
              <a:rPr lang="en-US" altLang="zh-CN" sz="2000">
                <a:solidFill>
                  <a:srgbClr val="FF0000"/>
                </a:solidFill>
              </a:rPr>
              <a:t> ={&lt;</a:t>
            </a:r>
            <a:r>
              <a:rPr lang="zh-CN" altLang="zh-CN" sz="2000">
                <a:solidFill>
                  <a:srgbClr val="FF0000"/>
                </a:solidFill>
              </a:rPr>
              <a:t>李莉，女， 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张烨，女，</a:t>
            </a:r>
            <a:r>
              <a:rPr lang="en-US" altLang="zh-CN" sz="2000">
                <a:solidFill>
                  <a:srgbClr val="FF0000"/>
                </a:solidFill>
              </a:rPr>
              <a:t>1.50&gt;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徐甜甜，女，</a:t>
            </a:r>
            <a:r>
              <a:rPr lang="en-US" altLang="zh-CN" sz="2000">
                <a:solidFill>
                  <a:srgbClr val="FF0000"/>
                </a:solidFill>
              </a:rPr>
              <a:t>1.65&gt;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</a:t>
            </a:r>
            <a:r>
              <a:rPr lang="zh-CN" altLang="zh-CN" sz="2000">
                <a:solidFill>
                  <a:srgbClr val="FF0000"/>
                </a:solidFill>
              </a:rPr>
              <a:t>戴维，男，</a:t>
            </a:r>
            <a:r>
              <a:rPr lang="en-US" altLang="zh-CN" sz="2000">
                <a:solidFill>
                  <a:srgbClr val="FF0000"/>
                </a:solidFill>
              </a:rPr>
              <a:t>1.60&gt;</a:t>
            </a:r>
            <a:r>
              <a:rPr lang="zh-CN" altLang="zh-CN" sz="2000">
                <a:solidFill>
                  <a:srgbClr val="FF0000"/>
                </a:solidFill>
              </a:rPr>
              <a:t>，</a:t>
            </a:r>
            <a:r>
              <a:rPr lang="en-US" altLang="zh-CN" sz="2000">
                <a:solidFill>
                  <a:srgbClr val="FF0000"/>
                </a:solidFill>
              </a:rPr>
              <a:t>&lt; </a:t>
            </a:r>
            <a:r>
              <a:rPr lang="zh-CN" altLang="zh-CN" sz="2000">
                <a:solidFill>
                  <a:srgbClr val="FF0000"/>
                </a:solidFill>
              </a:rPr>
              <a:t>刘敏杰，女，</a:t>
            </a:r>
            <a:r>
              <a:rPr lang="en-US" altLang="zh-CN" sz="2000">
                <a:solidFill>
                  <a:srgbClr val="FF0000"/>
                </a:solidFill>
              </a:rPr>
              <a:t>1.60&gt;}</a:t>
            </a:r>
            <a:r>
              <a:rPr lang="zh-CN" altLang="zh-CN" sz="2000">
                <a:solidFill>
                  <a:srgbClr val="FF0000"/>
                </a:solidFill>
              </a:rPr>
              <a:t>。对照表</a:t>
            </a:r>
            <a:r>
              <a:rPr lang="en-US" altLang="zh-CN" sz="2000">
                <a:solidFill>
                  <a:srgbClr val="FF0000"/>
                </a:solidFill>
              </a:rPr>
              <a:t>4-2</a:t>
            </a:r>
            <a:r>
              <a:rPr lang="zh-CN" altLang="zh-CN" sz="2000">
                <a:solidFill>
                  <a:srgbClr val="FF0000"/>
                </a:solidFill>
              </a:rPr>
              <a:t>，在这五项中，四个属于矮个，一个属于中等。最终</a:t>
            </a:r>
            <a:r>
              <a:rPr lang="en-US" altLang="zh-CN" sz="2000">
                <a:solidFill>
                  <a:srgbClr val="FF0000"/>
                </a:solidFill>
              </a:rPr>
              <a:t> -</a:t>
            </a:r>
            <a:r>
              <a:rPr lang="zh-CN" altLang="zh-CN" sz="2000">
                <a:solidFill>
                  <a:srgbClr val="FF0000"/>
                </a:solidFill>
              </a:rPr>
              <a:t>最临近算法认为范可可为矮个。</a:t>
            </a:r>
            <a:endParaRPr lang="en-US" altLang="zh-CN" sz="200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7575D1"/>
                </a:solidFill>
              </a:rPr>
              <a:t>讨论：合理性？</a:t>
            </a:r>
            <a:endParaRPr lang="zh-CN" altLang="zh-CN" sz="2000">
              <a:solidFill>
                <a:srgbClr val="7575D1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7C984194-6160-4E0B-B3B4-8145263C3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136048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日期占位符 3">
            <a:extLst>
              <a:ext uri="{FF2B5EF4-FFF2-40B4-BE49-F238E27FC236}">
                <a16:creationId xmlns:a16="http://schemas.microsoft.com/office/drawing/2014/main" id="{D2A7422B-CC9E-4D7F-9F70-E3533902BD0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8842C4-473E-4A2D-9ECC-AB5BBEF78DC1}" type="datetime4">
              <a:rPr lang="zh-CN" altLang="en-US" sz="12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2018年10月21日星期日</a:t>
            </a:fld>
            <a:endParaRPr lang="en-US" altLang="zh-CN" sz="12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1746" name="页脚占位符 4">
            <a:extLst>
              <a:ext uri="{FF2B5EF4-FFF2-40B4-BE49-F238E27FC236}">
                <a16:creationId xmlns:a16="http://schemas.microsoft.com/office/drawing/2014/main" id="{463F24F3-5902-4AD7-BEC3-3E265AD66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pitchFamily="34" charset="0"/>
                <a:ea typeface="宋体" panose="02010600030101010101" pitchFamily="2" charset="-122"/>
              </a:rPr>
              <a:t>DMKD  Sides</a:t>
            </a:r>
          </a:p>
        </p:txBody>
      </p:sp>
      <p:sp>
        <p:nvSpPr>
          <p:cNvPr id="31747" name="灯片编号占位符 5">
            <a:extLst>
              <a:ext uri="{FF2B5EF4-FFF2-40B4-BE49-F238E27FC236}">
                <a16:creationId xmlns:a16="http://schemas.microsoft.com/office/drawing/2014/main" id="{A0320636-7808-43DA-BAF3-1EC3A424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10000"/>
              </a:spcBef>
              <a:buClr>
                <a:srgbClr val="339966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defRPr>
            </a:lvl1pPr>
            <a:lvl2pPr marL="742950" indent="-285750">
              <a:spcBef>
                <a:spcPct val="1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楷体_GB231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E83170E-E4CD-4F91-B396-1885E32251D4}" type="slidenum">
              <a:rPr lang="zh-CN" altLang="en-US" sz="1400">
                <a:latin typeface="Tahoma" panose="020B060403050404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52D1E0F-BFC3-4CDA-B72E-24FA007A6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5410200"/>
            <a:ext cx="8077200" cy="1219200"/>
          </a:xfrm>
          <a:ln>
            <a:noFill/>
          </a:ln>
        </p:spPr>
        <p:txBody>
          <a:bodyPr lIns="92075" tIns="46038" rIns="92075" bIns="46038"/>
          <a:lstStyle/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72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+mn-cs"/>
              </a:rPr>
              <a:t>Thank you !!!</a:t>
            </a:r>
            <a:endParaRPr lang="en-US" altLang="zh-CN" sz="1600">
              <a:cs typeface="+mn-cs"/>
            </a:endParaRPr>
          </a:p>
        </p:txBody>
      </p:sp>
      <p:graphicFrame>
        <p:nvGraphicFramePr>
          <p:cNvPr id="31749" name="Object 4">
            <a:extLst>
              <a:ext uri="{FF2B5EF4-FFF2-40B4-BE49-F238E27FC236}">
                <a16:creationId xmlns:a16="http://schemas.microsoft.com/office/drawing/2014/main" id="{78613B9C-676E-4E3C-B077-A77AA975539D}"/>
              </a:ext>
            </a:extLst>
          </p:cNvPr>
          <p:cNvGraphicFramePr>
            <a:graphicFrameLocks/>
          </p:cNvGraphicFramePr>
          <p:nvPr/>
        </p:nvGraphicFramePr>
        <p:xfrm>
          <a:off x="2590800" y="1219200"/>
          <a:ext cx="4189413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Clip" r:id="rId3" imgW="7833665" imgH="7839151" progId="">
                  <p:embed/>
                </p:oleObj>
              </mc:Choice>
              <mc:Fallback>
                <p:oleObj name="Clip" r:id="rId3" imgW="7833665" imgH="7839151" progId="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219200"/>
                        <a:ext cx="4189413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隶书"/>
        <a:ea typeface="隶书"/>
        <a:cs typeface=""/>
      </a:majorFont>
      <a:minorFont>
        <a:latin typeface="华文新魏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4741</TotalTime>
  <Words>2251</Words>
  <Application>Microsoft Office PowerPoint</Application>
  <PresentationFormat>全屏显示(4:3)</PresentationFormat>
  <Paragraphs>230</Paragraphs>
  <Slides>23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Tahoma</vt:lpstr>
      <vt:lpstr>宋体</vt:lpstr>
      <vt:lpstr>Arial</vt:lpstr>
      <vt:lpstr>隶书</vt:lpstr>
      <vt:lpstr>华文新魏</vt:lpstr>
      <vt:lpstr>Wingdings</vt:lpstr>
      <vt:lpstr>楷体_GB2312</vt:lpstr>
      <vt:lpstr>Times New Roman</vt:lpstr>
      <vt:lpstr>Symbol</vt:lpstr>
      <vt:lpstr>Blends</vt:lpstr>
      <vt:lpstr>Clip</vt:lpstr>
      <vt:lpstr>Visio.Drawing.11</vt:lpstr>
      <vt:lpstr>Equation</vt:lpstr>
      <vt:lpstr>第四章  分类方法                           内容提要</vt:lpstr>
      <vt:lpstr>分类是数据挖掘中重要的任务 </vt:lpstr>
      <vt:lpstr>分类方法的类型</vt:lpstr>
      <vt:lpstr>分类问题的描述</vt:lpstr>
      <vt:lpstr>数据分类的两个步骤</vt:lpstr>
      <vt:lpstr>PowerPoint 演示文稿</vt:lpstr>
      <vt:lpstr>基于距离的分类算法的思路</vt:lpstr>
      <vt:lpstr> 基于距离的分类搜索算法描述</vt:lpstr>
      <vt:lpstr>基于距离的分类方法的直观解释</vt:lpstr>
      <vt:lpstr>K-最近邻分类</vt:lpstr>
      <vt:lpstr>PowerPoint 演示文稿</vt:lpstr>
      <vt:lpstr>PowerPoint 演示文稿</vt:lpstr>
      <vt:lpstr>PowerPoint 演示文稿</vt:lpstr>
      <vt:lpstr>PowerPoint 演示文稿</vt:lpstr>
      <vt:lpstr>K-近邻分类算法</vt:lpstr>
      <vt:lpstr>KNN的直观解释</vt:lpstr>
      <vt:lpstr>KNN的直观解释</vt:lpstr>
      <vt:lpstr>形象的例子</vt:lpstr>
      <vt:lpstr>KNN的特点</vt:lpstr>
      <vt:lpstr>KNN的例子-训练数据</vt:lpstr>
      <vt:lpstr>KNN的例子-挖掘过程</vt:lpstr>
      <vt:lpstr>KNN的例子-挖掘过程(续)</vt:lpstr>
      <vt:lpstr>PowerPoint 演示文稿</vt:lpstr>
    </vt:vector>
  </TitlesOfParts>
  <Company>SFU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Frequent Patterns Without Candidate Generation</dc:title>
  <dc:creator>Jiawei Han</dc:creator>
  <cp:lastModifiedBy>yuting</cp:lastModifiedBy>
  <cp:revision>446</cp:revision>
  <cp:lastPrinted>2000-06-01T21:00:25Z</cp:lastPrinted>
  <dcterms:created xsi:type="dcterms:W3CDTF">1999-12-01T22:01:55Z</dcterms:created>
  <dcterms:modified xsi:type="dcterms:W3CDTF">2018-10-21T11:13:42Z</dcterms:modified>
</cp:coreProperties>
</file>