
<file path=[Content_Types].xml><?xml version="1.0" encoding="utf-8"?>
<Types xmlns="http://schemas.openxmlformats.org/package/2006/content-types">
  <Default Extension="xml" ContentType="application/xml"/>
  <Default Extension="wmf" ContentType="image/x-wmf"/>
  <Default Extension="rels" ContentType="application/vnd.openxmlformats-package.relationships+xml"/>
  <Default Extension="emf" ContentType="image/x-emf"/>
  <Default Extension="vml" ContentType="application/vnd.openxmlformats-officedocument.vmlDrawing"/>
  <Default Extension="bin" ContentType="application/vnd.openxmlformats-officedocument.oleObject"/>
  <Default Extension="png" ContentType="image/p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theme/themeOverride1.xml" ContentType="application/vnd.openxmlformats-officedocument.themeOverr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9" r:id="rId1"/>
  </p:sldMasterIdLst>
  <p:notesMasterIdLst>
    <p:notesMasterId r:id="rId28"/>
  </p:notesMasterIdLst>
  <p:handoutMasterIdLst>
    <p:handoutMasterId r:id="rId29"/>
  </p:handoutMasterIdLst>
  <p:sldIdLst>
    <p:sldId id="475" r:id="rId2"/>
    <p:sldId id="750" r:id="rId3"/>
    <p:sldId id="747" r:id="rId4"/>
    <p:sldId id="748" r:id="rId5"/>
    <p:sldId id="751" r:id="rId6"/>
    <p:sldId id="741" r:id="rId7"/>
    <p:sldId id="752" r:id="rId8"/>
    <p:sldId id="753" r:id="rId9"/>
    <p:sldId id="754" r:id="rId10"/>
    <p:sldId id="256" r:id="rId11"/>
    <p:sldId id="295" r:id="rId12"/>
    <p:sldId id="296" r:id="rId13"/>
    <p:sldId id="297" r:id="rId14"/>
    <p:sldId id="298" r:id="rId15"/>
    <p:sldId id="755" r:id="rId16"/>
    <p:sldId id="281" r:id="rId17"/>
    <p:sldId id="282" r:id="rId18"/>
    <p:sldId id="284" r:id="rId19"/>
    <p:sldId id="266" r:id="rId20"/>
    <p:sldId id="756" r:id="rId21"/>
    <p:sldId id="808" r:id="rId22"/>
    <p:sldId id="809" r:id="rId23"/>
    <p:sldId id="810" r:id="rId24"/>
    <p:sldId id="812" r:id="rId25"/>
    <p:sldId id="811" r:id="rId26"/>
    <p:sldId id="319" r:id="rId27"/>
  </p:sldIdLst>
  <p:sldSz cx="9144000" cy="6858000" type="screen4x3"/>
  <p:notesSz cx="6831013" cy="9117013"/>
  <p:defaultTextStyle>
    <a:defPPr>
      <a:defRPr lang="en-US"/>
    </a:defPPr>
    <a:lvl1pPr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1pPr>
    <a:lvl2pPr marL="4572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2pPr>
    <a:lvl3pPr marL="9144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3pPr>
    <a:lvl4pPr marL="13716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4pPr>
    <a:lvl5pPr marL="1828800" algn="l" rtl="0" eaLnBrk="0" fontAlgn="base" hangingPunct="0">
      <a:spcBef>
        <a:spcPct val="0"/>
      </a:spcBef>
      <a:spcAft>
        <a:spcPct val="0"/>
      </a:spcAft>
      <a:defRPr sz="2800"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5pPr>
    <a:lvl6pPr marL="2286000" algn="l" defTabSz="914400" rtl="0" eaLnBrk="1" latinLnBrk="0" hangingPunct="1">
      <a:defRPr sz="2800"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6pPr>
    <a:lvl7pPr marL="2743200" algn="l" defTabSz="914400" rtl="0" eaLnBrk="1" latinLnBrk="0" hangingPunct="1">
      <a:defRPr sz="2800"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7pPr>
    <a:lvl8pPr marL="3200400" algn="l" defTabSz="914400" rtl="0" eaLnBrk="1" latinLnBrk="0" hangingPunct="1">
      <a:defRPr sz="2800"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8pPr>
    <a:lvl9pPr marL="3657600" algn="l" defTabSz="914400" rtl="0" eaLnBrk="1" latinLnBrk="0" hangingPunct="1">
      <a:defRPr sz="2800" kern="1200">
        <a:solidFill>
          <a:schemeClr val="tx1"/>
        </a:solidFill>
        <a:latin typeface="Tahoma" panose="020B0604030504040204" pitchFamily="34" charset="0"/>
        <a:ea typeface="宋体" panose="02010600030101010101" pitchFamily="2" charset="-122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72">
          <p15:clr>
            <a:srgbClr val="A4A3A4"/>
          </p15:clr>
        </p15:guide>
        <p15:guide id="2" pos="2152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996633"/>
    <a:srgbClr val="EEFB3F"/>
    <a:srgbClr val="660033"/>
    <a:srgbClr val="000099"/>
    <a:srgbClr val="000066"/>
    <a:srgbClr val="003300"/>
    <a:srgbClr val="CCECFF"/>
    <a:srgbClr val="DFEB97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8241" autoAdjust="0"/>
    <p:restoredTop sz="94643"/>
  </p:normalViewPr>
  <p:slideViewPr>
    <p:cSldViewPr>
      <p:cViewPr varScale="1">
        <p:scale>
          <a:sx n="90" d="100"/>
          <a:sy n="90" d="100"/>
        </p:scale>
        <p:origin x="912" y="200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75" d="100"/>
        <a:sy n="75" d="100"/>
      </p:scale>
      <p:origin x="0" y="8844"/>
    </p:cViewPr>
  </p:sorterViewPr>
  <p:notesViewPr>
    <p:cSldViewPr>
      <p:cViewPr varScale="1">
        <p:scale>
          <a:sx n="58" d="100"/>
          <a:sy n="58" d="100"/>
        </p:scale>
        <p:origin x="-1770" y="-78"/>
      </p:cViewPr>
      <p:guideLst>
        <p:guide orient="horz" pos="2872"/>
        <p:guide pos="2152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notesMaster" Target="notesMasters/notesMaster1.xml"/><Relationship Id="rId29" Type="http://schemas.openxmlformats.org/officeDocument/2006/relationships/handoutMaster" Target="handoutMasters/handoutMaster1.xml"/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30" Type="http://schemas.openxmlformats.org/officeDocument/2006/relationships/presProps" Target="presProps.xml"/><Relationship Id="rId31" Type="http://schemas.openxmlformats.org/officeDocument/2006/relationships/viewProps" Target="viewProps.xml"/><Relationship Id="rId32" Type="http://schemas.openxmlformats.org/officeDocument/2006/relationships/theme" Target="theme/theme1.xml"/><Relationship Id="rId9" Type="http://schemas.openxmlformats.org/officeDocument/2006/relationships/slide" Target="slides/slide8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33" Type="http://schemas.openxmlformats.org/officeDocument/2006/relationships/tableStyles" Target="tableStyles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7.wmf"/><Relationship Id="rId4" Type="http://schemas.openxmlformats.org/officeDocument/2006/relationships/image" Target="../media/image8.wmf"/><Relationship Id="rId5" Type="http://schemas.openxmlformats.org/officeDocument/2006/relationships/image" Target="../media/image9.wmf"/><Relationship Id="rId6" Type="http://schemas.openxmlformats.org/officeDocument/2006/relationships/image" Target="../media/image10.wmf"/><Relationship Id="rId7" Type="http://schemas.openxmlformats.org/officeDocument/2006/relationships/image" Target="../media/image11.wmf"/><Relationship Id="rId8" Type="http://schemas.openxmlformats.org/officeDocument/2006/relationships/image" Target="../media/image12.wmf"/><Relationship Id="rId1" Type="http://schemas.openxmlformats.org/officeDocument/2006/relationships/image" Target="../media/image5.wmf"/><Relationship Id="rId2" Type="http://schemas.openxmlformats.org/officeDocument/2006/relationships/image" Target="../media/image6.wmf"/></Relationships>
</file>

<file path=ppt/drawings/_rels/vmlDrawing2.vml.rels><?xml version="1.0" encoding="UTF-8" standalone="yes"?>
<Relationships xmlns="http://schemas.openxmlformats.org/package/2006/relationships"><Relationship Id="rId3" Type="http://schemas.openxmlformats.org/officeDocument/2006/relationships/image" Target="../media/image8.wmf"/><Relationship Id="rId4" Type="http://schemas.openxmlformats.org/officeDocument/2006/relationships/image" Target="../media/image13.wmf"/><Relationship Id="rId5" Type="http://schemas.openxmlformats.org/officeDocument/2006/relationships/image" Target="../media/image14.wmf"/><Relationship Id="rId6" Type="http://schemas.openxmlformats.org/officeDocument/2006/relationships/image" Target="../media/image15.wmf"/><Relationship Id="rId7" Type="http://schemas.openxmlformats.org/officeDocument/2006/relationships/image" Target="../media/image16.wmf"/><Relationship Id="rId8" Type="http://schemas.openxmlformats.org/officeDocument/2006/relationships/image" Target="../media/image17.wmf"/><Relationship Id="rId9" Type="http://schemas.openxmlformats.org/officeDocument/2006/relationships/image" Target="../media/image18.wmf"/><Relationship Id="rId10" Type="http://schemas.openxmlformats.org/officeDocument/2006/relationships/image" Target="../media/image19.wmf"/><Relationship Id="rId1" Type="http://schemas.openxmlformats.org/officeDocument/2006/relationships/image" Target="../media/image6.wmf"/><Relationship Id="rId2" Type="http://schemas.openxmlformats.org/officeDocument/2006/relationships/image" Target="../media/image7.wmf"/></Relationships>
</file>

<file path=ppt/drawings/_rels/vmlDrawing3.vml.rels><?xml version="1.0" encoding="UTF-8" standalone="yes"?>
<Relationships xmlns="http://schemas.openxmlformats.org/package/2006/relationships"><Relationship Id="rId1" Type="http://schemas.openxmlformats.org/officeDocument/2006/relationships/image" Target="../media/image20.emf"/><Relationship Id="rId2" Type="http://schemas.openxmlformats.org/officeDocument/2006/relationships/image" Target="../media/image21.emf"/></Relationships>
</file>

<file path=ppt/drawings/_rels/vmlDrawing4.vml.rels><?xml version="1.0" encoding="UTF-8" standalone="yes"?>
<Relationships xmlns="http://schemas.openxmlformats.org/package/2006/relationships"><Relationship Id="rId1" Type="http://schemas.openxmlformats.org/officeDocument/2006/relationships/image" Target="../media/image22.emf"/></Relationships>
</file>

<file path=ppt/drawings/_rels/vmlDrawing5.vml.rels><?xml version="1.0" encoding="UTF-8" standalone="yes"?>
<Relationships xmlns="http://schemas.openxmlformats.org/package/2006/relationships"><Relationship Id="rId1" Type="http://schemas.openxmlformats.org/officeDocument/2006/relationships/image" Target="../media/image30.wmf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4898" name="Rectangle 2">
            <a:extLst>
              <a:ext uri="{FF2B5EF4-FFF2-40B4-BE49-F238E27FC236}">
                <a16:creationId xmlns:a16="http://schemas.microsoft.com/office/drawing/2014/main" xmlns="" id="{99F248BA-BECB-4DB1-9E79-8D12D3E987E7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71800" cy="457200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Tahoma" pitchFamily="34" charset="0"/>
                <a:ea typeface="宋体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64899" name="Rectangle 3">
            <a:extLst>
              <a:ext uri="{FF2B5EF4-FFF2-40B4-BE49-F238E27FC236}">
                <a16:creationId xmlns:a16="http://schemas.microsoft.com/office/drawing/2014/main" xmlns="" id="{B1EB1C85-1BDF-4ACB-8D45-EE34E25A402F}"/>
              </a:ext>
            </a:extLst>
          </p:cNvPr>
          <p:cNvSpPr>
            <a:spLocks noGrp="1" noChangeArrowheads="1"/>
          </p:cNvSpPr>
          <p:nvPr>
            <p:ph type="dt" sz="quarter" idx="1"/>
          </p:nvPr>
        </p:nvSpPr>
        <p:spPr bwMode="auto">
          <a:xfrm>
            <a:off x="3886200" y="0"/>
            <a:ext cx="2971800" cy="457200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 eaLnBrk="1" hangingPunct="1">
              <a:defRPr sz="1200">
                <a:latin typeface="Tahoma" pitchFamily="34" charset="0"/>
                <a:ea typeface="宋体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64900" name="Rectangle 4">
            <a:extLst>
              <a:ext uri="{FF2B5EF4-FFF2-40B4-BE49-F238E27FC236}">
                <a16:creationId xmlns:a16="http://schemas.microsoft.com/office/drawing/2014/main" xmlns="" id="{442B7C70-B419-4136-A3A4-2F0732A7B7C4}"/>
              </a:ext>
            </a:extLst>
          </p:cNvPr>
          <p:cNvSpPr>
            <a:spLocks noGrp="1" noChangeArrowheads="1"/>
          </p:cNvSpPr>
          <p:nvPr>
            <p:ph type="ftr" sz="quarter" idx="2"/>
          </p:nvPr>
        </p:nvSpPr>
        <p:spPr bwMode="auto">
          <a:xfrm>
            <a:off x="0" y="8686800"/>
            <a:ext cx="2971800" cy="457200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>
                <a:latin typeface="Tahoma" pitchFamily="34" charset="0"/>
                <a:ea typeface="宋体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64901" name="Rectangle 5">
            <a:extLst>
              <a:ext uri="{FF2B5EF4-FFF2-40B4-BE49-F238E27FC236}">
                <a16:creationId xmlns:a16="http://schemas.microsoft.com/office/drawing/2014/main" xmlns="" id="{8E9F9D8D-FDE2-4F9B-AAD8-90BF797AEFAF}"/>
              </a:ext>
            </a:extLst>
          </p:cNvPr>
          <p:cNvSpPr>
            <a:spLocks noGrp="1" noChangeArrowheads="1"/>
          </p:cNvSpPr>
          <p:nvPr>
            <p:ph type="sldNum" sz="quarter" idx="3"/>
          </p:nvPr>
        </p:nvSpPr>
        <p:spPr bwMode="auto">
          <a:xfrm>
            <a:off x="3886200" y="8686800"/>
            <a:ext cx="2971800" cy="457200"/>
          </a:xfrm>
          <a:prstGeom prst="rect">
            <a:avLst/>
          </a:prstGeom>
          <a:noFill/>
          <a:ln w="28575">
            <a:noFill/>
            <a:miter lim="800000"/>
            <a:headEnd/>
            <a:tailEnd/>
          </a:ln>
          <a:effectLst/>
        </p:spPr>
        <p:txBody>
          <a:bodyPr vert="horz" wrap="non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200" smtClean="0">
                <a:latin typeface="Tahoma" charset="0"/>
                <a:ea typeface="宋体" charset="-122"/>
              </a:defRPr>
            </a:lvl1pPr>
          </a:lstStyle>
          <a:p>
            <a:pPr>
              <a:defRPr/>
            </a:pPr>
            <a:fld id="{05DD2B9D-204A-4A7A-8802-7D6C0044F66D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010" name="Rectangle 2">
            <a:extLst>
              <a:ext uri="{FF2B5EF4-FFF2-40B4-BE49-F238E27FC236}">
                <a16:creationId xmlns:a16="http://schemas.microsoft.com/office/drawing/2014/main" xmlns="" id="{45CF17CB-3193-4D56-A940-33121D7C6C64}"/>
              </a:ext>
            </a:extLst>
          </p:cNvPr>
          <p:cNvSpPr>
            <a:spLocks noGrp="1" noChangeArrowheads="1"/>
          </p:cNvSpPr>
          <p:nvPr>
            <p:ph type="hdr" sz="quarter"/>
          </p:nvPr>
        </p:nvSpPr>
        <p:spPr bwMode="auto">
          <a:xfrm>
            <a:off x="0" y="0"/>
            <a:ext cx="2960688" cy="4556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29" tIns="45565" rIns="91129" bIns="45565" numCol="1" anchor="t" anchorCtr="0" compatLnSpc="1">
            <a:prstTxWarp prst="textNoShape">
              <a:avLst/>
            </a:prstTxWarp>
          </a:bodyPr>
          <a:lstStyle>
            <a:lvl1pPr defTabSz="911225" eaLnBrk="1" hangingPunct="1">
              <a:defRPr sz="1200">
                <a:latin typeface="Tahoma" pitchFamily="34" charset="0"/>
                <a:ea typeface="宋体" pitchFamily="2" charset="-122"/>
              </a:defRPr>
            </a:lvl1pPr>
          </a:lstStyle>
          <a:p>
            <a:pPr>
              <a:defRPr/>
            </a:pPr>
            <a:endParaRPr lang="zh-CN" altLang="en-US"/>
          </a:p>
        </p:txBody>
      </p:sp>
      <p:sp>
        <p:nvSpPr>
          <p:cNvPr id="43011" name="Rectangle 3">
            <a:extLst>
              <a:ext uri="{FF2B5EF4-FFF2-40B4-BE49-F238E27FC236}">
                <a16:creationId xmlns:a16="http://schemas.microsoft.com/office/drawing/2014/main" xmlns="" id="{A802C1C9-9754-4CD5-B3F7-0354A37FE71B}"/>
              </a:ext>
            </a:extLst>
          </p:cNvPr>
          <p:cNvSpPr>
            <a:spLocks noGrp="1" noChangeArrowheads="1"/>
          </p:cNvSpPr>
          <p:nvPr>
            <p:ph type="dt" idx="1"/>
          </p:nvPr>
        </p:nvSpPr>
        <p:spPr bwMode="auto">
          <a:xfrm>
            <a:off x="3870325" y="0"/>
            <a:ext cx="2960688" cy="4556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29" tIns="45565" rIns="91129" bIns="45565" numCol="1" anchor="t" anchorCtr="0" compatLnSpc="1">
            <a:prstTxWarp prst="textNoShape">
              <a:avLst/>
            </a:prstTxWarp>
          </a:bodyPr>
          <a:lstStyle>
            <a:lvl1pPr algn="r" defTabSz="911225" eaLnBrk="1" hangingPunct="1">
              <a:defRPr sz="1200">
                <a:latin typeface="Tahoma" pitchFamily="34" charset="0"/>
                <a:ea typeface="宋体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16388" name="Rectangle 4">
            <a:extLst>
              <a:ext uri="{FF2B5EF4-FFF2-40B4-BE49-F238E27FC236}">
                <a16:creationId xmlns:a16="http://schemas.microsoft.com/office/drawing/2014/main" xmlns="" id="{7832653D-2D78-4708-B3C4-B83FDFC43D7B}"/>
              </a:ext>
            </a:extLst>
          </p:cNvPr>
          <p:cNvSpPr>
            <a:spLocks noGrp="1" noRot="1" noChangeAspect="1" noChangeArrowheads="1" noTextEdit="1"/>
          </p:cNvSpPr>
          <p:nvPr>
            <p:ph type="sldImg" idx="2"/>
          </p:nvPr>
        </p:nvSpPr>
        <p:spPr bwMode="auto">
          <a:xfrm>
            <a:off x="1136650" y="684213"/>
            <a:ext cx="4557713" cy="3417887"/>
          </a:xfrm>
          <a:prstGeom prst="rect">
            <a:avLst/>
          </a:prstGeom>
          <a:noFill/>
          <a:ln w="9525">
            <a:solidFill>
              <a:srgbClr val="000000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sp>
      <p:sp>
        <p:nvSpPr>
          <p:cNvPr id="43013" name="Rectangle 5">
            <a:extLst>
              <a:ext uri="{FF2B5EF4-FFF2-40B4-BE49-F238E27FC236}">
                <a16:creationId xmlns:a16="http://schemas.microsoft.com/office/drawing/2014/main" xmlns="" id="{6FC5DDCA-E022-4E62-894C-0CF2976863F0}"/>
              </a:ext>
            </a:extLst>
          </p:cNvPr>
          <p:cNvSpPr>
            <a:spLocks noGrp="1" noChangeArrowheads="1"/>
          </p:cNvSpPr>
          <p:nvPr>
            <p:ph type="body" sz="quarter" idx="3"/>
          </p:nvPr>
        </p:nvSpPr>
        <p:spPr bwMode="auto">
          <a:xfrm>
            <a:off x="911225" y="4330700"/>
            <a:ext cx="5008563" cy="41021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29" tIns="45565" rIns="91129" bIns="45565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 noProof="0"/>
              <a:t>Click to edit Master text styles</a:t>
            </a:r>
          </a:p>
          <a:p>
            <a:pPr lvl="1"/>
            <a:r>
              <a:rPr lang="en-US" altLang="zh-CN" noProof="0"/>
              <a:t>Second level</a:t>
            </a:r>
          </a:p>
          <a:p>
            <a:pPr lvl="2"/>
            <a:r>
              <a:rPr lang="en-US" altLang="zh-CN" noProof="0"/>
              <a:t>Third level</a:t>
            </a:r>
          </a:p>
          <a:p>
            <a:pPr lvl="3"/>
            <a:r>
              <a:rPr lang="en-US" altLang="zh-CN" noProof="0"/>
              <a:t>Fourth level</a:t>
            </a:r>
          </a:p>
          <a:p>
            <a:pPr lvl="4"/>
            <a:r>
              <a:rPr lang="en-US" altLang="zh-CN" noProof="0"/>
              <a:t>Fifth level</a:t>
            </a:r>
          </a:p>
        </p:txBody>
      </p:sp>
      <p:sp>
        <p:nvSpPr>
          <p:cNvPr id="43014" name="Rectangle 6">
            <a:extLst>
              <a:ext uri="{FF2B5EF4-FFF2-40B4-BE49-F238E27FC236}">
                <a16:creationId xmlns:a16="http://schemas.microsoft.com/office/drawing/2014/main" xmlns="" id="{B1E2C32A-5ACD-4E2D-B146-0FB715E9E124}"/>
              </a:ext>
            </a:extLst>
          </p:cNvPr>
          <p:cNvSpPr>
            <a:spLocks noGrp="1" noChangeArrowheads="1"/>
          </p:cNvSpPr>
          <p:nvPr>
            <p:ph type="ftr" sz="quarter" idx="4"/>
          </p:nvPr>
        </p:nvSpPr>
        <p:spPr bwMode="auto">
          <a:xfrm>
            <a:off x="0" y="8661400"/>
            <a:ext cx="2960688" cy="4556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29" tIns="45565" rIns="91129" bIns="45565" numCol="1" anchor="b" anchorCtr="0" compatLnSpc="1">
            <a:prstTxWarp prst="textNoShape">
              <a:avLst/>
            </a:prstTxWarp>
          </a:bodyPr>
          <a:lstStyle>
            <a:lvl1pPr defTabSz="911225" eaLnBrk="1" hangingPunct="1">
              <a:defRPr sz="1200">
                <a:latin typeface="Tahoma" pitchFamily="34" charset="0"/>
                <a:ea typeface="宋体" pitchFamily="2" charset="-122"/>
              </a:defRPr>
            </a:lvl1pPr>
          </a:lstStyle>
          <a:p>
            <a:pPr>
              <a:defRPr/>
            </a:pPr>
            <a:endParaRPr lang="en-US" altLang="zh-CN"/>
          </a:p>
        </p:txBody>
      </p:sp>
      <p:sp>
        <p:nvSpPr>
          <p:cNvPr id="43015" name="Rectangle 7">
            <a:extLst>
              <a:ext uri="{FF2B5EF4-FFF2-40B4-BE49-F238E27FC236}">
                <a16:creationId xmlns:a16="http://schemas.microsoft.com/office/drawing/2014/main" xmlns="" id="{04A630D8-448D-46C2-BB40-8AFE6B6C0BD6}"/>
              </a:ext>
            </a:extLst>
          </p:cNvPr>
          <p:cNvSpPr>
            <a:spLocks noGrp="1" noChangeArrowheads="1"/>
          </p:cNvSpPr>
          <p:nvPr>
            <p:ph type="sldNum" sz="quarter" idx="5"/>
          </p:nvPr>
        </p:nvSpPr>
        <p:spPr bwMode="auto">
          <a:xfrm>
            <a:off x="3870325" y="8661400"/>
            <a:ext cx="2960688" cy="4556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129" tIns="45565" rIns="91129" bIns="45565" numCol="1" anchor="b" anchorCtr="0" compatLnSpc="1">
            <a:prstTxWarp prst="textNoShape">
              <a:avLst/>
            </a:prstTxWarp>
          </a:bodyPr>
          <a:lstStyle>
            <a:lvl1pPr algn="r" defTabSz="911225" eaLnBrk="1" hangingPunct="1">
              <a:defRPr sz="1200" smtClean="0">
                <a:latin typeface="Tahoma" charset="0"/>
                <a:ea typeface="宋体" charset="-122"/>
              </a:defRPr>
            </a:lvl1pPr>
          </a:lstStyle>
          <a:p>
            <a:pPr>
              <a:defRPr/>
            </a:pPr>
            <a:fld id="{2141FFDE-7B93-414D-968D-7199CF2F61E4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1pPr>
    <a:lvl2pPr marL="4572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2pPr>
    <a:lvl3pPr marL="9144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3pPr>
    <a:lvl4pPr marL="13716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4pPr>
    <a:lvl5pPr marL="1828800" algn="l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Times New Roman" pitchFamily="18" charset="0"/>
        <a:ea typeface="宋体" pitchFamily="2" charset="-122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1" Type="http://schemas.openxmlformats.org/officeDocument/2006/relationships/themeOverride" Target="../theme/themeOverride1.xml"/><Relationship Id="rId2" Type="http://schemas.openxmlformats.org/officeDocument/2006/relationships/notesMaster" Target="../notesMasters/notesMaster1.xml"/><Relationship Id="rId3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793" name="幻灯片图像占位符 1">
            <a:extLst>
              <a:ext uri="{FF2B5EF4-FFF2-40B4-BE49-F238E27FC236}">
                <a16:creationId xmlns:a16="http://schemas.microsoft.com/office/drawing/2014/main" xmlns="" id="{5C588C82-CE70-472E-808D-C3EACEE902ED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ln/>
        </p:spPr>
      </p:sp>
      <p:sp>
        <p:nvSpPr>
          <p:cNvPr id="33794" name="备注占位符 2">
            <a:extLst>
              <a:ext uri="{FF2B5EF4-FFF2-40B4-BE49-F238E27FC236}">
                <a16:creationId xmlns:a16="http://schemas.microsoft.com/office/drawing/2014/main" xmlns="" id="{BF27740B-50CB-4AEB-BE37-F693E25F54D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/>
          <a:p>
            <a:endParaRPr kumimoji="1" lang="zh-CN" altLang="en-US"/>
          </a:p>
        </p:txBody>
      </p:sp>
      <p:sp>
        <p:nvSpPr>
          <p:cNvPr id="33795" name="幻灯片编号占位符 3">
            <a:extLst>
              <a:ext uri="{FF2B5EF4-FFF2-40B4-BE49-F238E27FC236}">
                <a16:creationId xmlns:a16="http://schemas.microsoft.com/office/drawing/2014/main" xmlns="" id="{C380D8F9-41B5-4A3A-9E8D-CEF30B908F5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 defTabSz="911225"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 defTabSz="911225"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 defTabSz="911225"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 defTabSz="911225"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 defTabSz="911225"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defTabSz="91122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defTabSz="91122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defTabSz="91122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defTabSz="911225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fld id="{42A52F8D-FB77-4769-A62B-F05660E1DA14}" type="slidenum">
              <a:rPr lang="zh-CN" altLang="en-US" sz="1200"/>
              <a:pPr/>
              <a:t>1</a:t>
            </a:fld>
            <a:endParaRPr lang="en-US" altLang="zh-CN" sz="1200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4" name="Rectangle 7">
            <a:extLst>
              <a:ext uri="{FF2B5EF4-FFF2-40B4-BE49-F238E27FC236}">
                <a16:creationId xmlns:a16="http://schemas.microsoft.com/office/drawing/2014/main" xmlns="" id="{EB1A2AB4-D5D2-4AA2-8443-3891BEB00DC4}"/>
              </a:ext>
            </a:extLst>
          </p:cNvPr>
          <p:cNvSpPr txBox="1">
            <a:spLocks noGrp="1" noChangeArrowheads="1"/>
          </p:cNvSpPr>
          <p:nvPr/>
        </p:nvSpPr>
        <p:spPr bwMode="auto">
          <a:xfrm>
            <a:off x="3884613" y="8685213"/>
            <a:ext cx="29718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r" eaLnBrk="1" hangingPunct="1"/>
            <a:fld id="{6EE88AB1-404A-4B4D-8D69-C383FFBD1769}" type="slidenum">
              <a:rPr lang="en-US" altLang="zh-CN" sz="1200"/>
              <a:pPr algn="r" eaLnBrk="1" hangingPunct="1"/>
              <a:t>18</a:t>
            </a:fld>
            <a:endParaRPr lang="en-US" altLang="zh-CN" sz="1200"/>
          </a:p>
        </p:txBody>
      </p:sp>
      <p:sp>
        <p:nvSpPr>
          <p:cNvPr id="23555" name="幻灯片图像占位符 1">
            <a:extLst>
              <a:ext uri="{FF2B5EF4-FFF2-40B4-BE49-F238E27FC236}">
                <a16:creationId xmlns:a16="http://schemas.microsoft.com/office/drawing/2014/main" xmlns="" id="{D627F093-A8E1-41C4-8FE2-43F8F610F123}"/>
              </a:ext>
            </a:extLst>
          </p:cNvPr>
          <p:cNvSpPr>
            <a:spLocks noGrp="1" noRot="1" noChangeAspect="1" noTextEdit="1"/>
          </p:cNvSpPr>
          <p:nvPr>
            <p:ph type="sldImg"/>
          </p:nvPr>
        </p:nvSpPr>
        <p:spPr>
          <a:xfrm>
            <a:off x="1100138" y="676275"/>
            <a:ext cx="4608512" cy="3455988"/>
          </a:xfrm>
        </p:spPr>
      </p:sp>
      <p:sp>
        <p:nvSpPr>
          <p:cNvPr id="23556" name="备注占位符 2">
            <a:extLst>
              <a:ext uri="{FF2B5EF4-FFF2-40B4-BE49-F238E27FC236}">
                <a16:creationId xmlns:a16="http://schemas.microsoft.com/office/drawing/2014/main" xmlns="" id="{6E6E49EA-91DD-41D0-B90A-6FD98852DE6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96938" y="4359275"/>
            <a:ext cx="5013325" cy="4133850"/>
          </a:xfrm>
        </p:spPr>
        <p:txBody>
          <a:bodyPr lIns="77867" tIns="38933" rIns="77867" bIns="38933" anchor="t"/>
          <a:lstStyle/>
          <a:p>
            <a:pPr marL="112713" indent="-112713" defTabSz="1020763"/>
            <a:r>
              <a:rPr lang="en-US" altLang="zh-CN"/>
              <a:t>quack [</a:t>
            </a:r>
            <a:r>
              <a:rPr lang="zh-CN" altLang="en-US"/>
              <a:t>简明英汉词典</a:t>
            </a:r>
            <a:r>
              <a:rPr lang="en-US" altLang="zh-CN"/>
              <a:t>]</a:t>
            </a:r>
          </a:p>
          <a:p>
            <a:pPr marL="112713" indent="-112713" defTabSz="1020763"/>
            <a:r>
              <a:rPr lang="en-US" altLang="zh-CN"/>
              <a:t>[kwAk]</a:t>
            </a:r>
          </a:p>
          <a:p>
            <a:pPr marL="112713" indent="-112713" defTabSz="1020763"/>
            <a:r>
              <a:rPr lang="en-US" altLang="zh-CN"/>
              <a:t>v.(</a:t>
            </a:r>
            <a:r>
              <a:rPr lang="zh-CN" altLang="en-US"/>
              <a:t>指鸭</a:t>
            </a:r>
            <a:r>
              <a:rPr lang="en-US" altLang="zh-CN"/>
              <a:t>)</a:t>
            </a:r>
            <a:r>
              <a:rPr lang="zh-CN" altLang="en-US"/>
              <a:t>呷呷地叫</a:t>
            </a:r>
            <a:r>
              <a:rPr lang="en-US" altLang="zh-CN"/>
              <a:t>, </a:t>
            </a:r>
            <a:r>
              <a:rPr lang="zh-CN" altLang="en-US"/>
              <a:t>大声闲聊</a:t>
            </a:r>
            <a:r>
              <a:rPr lang="en-US" altLang="zh-CN"/>
              <a:t>, </a:t>
            </a:r>
            <a:r>
              <a:rPr lang="zh-CN" altLang="en-US"/>
              <a:t>吹嘘</a:t>
            </a:r>
          </a:p>
          <a:p>
            <a:pPr marL="112713" indent="-112713" defTabSz="1020763"/>
            <a:r>
              <a:rPr lang="en-US" altLang="zh-CN"/>
              <a:t>n.(</a:t>
            </a:r>
            <a:r>
              <a:rPr lang="zh-CN" altLang="en-US"/>
              <a:t>鸭子</a:t>
            </a:r>
            <a:r>
              <a:rPr lang="en-US" altLang="zh-CN"/>
              <a:t>)</a:t>
            </a:r>
            <a:r>
              <a:rPr lang="zh-CN" altLang="en-US"/>
              <a:t>呷呷叫声</a:t>
            </a:r>
            <a:r>
              <a:rPr lang="en-US" altLang="zh-CN"/>
              <a:t>, </a:t>
            </a:r>
            <a:r>
              <a:rPr lang="zh-CN" altLang="en-US"/>
              <a:t>庸医</a:t>
            </a:r>
            <a:r>
              <a:rPr lang="en-US" altLang="zh-CN"/>
              <a:t>, </a:t>
            </a:r>
            <a:r>
              <a:rPr lang="zh-CN" altLang="en-US"/>
              <a:t>骗子</a:t>
            </a:r>
          </a:p>
          <a:p>
            <a:pPr marL="112713" indent="-112713" defTabSz="1020763"/>
            <a:r>
              <a:rPr lang="en-US" altLang="zh-CN"/>
              <a:t>adj.</a:t>
            </a:r>
            <a:r>
              <a:rPr lang="zh-CN" altLang="en-US"/>
              <a:t>骗人</a:t>
            </a:r>
          </a:p>
        </p:txBody>
      </p:sp>
      <p:sp>
        <p:nvSpPr>
          <p:cNvPr id="23557" name="灯片编号占位符 3">
            <a:extLst>
              <a:ext uri="{FF2B5EF4-FFF2-40B4-BE49-F238E27FC236}">
                <a16:creationId xmlns:a16="http://schemas.microsoft.com/office/drawing/2014/main" xmlns="" id="{48CA3A49-261B-4D83-BD76-19D4C0C79C65}"/>
              </a:ext>
            </a:extLst>
          </p:cNvPr>
          <p:cNvSpPr txBox="1">
            <a:spLocks noGrp="1" noChangeArrowheads="1"/>
          </p:cNvSpPr>
          <p:nvPr/>
        </p:nvSpPr>
        <p:spPr bwMode="auto">
          <a:xfrm>
            <a:off x="3889375" y="8718550"/>
            <a:ext cx="2992438" cy="4492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lIns="77867" tIns="38933" rIns="77867" bIns="38933" anchor="b"/>
          <a:lstStyle>
            <a:lvl1pPr defTabSz="9747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defTabSz="9747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defTabSz="9747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defTabSz="9747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defTabSz="974725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defTabSz="9747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defTabSz="9747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defTabSz="9747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defTabSz="974725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algn="r"/>
            <a:fld id="{7490CCC6-E9E0-446C-A22C-43A7DD634BE3}" type="slidenum">
              <a:rPr lang="en-US" altLang="zh-CN" sz="1300" b="1"/>
              <a:pPr algn="r"/>
              <a:t>18</a:t>
            </a:fld>
            <a:endParaRPr lang="en-US" altLang="zh-CN" sz="1300" b="1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" name="Group 2">
            <a:extLst>
              <a:ext uri="{FF2B5EF4-FFF2-40B4-BE49-F238E27FC236}">
                <a16:creationId xmlns:a16="http://schemas.microsoft.com/office/drawing/2014/main" xmlns="" id="{F1B5EC0E-579A-47C6-BBCE-AC64D6058FD5}"/>
              </a:ext>
            </a:extLst>
          </p:cNvPr>
          <p:cNvGrpSpPr>
            <a:grpSpLocks/>
          </p:cNvGrpSpPr>
          <p:nvPr/>
        </p:nvGrpSpPr>
        <p:grpSpPr bwMode="auto">
          <a:xfrm>
            <a:off x="0" y="2438400"/>
            <a:ext cx="9009063" cy="1052513"/>
            <a:chOff x="0" y="1536"/>
            <a:chExt cx="5675" cy="663"/>
          </a:xfrm>
        </p:grpSpPr>
        <p:grpSp>
          <p:nvGrpSpPr>
            <p:cNvPr id="5" name="Group 3">
              <a:extLst>
                <a:ext uri="{FF2B5EF4-FFF2-40B4-BE49-F238E27FC236}">
                  <a16:creationId xmlns:a16="http://schemas.microsoft.com/office/drawing/2014/main" xmlns="" id="{1782058E-73EE-46EF-8793-AE557F3F5819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185" y="1604"/>
              <a:ext cx="449" cy="299"/>
              <a:chOff x="720" y="336"/>
              <a:chExt cx="624" cy="432"/>
            </a:xfrm>
          </p:grpSpPr>
          <p:sp>
            <p:nvSpPr>
              <p:cNvPr id="12" name="Rectangle 4">
                <a:extLst>
                  <a:ext uri="{FF2B5EF4-FFF2-40B4-BE49-F238E27FC236}">
                    <a16:creationId xmlns:a16="http://schemas.microsoft.com/office/drawing/2014/main" xmlns="" id="{18FA7A05-B79D-47E9-BA06-62E3898704AC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720" y="336"/>
                <a:ext cx="384" cy="432"/>
              </a:xfrm>
              <a:prstGeom prst="rect">
                <a:avLst/>
              </a:prstGeom>
              <a:solidFill>
                <a:schemeClr val="folHlink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/>
              </a:p>
            </p:txBody>
          </p:sp>
          <p:sp>
            <p:nvSpPr>
              <p:cNvPr id="13" name="Rectangle 5">
                <a:extLst>
                  <a:ext uri="{FF2B5EF4-FFF2-40B4-BE49-F238E27FC236}">
                    <a16:creationId xmlns:a16="http://schemas.microsoft.com/office/drawing/2014/main" xmlns="" id="{59361E49-4B7A-4B6B-9871-8E939DB032AB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056" y="336"/>
                <a:ext cx="288" cy="432"/>
              </a:xfrm>
              <a:prstGeom prst="rect">
                <a:avLst/>
              </a:prstGeom>
              <a:gradFill rotWithShape="0">
                <a:gsLst>
                  <a:gs pos="0">
                    <a:schemeClr val="folHlink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/>
              </a:p>
            </p:txBody>
          </p:sp>
        </p:grpSp>
        <p:grpSp>
          <p:nvGrpSpPr>
            <p:cNvPr id="6" name="Group 6">
              <a:extLst>
                <a:ext uri="{FF2B5EF4-FFF2-40B4-BE49-F238E27FC236}">
                  <a16:creationId xmlns:a16="http://schemas.microsoft.com/office/drawing/2014/main" xmlns="" id="{141DD628-91E7-488F-8FB4-1177262B93CA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263" y="1870"/>
              <a:ext cx="466" cy="299"/>
              <a:chOff x="912" y="2640"/>
              <a:chExt cx="672" cy="432"/>
            </a:xfrm>
          </p:grpSpPr>
          <p:sp>
            <p:nvSpPr>
              <p:cNvPr id="10" name="Rectangle 7">
                <a:extLst>
                  <a:ext uri="{FF2B5EF4-FFF2-40B4-BE49-F238E27FC236}">
                    <a16:creationId xmlns:a16="http://schemas.microsoft.com/office/drawing/2014/main" xmlns="" id="{56F1DDF2-AE0E-4BBC-9048-03E3977DBB21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912" y="2640"/>
                <a:ext cx="384" cy="432"/>
              </a:xfrm>
              <a:prstGeom prst="rect">
                <a:avLst/>
              </a:prstGeom>
              <a:solidFill>
                <a:schemeClr val="accent2"/>
              </a:soli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/>
              </a:p>
            </p:txBody>
          </p:sp>
          <p:sp>
            <p:nvSpPr>
              <p:cNvPr id="11" name="Rectangle 8">
                <a:extLst>
                  <a:ext uri="{FF2B5EF4-FFF2-40B4-BE49-F238E27FC236}">
                    <a16:creationId xmlns:a16="http://schemas.microsoft.com/office/drawing/2014/main" xmlns="" id="{90A7D449-203E-4730-A8F8-5BBF84B04E3E}"/>
                  </a:ext>
                </a:extLst>
              </p:cNvPr>
              <p:cNvSpPr>
                <a:spLocks noChangeArrowheads="1"/>
              </p:cNvSpPr>
              <p:nvPr/>
            </p:nvSpPr>
            <p:spPr bwMode="auto">
              <a:xfrm>
                <a:off x="1248" y="2640"/>
                <a:ext cx="336" cy="432"/>
              </a:xfrm>
              <a:prstGeom prst="rect">
                <a:avLst/>
              </a:prstGeom>
              <a:gradFill rotWithShape="0">
                <a:gsLst>
                  <a:gs pos="0">
                    <a:schemeClr val="accent2"/>
                  </a:gs>
                  <a:gs pos="100000">
                    <a:schemeClr val="bg1"/>
                  </a:gs>
                </a:gsLst>
                <a:lin ang="0" scaled="1"/>
              </a:gradFill>
              <a:ln>
                <a:noFill/>
              </a:ln>
              <a:extLs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none" anchor="ctr"/>
              <a:lstStyle>
                <a:lvl1pPr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1pPr>
                <a:lvl2pPr marL="742950" indent="-285750"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2pPr>
                <a:lvl3pPr marL="1143000" indent="-228600"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3pPr>
                <a:lvl4pPr marL="1600200" indent="-228600"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4pPr>
                <a:lvl5pPr marL="2057400" indent="-228600"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5pPr>
                <a:lvl6pPr marL="25146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6pPr>
                <a:lvl7pPr marL="29718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7pPr>
                <a:lvl8pPr marL="34290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8pPr>
                <a:lvl9pPr marL="3886200" indent="-228600" eaLnBrk="0" fontAlgn="base" hangingPunct="0">
                  <a:spcBef>
                    <a:spcPct val="0"/>
                  </a:spcBef>
                  <a:spcAft>
                    <a:spcPct val="0"/>
                  </a:spcAft>
                  <a:defRPr sz="2800">
                    <a:solidFill>
                      <a:schemeClr val="tx1"/>
                    </a:solidFill>
                    <a:latin typeface="Tahoma" panose="020B0604030504040204" pitchFamily="34" charset="0"/>
                    <a:ea typeface="宋体" panose="02010600030101010101" pitchFamily="2" charset="-122"/>
                  </a:defRPr>
                </a:lvl9pPr>
              </a:lstStyle>
              <a:p>
                <a:pPr eaLnBrk="1" hangingPunct="1"/>
                <a:endParaRPr lang="zh-CN" altLang="en-US"/>
              </a:p>
            </p:txBody>
          </p:sp>
        </p:grpSp>
        <p:sp>
          <p:nvSpPr>
            <p:cNvPr id="7" name="Rectangle 9">
              <a:extLst>
                <a:ext uri="{FF2B5EF4-FFF2-40B4-BE49-F238E27FC236}">
                  <a16:creationId xmlns:a16="http://schemas.microsoft.com/office/drawing/2014/main" xmlns="" id="{8C065329-9D9F-406E-8DE4-91ADAAA9DEEE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0" y="1824"/>
              <a:ext cx="353" cy="266"/>
            </a:xfrm>
            <a:prstGeom prst="rect">
              <a:avLst/>
            </a:prstGeom>
            <a:gradFill rotWithShape="0">
              <a:gsLst>
                <a:gs pos="0">
                  <a:schemeClr val="bg1"/>
                </a:gs>
                <a:gs pos="100000">
                  <a:schemeClr val="hlink"/>
                </a:gs>
              </a:gsLst>
              <a:lin ang="1890000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  <p:sp>
          <p:nvSpPr>
            <p:cNvPr id="8" name="Rectangle 10">
              <a:extLst>
                <a:ext uri="{FF2B5EF4-FFF2-40B4-BE49-F238E27FC236}">
                  <a16:creationId xmlns:a16="http://schemas.microsoft.com/office/drawing/2014/main" xmlns="" id="{B566BEDE-690F-42C9-B453-A87E1F1D918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00" y="1536"/>
              <a:ext cx="20" cy="663"/>
            </a:xfrm>
            <a:prstGeom prst="rect">
              <a:avLst/>
            </a:prstGeom>
            <a:solidFill>
              <a:schemeClr val="bg2"/>
            </a:soli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  <p:sp>
          <p:nvSpPr>
            <p:cNvPr id="9" name="Rectangle 11">
              <a:extLst>
                <a:ext uri="{FF2B5EF4-FFF2-40B4-BE49-F238E27FC236}">
                  <a16:creationId xmlns:a16="http://schemas.microsoft.com/office/drawing/2014/main" xmlns="" id="{404C2713-AC6E-4437-8799-6EB583038CC6}"/>
                </a:ext>
              </a:extLst>
            </p:cNvPr>
            <p:cNvSpPr>
              <a:spLocks noChangeArrowheads="1"/>
            </p:cNvSpPr>
            <p:nvPr/>
          </p:nvSpPr>
          <p:spPr bwMode="auto">
            <a:xfrm flipV="1">
              <a:off x="199" y="2054"/>
              <a:ext cx="5476" cy="35"/>
            </a:xfrm>
            <a:prstGeom prst="rect">
              <a:avLst/>
            </a:prstGeom>
            <a:gradFill rotWithShape="0">
              <a:gsLst>
                <a:gs pos="0">
                  <a:schemeClr val="bg2"/>
                </a:gs>
                <a:gs pos="100000">
                  <a:schemeClr val="bg1"/>
                </a:gs>
              </a:gsLst>
              <a:lin ang="0" scaled="1"/>
            </a:gradFill>
            <a:ln>
              <a:noFill/>
            </a:ln>
            <a:extLs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none" anchor="ctr"/>
            <a:lstStyle>
              <a:lvl1pPr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1pPr>
              <a:lvl2pPr marL="742950" indent="-285750"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2pPr>
              <a:lvl3pPr marL="1143000" indent="-228600"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3pPr>
              <a:lvl4pPr marL="1600200" indent="-228600"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4pPr>
              <a:lvl5pPr marL="2057400" indent="-228600"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 sz="2800">
                  <a:solidFill>
                    <a:schemeClr val="tx1"/>
                  </a:solidFill>
                  <a:latin typeface="Tahoma" panose="020B060403050404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</p:grpSp>
      <p:sp>
        <p:nvSpPr>
          <p:cNvPr id="14" name="Rectangle 17">
            <a:extLst>
              <a:ext uri="{FF2B5EF4-FFF2-40B4-BE49-F238E27FC236}">
                <a16:creationId xmlns:a16="http://schemas.microsoft.com/office/drawing/2014/main" xmlns="" id="{9BAC0EE5-FC49-4929-8995-D26B2B23B7EC}"/>
              </a:ext>
            </a:extLst>
          </p:cNvPr>
          <p:cNvSpPr>
            <a:spLocks noChangeArrowheads="1"/>
          </p:cNvSpPr>
          <p:nvPr/>
        </p:nvSpPr>
        <p:spPr bwMode="auto">
          <a:xfrm>
            <a:off x="8694738" y="6553200"/>
            <a:ext cx="449262" cy="304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wrap="none">
            <a:spAutoFit/>
          </a:bodyPr>
          <a:lstStyle>
            <a:lvl1pPr eaLnBrk="0" hangingPunct="0">
              <a:defRPr sz="2800">
                <a:solidFill>
                  <a:schemeClr val="tx1"/>
                </a:solidFill>
                <a:latin typeface="Tahoma" charset="0"/>
                <a:ea typeface="宋体" charset="-122"/>
              </a:defRPr>
            </a:lvl1pPr>
            <a:lvl2pPr marL="742950" indent="-285750" eaLnBrk="0" hangingPunct="0">
              <a:defRPr sz="2800">
                <a:solidFill>
                  <a:schemeClr val="tx1"/>
                </a:solidFill>
                <a:latin typeface="Tahoma" charset="0"/>
                <a:ea typeface="宋体" charset="-122"/>
              </a:defRPr>
            </a:lvl2pPr>
            <a:lvl3pPr marL="1143000" indent="-228600" eaLnBrk="0" hangingPunct="0">
              <a:defRPr sz="2800">
                <a:solidFill>
                  <a:schemeClr val="tx1"/>
                </a:solidFill>
                <a:latin typeface="Tahoma" charset="0"/>
                <a:ea typeface="宋体" charset="-122"/>
              </a:defRPr>
            </a:lvl3pPr>
            <a:lvl4pPr marL="1600200" indent="-228600" eaLnBrk="0" hangingPunct="0">
              <a:defRPr sz="2800">
                <a:solidFill>
                  <a:schemeClr val="tx1"/>
                </a:solidFill>
                <a:latin typeface="Tahoma" charset="0"/>
                <a:ea typeface="宋体" charset="-122"/>
              </a:defRPr>
            </a:lvl4pPr>
            <a:lvl5pPr marL="2057400" indent="-228600" eaLnBrk="0" hangingPunct="0">
              <a:defRPr sz="2800">
                <a:solidFill>
                  <a:schemeClr val="tx1"/>
                </a:solidFill>
                <a:latin typeface="Tahoma" charset="0"/>
                <a:ea typeface="宋体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宋体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宋体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宋体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charset="0"/>
                <a:ea typeface="宋体" charset="-122"/>
              </a:defRPr>
            </a:lvl9pPr>
          </a:lstStyle>
          <a:p>
            <a:pPr eaLnBrk="1" hangingPunct="1">
              <a:defRPr/>
            </a:pPr>
            <a:fld id="{046D800C-69B3-4066-89D3-4D2542D1ED81}" type="slidenum">
              <a:rPr lang="zh-CN" altLang="en-US" sz="1400" smtClean="0">
                <a:solidFill>
                  <a:schemeClr val="bg2"/>
                </a:solidFill>
              </a:rPr>
              <a:pPr eaLnBrk="1" hangingPunct="1">
                <a:defRPr/>
              </a:pPr>
              <a:t>‹#›</a:t>
            </a:fld>
            <a:endParaRPr lang="en-US" altLang="zh-CN" sz="1400">
              <a:solidFill>
                <a:schemeClr val="bg2"/>
              </a:solidFill>
            </a:endParaRPr>
          </a:p>
        </p:txBody>
      </p:sp>
      <p:sp>
        <p:nvSpPr>
          <p:cNvPr id="14348" name="Rectangle 12"/>
          <p:cNvSpPr>
            <a:spLocks noGrp="1" noChangeArrowheads="1"/>
          </p:cNvSpPr>
          <p:nvPr>
            <p:ph type="ctrTitle"/>
          </p:nvPr>
        </p:nvSpPr>
        <p:spPr>
          <a:xfrm>
            <a:off x="990600" y="1828800"/>
            <a:ext cx="7772400" cy="1143000"/>
          </a:xfrm>
          <a:noFill/>
        </p:spPr>
        <p:txBody>
          <a:bodyPr/>
          <a:lstStyle>
            <a:lvl1pPr>
              <a:defRPr/>
            </a:lvl1pPr>
          </a:lstStyle>
          <a:p>
            <a:r>
              <a:rPr lang="en-US" altLang="zh-CN"/>
              <a:t>Click to edit Master title style</a:t>
            </a:r>
          </a:p>
        </p:txBody>
      </p:sp>
      <p:sp>
        <p:nvSpPr>
          <p:cNvPr id="14349" name="Rectangle 13"/>
          <p:cNvSpPr>
            <a:spLocks noGrp="1" noChangeArrowheads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  <a:ln w="9525" cmpd="sng">
            <a:noFill/>
          </a:ln>
        </p:spPr>
        <p:txBody>
          <a:bodyPr/>
          <a:lstStyle>
            <a:lvl1pPr marL="0" indent="0" algn="ctr">
              <a:buFont typeface="Wingdings" pitchFamily="2" charset="2"/>
              <a:buNone/>
              <a:defRPr/>
            </a:lvl1pPr>
          </a:lstStyle>
          <a:p>
            <a:r>
              <a:rPr lang="en-US" altLang="zh-CN"/>
              <a:t>Click to edit Master subtitle style</a:t>
            </a:r>
          </a:p>
        </p:txBody>
      </p:sp>
      <p:sp>
        <p:nvSpPr>
          <p:cNvPr id="15" name="Rectangle 14">
            <a:extLst>
              <a:ext uri="{FF2B5EF4-FFF2-40B4-BE49-F238E27FC236}">
                <a16:creationId xmlns:a16="http://schemas.microsoft.com/office/drawing/2014/main" xmlns="" id="{065AB1AC-340F-41D0-ADE9-0C92ACA6CCB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xfrm>
            <a:off x="990600" y="6248400"/>
            <a:ext cx="1905000" cy="457200"/>
          </a:xfrm>
        </p:spPr>
        <p:txBody>
          <a:bodyPr/>
          <a:lstStyle>
            <a:lvl1pPr>
              <a:defRPr sz="1400" smtClean="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B990980A-BDBC-4746-B5B4-8FE09797CC12}" type="datetime4">
              <a:rPr lang="zh-CN" altLang="en-US"/>
              <a:pPr>
                <a:defRPr/>
              </a:pPr>
              <a:t>2018年10月21日星期日</a:t>
            </a:fld>
            <a:endParaRPr lang="en-US" altLang="zh-CN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xmlns="" id="{6E78913C-0EFC-43E9-AB14-B67295A8955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xfrm>
            <a:off x="3429000" y="6248400"/>
            <a:ext cx="2895600" cy="457200"/>
          </a:xfrm>
        </p:spPr>
        <p:txBody>
          <a:bodyPr/>
          <a:lstStyle>
            <a:lvl1pPr>
              <a:defRPr sz="1400" smtClean="0">
                <a:solidFill>
                  <a:schemeClr val="bg2"/>
                </a:solidFill>
                <a:latin typeface="Tahoma" charset="0"/>
                <a:ea typeface="宋体" charset="-122"/>
              </a:defRPr>
            </a:lvl1pPr>
          </a:lstStyle>
          <a:p>
            <a:pPr>
              <a:defRPr/>
            </a:pPr>
            <a:r>
              <a:rPr lang="en-US" altLang="zh-CN"/>
              <a:t>DMKD  Sides</a:t>
            </a:r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xmlns="" id="{909E7BC9-803D-4556-91B4-6D04EE3ADA5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xfrm>
            <a:off x="6858000" y="6248400"/>
            <a:ext cx="1905000" cy="457200"/>
          </a:xfrm>
        </p:spPr>
        <p:txBody>
          <a:bodyPr/>
          <a:lstStyle>
            <a:lvl1pPr>
              <a:defRPr smtClean="0">
                <a:solidFill>
                  <a:schemeClr val="bg2"/>
                </a:solidFill>
              </a:defRPr>
            </a:lvl1pPr>
          </a:lstStyle>
          <a:p>
            <a:pPr>
              <a:defRPr/>
            </a:pPr>
            <a:fld id="{A53BBF7C-BB7D-4F31-B9E5-A62C56261CED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17960487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ABCAA9F1-E21E-4B69-AE02-5C9F6D4BA4C1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D90C663-7954-4E7A-A95E-24A6DB01DF5E}" type="datetime4">
              <a:rPr lang="zh-CN" altLang="en-US"/>
              <a:pPr>
                <a:defRPr/>
              </a:pPr>
              <a:t>2018年10月21日星期日</a:t>
            </a:fld>
            <a:endParaRPr lang="en-US" altLang="zh-CN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xmlns="" id="{DC79881E-8823-4C7A-8728-E8252574FA0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DMKD  Sides</a:t>
            </a:r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xmlns="" id="{04497472-C606-4850-9D90-31AB21DFAED1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983E5D9-EBC7-4FB7-AC1D-3962FCFCBB11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16643064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/>
            </a:lvl1pPr>
            <a:lvl2pPr marL="457200" indent="0">
              <a:buNone/>
              <a:defRPr sz="1800"/>
            </a:lvl2pPr>
            <a:lvl3pPr marL="914400" indent="0">
              <a:buNone/>
              <a:defRPr sz="1600"/>
            </a:lvl3pPr>
            <a:lvl4pPr marL="1371600" indent="0">
              <a:buNone/>
              <a:defRPr sz="1400"/>
            </a:lvl4pPr>
            <a:lvl5pPr marL="1828800" indent="0">
              <a:buNone/>
              <a:defRPr sz="1400"/>
            </a:lvl5pPr>
            <a:lvl6pPr marL="2286000" indent="0">
              <a:buNone/>
              <a:defRPr sz="1400"/>
            </a:lvl6pPr>
            <a:lvl7pPr marL="2743200" indent="0">
              <a:buNone/>
              <a:defRPr sz="1400"/>
            </a:lvl7pPr>
            <a:lvl8pPr marL="3200400" indent="0">
              <a:buNone/>
              <a:defRPr sz="1400"/>
            </a:lvl8pPr>
            <a:lvl9pPr marL="3657600" indent="0">
              <a:buNone/>
              <a:defRPr sz="14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135AEFC9-6C89-4DEF-9A4B-FC57BC7F64F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A29C441-BEA3-4442-8CA4-1126A9EFC630}" type="datetime4">
              <a:rPr lang="zh-CN" altLang="en-US"/>
              <a:pPr>
                <a:defRPr/>
              </a:pPr>
              <a:t>2018年10月21日星期日</a:t>
            </a:fld>
            <a:endParaRPr lang="en-US" altLang="zh-CN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xmlns="" id="{91BABCD4-C63E-4AE4-8789-D74224EC38B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DMKD  Sides</a:t>
            </a:r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xmlns="" id="{73B1F2DC-ABB0-4ECB-859E-6BF12F75A02E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8D2D1CB6-6DB6-4EAE-BE97-A2AB94AE0612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25587940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68313" y="765175"/>
            <a:ext cx="4064000" cy="55673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84713" y="765175"/>
            <a:ext cx="4064000" cy="55673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xmlns="" id="{FCB53C7B-3D2D-42E2-9F48-EE9445734C5A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AB357E7-8731-4DBE-827B-F8E6DB344828}" type="datetime4">
              <a:rPr lang="zh-CN" altLang="en-US"/>
              <a:pPr>
                <a:defRPr/>
              </a:pPr>
              <a:t>2018年10月21日星期日</a:t>
            </a:fld>
            <a:endParaRPr lang="en-US" altLang="zh-CN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xmlns="" id="{756A06E4-08D2-46F3-9F9E-233140EED2E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DMKD  Sides</a:t>
            </a:r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xmlns="" id="{3E6A5C0B-F24F-4C05-9A0C-F873B7AA7DF5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C8CB1B7-090D-45D4-8283-94E5643621E0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164689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</p:spPr>
        <p:txBody>
          <a:bodyPr/>
          <a:lstStyle>
            <a:lvl1pPr>
              <a:defRPr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7" name="Rectangle 11">
            <a:extLst>
              <a:ext uri="{FF2B5EF4-FFF2-40B4-BE49-F238E27FC236}">
                <a16:creationId xmlns:a16="http://schemas.microsoft.com/office/drawing/2014/main" xmlns="" id="{6781F633-001F-4A38-A2DC-F32BF44EEA9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F9EA89B-B551-44D7-801B-EF429B98990C}" type="datetime4">
              <a:rPr lang="zh-CN" altLang="en-US"/>
              <a:pPr>
                <a:defRPr/>
              </a:pPr>
              <a:t>2018年10月21日星期日</a:t>
            </a:fld>
            <a:endParaRPr lang="en-US" altLang="zh-CN"/>
          </a:p>
        </p:txBody>
      </p:sp>
      <p:sp>
        <p:nvSpPr>
          <p:cNvPr id="8" name="Rectangle 12">
            <a:extLst>
              <a:ext uri="{FF2B5EF4-FFF2-40B4-BE49-F238E27FC236}">
                <a16:creationId xmlns:a16="http://schemas.microsoft.com/office/drawing/2014/main" xmlns="" id="{FCDF3F0A-9F6B-4FFE-B9C8-D5E4D0E508A7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DMKD  Sides</a:t>
            </a:r>
          </a:p>
        </p:txBody>
      </p:sp>
      <p:sp>
        <p:nvSpPr>
          <p:cNvPr id="9" name="Rectangle 13">
            <a:extLst>
              <a:ext uri="{FF2B5EF4-FFF2-40B4-BE49-F238E27FC236}">
                <a16:creationId xmlns:a16="http://schemas.microsoft.com/office/drawing/2014/main" xmlns="" id="{777B5BE5-B82D-44D2-9E27-39E043F1A1E2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C228BDE-B3A9-4B2D-A755-E024E4524D01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88403139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Rectangle 11">
            <a:extLst>
              <a:ext uri="{FF2B5EF4-FFF2-40B4-BE49-F238E27FC236}">
                <a16:creationId xmlns:a16="http://schemas.microsoft.com/office/drawing/2014/main" xmlns="" id="{F14F1610-C7CA-4E59-B118-4065516970DE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F50FFAB5-961A-45CA-9CE5-20D2D454389D}" type="datetime4">
              <a:rPr lang="zh-CN" altLang="en-US"/>
              <a:pPr>
                <a:defRPr/>
              </a:pPr>
              <a:t>2018年10月21日星期日</a:t>
            </a:fld>
            <a:endParaRPr lang="en-US" altLang="zh-CN"/>
          </a:p>
        </p:txBody>
      </p:sp>
      <p:sp>
        <p:nvSpPr>
          <p:cNvPr id="4" name="Rectangle 12">
            <a:extLst>
              <a:ext uri="{FF2B5EF4-FFF2-40B4-BE49-F238E27FC236}">
                <a16:creationId xmlns:a16="http://schemas.microsoft.com/office/drawing/2014/main" xmlns="" id="{AA98EE80-6196-492A-8435-830DB443B561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DMKD  Sides</a:t>
            </a:r>
          </a:p>
        </p:txBody>
      </p:sp>
      <p:sp>
        <p:nvSpPr>
          <p:cNvPr id="5" name="Rectangle 13">
            <a:extLst>
              <a:ext uri="{FF2B5EF4-FFF2-40B4-BE49-F238E27FC236}">
                <a16:creationId xmlns:a16="http://schemas.microsoft.com/office/drawing/2014/main" xmlns="" id="{AE2B4A07-31F2-4E8A-9BC0-BAD453D0999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B6D2C6D5-7D9C-4503-AC1F-8EBC72D1485D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40632566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1">
            <a:extLst>
              <a:ext uri="{FF2B5EF4-FFF2-40B4-BE49-F238E27FC236}">
                <a16:creationId xmlns:a16="http://schemas.microsoft.com/office/drawing/2014/main" xmlns="" id="{52178406-D9C2-4C87-9674-BD3FBDBE3EFD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606F334-4344-4B5C-A70E-06F38308666E}" type="datetime4">
              <a:rPr lang="zh-CN" altLang="en-US"/>
              <a:pPr>
                <a:defRPr/>
              </a:pPr>
              <a:t>2018年10月21日星期日</a:t>
            </a:fld>
            <a:endParaRPr lang="en-US" altLang="zh-CN"/>
          </a:p>
        </p:txBody>
      </p:sp>
      <p:sp>
        <p:nvSpPr>
          <p:cNvPr id="3" name="Rectangle 12">
            <a:extLst>
              <a:ext uri="{FF2B5EF4-FFF2-40B4-BE49-F238E27FC236}">
                <a16:creationId xmlns:a16="http://schemas.microsoft.com/office/drawing/2014/main" xmlns="" id="{19B088F7-1CF5-444E-B020-D5CDD3D47ADA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DMKD  Sides</a:t>
            </a:r>
          </a:p>
        </p:txBody>
      </p:sp>
      <p:sp>
        <p:nvSpPr>
          <p:cNvPr id="4" name="Rectangle 13">
            <a:extLst>
              <a:ext uri="{FF2B5EF4-FFF2-40B4-BE49-F238E27FC236}">
                <a16:creationId xmlns:a16="http://schemas.microsoft.com/office/drawing/2014/main" xmlns="" id="{86857E55-5FDE-4852-9582-21F5A94BBE26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5A65FFB9-2332-49CB-B0B6-99BC147DA672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38205575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xmlns="" id="{F6587D3E-9010-4100-B9DD-402AF5A1ACF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C6F5E2A7-43D6-4ACC-AC18-F64BCB2D4E3A}" type="datetime4">
              <a:rPr lang="zh-CN" altLang="en-US"/>
              <a:pPr>
                <a:defRPr/>
              </a:pPr>
              <a:t>2018年10月21日星期日</a:t>
            </a:fld>
            <a:endParaRPr lang="en-US" altLang="zh-CN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xmlns="" id="{925B0754-F621-4B8C-B488-ECA4EA6D5C18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DMKD  Sides</a:t>
            </a:r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xmlns="" id="{494AD02B-1D9A-49B1-95D4-6FEDAEC42AAC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465856B-1853-4300-B5EE-910BDCC91942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44344771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/>
          <a:lstStyle>
            <a:lvl1pPr algn="l">
              <a:defRPr sz="2000" b="1"/>
            </a:lvl1pPr>
          </a:lstStyle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zh-CN" altLang="en-US" noProof="0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zh-CN" altLang="en-US"/>
              <a:t>单击此处编辑母版文本样式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xmlns="" id="{C0E251C1-155B-4B21-BE5C-C6C78416C6BB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54A77F9-D4BC-487C-BFDF-C6A3A287C18A}" type="datetime4">
              <a:rPr lang="zh-CN" altLang="en-US"/>
              <a:pPr>
                <a:defRPr/>
              </a:pPr>
              <a:t>2018年10月21日星期日</a:t>
            </a:fld>
            <a:endParaRPr lang="en-US" altLang="zh-CN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xmlns="" id="{6B145F1A-82B8-4C41-BE22-582A98298ADF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DMKD  Sides</a:t>
            </a:r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xmlns="" id="{F00CE948-280C-49E2-BA0E-1A3D880B3D44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E987285-9852-41F7-A763-54F5442AE993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150331936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2F988182-599C-4246-AB39-3CFE05386F02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FDE2726-E61C-4957-9258-F5E9E3BAD50C}" type="datetime4">
              <a:rPr lang="zh-CN" altLang="en-US"/>
              <a:pPr>
                <a:defRPr/>
              </a:pPr>
              <a:t>2018年10月21日星期日</a:t>
            </a:fld>
            <a:endParaRPr lang="en-US" altLang="zh-CN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xmlns="" id="{8939B348-6383-4A38-932F-B34AD5BE3002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DMKD  Sides</a:t>
            </a:r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xmlns="" id="{73EF3E56-DB79-42F7-98EE-08EE54244F6A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424F9F32-EC2E-4C21-8DA7-C3EB0CDF6622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67677928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垂直排列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6678613" y="73025"/>
            <a:ext cx="2070100" cy="6259513"/>
          </a:xfrm>
        </p:spPr>
        <p:txBody>
          <a:bodyPr vert="eaVert"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468313" y="73025"/>
            <a:ext cx="6057900" cy="6259513"/>
          </a:xfrm>
        </p:spPr>
        <p:txBody>
          <a:bodyPr vert="eaVert"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Rectangle 11">
            <a:extLst>
              <a:ext uri="{FF2B5EF4-FFF2-40B4-BE49-F238E27FC236}">
                <a16:creationId xmlns:a16="http://schemas.microsoft.com/office/drawing/2014/main" xmlns="" id="{6A56472B-04FA-492C-B509-9D7DF29E2E7C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A4FD1859-BDA6-42E9-8A44-AAFF63AB1399}" type="datetime4">
              <a:rPr lang="zh-CN" altLang="en-US"/>
              <a:pPr>
                <a:defRPr/>
              </a:pPr>
              <a:t>2018年10月21日星期日</a:t>
            </a:fld>
            <a:endParaRPr lang="en-US" altLang="zh-CN"/>
          </a:p>
        </p:txBody>
      </p:sp>
      <p:sp>
        <p:nvSpPr>
          <p:cNvPr id="5" name="Rectangle 12">
            <a:extLst>
              <a:ext uri="{FF2B5EF4-FFF2-40B4-BE49-F238E27FC236}">
                <a16:creationId xmlns:a16="http://schemas.microsoft.com/office/drawing/2014/main" xmlns="" id="{24136118-7D61-444F-8425-3D787AC1CE74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DMKD  Sides</a:t>
            </a:r>
          </a:p>
        </p:txBody>
      </p:sp>
      <p:sp>
        <p:nvSpPr>
          <p:cNvPr id="6" name="Rectangle 13">
            <a:extLst>
              <a:ext uri="{FF2B5EF4-FFF2-40B4-BE49-F238E27FC236}">
                <a16:creationId xmlns:a16="http://schemas.microsoft.com/office/drawing/2014/main" xmlns="" id="{A940A7A8-B0C4-49BA-AE0B-492416AB97D7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6BF843BD-8628-43F5-B30B-C36C068CA3CC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08873347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txAndTwoObj" preserve="1">
  <p:cSld name="标题，文本与两项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835150" y="73025"/>
            <a:ext cx="6913563" cy="6191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468313" y="765175"/>
            <a:ext cx="4064000" cy="556736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quarter" idx="2"/>
          </p:nvPr>
        </p:nvSpPr>
        <p:spPr>
          <a:xfrm>
            <a:off x="4684713" y="765175"/>
            <a:ext cx="4064000" cy="27066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3"/>
          </p:nvPr>
        </p:nvSpPr>
        <p:spPr>
          <a:xfrm>
            <a:off x="4684713" y="3624263"/>
            <a:ext cx="4064000" cy="270827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xmlns="" id="{4BF075A1-2E81-4824-A2D7-C69E0AFB8634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8CD7F34-64CC-456D-86A6-7F808C484FF9}" type="datetime4">
              <a:rPr lang="zh-CN" altLang="en-US"/>
              <a:pPr>
                <a:defRPr/>
              </a:pPr>
              <a:t>2018年10月21日星期日</a:t>
            </a:fld>
            <a:endParaRPr lang="en-US" altLang="zh-CN"/>
          </a:p>
        </p:txBody>
      </p:sp>
      <p:sp>
        <p:nvSpPr>
          <p:cNvPr id="7" name="Rectangle 12">
            <a:extLst>
              <a:ext uri="{FF2B5EF4-FFF2-40B4-BE49-F238E27FC236}">
                <a16:creationId xmlns:a16="http://schemas.microsoft.com/office/drawing/2014/main" xmlns="" id="{243AB02B-C897-40DE-A120-294FFA057ECE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DMKD  Sides</a:t>
            </a:r>
          </a:p>
        </p:txBody>
      </p:sp>
      <p:sp>
        <p:nvSpPr>
          <p:cNvPr id="8" name="Rectangle 13">
            <a:extLst>
              <a:ext uri="{FF2B5EF4-FFF2-40B4-BE49-F238E27FC236}">
                <a16:creationId xmlns:a16="http://schemas.microsoft.com/office/drawing/2014/main" xmlns="" id="{CD98635F-5276-4103-8607-5913BA81BC0D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ECE85058-E571-4074-9E5E-70856CE420C6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02520215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type="objAndTwoObj" preserve="1">
  <p:cSld name="标题，一项大型内容和两项小型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835150" y="73025"/>
            <a:ext cx="6913563" cy="6191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468313" y="765175"/>
            <a:ext cx="4064000" cy="556736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quarter" idx="2"/>
          </p:nvPr>
        </p:nvSpPr>
        <p:spPr>
          <a:xfrm>
            <a:off x="4684713" y="765175"/>
            <a:ext cx="4064000" cy="2706688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内容占位符 4"/>
          <p:cNvSpPr>
            <a:spLocks noGrp="1"/>
          </p:cNvSpPr>
          <p:nvPr>
            <p:ph sz="quarter" idx="3"/>
          </p:nvPr>
        </p:nvSpPr>
        <p:spPr>
          <a:xfrm>
            <a:off x="4684713" y="3624263"/>
            <a:ext cx="4064000" cy="2708275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6" name="Rectangle 11">
            <a:extLst>
              <a:ext uri="{FF2B5EF4-FFF2-40B4-BE49-F238E27FC236}">
                <a16:creationId xmlns:a16="http://schemas.microsoft.com/office/drawing/2014/main" xmlns="" id="{EA5DC269-F632-46AD-889F-9E9DE70D281F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17B44B25-5C4B-48E9-B9C9-DE22F7291463}" type="datetime4">
              <a:rPr lang="zh-CN" altLang="en-US"/>
              <a:pPr>
                <a:defRPr/>
              </a:pPr>
              <a:t>2018年10月21日星期日</a:t>
            </a:fld>
            <a:endParaRPr lang="en-US" altLang="zh-CN"/>
          </a:p>
        </p:txBody>
      </p:sp>
      <p:sp>
        <p:nvSpPr>
          <p:cNvPr id="7" name="Rectangle 12">
            <a:extLst>
              <a:ext uri="{FF2B5EF4-FFF2-40B4-BE49-F238E27FC236}">
                <a16:creationId xmlns:a16="http://schemas.microsoft.com/office/drawing/2014/main" xmlns="" id="{42FC0412-9102-4EEF-9773-1140328F1EBC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DMKD  Sides</a:t>
            </a:r>
          </a:p>
        </p:txBody>
      </p:sp>
      <p:sp>
        <p:nvSpPr>
          <p:cNvPr id="8" name="Rectangle 13">
            <a:extLst>
              <a:ext uri="{FF2B5EF4-FFF2-40B4-BE49-F238E27FC236}">
                <a16:creationId xmlns:a16="http://schemas.microsoft.com/office/drawing/2014/main" xmlns="" id="{353C88B9-7924-4EEA-BFAE-01DAA2E4426B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DDA02F76-39BB-43AB-9269-6E04B55F0C69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686757630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type="txAndObj" preserve="1">
  <p:cSld name="标题，文本与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1835150" y="73025"/>
            <a:ext cx="6913563" cy="619125"/>
          </a:xfrm>
        </p:spPr>
        <p:txBody>
          <a:bodyPr/>
          <a:lstStyle/>
          <a:p>
            <a:r>
              <a:rPr lang="zh-CN" altLang="en-US"/>
              <a:t>单击此处编辑母版标题样式</a:t>
            </a:r>
          </a:p>
        </p:txBody>
      </p:sp>
      <p:sp>
        <p:nvSpPr>
          <p:cNvPr id="3" name="文本占位符 2"/>
          <p:cNvSpPr>
            <a:spLocks noGrp="1"/>
          </p:cNvSpPr>
          <p:nvPr>
            <p:ph type="body" sz="half" idx="1"/>
          </p:nvPr>
        </p:nvSpPr>
        <p:spPr>
          <a:xfrm>
            <a:off x="468313" y="765175"/>
            <a:ext cx="4064000" cy="556736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4684713" y="765175"/>
            <a:ext cx="4064000" cy="5567363"/>
          </a:xfrm>
        </p:spPr>
        <p:txBody>
          <a:bodyPr/>
          <a:lstStyle/>
          <a:p>
            <a:pPr lvl="0"/>
            <a:r>
              <a:rPr lang="zh-CN" altLang="en-US"/>
              <a:t>单击此处编辑母版文本样式</a:t>
            </a:r>
          </a:p>
          <a:p>
            <a:pPr lvl="1"/>
            <a:r>
              <a:rPr lang="zh-CN" altLang="en-US"/>
              <a:t>第二级</a:t>
            </a:r>
          </a:p>
          <a:p>
            <a:pPr lvl="2"/>
            <a:r>
              <a:rPr lang="zh-CN" altLang="en-US"/>
              <a:t>第三级</a:t>
            </a:r>
          </a:p>
          <a:p>
            <a:pPr lvl="3"/>
            <a:r>
              <a:rPr lang="zh-CN" altLang="en-US"/>
              <a:t>第四级</a:t>
            </a:r>
          </a:p>
          <a:p>
            <a:pPr lvl="4"/>
            <a:r>
              <a:rPr lang="zh-CN" altLang="en-US"/>
              <a:t>第五级</a:t>
            </a:r>
          </a:p>
        </p:txBody>
      </p:sp>
      <p:sp>
        <p:nvSpPr>
          <p:cNvPr id="5" name="Rectangle 11">
            <a:extLst>
              <a:ext uri="{FF2B5EF4-FFF2-40B4-BE49-F238E27FC236}">
                <a16:creationId xmlns:a16="http://schemas.microsoft.com/office/drawing/2014/main" xmlns="" id="{7D32D807-EB06-48C7-BDD8-C1016654B7B0}"/>
              </a:ext>
            </a:extLst>
          </p:cNvPr>
          <p:cNvSpPr>
            <a:spLocks noGrp="1" noChangeArrowheads="1"/>
          </p:cNvSpPr>
          <p:nvPr>
            <p:ph type="dt" sz="half" idx="10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72210476-5A4F-4F4E-9E92-606294268D1A}" type="datetime4">
              <a:rPr lang="zh-CN" altLang="en-US"/>
              <a:pPr>
                <a:defRPr/>
              </a:pPr>
              <a:t>2018年10月21日星期日</a:t>
            </a:fld>
            <a:endParaRPr lang="en-US" altLang="zh-CN"/>
          </a:p>
        </p:txBody>
      </p:sp>
      <p:sp>
        <p:nvSpPr>
          <p:cNvPr id="6" name="Rectangle 12">
            <a:extLst>
              <a:ext uri="{FF2B5EF4-FFF2-40B4-BE49-F238E27FC236}">
                <a16:creationId xmlns:a16="http://schemas.microsoft.com/office/drawing/2014/main" xmlns="" id="{95FCA016-3EDA-4CBF-AF73-3D603EEA12D3}"/>
              </a:ext>
            </a:extLst>
          </p:cNvPr>
          <p:cNvSpPr>
            <a:spLocks noGrp="1" noChangeArrowheads="1"/>
          </p:cNvSpPr>
          <p:nvPr>
            <p:ph type="ftr" sz="quarter" idx="11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 altLang="zh-CN"/>
              <a:t>DMKD  Sides</a:t>
            </a:r>
          </a:p>
        </p:txBody>
      </p:sp>
      <p:sp>
        <p:nvSpPr>
          <p:cNvPr id="7" name="Rectangle 13">
            <a:extLst>
              <a:ext uri="{FF2B5EF4-FFF2-40B4-BE49-F238E27FC236}">
                <a16:creationId xmlns:a16="http://schemas.microsoft.com/office/drawing/2014/main" xmlns="" id="{622713EC-D8FB-4C35-9332-BF46A72D6743}"/>
              </a:ext>
            </a:extLst>
          </p:cNvPr>
          <p:cNvSpPr>
            <a:spLocks noGrp="1" noChangeArrowheads="1"/>
          </p:cNvSpPr>
          <p:nvPr>
            <p:ph type="sldNum" sz="quarter" idx="12"/>
          </p:nvPr>
        </p:nvSpPr>
        <p:spPr>
          <a:ln/>
        </p:spPr>
        <p:txBody>
          <a:bodyPr/>
          <a:lstStyle>
            <a:lvl1pPr>
              <a:defRPr/>
            </a:lvl1pPr>
          </a:lstStyle>
          <a:p>
            <a:pPr>
              <a:defRPr/>
            </a:pPr>
            <a:fld id="{941E6731-053A-4366-809D-4E42A214DBC0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398089699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theme" Target="../theme/theme1.xml"/><Relationship Id="rId16" Type="http://schemas.openxmlformats.org/officeDocument/2006/relationships/image" Target="../media/image1.wmf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Rectangle 8">
            <a:extLst>
              <a:ext uri="{FF2B5EF4-FFF2-40B4-BE49-F238E27FC236}">
                <a16:creationId xmlns:a16="http://schemas.microsoft.com/office/drawing/2014/main" xmlns="" id="{A8E4FD07-E791-4ABA-BE7C-45C49873CDB4}"/>
              </a:ext>
            </a:extLst>
          </p:cNvPr>
          <p:cNvSpPr>
            <a:spLocks noChangeArrowheads="1"/>
          </p:cNvSpPr>
          <p:nvPr/>
        </p:nvSpPr>
        <p:spPr bwMode="gray">
          <a:xfrm flipV="1">
            <a:off x="468313" y="6451600"/>
            <a:ext cx="8280400" cy="73025"/>
          </a:xfrm>
          <a:prstGeom prst="rect">
            <a:avLst/>
          </a:prstGeom>
          <a:gradFill rotWithShape="0">
            <a:gsLst>
              <a:gs pos="0">
                <a:schemeClr val="bg2"/>
              </a:gs>
              <a:gs pos="100000">
                <a:schemeClr val="bg1"/>
              </a:gs>
            </a:gsLst>
            <a:lin ang="0" scaled="1"/>
          </a:gradFill>
          <a:ln w="57150">
            <a:solidFill>
              <a:srgbClr val="339966"/>
            </a:solidFill>
            <a:miter lim="800000"/>
            <a:headEnd/>
            <a:tailEnd/>
          </a:ln>
        </p:spPr>
        <p:txBody>
          <a:bodyPr rot="10800000" wrap="none" anchor="ctr"/>
          <a:lstStyle>
            <a:lvl1pPr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1pPr>
            <a:lvl2pPr marL="742950" indent="-285750"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2pPr>
            <a:lvl3pPr marL="1143000" indent="-228600"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3pPr>
            <a:lvl4pPr marL="1600200" indent="-228600"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4pPr>
            <a:lvl5pPr marL="2057400" indent="-228600"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 sz="28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</a:defRPr>
            </a:lvl9pPr>
          </a:lstStyle>
          <a:p>
            <a:pPr algn="ctr" eaLnBrk="1" hangingPunct="1"/>
            <a:endParaRPr kumimoji="1" lang="zh-CN" altLang="en-US" sz="2400"/>
          </a:p>
        </p:txBody>
      </p:sp>
      <p:sp>
        <p:nvSpPr>
          <p:cNvPr id="1027" name="Rectangle 9">
            <a:extLst>
              <a:ext uri="{FF2B5EF4-FFF2-40B4-BE49-F238E27FC236}">
                <a16:creationId xmlns:a16="http://schemas.microsoft.com/office/drawing/2014/main" xmlns="" id="{B2A8CBD7-F06B-4ABA-8D9F-324C7BF47365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 bwMode="auto">
          <a:xfrm>
            <a:off x="1835150" y="73025"/>
            <a:ext cx="6913563" cy="619125"/>
          </a:xfrm>
          <a:prstGeom prst="rect">
            <a:avLst/>
          </a:prstGeom>
          <a:solidFill>
            <a:srgbClr val="33996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</a:t>
            </a:r>
          </a:p>
        </p:txBody>
      </p:sp>
      <p:sp>
        <p:nvSpPr>
          <p:cNvPr id="1028" name="Rectangle 10">
            <a:extLst>
              <a:ext uri="{FF2B5EF4-FFF2-40B4-BE49-F238E27FC236}">
                <a16:creationId xmlns:a16="http://schemas.microsoft.com/office/drawing/2014/main" xmlns="" id="{1100733B-0D43-470F-85BF-684836F481E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 bwMode="auto">
          <a:xfrm>
            <a:off x="468313" y="765175"/>
            <a:ext cx="8280400" cy="5567363"/>
          </a:xfrm>
          <a:prstGeom prst="rect">
            <a:avLst/>
          </a:prstGeom>
          <a:noFill/>
          <a:ln w="57150" cmpd="thickThin">
            <a:solidFill>
              <a:srgbClr val="339966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 altLang="zh-CN"/>
              <a:t>Click to edit Master text styles Click to edit Master Click to edit Master </a:t>
            </a:r>
          </a:p>
          <a:p>
            <a:pPr lvl="1"/>
            <a:r>
              <a:rPr lang="en-US" altLang="zh-CN"/>
              <a:t>Second level</a:t>
            </a:r>
          </a:p>
          <a:p>
            <a:pPr lvl="2"/>
            <a:r>
              <a:rPr lang="en-US" altLang="zh-CN"/>
              <a:t>Third level</a:t>
            </a:r>
          </a:p>
          <a:p>
            <a:pPr lvl="3"/>
            <a:r>
              <a:rPr lang="en-US" altLang="zh-CN"/>
              <a:t>Fourth level</a:t>
            </a:r>
          </a:p>
          <a:p>
            <a:pPr lvl="4"/>
            <a:r>
              <a:rPr lang="en-US" altLang="zh-CN"/>
              <a:t>Fifth level</a:t>
            </a:r>
          </a:p>
        </p:txBody>
      </p:sp>
      <p:sp>
        <p:nvSpPr>
          <p:cNvPr id="13323" name="Rectangle 11">
            <a:extLst>
              <a:ext uri="{FF2B5EF4-FFF2-40B4-BE49-F238E27FC236}">
                <a16:creationId xmlns:a16="http://schemas.microsoft.com/office/drawing/2014/main" xmlns="" id="{2FE32634-BDF6-4009-BB87-554C32E88EEE}"/>
              </a:ext>
            </a:extLst>
          </p:cNvPr>
          <p:cNvSpPr>
            <a:spLocks noGrp="1" noChangeArrowheads="1"/>
          </p:cNvSpPr>
          <p:nvPr>
            <p:ph type="dt" sz="half" idx="2"/>
          </p:nvPr>
        </p:nvSpPr>
        <p:spPr bwMode="auto">
          <a:xfrm>
            <a:off x="228600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eaLnBrk="1" hangingPunct="1">
              <a:defRPr sz="1200" smtClean="0">
                <a:latin typeface="Tahoma" pitchFamily="34" charset="0"/>
                <a:ea typeface="宋体" pitchFamily="2" charset="-122"/>
              </a:defRPr>
            </a:lvl1pPr>
          </a:lstStyle>
          <a:p>
            <a:pPr>
              <a:defRPr/>
            </a:pPr>
            <a:fld id="{961FE0F1-D0BF-426A-AAEE-09EBE38206F1}" type="datetime4">
              <a:rPr lang="zh-CN" altLang="en-US"/>
              <a:pPr>
                <a:defRPr/>
              </a:pPr>
              <a:t>2018年10月21日星期日</a:t>
            </a:fld>
            <a:endParaRPr lang="en-US" altLang="zh-CN"/>
          </a:p>
        </p:txBody>
      </p:sp>
      <p:sp>
        <p:nvSpPr>
          <p:cNvPr id="13324" name="Rectangle 12">
            <a:extLst>
              <a:ext uri="{FF2B5EF4-FFF2-40B4-BE49-F238E27FC236}">
                <a16:creationId xmlns:a16="http://schemas.microsoft.com/office/drawing/2014/main" xmlns="" id="{116C3DD5-2DEE-4C3A-81D4-B9D2F70B60F7}"/>
              </a:ext>
            </a:extLst>
          </p:cNvPr>
          <p:cNvSpPr>
            <a:spLocks noGrp="1" noChangeArrowheads="1"/>
          </p:cNvSpPr>
          <p:nvPr>
            <p:ph type="ftr" sz="quarter" idx="3"/>
          </p:nvPr>
        </p:nvSpPr>
        <p:spPr bwMode="auto">
          <a:xfrm>
            <a:off x="3429000" y="6477000"/>
            <a:ext cx="2895600" cy="381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ctr" eaLnBrk="1" hangingPunct="1">
              <a:defRPr sz="1200" smtClean="0">
                <a:latin typeface="Tahoma" pitchFamily="34" charset="0"/>
                <a:ea typeface="宋体" pitchFamily="2" charset="-122"/>
              </a:defRPr>
            </a:lvl1pPr>
          </a:lstStyle>
          <a:p>
            <a:pPr>
              <a:defRPr/>
            </a:pPr>
            <a:r>
              <a:rPr lang="en-US" altLang="zh-CN"/>
              <a:t>DMKD  Sides</a:t>
            </a:r>
          </a:p>
        </p:txBody>
      </p:sp>
      <p:sp>
        <p:nvSpPr>
          <p:cNvPr id="13325" name="Rectangle 13">
            <a:extLst>
              <a:ext uri="{FF2B5EF4-FFF2-40B4-BE49-F238E27FC236}">
                <a16:creationId xmlns:a16="http://schemas.microsoft.com/office/drawing/2014/main" xmlns="" id="{F6FF912A-A6B3-45BA-8625-1947C3DF1929}"/>
              </a:ext>
            </a:extLst>
          </p:cNvPr>
          <p:cNvSpPr>
            <a:spLocks noGrp="1" noChangeArrowheads="1"/>
          </p:cNvSpPr>
          <p:nvPr>
            <p:ph type="sldNum" sz="quarter" idx="4"/>
          </p:nvPr>
        </p:nvSpPr>
        <p:spPr bwMode="auto">
          <a:xfrm>
            <a:off x="7239000" y="6400800"/>
            <a:ext cx="1905000" cy="4572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 eaLnBrk="1" hangingPunct="1">
              <a:defRPr sz="1400" smtClean="0">
                <a:latin typeface="Tahoma" charset="0"/>
                <a:ea typeface="宋体" charset="-122"/>
              </a:defRPr>
            </a:lvl1pPr>
          </a:lstStyle>
          <a:p>
            <a:pPr>
              <a:defRPr/>
            </a:pPr>
            <a:fld id="{07FC6210-190B-4A65-BACA-4DF32C294FDF}" type="slidenum">
              <a:rPr lang="zh-CN" altLang="en-US"/>
              <a:pPr>
                <a:defRPr/>
              </a:pPr>
              <a:t>‹#›</a:t>
            </a:fld>
            <a:endParaRPr lang="en-US" altLang="zh-CN"/>
          </a:p>
        </p:txBody>
      </p:sp>
      <p:pic>
        <p:nvPicPr>
          <p:cNvPr id="1032" name="Picture 22" descr="j0237704">
            <a:extLst>
              <a:ext uri="{FF2B5EF4-FFF2-40B4-BE49-F238E27FC236}">
                <a16:creationId xmlns:a16="http://schemas.microsoft.com/office/drawing/2014/main" xmlns="" id="{180BE58C-FFC4-4FFD-872D-0E839605781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68313" y="115888"/>
            <a:ext cx="1366837" cy="57626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708" r:id="rId1"/>
    <p:sldLayoutId id="2147483695" r:id="rId2"/>
    <p:sldLayoutId id="2147483696" r:id="rId3"/>
    <p:sldLayoutId id="2147483697" r:id="rId4"/>
    <p:sldLayoutId id="2147483698" r:id="rId5"/>
    <p:sldLayoutId id="2147483699" r:id="rId6"/>
    <p:sldLayoutId id="2147483700" r:id="rId7"/>
    <p:sldLayoutId id="2147483701" r:id="rId8"/>
    <p:sldLayoutId id="2147483702" r:id="rId9"/>
    <p:sldLayoutId id="2147483703" r:id="rId10"/>
    <p:sldLayoutId id="2147483704" r:id="rId11"/>
    <p:sldLayoutId id="2147483705" r:id="rId12"/>
    <p:sldLayoutId id="2147483706" r:id="rId13"/>
    <p:sldLayoutId id="2147483707" r:id="rId14"/>
  </p:sldLayoutIdLst>
  <p:hf hdr="0"/>
  <p:txStyles>
    <p:titleStyle>
      <a:lvl1pPr algn="r" rtl="0" eaLnBrk="0" fontAlgn="base" hangingPunct="0">
        <a:spcBef>
          <a:spcPct val="0"/>
        </a:spcBef>
        <a:spcAft>
          <a:spcPct val="0"/>
        </a:spcAft>
        <a:defRPr sz="3200">
          <a:solidFill>
            <a:schemeClr val="bg1"/>
          </a:solidFill>
          <a:latin typeface="+mj-lt"/>
          <a:ea typeface="+mj-ea"/>
          <a:cs typeface="+mj-cs"/>
        </a:defRPr>
      </a:lvl1pPr>
      <a:lvl2pPr algn="r" rtl="0" eaLnBrk="0" fontAlgn="base" hangingPunct="0">
        <a:spcBef>
          <a:spcPct val="0"/>
        </a:spcBef>
        <a:spcAft>
          <a:spcPct val="0"/>
        </a:spcAft>
        <a:defRPr sz="3200">
          <a:solidFill>
            <a:schemeClr val="bg1"/>
          </a:solidFill>
          <a:latin typeface="隶书" pitchFamily="49" charset="-122"/>
          <a:ea typeface="隶书" pitchFamily="49" charset="-122"/>
        </a:defRPr>
      </a:lvl2pPr>
      <a:lvl3pPr algn="r" rtl="0" eaLnBrk="0" fontAlgn="base" hangingPunct="0">
        <a:spcBef>
          <a:spcPct val="0"/>
        </a:spcBef>
        <a:spcAft>
          <a:spcPct val="0"/>
        </a:spcAft>
        <a:defRPr sz="3200">
          <a:solidFill>
            <a:schemeClr val="bg1"/>
          </a:solidFill>
          <a:latin typeface="隶书" pitchFamily="49" charset="-122"/>
          <a:ea typeface="隶书" pitchFamily="49" charset="-122"/>
        </a:defRPr>
      </a:lvl3pPr>
      <a:lvl4pPr algn="r" rtl="0" eaLnBrk="0" fontAlgn="base" hangingPunct="0">
        <a:spcBef>
          <a:spcPct val="0"/>
        </a:spcBef>
        <a:spcAft>
          <a:spcPct val="0"/>
        </a:spcAft>
        <a:defRPr sz="3200">
          <a:solidFill>
            <a:schemeClr val="bg1"/>
          </a:solidFill>
          <a:latin typeface="隶书" pitchFamily="49" charset="-122"/>
          <a:ea typeface="隶书" pitchFamily="49" charset="-122"/>
        </a:defRPr>
      </a:lvl4pPr>
      <a:lvl5pPr algn="r" rtl="0" eaLnBrk="0" fontAlgn="base" hangingPunct="0">
        <a:spcBef>
          <a:spcPct val="0"/>
        </a:spcBef>
        <a:spcAft>
          <a:spcPct val="0"/>
        </a:spcAft>
        <a:defRPr sz="3200">
          <a:solidFill>
            <a:schemeClr val="bg1"/>
          </a:solidFill>
          <a:latin typeface="隶书" pitchFamily="49" charset="-122"/>
          <a:ea typeface="隶书" pitchFamily="49" charset="-122"/>
        </a:defRPr>
      </a:lvl5pPr>
      <a:lvl6pPr marL="457200" algn="r" rtl="0" fontAlgn="base">
        <a:spcBef>
          <a:spcPct val="0"/>
        </a:spcBef>
        <a:spcAft>
          <a:spcPct val="0"/>
        </a:spcAft>
        <a:defRPr sz="3200">
          <a:solidFill>
            <a:schemeClr val="bg1"/>
          </a:solidFill>
          <a:latin typeface="隶书" pitchFamily="49" charset="-122"/>
          <a:ea typeface="隶书" pitchFamily="49" charset="-122"/>
        </a:defRPr>
      </a:lvl6pPr>
      <a:lvl7pPr marL="914400" algn="r" rtl="0" fontAlgn="base">
        <a:spcBef>
          <a:spcPct val="0"/>
        </a:spcBef>
        <a:spcAft>
          <a:spcPct val="0"/>
        </a:spcAft>
        <a:defRPr sz="3200">
          <a:solidFill>
            <a:schemeClr val="bg1"/>
          </a:solidFill>
          <a:latin typeface="隶书" pitchFamily="49" charset="-122"/>
          <a:ea typeface="隶书" pitchFamily="49" charset="-122"/>
        </a:defRPr>
      </a:lvl7pPr>
      <a:lvl8pPr marL="1371600" algn="r" rtl="0" fontAlgn="base">
        <a:spcBef>
          <a:spcPct val="0"/>
        </a:spcBef>
        <a:spcAft>
          <a:spcPct val="0"/>
        </a:spcAft>
        <a:defRPr sz="3200">
          <a:solidFill>
            <a:schemeClr val="bg1"/>
          </a:solidFill>
          <a:latin typeface="隶书" pitchFamily="49" charset="-122"/>
          <a:ea typeface="隶书" pitchFamily="49" charset="-122"/>
        </a:defRPr>
      </a:lvl8pPr>
      <a:lvl9pPr marL="1828800" algn="r" rtl="0" fontAlgn="base">
        <a:spcBef>
          <a:spcPct val="0"/>
        </a:spcBef>
        <a:spcAft>
          <a:spcPct val="0"/>
        </a:spcAft>
        <a:defRPr sz="3200">
          <a:solidFill>
            <a:schemeClr val="bg1"/>
          </a:solidFill>
          <a:latin typeface="隶书" pitchFamily="49" charset="-122"/>
          <a:ea typeface="隶书" pitchFamily="49" charset="-122"/>
        </a:defRPr>
      </a:lvl9pPr>
    </p:titleStyle>
    <p:bodyStyle>
      <a:lvl1pPr marL="342900" indent="-342900" algn="l" rtl="0" eaLnBrk="0" fontAlgn="base" hangingPunct="0">
        <a:spcBef>
          <a:spcPct val="10000"/>
        </a:spcBef>
        <a:spcAft>
          <a:spcPct val="0"/>
        </a:spcAft>
        <a:buClr>
          <a:srgbClr val="339966"/>
        </a:buClr>
        <a:buSzPct val="60000"/>
        <a:buFont typeface="Wingdings" panose="05000000000000000000" pitchFamily="2" charset="2"/>
        <a:buChar char="n"/>
        <a:defRPr sz="2800">
          <a:solidFill>
            <a:schemeClr val="tx1"/>
          </a:solidFill>
          <a:latin typeface="+mn-lt"/>
          <a:ea typeface="+mn-ea"/>
          <a:cs typeface="华文新魏" panose="02010800040101010101" pitchFamily="2" charset="-122"/>
        </a:defRPr>
      </a:lvl1pPr>
      <a:lvl2pPr marL="742950" indent="-285750" algn="l" rtl="0" eaLnBrk="0" fontAlgn="base" hangingPunct="0">
        <a:spcBef>
          <a:spcPct val="10000"/>
        </a:spcBef>
        <a:spcAft>
          <a:spcPct val="0"/>
        </a:spcAft>
        <a:buClr>
          <a:schemeClr val="hlink"/>
        </a:buClr>
        <a:buSzPct val="55000"/>
        <a:buFont typeface="Wingdings" panose="05000000000000000000" pitchFamily="2" charset="2"/>
        <a:buChar char="n"/>
        <a:defRPr sz="2400">
          <a:solidFill>
            <a:schemeClr val="tx1"/>
          </a:solidFill>
          <a:latin typeface="宋体" pitchFamily="2" charset="-122"/>
          <a:ea typeface="宋体" pitchFamily="2" charset="-122"/>
        </a:defRPr>
      </a:lvl2pPr>
      <a:lvl3pPr marL="1143000" indent="-228600" algn="l" rtl="0" eaLnBrk="0" fontAlgn="base" hangingPunct="0">
        <a:spcBef>
          <a:spcPct val="0"/>
        </a:spcBef>
        <a:spcAft>
          <a:spcPct val="0"/>
        </a:spcAft>
        <a:buClr>
          <a:schemeClr val="folHlink"/>
        </a:buClr>
        <a:buSzPct val="50000"/>
        <a:buFont typeface="Wingdings" panose="05000000000000000000" pitchFamily="2" charset="2"/>
        <a:buChar char="n"/>
        <a:defRPr sz="2400" b="1">
          <a:solidFill>
            <a:schemeClr val="tx1"/>
          </a:solidFill>
          <a:latin typeface="楷体_GB2312" pitchFamily="49" charset="-122"/>
          <a:ea typeface="楷体_GB2312" pitchFamily="49" charset="-122"/>
          <a:cs typeface="楷体_GB2312" charset="0"/>
        </a:defRPr>
      </a:lvl3pPr>
      <a:lvl4pPr marL="1600200" indent="-228600" algn="l" rtl="0" eaLnBrk="0" fontAlgn="base" hangingPunct="0">
        <a:lnSpc>
          <a:spcPct val="80000"/>
        </a:lnSpc>
        <a:spcBef>
          <a:spcPct val="20000"/>
        </a:spcBef>
        <a:spcAft>
          <a:spcPct val="0"/>
        </a:spcAft>
        <a:buClr>
          <a:schemeClr val="accent2"/>
        </a:buClr>
        <a:buSzPct val="55000"/>
        <a:buFont typeface="Wingdings" panose="05000000000000000000" pitchFamily="2" charset="2"/>
        <a:buChar char="n"/>
        <a:defRPr sz="2000">
          <a:solidFill>
            <a:schemeClr val="tx1"/>
          </a:solidFill>
          <a:latin typeface="Tahoma" pitchFamily="34" charset="0"/>
          <a:ea typeface="宋体" pitchFamily="2" charset="-122"/>
          <a:cs typeface="楷体_GB2312" charset="0"/>
        </a:defRPr>
      </a:lvl4pPr>
      <a:lvl5pPr marL="2057400" indent="-228600" algn="l" rtl="0" eaLnBrk="0" fontAlgn="base" hangingPunct="0">
        <a:lnSpc>
          <a:spcPct val="80000"/>
        </a:lnSpc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anose="05000000000000000000" pitchFamily="2" charset="2"/>
        <a:buChar char="n"/>
        <a:defRPr sz="2000">
          <a:solidFill>
            <a:schemeClr val="tx1"/>
          </a:solidFill>
          <a:latin typeface="Tahoma" pitchFamily="34" charset="0"/>
          <a:ea typeface="宋体" pitchFamily="2" charset="-122"/>
          <a:cs typeface="楷体_GB2312" charset="0"/>
        </a:defRPr>
      </a:lvl5pPr>
      <a:lvl6pPr marL="2514600" indent="-228600" algn="l" rtl="0" fontAlgn="base">
        <a:lnSpc>
          <a:spcPct val="80000"/>
        </a:lnSpc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Tahoma" pitchFamily="34" charset="0"/>
          <a:ea typeface="宋体" pitchFamily="2" charset="-122"/>
        </a:defRPr>
      </a:lvl6pPr>
      <a:lvl7pPr marL="2971800" indent="-228600" algn="l" rtl="0" fontAlgn="base">
        <a:lnSpc>
          <a:spcPct val="80000"/>
        </a:lnSpc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Tahoma" pitchFamily="34" charset="0"/>
          <a:ea typeface="宋体" pitchFamily="2" charset="-122"/>
        </a:defRPr>
      </a:lvl7pPr>
      <a:lvl8pPr marL="3429000" indent="-228600" algn="l" rtl="0" fontAlgn="base">
        <a:lnSpc>
          <a:spcPct val="80000"/>
        </a:lnSpc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Tahoma" pitchFamily="34" charset="0"/>
          <a:ea typeface="宋体" pitchFamily="2" charset="-122"/>
        </a:defRPr>
      </a:lvl8pPr>
      <a:lvl9pPr marL="3886200" indent="-228600" algn="l" rtl="0" fontAlgn="base">
        <a:lnSpc>
          <a:spcPct val="80000"/>
        </a:lnSpc>
        <a:spcBef>
          <a:spcPct val="20000"/>
        </a:spcBef>
        <a:spcAft>
          <a:spcPct val="0"/>
        </a:spcAft>
        <a:buClr>
          <a:schemeClr val="accent1"/>
        </a:buClr>
        <a:buSzPct val="50000"/>
        <a:buFont typeface="Wingdings" pitchFamily="2" charset="2"/>
        <a:buChar char="n"/>
        <a:defRPr sz="2000">
          <a:solidFill>
            <a:schemeClr val="tx1"/>
          </a:solidFill>
          <a:latin typeface="Tahoma" pitchFamily="34" charset="0"/>
          <a:ea typeface="宋体" pitchFamily="2" charset="-122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wmf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wmf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4" Type="http://schemas.openxmlformats.org/officeDocument/2006/relationships/image" Target="../media/image4.png"/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1" Type="http://schemas.openxmlformats.org/officeDocument/2006/relationships/oleObject" Target="../embeddings/oleObject5.bin"/><Relationship Id="rId12" Type="http://schemas.openxmlformats.org/officeDocument/2006/relationships/image" Target="../media/image9.wmf"/><Relationship Id="rId13" Type="http://schemas.openxmlformats.org/officeDocument/2006/relationships/oleObject" Target="../embeddings/oleObject6.bin"/><Relationship Id="rId14" Type="http://schemas.openxmlformats.org/officeDocument/2006/relationships/image" Target="../media/image10.wmf"/><Relationship Id="rId15" Type="http://schemas.openxmlformats.org/officeDocument/2006/relationships/oleObject" Target="../embeddings/oleObject7.bin"/><Relationship Id="rId16" Type="http://schemas.openxmlformats.org/officeDocument/2006/relationships/image" Target="../media/image11.wmf"/><Relationship Id="rId17" Type="http://schemas.openxmlformats.org/officeDocument/2006/relationships/oleObject" Target="../embeddings/oleObject8.bin"/><Relationship Id="rId18" Type="http://schemas.openxmlformats.org/officeDocument/2006/relationships/image" Target="../media/image12.wmf"/><Relationship Id="rId1" Type="http://schemas.openxmlformats.org/officeDocument/2006/relationships/vmlDrawing" Target="../drawings/vmlDrawing1.vml"/><Relationship Id="rId2" Type="http://schemas.openxmlformats.org/officeDocument/2006/relationships/slideLayout" Target="../slideLayouts/slideLayout7.xml"/><Relationship Id="rId3" Type="http://schemas.openxmlformats.org/officeDocument/2006/relationships/oleObject" Target="../embeddings/oleObject1.bin"/><Relationship Id="rId4" Type="http://schemas.openxmlformats.org/officeDocument/2006/relationships/image" Target="../media/image5.wmf"/><Relationship Id="rId5" Type="http://schemas.openxmlformats.org/officeDocument/2006/relationships/oleObject" Target="../embeddings/oleObject2.bin"/><Relationship Id="rId6" Type="http://schemas.openxmlformats.org/officeDocument/2006/relationships/image" Target="../media/image6.wmf"/><Relationship Id="rId7" Type="http://schemas.openxmlformats.org/officeDocument/2006/relationships/oleObject" Target="../embeddings/oleObject3.bin"/><Relationship Id="rId8" Type="http://schemas.openxmlformats.org/officeDocument/2006/relationships/image" Target="../media/image7.wmf"/><Relationship Id="rId9" Type="http://schemas.openxmlformats.org/officeDocument/2006/relationships/oleObject" Target="../embeddings/oleObject4.bin"/><Relationship Id="rId10" Type="http://schemas.openxmlformats.org/officeDocument/2006/relationships/image" Target="../media/image8.wmf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oleObject" Target="../embeddings/oleObject12.bin"/><Relationship Id="rId20" Type="http://schemas.openxmlformats.org/officeDocument/2006/relationships/image" Target="../media/image18.wmf"/><Relationship Id="rId21" Type="http://schemas.openxmlformats.org/officeDocument/2006/relationships/oleObject" Target="../embeddings/oleObject18.bin"/><Relationship Id="rId22" Type="http://schemas.openxmlformats.org/officeDocument/2006/relationships/image" Target="../media/image19.wmf"/><Relationship Id="rId10" Type="http://schemas.openxmlformats.org/officeDocument/2006/relationships/image" Target="../media/image13.wmf"/><Relationship Id="rId11" Type="http://schemas.openxmlformats.org/officeDocument/2006/relationships/oleObject" Target="../embeddings/oleObject13.bin"/><Relationship Id="rId12" Type="http://schemas.openxmlformats.org/officeDocument/2006/relationships/image" Target="../media/image14.wmf"/><Relationship Id="rId13" Type="http://schemas.openxmlformats.org/officeDocument/2006/relationships/oleObject" Target="../embeddings/oleObject14.bin"/><Relationship Id="rId14" Type="http://schemas.openxmlformats.org/officeDocument/2006/relationships/image" Target="../media/image15.wmf"/><Relationship Id="rId15" Type="http://schemas.openxmlformats.org/officeDocument/2006/relationships/oleObject" Target="../embeddings/oleObject15.bin"/><Relationship Id="rId16" Type="http://schemas.openxmlformats.org/officeDocument/2006/relationships/image" Target="../media/image16.wmf"/><Relationship Id="rId17" Type="http://schemas.openxmlformats.org/officeDocument/2006/relationships/oleObject" Target="../embeddings/oleObject16.bin"/><Relationship Id="rId18" Type="http://schemas.openxmlformats.org/officeDocument/2006/relationships/image" Target="../media/image17.wmf"/><Relationship Id="rId19" Type="http://schemas.openxmlformats.org/officeDocument/2006/relationships/oleObject" Target="../embeddings/oleObject17.bin"/><Relationship Id="rId1" Type="http://schemas.openxmlformats.org/officeDocument/2006/relationships/vmlDrawing" Target="../drawings/vmlDrawing2.vml"/><Relationship Id="rId2" Type="http://schemas.openxmlformats.org/officeDocument/2006/relationships/slideLayout" Target="../slideLayouts/slideLayout7.xml"/><Relationship Id="rId3" Type="http://schemas.openxmlformats.org/officeDocument/2006/relationships/oleObject" Target="../embeddings/oleObject9.bin"/><Relationship Id="rId4" Type="http://schemas.openxmlformats.org/officeDocument/2006/relationships/image" Target="../media/image6.wmf"/><Relationship Id="rId5" Type="http://schemas.openxmlformats.org/officeDocument/2006/relationships/oleObject" Target="../embeddings/oleObject10.bin"/><Relationship Id="rId6" Type="http://schemas.openxmlformats.org/officeDocument/2006/relationships/image" Target="../media/image7.wmf"/><Relationship Id="rId7" Type="http://schemas.openxmlformats.org/officeDocument/2006/relationships/oleObject" Target="../embeddings/oleObject11.bin"/><Relationship Id="rId8" Type="http://schemas.openxmlformats.org/officeDocument/2006/relationships/image" Target="../media/image8.wmf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9.bin"/><Relationship Id="rId4" Type="http://schemas.openxmlformats.org/officeDocument/2006/relationships/image" Target="../media/image20.emf"/><Relationship Id="rId5" Type="http://schemas.openxmlformats.org/officeDocument/2006/relationships/oleObject" Target="../embeddings/oleObject20.bin"/><Relationship Id="rId6" Type="http://schemas.openxmlformats.org/officeDocument/2006/relationships/image" Target="../media/image21.emf"/><Relationship Id="rId1" Type="http://schemas.openxmlformats.org/officeDocument/2006/relationships/vmlDrawing" Target="../drawings/vmlDrawing3.vml"/><Relationship Id="rId2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1.bin"/><Relationship Id="rId4" Type="http://schemas.openxmlformats.org/officeDocument/2006/relationships/image" Target="../media/image22.emf"/><Relationship Id="rId1" Type="http://schemas.openxmlformats.org/officeDocument/2006/relationships/vmlDrawing" Target="../drawings/vmlDrawing4.vml"/><Relationship Id="rId2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wmf"/><Relationship Id="rId4" Type="http://schemas.openxmlformats.org/officeDocument/2006/relationships/image" Target="../media/image24.wmf"/><Relationship Id="rId5" Type="http://schemas.openxmlformats.org/officeDocument/2006/relationships/image" Target="../media/image25.wmf"/><Relationship Id="rId6" Type="http://schemas.openxmlformats.org/officeDocument/2006/relationships/image" Target="../media/image26.wmf"/><Relationship Id="rId7" Type="http://schemas.openxmlformats.org/officeDocument/2006/relationships/image" Target="../media/image27.wmf"/><Relationship Id="rId8" Type="http://schemas.openxmlformats.org/officeDocument/2006/relationships/image" Target="../media/image28.wmf"/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29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22.bin"/><Relationship Id="rId4" Type="http://schemas.openxmlformats.org/officeDocument/2006/relationships/image" Target="../media/image30.wmf"/><Relationship Id="rId1" Type="http://schemas.openxmlformats.org/officeDocument/2006/relationships/vmlDrawing" Target="../drawings/vmlDrawing5.vml"/><Relationship Id="rId2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日期占位符 3">
            <a:extLst>
              <a:ext uri="{FF2B5EF4-FFF2-40B4-BE49-F238E27FC236}">
                <a16:creationId xmlns:a16="http://schemas.microsoft.com/office/drawing/2014/main" xmlns="" id="{9E3DFAB4-EB20-4EA8-AFEE-36671F42021C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8DE1D75-DFB5-4A19-A72A-3196DEBB1810}" type="datetime4">
              <a:rPr lang="zh-CN" altLang="en-US" sz="12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2018年10月21日星期日</a:t>
            </a:fld>
            <a:endParaRPr lang="en-US" altLang="zh-CN" sz="12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18434" name="页脚占位符 4">
            <a:extLst>
              <a:ext uri="{FF2B5EF4-FFF2-40B4-BE49-F238E27FC236}">
                <a16:creationId xmlns:a16="http://schemas.microsoft.com/office/drawing/2014/main" xmlns="" id="{7DE742CA-9602-4F57-B3F1-1C4DEB441E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200">
                <a:latin typeface="Tahoma" panose="020B0604030504040204" pitchFamily="34" charset="0"/>
                <a:ea typeface="宋体" panose="02010600030101010101" pitchFamily="2" charset="-122"/>
              </a:rPr>
              <a:t>DMKD  Sides</a:t>
            </a:r>
          </a:p>
        </p:txBody>
      </p:sp>
      <p:sp>
        <p:nvSpPr>
          <p:cNvPr id="18435" name="灯片编号占位符 5">
            <a:extLst>
              <a:ext uri="{FF2B5EF4-FFF2-40B4-BE49-F238E27FC236}">
                <a16:creationId xmlns:a16="http://schemas.microsoft.com/office/drawing/2014/main" xmlns="" id="{46770FD3-2692-412F-AF11-8FC5D876293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29E2D00F-6681-40E3-A437-9E6934B155F1}" type="slidenum">
              <a:rPr lang="zh-CN" altLang="en-US" sz="14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</a:t>
            </a:fld>
            <a:endParaRPr lang="en-US" altLang="zh-CN" sz="14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18436" name="Rectangle 2">
            <a:extLst>
              <a:ext uri="{FF2B5EF4-FFF2-40B4-BE49-F238E27FC236}">
                <a16:creationId xmlns:a16="http://schemas.microsoft.com/office/drawing/2014/main" xmlns="" id="{E57A6F69-71BA-4FC9-9ADD-1C4E2E085644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>
          <a:xfrm>
            <a:off x="395288" y="115888"/>
            <a:ext cx="8424862" cy="1655762"/>
          </a:xfrm>
        </p:spPr>
        <p:txBody>
          <a:bodyPr/>
          <a:lstStyle/>
          <a:p>
            <a:pPr marL="762000" indent="-762000" algn="ctr" eaLnBrk="1" hangingPunct="1"/>
            <a:r>
              <a:rPr lang="zh-CN" altLang="en-US" b="1"/>
              <a:t>第四章  分类方法</a:t>
            </a:r>
            <a:r>
              <a:rPr lang="zh-CN" altLang="en-US"/>
              <a:t> </a:t>
            </a:r>
            <a:r>
              <a:rPr lang="zh-CN" altLang="en-US" b="1"/>
              <a:t/>
            </a:r>
            <a:br>
              <a:rPr lang="zh-CN" altLang="en-US" b="1"/>
            </a:br>
            <a:r>
              <a:rPr lang="zh-CN" altLang="en-US"/>
              <a:t> </a:t>
            </a:r>
            <a:r>
              <a:rPr lang="zh-CN" altLang="en-US" b="1"/>
              <a:t>                        </a:t>
            </a:r>
            <a:r>
              <a:rPr lang="zh-CN" altLang="en-US" sz="2400" b="1">
                <a:latin typeface="华文新魏" panose="02010800040101010101" pitchFamily="2" charset="-122"/>
                <a:ea typeface="华文新魏" panose="02010800040101010101" pitchFamily="2" charset="-122"/>
              </a:rPr>
              <a:t>内容提要</a:t>
            </a:r>
            <a:endParaRPr lang="en-US" altLang="zh-CN" sz="2400" b="1">
              <a:latin typeface="华文新魏" panose="02010800040101010101" pitchFamily="2" charset="-122"/>
              <a:ea typeface="华文新魏" panose="02010800040101010101" pitchFamily="2" charset="-122"/>
            </a:endParaRPr>
          </a:p>
        </p:txBody>
      </p:sp>
      <p:sp>
        <p:nvSpPr>
          <p:cNvPr id="18437" name="Rectangle 3">
            <a:extLst>
              <a:ext uri="{FF2B5EF4-FFF2-40B4-BE49-F238E27FC236}">
                <a16:creationId xmlns:a16="http://schemas.microsoft.com/office/drawing/2014/main" xmlns="" id="{8B476181-632E-4E34-99FA-CC7F9A6C3CA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469900" y="1917700"/>
            <a:ext cx="8278813" cy="4391025"/>
          </a:xfrm>
        </p:spPr>
        <p:txBody>
          <a:bodyPr/>
          <a:lstStyle/>
          <a:p>
            <a:pPr marL="533400" indent="-533400" eaLnBrk="1" hangingPunct="1">
              <a:spcBef>
                <a:spcPct val="30000"/>
              </a:spcBef>
              <a:tabLst>
                <a:tab pos="6178550" algn="l"/>
              </a:tabLst>
            </a:pPr>
            <a:r>
              <a:rPr lang="zh-CN" altLang="en-US" dirty="0">
                <a:latin typeface="隶书" panose="02010509060101010101" pitchFamily="49" charset="-122"/>
                <a:ea typeface="隶书" panose="02010509060101010101" pitchFamily="49" charset="-122"/>
              </a:rPr>
              <a:t>分类的基本概念与步骤 </a:t>
            </a:r>
            <a:endParaRPr lang="en-US" altLang="zh-CN" dirty="0">
              <a:latin typeface="隶书" panose="02010509060101010101" pitchFamily="49" charset="-122"/>
              <a:ea typeface="隶书" panose="02010509060101010101" pitchFamily="49" charset="-122"/>
            </a:endParaRPr>
          </a:p>
          <a:p>
            <a:pPr marL="533400" indent="-533400" eaLnBrk="1" hangingPunct="1">
              <a:spcBef>
                <a:spcPct val="30000"/>
              </a:spcBef>
              <a:tabLst>
                <a:tab pos="6178550" algn="l"/>
              </a:tabLst>
            </a:pPr>
            <a:r>
              <a:rPr lang="zh-CN" altLang="en-US" dirty="0">
                <a:latin typeface="隶书" panose="02010509060101010101" pitchFamily="49" charset="-122"/>
                <a:ea typeface="隶书" panose="02010509060101010101" pitchFamily="49" charset="-122"/>
              </a:rPr>
              <a:t>基于距离的分类算法 </a:t>
            </a:r>
          </a:p>
          <a:p>
            <a:pPr marL="533400" indent="-533400" eaLnBrk="1" hangingPunct="1">
              <a:spcBef>
                <a:spcPct val="30000"/>
              </a:spcBef>
              <a:tabLst>
                <a:tab pos="6178550" algn="l"/>
              </a:tabLst>
            </a:pPr>
            <a:r>
              <a:rPr lang="zh-CN" altLang="en-US" dirty="0">
                <a:latin typeface="隶书" panose="02010509060101010101" pitchFamily="49" charset="-122"/>
                <a:ea typeface="隶书" panose="02010509060101010101" pitchFamily="49" charset="-122"/>
              </a:rPr>
              <a:t>最近邻分类方法（</a:t>
            </a:r>
            <a:r>
              <a:rPr lang="en-US" altLang="zh-CN" dirty="0">
                <a:latin typeface="隶书" panose="02010509060101010101" pitchFamily="49" charset="-122"/>
                <a:ea typeface="隶书" panose="02010509060101010101" pitchFamily="49" charset="-122"/>
              </a:rPr>
              <a:t>*</a:t>
            </a:r>
            <a:r>
              <a:rPr lang="zh-CN" altLang="en-US" dirty="0">
                <a:latin typeface="隶书" panose="02010509060101010101" pitchFamily="49" charset="-122"/>
                <a:ea typeface="隶书" panose="02010509060101010101" pitchFamily="49" charset="-122"/>
              </a:rPr>
              <a:t>）</a:t>
            </a:r>
          </a:p>
          <a:p>
            <a:pPr marL="533400" indent="-533400" eaLnBrk="1" hangingPunct="1">
              <a:buFont typeface="Wingdings" panose="05000000000000000000" pitchFamily="2" charset="2"/>
              <a:buNone/>
              <a:tabLst>
                <a:tab pos="6178550" algn="l"/>
              </a:tabLst>
            </a:pPr>
            <a:endParaRPr lang="en-US" altLang="zh-CN" dirty="0">
              <a:latin typeface="隶书" panose="02010509060101010101" pitchFamily="49" charset="-122"/>
              <a:ea typeface="隶书" panose="02010509060101010101" pitchFamily="49" charset="-122"/>
            </a:endParaRPr>
          </a:p>
        </p:txBody>
      </p:sp>
      <p:pic>
        <p:nvPicPr>
          <p:cNvPr id="18438" name="Picture 7" descr="j0237704">
            <a:extLst>
              <a:ext uri="{FF2B5EF4-FFF2-40B4-BE49-F238E27FC236}">
                <a16:creationId xmlns:a16="http://schemas.microsoft.com/office/drawing/2014/main" xmlns="" id="{E387E845-BB4D-47CD-BD81-B64A2858B09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6100" y="3068638"/>
            <a:ext cx="2867025" cy="3097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  <p:transition>
    <p:blinds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457" name="日期占位符 3">
            <a:extLst>
              <a:ext uri="{FF2B5EF4-FFF2-40B4-BE49-F238E27FC236}">
                <a16:creationId xmlns:a16="http://schemas.microsoft.com/office/drawing/2014/main" xmlns="" id="{BE9D48B7-0291-4776-A765-F55CAB82B6D4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2FEA9E0B-6C56-4DAE-AAA4-DEB988F62905}" type="datetime4">
              <a:rPr lang="zh-CN" altLang="en-US" sz="12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2018年10月21日星期日</a:t>
            </a:fld>
            <a:endParaRPr lang="en-US" altLang="zh-CN" sz="12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19458" name="页脚占位符 4">
            <a:extLst>
              <a:ext uri="{FF2B5EF4-FFF2-40B4-BE49-F238E27FC236}">
                <a16:creationId xmlns:a16="http://schemas.microsoft.com/office/drawing/2014/main" xmlns="" id="{28C4C0F6-813C-467B-AF67-F225A7A85C6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200">
                <a:latin typeface="Tahoma" panose="020B0604030504040204" pitchFamily="34" charset="0"/>
                <a:ea typeface="宋体" panose="02010600030101010101" pitchFamily="2" charset="-122"/>
              </a:rPr>
              <a:t>DMKD  Sides</a:t>
            </a:r>
          </a:p>
        </p:txBody>
      </p:sp>
      <p:sp>
        <p:nvSpPr>
          <p:cNvPr id="19459" name="灯片编号占位符 5">
            <a:extLst>
              <a:ext uri="{FF2B5EF4-FFF2-40B4-BE49-F238E27FC236}">
                <a16:creationId xmlns:a16="http://schemas.microsoft.com/office/drawing/2014/main" xmlns="" id="{F651DDF6-3988-4556-ABED-1B2D6E683E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8FDA2EF0-A86A-478A-86D6-A0F523C36647}" type="slidenum">
              <a:rPr lang="zh-CN" altLang="en-US" sz="14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2</a:t>
            </a:fld>
            <a:endParaRPr lang="en-US" altLang="zh-CN" sz="14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19460" name="Rectangle 2">
            <a:extLst>
              <a:ext uri="{FF2B5EF4-FFF2-40B4-BE49-F238E27FC236}">
                <a16:creationId xmlns:a16="http://schemas.microsoft.com/office/drawing/2014/main" xmlns="" id="{EA371994-32E7-4D85-B996-64E91722F6E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/>
              <a:t>分类是数据挖掘中重要的任务 </a:t>
            </a:r>
          </a:p>
        </p:txBody>
      </p:sp>
      <p:sp>
        <p:nvSpPr>
          <p:cNvPr id="19461" name="Rectangle 3">
            <a:extLst>
              <a:ext uri="{FF2B5EF4-FFF2-40B4-BE49-F238E27FC236}">
                <a16:creationId xmlns:a16="http://schemas.microsoft.com/office/drawing/2014/main" xmlns="" id="{819D78DB-CA5D-44DE-B723-D2B7288DD063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lnSpc>
                <a:spcPct val="90000"/>
              </a:lnSpc>
            </a:pPr>
            <a:r>
              <a:rPr lang="zh-CN" altLang="en-US"/>
              <a:t>分类的目的是学会一个分类器（分类函数或模型），该分类器能把待分类的数据映射到给定的类别中。</a:t>
            </a:r>
          </a:p>
          <a:p>
            <a:pPr eaLnBrk="1" hangingPunct="1">
              <a:lnSpc>
                <a:spcPct val="90000"/>
              </a:lnSpc>
            </a:pPr>
            <a:r>
              <a:rPr lang="zh-CN" altLang="en-US">
                <a:solidFill>
                  <a:srgbClr val="000099"/>
                </a:solidFill>
              </a:rPr>
              <a:t>分类可用于预测。从利用历史数据纪录中自动推导出对给定数据的推广描述，从而能对未来数据进行类预测。</a:t>
            </a:r>
          </a:p>
          <a:p>
            <a:pPr eaLnBrk="1" hangingPunct="1">
              <a:lnSpc>
                <a:spcPct val="90000"/>
              </a:lnSpc>
            </a:pPr>
            <a:r>
              <a:rPr lang="zh-CN" altLang="en-US"/>
              <a:t>分类具有广泛的应用，例如医疗诊断、信用卡系统的信用分级、图像模式识别等。</a:t>
            </a:r>
          </a:p>
          <a:p>
            <a:pPr eaLnBrk="1" hangingPunct="1">
              <a:lnSpc>
                <a:spcPct val="90000"/>
              </a:lnSpc>
            </a:pPr>
            <a:r>
              <a:rPr lang="zh-CN" altLang="en-US">
                <a:solidFill>
                  <a:srgbClr val="000099"/>
                </a:solidFill>
              </a:rPr>
              <a:t>分类器的构造依据的方法很广泛：</a:t>
            </a:r>
          </a:p>
          <a:p>
            <a:pPr lvl="1" eaLnBrk="1" hangingPunct="1">
              <a:lnSpc>
                <a:spcPct val="90000"/>
              </a:lnSpc>
            </a:pPr>
            <a:r>
              <a:rPr lang="zh-CN" altLang="en-US">
                <a:solidFill>
                  <a:srgbClr val="000099"/>
                </a:solidFill>
              </a:rPr>
              <a:t>统计方法：包括贝叶斯法和非参数法等。</a:t>
            </a:r>
          </a:p>
          <a:p>
            <a:pPr lvl="1" eaLnBrk="1" hangingPunct="1">
              <a:lnSpc>
                <a:spcPct val="90000"/>
              </a:lnSpc>
            </a:pPr>
            <a:r>
              <a:rPr lang="zh-CN" altLang="en-US">
                <a:solidFill>
                  <a:srgbClr val="000099"/>
                </a:solidFill>
              </a:rPr>
              <a:t>机器学习方法：包括决策树法和规则归纳法。</a:t>
            </a:r>
          </a:p>
          <a:p>
            <a:pPr lvl="1" eaLnBrk="1" hangingPunct="1">
              <a:lnSpc>
                <a:spcPct val="90000"/>
              </a:lnSpc>
            </a:pPr>
            <a:r>
              <a:rPr lang="zh-CN" altLang="en-US">
                <a:solidFill>
                  <a:srgbClr val="000099"/>
                </a:solidFill>
              </a:rPr>
              <a:t>神经网络方法。</a:t>
            </a:r>
          </a:p>
          <a:p>
            <a:pPr lvl="1" eaLnBrk="1" hangingPunct="1">
              <a:lnSpc>
                <a:spcPct val="90000"/>
              </a:lnSpc>
            </a:pPr>
            <a:r>
              <a:rPr lang="zh-CN" altLang="en-US">
                <a:solidFill>
                  <a:srgbClr val="000099"/>
                </a:solidFill>
              </a:rPr>
              <a:t>其他，如粗糙集等（在前面绪论中也介绍了相关的情况）。</a:t>
            </a:r>
            <a:endParaRPr lang="zh-CN" altLang="en-US" sz="2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1" name="日期占位符 3">
            <a:extLst>
              <a:ext uri="{FF2B5EF4-FFF2-40B4-BE49-F238E27FC236}">
                <a16:creationId xmlns:a16="http://schemas.microsoft.com/office/drawing/2014/main" xmlns="" id="{2E8B9787-49DA-41DD-8F88-8BD16A5C6A84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2461364A-312F-4439-8015-8F8D6D4B3F20}" type="datetime4">
              <a:rPr lang="zh-CN" altLang="en-US" sz="12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2018年10月21日星期日</a:t>
            </a:fld>
            <a:endParaRPr lang="en-US" altLang="zh-CN" sz="12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0482" name="页脚占位符 4">
            <a:extLst>
              <a:ext uri="{FF2B5EF4-FFF2-40B4-BE49-F238E27FC236}">
                <a16:creationId xmlns:a16="http://schemas.microsoft.com/office/drawing/2014/main" xmlns="" id="{E3978C47-15FA-4484-80B6-C772A1FF59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200">
                <a:latin typeface="Tahoma" panose="020B0604030504040204" pitchFamily="34" charset="0"/>
                <a:ea typeface="宋体" panose="02010600030101010101" pitchFamily="2" charset="-122"/>
              </a:rPr>
              <a:t>DMKD  Sides</a:t>
            </a:r>
          </a:p>
        </p:txBody>
      </p:sp>
      <p:sp>
        <p:nvSpPr>
          <p:cNvPr id="20483" name="灯片编号占位符 5">
            <a:extLst>
              <a:ext uri="{FF2B5EF4-FFF2-40B4-BE49-F238E27FC236}">
                <a16:creationId xmlns:a16="http://schemas.microsoft.com/office/drawing/2014/main" xmlns="" id="{04A06C2D-EDB0-46E7-BF6E-E10B14A568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D0E72091-CE06-4364-BA0B-22AE4A8F68E5}" type="slidenum">
              <a:rPr lang="zh-CN" altLang="en-US" sz="14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3</a:t>
            </a:fld>
            <a:endParaRPr lang="en-US" altLang="zh-CN" sz="14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0484" name="Rectangle 2">
            <a:extLst>
              <a:ext uri="{FF2B5EF4-FFF2-40B4-BE49-F238E27FC236}">
                <a16:creationId xmlns:a16="http://schemas.microsoft.com/office/drawing/2014/main" xmlns="" id="{81343B32-B8AC-451F-BF45-9011C25E016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/>
              <a:t>分类方法的类型</a:t>
            </a:r>
          </a:p>
        </p:txBody>
      </p:sp>
      <p:sp>
        <p:nvSpPr>
          <p:cNvPr id="20485" name="Rectangle 3">
            <a:extLst>
              <a:ext uri="{FF2B5EF4-FFF2-40B4-BE49-F238E27FC236}">
                <a16:creationId xmlns:a16="http://schemas.microsoft.com/office/drawing/2014/main" xmlns="" id="{06EF6149-D6E9-4640-BE49-BCCF65CF2A6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zh-CN" altLang="en-US"/>
              <a:t>从使用的主要技术上看，可以把分类方法归结为四种类型：</a:t>
            </a:r>
          </a:p>
          <a:p>
            <a:pPr lvl="1" eaLnBrk="1" hangingPunct="1"/>
            <a:r>
              <a:rPr lang="zh-CN" altLang="en-US"/>
              <a:t>基于距离的分类方法</a:t>
            </a:r>
          </a:p>
          <a:p>
            <a:pPr lvl="1" eaLnBrk="1" hangingPunct="1"/>
            <a:r>
              <a:rPr lang="zh-CN" altLang="en-US"/>
              <a:t>决策树分类方法</a:t>
            </a:r>
          </a:p>
          <a:p>
            <a:pPr lvl="1" eaLnBrk="1" hangingPunct="1"/>
            <a:r>
              <a:rPr lang="zh-CN" altLang="en-US"/>
              <a:t>贝叶斯分类方法</a:t>
            </a:r>
          </a:p>
          <a:p>
            <a:pPr lvl="1" eaLnBrk="1" hangingPunct="1"/>
            <a:r>
              <a:rPr lang="zh-CN" altLang="en-US"/>
              <a:t>规则归纳方法。</a:t>
            </a:r>
          </a:p>
          <a:p>
            <a:pPr eaLnBrk="1" hangingPunct="1"/>
            <a:r>
              <a:rPr lang="zh-CN" altLang="en-US"/>
              <a:t>本章将择选一些有代表性的方法和算法来介绍这四类分类方法。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5" name="日期占位符 3">
            <a:extLst>
              <a:ext uri="{FF2B5EF4-FFF2-40B4-BE49-F238E27FC236}">
                <a16:creationId xmlns:a16="http://schemas.microsoft.com/office/drawing/2014/main" xmlns="" id="{D6E4C7AF-288D-4E8E-AD8B-9EEC245D6996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C77181AD-880C-4E0E-84FA-5542EF03A5F6}" type="datetime4">
              <a:rPr lang="zh-CN" altLang="en-US" sz="12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2018年10月21日星期日</a:t>
            </a:fld>
            <a:endParaRPr lang="en-US" altLang="zh-CN" sz="12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1506" name="页脚占位符 4">
            <a:extLst>
              <a:ext uri="{FF2B5EF4-FFF2-40B4-BE49-F238E27FC236}">
                <a16:creationId xmlns:a16="http://schemas.microsoft.com/office/drawing/2014/main" xmlns="" id="{557689DD-DF9F-492A-83F5-3D08BD69890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200">
                <a:latin typeface="Tahoma" panose="020B0604030504040204" pitchFamily="34" charset="0"/>
                <a:ea typeface="宋体" panose="02010600030101010101" pitchFamily="2" charset="-122"/>
              </a:rPr>
              <a:t>DMKD  Sides</a:t>
            </a:r>
          </a:p>
        </p:txBody>
      </p:sp>
      <p:sp>
        <p:nvSpPr>
          <p:cNvPr id="21507" name="灯片编号占位符 5">
            <a:extLst>
              <a:ext uri="{FF2B5EF4-FFF2-40B4-BE49-F238E27FC236}">
                <a16:creationId xmlns:a16="http://schemas.microsoft.com/office/drawing/2014/main" xmlns="" id="{EBBDD55A-0011-43AA-AE90-B0A980309F0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C420614-B7E4-4849-9D60-99F3F1F870E1}" type="slidenum">
              <a:rPr lang="zh-CN" altLang="en-US" sz="14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4</a:t>
            </a:fld>
            <a:endParaRPr lang="en-US" altLang="zh-CN" sz="14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1508" name="Rectangle 2">
            <a:extLst>
              <a:ext uri="{FF2B5EF4-FFF2-40B4-BE49-F238E27FC236}">
                <a16:creationId xmlns:a16="http://schemas.microsoft.com/office/drawing/2014/main" xmlns="" id="{728A2BDB-B781-4954-9BE7-823696B9739D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>
                <a:solidFill>
                  <a:srgbClr val="000000"/>
                </a:solidFill>
              </a:rPr>
              <a:t>分类问题的描述</a:t>
            </a:r>
            <a:endParaRPr lang="en-US" altLang="zh-CN">
              <a:solidFill>
                <a:srgbClr val="000000"/>
              </a:solidFill>
            </a:endParaRPr>
          </a:p>
        </p:txBody>
      </p:sp>
      <p:sp>
        <p:nvSpPr>
          <p:cNvPr id="21509" name="Rectangle 3">
            <a:extLst>
              <a:ext uri="{FF2B5EF4-FFF2-40B4-BE49-F238E27FC236}">
                <a16:creationId xmlns:a16="http://schemas.microsoft.com/office/drawing/2014/main" xmlns="" id="{FC55A2D2-BFBD-43FF-97F0-D220FCF914FB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zh-CN" altLang="en-US" b="1">
                <a:solidFill>
                  <a:srgbClr val="000000"/>
                </a:solidFill>
              </a:rPr>
              <a:t>定义</a:t>
            </a:r>
            <a:r>
              <a:rPr lang="en-US" altLang="zh-CN" b="1">
                <a:solidFill>
                  <a:srgbClr val="000000"/>
                </a:solidFill>
              </a:rPr>
              <a:t>4-1 </a:t>
            </a:r>
            <a:r>
              <a:rPr lang="zh-CN" altLang="en-US">
                <a:solidFill>
                  <a:srgbClr val="000000"/>
                </a:solidFill>
              </a:rPr>
              <a:t>给定一个数据库 </a:t>
            </a:r>
            <a:r>
              <a:rPr lang="en-US" altLang="zh-CN" i="1">
                <a:solidFill>
                  <a:srgbClr val="000000"/>
                </a:solidFill>
              </a:rPr>
              <a:t>D</a:t>
            </a:r>
            <a:r>
              <a:rPr lang="en-US" altLang="zh-CN">
                <a:solidFill>
                  <a:srgbClr val="000000"/>
                </a:solidFill>
              </a:rPr>
              <a:t>={</a:t>
            </a:r>
            <a:r>
              <a:rPr lang="en-US" altLang="zh-CN" i="1">
                <a:solidFill>
                  <a:srgbClr val="000000"/>
                </a:solidFill>
              </a:rPr>
              <a:t>t</a:t>
            </a:r>
            <a:r>
              <a:rPr lang="en-US" altLang="zh-CN" baseline="-30000">
                <a:solidFill>
                  <a:srgbClr val="000000"/>
                </a:solidFill>
              </a:rPr>
              <a:t>1</a:t>
            </a:r>
            <a:r>
              <a:rPr lang="zh-CN" altLang="en-US">
                <a:solidFill>
                  <a:srgbClr val="000000"/>
                </a:solidFill>
              </a:rPr>
              <a:t>，</a:t>
            </a:r>
            <a:r>
              <a:rPr lang="en-US" altLang="zh-CN" i="1">
                <a:solidFill>
                  <a:srgbClr val="000000"/>
                </a:solidFill>
              </a:rPr>
              <a:t>t</a:t>
            </a:r>
            <a:r>
              <a:rPr lang="en-US" altLang="zh-CN" baseline="-30000">
                <a:solidFill>
                  <a:srgbClr val="000000"/>
                </a:solidFill>
              </a:rPr>
              <a:t>2</a:t>
            </a:r>
            <a:r>
              <a:rPr lang="zh-CN" altLang="en-US">
                <a:solidFill>
                  <a:srgbClr val="000000"/>
                </a:solidFill>
              </a:rPr>
              <a:t>，</a:t>
            </a:r>
            <a:r>
              <a:rPr lang="en-US" altLang="zh-CN">
                <a:solidFill>
                  <a:srgbClr val="000000"/>
                </a:solidFill>
                <a:latin typeface="Tahoma" panose="020B0604030504040204" pitchFamily="34" charset="0"/>
              </a:rPr>
              <a:t>…</a:t>
            </a:r>
            <a:r>
              <a:rPr lang="zh-CN" altLang="en-US">
                <a:solidFill>
                  <a:srgbClr val="000000"/>
                </a:solidFill>
              </a:rPr>
              <a:t>，</a:t>
            </a:r>
            <a:r>
              <a:rPr lang="en-US" altLang="zh-CN" i="1">
                <a:solidFill>
                  <a:srgbClr val="000000"/>
                </a:solidFill>
              </a:rPr>
              <a:t>t</a:t>
            </a:r>
            <a:r>
              <a:rPr lang="en-US" altLang="zh-CN" baseline="-30000">
                <a:solidFill>
                  <a:srgbClr val="000000"/>
                </a:solidFill>
              </a:rPr>
              <a:t>n</a:t>
            </a:r>
            <a:r>
              <a:rPr lang="en-US" altLang="zh-CN">
                <a:solidFill>
                  <a:srgbClr val="000000"/>
                </a:solidFill>
              </a:rPr>
              <a:t>}</a:t>
            </a:r>
            <a:r>
              <a:rPr lang="zh-CN" altLang="en-US">
                <a:solidFill>
                  <a:srgbClr val="000000"/>
                </a:solidFill>
              </a:rPr>
              <a:t>和一组类 </a:t>
            </a:r>
            <a:r>
              <a:rPr lang="en-US" altLang="zh-CN" i="1">
                <a:solidFill>
                  <a:srgbClr val="000000"/>
                </a:solidFill>
              </a:rPr>
              <a:t>C</a:t>
            </a:r>
            <a:r>
              <a:rPr lang="en-US" altLang="zh-CN">
                <a:solidFill>
                  <a:srgbClr val="000000"/>
                </a:solidFill>
              </a:rPr>
              <a:t>={</a:t>
            </a:r>
            <a:r>
              <a:rPr lang="en-US" altLang="zh-CN" i="1">
                <a:solidFill>
                  <a:srgbClr val="000000"/>
                </a:solidFill>
              </a:rPr>
              <a:t>C</a:t>
            </a:r>
            <a:r>
              <a:rPr lang="en-US" altLang="zh-CN" baseline="-30000">
                <a:solidFill>
                  <a:srgbClr val="000000"/>
                </a:solidFill>
              </a:rPr>
              <a:t>1</a:t>
            </a:r>
            <a:r>
              <a:rPr lang="zh-CN" altLang="en-US">
                <a:solidFill>
                  <a:srgbClr val="000000"/>
                </a:solidFill>
              </a:rPr>
              <a:t>，</a:t>
            </a:r>
            <a:r>
              <a:rPr lang="en-US" altLang="zh-CN">
                <a:solidFill>
                  <a:srgbClr val="000000"/>
                </a:solidFill>
                <a:latin typeface="Tahoma" panose="020B0604030504040204" pitchFamily="34" charset="0"/>
              </a:rPr>
              <a:t>…</a:t>
            </a:r>
            <a:r>
              <a:rPr lang="zh-CN" altLang="en-US">
                <a:solidFill>
                  <a:srgbClr val="000000"/>
                </a:solidFill>
              </a:rPr>
              <a:t>，</a:t>
            </a:r>
            <a:r>
              <a:rPr lang="en-US" altLang="zh-CN" i="1">
                <a:solidFill>
                  <a:srgbClr val="000000"/>
                </a:solidFill>
              </a:rPr>
              <a:t>C</a:t>
            </a:r>
            <a:r>
              <a:rPr lang="en-US" altLang="zh-CN" baseline="-30000">
                <a:solidFill>
                  <a:srgbClr val="000000"/>
                </a:solidFill>
              </a:rPr>
              <a:t>m</a:t>
            </a:r>
            <a:r>
              <a:rPr lang="en-US" altLang="zh-CN">
                <a:solidFill>
                  <a:srgbClr val="000000"/>
                </a:solidFill>
              </a:rPr>
              <a:t>}</a:t>
            </a:r>
            <a:r>
              <a:rPr lang="zh-CN" altLang="en-US">
                <a:solidFill>
                  <a:srgbClr val="000000"/>
                </a:solidFill>
              </a:rPr>
              <a:t>，分类问题是去确定一个映射 </a:t>
            </a:r>
            <a:r>
              <a:rPr lang="en-US" altLang="zh-CN" i="1">
                <a:solidFill>
                  <a:srgbClr val="000000"/>
                </a:solidFill>
              </a:rPr>
              <a:t>f</a:t>
            </a:r>
            <a:r>
              <a:rPr lang="en-US" altLang="zh-CN">
                <a:solidFill>
                  <a:srgbClr val="000000"/>
                </a:solidFill>
              </a:rPr>
              <a:t>: </a:t>
            </a:r>
            <a:r>
              <a:rPr lang="en-US" altLang="zh-CN" i="1">
                <a:solidFill>
                  <a:srgbClr val="000000"/>
                </a:solidFill>
              </a:rPr>
              <a:t>D</a:t>
            </a:r>
            <a:r>
              <a:rPr lang="en-US" altLang="zh-CN">
                <a:solidFill>
                  <a:srgbClr val="000000"/>
                </a:solidFill>
                <a:sym typeface="Symbol" panose="05050102010706020507" pitchFamily="18" charset="2"/>
              </a:rPr>
              <a:t></a:t>
            </a:r>
            <a:r>
              <a:rPr lang="en-US" altLang="zh-CN" i="1">
                <a:solidFill>
                  <a:srgbClr val="000000"/>
                </a:solidFill>
              </a:rPr>
              <a:t>C</a:t>
            </a:r>
            <a:r>
              <a:rPr lang="zh-CN" altLang="en-US">
                <a:solidFill>
                  <a:srgbClr val="000000"/>
                </a:solidFill>
              </a:rPr>
              <a:t>，使得每个元组</a:t>
            </a:r>
            <a:r>
              <a:rPr lang="en-US" altLang="zh-CN">
                <a:solidFill>
                  <a:srgbClr val="000000"/>
                </a:solidFill>
              </a:rPr>
              <a:t>t</a:t>
            </a:r>
            <a:r>
              <a:rPr lang="en-US" altLang="zh-CN" baseline="-30000">
                <a:solidFill>
                  <a:srgbClr val="000000"/>
                </a:solidFill>
              </a:rPr>
              <a:t>i</a:t>
            </a:r>
            <a:r>
              <a:rPr lang="zh-CN" altLang="en-US">
                <a:solidFill>
                  <a:srgbClr val="000000"/>
                </a:solidFill>
              </a:rPr>
              <a:t>被分配到一个类中。一个类</a:t>
            </a:r>
            <a:r>
              <a:rPr lang="en-US" altLang="zh-CN" i="1">
                <a:solidFill>
                  <a:srgbClr val="000000"/>
                </a:solidFill>
              </a:rPr>
              <a:t>C</a:t>
            </a:r>
            <a:r>
              <a:rPr lang="en-US" altLang="zh-CN" baseline="-30000">
                <a:solidFill>
                  <a:srgbClr val="000000"/>
                </a:solidFill>
              </a:rPr>
              <a:t>j </a:t>
            </a:r>
            <a:r>
              <a:rPr lang="zh-CN" altLang="en-US">
                <a:solidFill>
                  <a:srgbClr val="000000"/>
                </a:solidFill>
              </a:rPr>
              <a:t>包含映射到该类中的所有元组，即</a:t>
            </a:r>
            <a:r>
              <a:rPr lang="en-US" altLang="zh-CN" i="1">
                <a:solidFill>
                  <a:srgbClr val="000000"/>
                </a:solidFill>
              </a:rPr>
              <a:t>C</a:t>
            </a:r>
            <a:r>
              <a:rPr lang="en-US" altLang="zh-CN" baseline="-30000">
                <a:solidFill>
                  <a:srgbClr val="000000"/>
                </a:solidFill>
              </a:rPr>
              <a:t>j </a:t>
            </a:r>
            <a:r>
              <a:rPr lang="en-US" altLang="zh-CN">
                <a:solidFill>
                  <a:srgbClr val="000000"/>
                </a:solidFill>
              </a:rPr>
              <a:t>= {</a:t>
            </a:r>
            <a:r>
              <a:rPr lang="en-US" altLang="zh-CN" i="1">
                <a:solidFill>
                  <a:srgbClr val="000000"/>
                </a:solidFill>
              </a:rPr>
              <a:t>t</a:t>
            </a:r>
            <a:r>
              <a:rPr lang="en-US" altLang="zh-CN" baseline="-30000">
                <a:solidFill>
                  <a:srgbClr val="000000"/>
                </a:solidFill>
              </a:rPr>
              <a:t>i </a:t>
            </a:r>
            <a:r>
              <a:rPr lang="en-US" altLang="zh-CN">
                <a:solidFill>
                  <a:srgbClr val="000000"/>
                </a:solidFill>
              </a:rPr>
              <a:t>| </a:t>
            </a:r>
            <a:r>
              <a:rPr lang="en-US" altLang="zh-CN" i="1">
                <a:solidFill>
                  <a:srgbClr val="000000"/>
                </a:solidFill>
              </a:rPr>
              <a:t>f</a:t>
            </a:r>
            <a:r>
              <a:rPr lang="en-US" altLang="zh-CN">
                <a:solidFill>
                  <a:srgbClr val="000000"/>
                </a:solidFill>
              </a:rPr>
              <a:t>(</a:t>
            </a:r>
            <a:r>
              <a:rPr lang="en-US" altLang="zh-CN" i="1">
                <a:solidFill>
                  <a:srgbClr val="000000"/>
                </a:solidFill>
              </a:rPr>
              <a:t>t</a:t>
            </a:r>
            <a:r>
              <a:rPr lang="en-US" altLang="zh-CN" baseline="-30000">
                <a:solidFill>
                  <a:srgbClr val="000000"/>
                </a:solidFill>
              </a:rPr>
              <a:t>i</a:t>
            </a:r>
            <a:r>
              <a:rPr lang="en-US" altLang="zh-CN">
                <a:solidFill>
                  <a:srgbClr val="000000"/>
                </a:solidFill>
              </a:rPr>
              <a:t>) = </a:t>
            </a:r>
            <a:r>
              <a:rPr lang="en-US" altLang="zh-CN" i="1">
                <a:solidFill>
                  <a:srgbClr val="000000"/>
                </a:solidFill>
              </a:rPr>
              <a:t>C</a:t>
            </a:r>
            <a:r>
              <a:rPr lang="en-US" altLang="zh-CN" baseline="-30000">
                <a:solidFill>
                  <a:srgbClr val="000000"/>
                </a:solidFill>
              </a:rPr>
              <a:t>j</a:t>
            </a:r>
            <a:r>
              <a:rPr lang="zh-CN" altLang="en-US">
                <a:solidFill>
                  <a:srgbClr val="000000"/>
                </a:solidFill>
              </a:rPr>
              <a:t>，</a:t>
            </a:r>
            <a:r>
              <a:rPr lang="en-US" altLang="zh-CN">
                <a:solidFill>
                  <a:srgbClr val="000000"/>
                </a:solidFill>
              </a:rPr>
              <a:t>1 ≤ </a:t>
            </a:r>
            <a:r>
              <a:rPr lang="en-US" altLang="zh-CN" i="1">
                <a:solidFill>
                  <a:srgbClr val="000000"/>
                </a:solidFill>
              </a:rPr>
              <a:t>i</a:t>
            </a:r>
            <a:r>
              <a:rPr lang="en-US" altLang="zh-CN">
                <a:solidFill>
                  <a:srgbClr val="000000"/>
                </a:solidFill>
              </a:rPr>
              <a:t> ≤ </a:t>
            </a:r>
            <a:r>
              <a:rPr lang="en-US" altLang="zh-CN" i="1">
                <a:solidFill>
                  <a:srgbClr val="000000"/>
                </a:solidFill>
              </a:rPr>
              <a:t>n</a:t>
            </a:r>
            <a:r>
              <a:rPr lang="zh-CN" altLang="en-US">
                <a:solidFill>
                  <a:srgbClr val="000000"/>
                </a:solidFill>
              </a:rPr>
              <a:t>， 而且</a:t>
            </a:r>
            <a:r>
              <a:rPr lang="en-US" altLang="zh-CN" i="1">
                <a:solidFill>
                  <a:srgbClr val="000000"/>
                </a:solidFill>
              </a:rPr>
              <a:t>t</a:t>
            </a:r>
            <a:r>
              <a:rPr lang="en-US" altLang="zh-CN" baseline="-30000">
                <a:solidFill>
                  <a:srgbClr val="000000"/>
                </a:solidFill>
              </a:rPr>
              <a:t>i</a:t>
            </a:r>
            <a:r>
              <a:rPr lang="en-US" altLang="zh-CN">
                <a:solidFill>
                  <a:srgbClr val="000000"/>
                </a:solidFill>
              </a:rPr>
              <a:t> </a:t>
            </a:r>
            <a:r>
              <a:rPr lang="en-US" altLang="zh-CN">
                <a:solidFill>
                  <a:srgbClr val="000000"/>
                </a:solidFill>
                <a:sym typeface="Symbol" panose="05050102010706020507" pitchFamily="18" charset="2"/>
              </a:rPr>
              <a:t></a:t>
            </a:r>
            <a:r>
              <a:rPr lang="en-US" altLang="zh-CN" i="1">
                <a:solidFill>
                  <a:srgbClr val="000000"/>
                </a:solidFill>
              </a:rPr>
              <a:t>D</a:t>
            </a:r>
            <a:r>
              <a:rPr lang="en-US" altLang="zh-CN">
                <a:solidFill>
                  <a:srgbClr val="000000"/>
                </a:solidFill>
              </a:rPr>
              <a:t>}</a:t>
            </a:r>
            <a:r>
              <a:rPr lang="zh-CN" altLang="en-US">
                <a:solidFill>
                  <a:srgbClr val="000000"/>
                </a:solidFill>
              </a:rPr>
              <a:t>。</a:t>
            </a:r>
          </a:p>
          <a:p>
            <a:pPr eaLnBrk="1" hangingPunct="1"/>
            <a:r>
              <a:rPr lang="zh-CN" altLang="en-US">
                <a:solidFill>
                  <a:srgbClr val="000099"/>
                </a:solidFill>
              </a:rPr>
              <a:t>例如，把学生的百分制分数分成</a:t>
            </a:r>
            <a:r>
              <a:rPr lang="en-US" altLang="zh-CN">
                <a:solidFill>
                  <a:srgbClr val="000099"/>
                </a:solidFill>
              </a:rPr>
              <a:t>A</a:t>
            </a:r>
            <a:r>
              <a:rPr lang="zh-CN" altLang="en-US">
                <a:solidFill>
                  <a:srgbClr val="000099"/>
                </a:solidFill>
              </a:rPr>
              <a:t>、</a:t>
            </a:r>
            <a:r>
              <a:rPr lang="en-US" altLang="zh-CN">
                <a:solidFill>
                  <a:srgbClr val="000099"/>
                </a:solidFill>
              </a:rPr>
              <a:t>B</a:t>
            </a:r>
            <a:r>
              <a:rPr lang="zh-CN" altLang="en-US">
                <a:solidFill>
                  <a:srgbClr val="000099"/>
                </a:solidFill>
              </a:rPr>
              <a:t>、</a:t>
            </a:r>
            <a:r>
              <a:rPr lang="en-US" altLang="zh-CN">
                <a:solidFill>
                  <a:srgbClr val="000099"/>
                </a:solidFill>
              </a:rPr>
              <a:t>C</a:t>
            </a:r>
            <a:r>
              <a:rPr lang="zh-CN" altLang="en-US">
                <a:solidFill>
                  <a:srgbClr val="000099"/>
                </a:solidFill>
              </a:rPr>
              <a:t>、</a:t>
            </a:r>
            <a:r>
              <a:rPr lang="en-US" altLang="zh-CN">
                <a:solidFill>
                  <a:srgbClr val="000099"/>
                </a:solidFill>
              </a:rPr>
              <a:t>D</a:t>
            </a:r>
            <a:r>
              <a:rPr lang="zh-CN" altLang="en-US">
                <a:solidFill>
                  <a:srgbClr val="000099"/>
                </a:solidFill>
              </a:rPr>
              <a:t>、</a:t>
            </a:r>
            <a:r>
              <a:rPr lang="en-US" altLang="zh-CN">
                <a:solidFill>
                  <a:srgbClr val="000099"/>
                </a:solidFill>
              </a:rPr>
              <a:t>F</a:t>
            </a:r>
            <a:r>
              <a:rPr lang="zh-CN" altLang="en-US">
                <a:solidFill>
                  <a:srgbClr val="000099"/>
                </a:solidFill>
              </a:rPr>
              <a:t>五类，就是一个分类问题： </a:t>
            </a:r>
            <a:r>
              <a:rPr lang="en-US" altLang="zh-CN" i="1">
                <a:solidFill>
                  <a:srgbClr val="000099"/>
                </a:solidFill>
              </a:rPr>
              <a:t>D</a:t>
            </a:r>
            <a:r>
              <a:rPr lang="zh-CN" altLang="en-US">
                <a:solidFill>
                  <a:srgbClr val="000099"/>
                </a:solidFill>
              </a:rPr>
              <a:t>是包含百分制分数在内的学生信息， </a:t>
            </a:r>
            <a:r>
              <a:rPr lang="en-US" altLang="zh-CN" i="1">
                <a:solidFill>
                  <a:srgbClr val="000099"/>
                </a:solidFill>
              </a:rPr>
              <a:t>C</a:t>
            </a:r>
            <a:r>
              <a:rPr lang="en-US" altLang="zh-CN">
                <a:solidFill>
                  <a:srgbClr val="000099"/>
                </a:solidFill>
              </a:rPr>
              <a:t>={A</a:t>
            </a:r>
            <a:r>
              <a:rPr lang="zh-CN" altLang="en-US">
                <a:solidFill>
                  <a:srgbClr val="000099"/>
                </a:solidFill>
              </a:rPr>
              <a:t>、</a:t>
            </a:r>
            <a:r>
              <a:rPr lang="en-US" altLang="zh-CN">
                <a:solidFill>
                  <a:srgbClr val="000099"/>
                </a:solidFill>
              </a:rPr>
              <a:t>B</a:t>
            </a:r>
            <a:r>
              <a:rPr lang="zh-CN" altLang="en-US">
                <a:solidFill>
                  <a:srgbClr val="000099"/>
                </a:solidFill>
              </a:rPr>
              <a:t>、</a:t>
            </a:r>
            <a:r>
              <a:rPr lang="en-US" altLang="zh-CN">
                <a:solidFill>
                  <a:srgbClr val="000099"/>
                </a:solidFill>
              </a:rPr>
              <a:t>C</a:t>
            </a:r>
            <a:r>
              <a:rPr lang="zh-CN" altLang="en-US">
                <a:solidFill>
                  <a:srgbClr val="000099"/>
                </a:solidFill>
              </a:rPr>
              <a:t>、</a:t>
            </a:r>
            <a:r>
              <a:rPr lang="en-US" altLang="zh-CN">
                <a:solidFill>
                  <a:srgbClr val="000099"/>
                </a:solidFill>
              </a:rPr>
              <a:t>D</a:t>
            </a:r>
            <a:r>
              <a:rPr lang="zh-CN" altLang="en-US">
                <a:solidFill>
                  <a:srgbClr val="000099"/>
                </a:solidFill>
              </a:rPr>
              <a:t>、</a:t>
            </a:r>
            <a:r>
              <a:rPr lang="en-US" altLang="zh-CN">
                <a:solidFill>
                  <a:srgbClr val="000099"/>
                </a:solidFill>
              </a:rPr>
              <a:t>F}</a:t>
            </a:r>
            <a:r>
              <a:rPr lang="zh-CN" altLang="en-US">
                <a:solidFill>
                  <a:srgbClr val="000099"/>
                </a:solidFill>
              </a:rPr>
              <a:t>。</a:t>
            </a:r>
          </a:p>
          <a:p>
            <a:pPr eaLnBrk="1" hangingPunct="1"/>
            <a:r>
              <a:rPr lang="zh-CN" altLang="en-US"/>
              <a:t>解决分类问题的关键是构造一个合适的分类器：从数据库到一组类别集的映射。一般地，这些类是被预先定义的、非交叠的。</a:t>
            </a:r>
            <a:endParaRPr lang="zh-CN" altLang="en-US">
              <a:solidFill>
                <a:srgbClr val="000099"/>
              </a:solidFill>
            </a:endParaRPr>
          </a:p>
          <a:p>
            <a:pPr eaLnBrk="1" hangingPunct="1"/>
            <a:endParaRPr lang="zh-CN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29" name="日期占位符 3">
            <a:extLst>
              <a:ext uri="{FF2B5EF4-FFF2-40B4-BE49-F238E27FC236}">
                <a16:creationId xmlns:a16="http://schemas.microsoft.com/office/drawing/2014/main" xmlns="" id="{D0C0E3F9-3668-49D9-8AF6-5F1A2E8AC3C6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7798C50D-88F9-4E7F-A0A3-28FAF5BC8EF1}" type="datetime4">
              <a:rPr lang="zh-CN" altLang="en-US" sz="12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2018年10月21日星期日</a:t>
            </a:fld>
            <a:endParaRPr lang="en-US" altLang="zh-CN" sz="12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2530" name="页脚占位符 4">
            <a:extLst>
              <a:ext uri="{FF2B5EF4-FFF2-40B4-BE49-F238E27FC236}">
                <a16:creationId xmlns:a16="http://schemas.microsoft.com/office/drawing/2014/main" xmlns="" id="{18891EAE-695D-4277-92C2-2A7664EAA78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200">
                <a:latin typeface="Tahoma" panose="020B0604030504040204" pitchFamily="34" charset="0"/>
                <a:ea typeface="宋体" panose="02010600030101010101" pitchFamily="2" charset="-122"/>
              </a:rPr>
              <a:t>DMKD  Sides</a:t>
            </a:r>
          </a:p>
        </p:txBody>
      </p:sp>
      <p:sp>
        <p:nvSpPr>
          <p:cNvPr id="22531" name="灯片编号占位符 5">
            <a:extLst>
              <a:ext uri="{FF2B5EF4-FFF2-40B4-BE49-F238E27FC236}">
                <a16:creationId xmlns:a16="http://schemas.microsoft.com/office/drawing/2014/main" xmlns="" id="{23BA0BE8-7444-4516-A87F-BE4EF023FC1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0CEF77F-6F05-47D8-ACCD-DF9FAEC2922C}" type="slidenum">
              <a:rPr lang="zh-CN" altLang="en-US" sz="14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5</a:t>
            </a:fld>
            <a:endParaRPr lang="en-US" altLang="zh-CN" sz="14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2532" name="Rectangle 2">
            <a:extLst>
              <a:ext uri="{FF2B5EF4-FFF2-40B4-BE49-F238E27FC236}">
                <a16:creationId xmlns:a16="http://schemas.microsoft.com/office/drawing/2014/main" xmlns="" id="{FB090DB4-F3D3-460C-A653-92EF9C7FF59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/>
              <a:t>数据分类的两个步骤</a:t>
            </a:r>
          </a:p>
        </p:txBody>
      </p:sp>
      <p:sp>
        <p:nvSpPr>
          <p:cNvPr id="22533" name="Rectangle 3">
            <a:extLst>
              <a:ext uri="{FF2B5EF4-FFF2-40B4-BE49-F238E27FC236}">
                <a16:creationId xmlns:a16="http://schemas.microsoft.com/office/drawing/2014/main" xmlns="" id="{5E6159A8-81D3-4F93-9020-EC91FE135FEF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r>
              <a:rPr lang="en-US" altLang="zh-CN" b="1"/>
              <a:t>1</a:t>
            </a:r>
            <a:r>
              <a:rPr lang="zh-CN" altLang="en-US" b="1"/>
              <a:t>．建立一个模型，描述预定的数据类集或概念集</a:t>
            </a:r>
            <a:endParaRPr lang="zh-CN" altLang="en-US"/>
          </a:p>
          <a:p>
            <a:pPr lvl="1" eaLnBrk="1" hangingPunct="1"/>
            <a:r>
              <a:rPr lang="zh-CN" altLang="en-US"/>
              <a:t>数据元组也称作样本、实例或对象。</a:t>
            </a:r>
          </a:p>
          <a:p>
            <a:pPr lvl="1" eaLnBrk="1" hangingPunct="1"/>
            <a:r>
              <a:rPr lang="zh-CN" altLang="en-US"/>
              <a:t>为建立模型而被分析的数据元组形成</a:t>
            </a:r>
            <a:r>
              <a:rPr lang="zh-CN" altLang="en-US">
                <a:solidFill>
                  <a:schemeClr val="hlink"/>
                </a:solidFill>
              </a:rPr>
              <a:t>训练数据集</a:t>
            </a:r>
            <a:r>
              <a:rPr lang="zh-CN" altLang="en-US"/>
              <a:t>。</a:t>
            </a:r>
          </a:p>
          <a:p>
            <a:pPr lvl="1" eaLnBrk="1" hangingPunct="1"/>
            <a:r>
              <a:rPr lang="zh-CN" altLang="en-US"/>
              <a:t>训练数据集中的单个元组称作训练样本，由于提供了每个训练样本的类标号，因此也称作有指导的学习。</a:t>
            </a:r>
          </a:p>
          <a:p>
            <a:pPr lvl="1" eaLnBrk="1" hangingPunct="1"/>
            <a:r>
              <a:rPr lang="zh-CN" altLang="en-US"/>
              <a:t>通过分析训练数据集来构造分类模型，可用分类规则、决策树或数学公式等形式提供。</a:t>
            </a:r>
            <a:endParaRPr lang="zh-CN" altLang="en-US" b="1"/>
          </a:p>
          <a:p>
            <a:pPr eaLnBrk="1" hangingPunct="1"/>
            <a:r>
              <a:rPr lang="en-US" altLang="zh-CN" b="1"/>
              <a:t>2</a:t>
            </a:r>
            <a:r>
              <a:rPr lang="zh-CN" altLang="en-US" b="1"/>
              <a:t>．使用模型进行分类</a:t>
            </a:r>
            <a:endParaRPr lang="zh-CN" altLang="en-US"/>
          </a:p>
          <a:p>
            <a:pPr lvl="1" eaLnBrk="1" hangingPunct="1"/>
            <a:r>
              <a:rPr lang="zh-CN" altLang="en-US"/>
              <a:t>首先评估模型（分类法）的预测准确率。</a:t>
            </a:r>
          </a:p>
          <a:p>
            <a:pPr lvl="1" eaLnBrk="1" hangingPunct="1"/>
            <a:r>
              <a:rPr lang="zh-CN" altLang="en-US"/>
              <a:t>如果认为模型的准确率可以接受，就可以用它对类标号未知的数据元组或对象进行分类。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53" name="日期占位符 1">
            <a:extLst>
              <a:ext uri="{FF2B5EF4-FFF2-40B4-BE49-F238E27FC236}">
                <a16:creationId xmlns:a16="http://schemas.microsoft.com/office/drawing/2014/main" xmlns="" id="{953CBC13-8749-4E1F-A082-1C40C493AB94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C1E626D7-FA45-418C-9215-1EB8157BDBF8}" type="datetime4">
              <a:rPr lang="zh-CN" altLang="en-US" sz="12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2018年10月21日星期日</a:t>
            </a:fld>
            <a:endParaRPr lang="en-US" altLang="zh-CN" sz="12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3554" name="页脚占位符 2">
            <a:extLst>
              <a:ext uri="{FF2B5EF4-FFF2-40B4-BE49-F238E27FC236}">
                <a16:creationId xmlns:a16="http://schemas.microsoft.com/office/drawing/2014/main" xmlns="" id="{48D0ED42-7E22-41B2-AE09-8D8D9D4269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200">
                <a:latin typeface="Tahoma" panose="020B0604030504040204" pitchFamily="34" charset="0"/>
                <a:ea typeface="宋体" panose="02010600030101010101" pitchFamily="2" charset="-122"/>
              </a:rPr>
              <a:t>DMKD  Sides</a:t>
            </a:r>
          </a:p>
        </p:txBody>
      </p:sp>
      <p:sp>
        <p:nvSpPr>
          <p:cNvPr id="23555" name="灯片编号占位符 3">
            <a:extLst>
              <a:ext uri="{FF2B5EF4-FFF2-40B4-BE49-F238E27FC236}">
                <a16:creationId xmlns:a16="http://schemas.microsoft.com/office/drawing/2014/main" xmlns="" id="{E152B4C8-368B-438B-8D20-EBC1A3D7F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62DF9EE5-5613-4479-B1CA-219518CAF501}" type="slidenum">
              <a:rPr lang="zh-CN" altLang="en-US" sz="14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6</a:t>
            </a:fld>
            <a:endParaRPr lang="en-US" altLang="zh-CN" sz="14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3556" name="Rectangle 5">
            <a:extLst>
              <a:ext uri="{FF2B5EF4-FFF2-40B4-BE49-F238E27FC236}">
                <a16:creationId xmlns:a16="http://schemas.microsoft.com/office/drawing/2014/main" xmlns="" id="{E5B5860D-33F4-4674-82A0-58E79722F91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95288" y="115888"/>
            <a:ext cx="8424862" cy="1655762"/>
          </a:xfrm>
          <a:prstGeom prst="rect">
            <a:avLst/>
          </a:prstGeom>
          <a:solidFill>
            <a:srgbClr val="339966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b"/>
          <a:lstStyle>
            <a:lvl1pPr marL="762000" indent="-762000"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 algn="ctr"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3200" b="1">
                <a:solidFill>
                  <a:schemeClr val="bg1"/>
                </a:solidFill>
                <a:latin typeface="隶书" panose="02010509060101010101" pitchFamily="49" charset="-122"/>
                <a:ea typeface="隶书" panose="02010509060101010101" pitchFamily="49" charset="-122"/>
              </a:rPr>
              <a:t>第四章  分类方法</a:t>
            </a:r>
            <a:r>
              <a:rPr lang="zh-CN" altLang="en-US" sz="3200">
                <a:solidFill>
                  <a:schemeClr val="bg1"/>
                </a:solidFill>
                <a:latin typeface="隶书" panose="02010509060101010101" pitchFamily="49" charset="-122"/>
                <a:ea typeface="隶书" panose="02010509060101010101" pitchFamily="49" charset="-122"/>
              </a:rPr>
              <a:t> </a:t>
            </a:r>
            <a:r>
              <a:rPr lang="zh-CN" altLang="en-US" sz="3200" b="1">
                <a:solidFill>
                  <a:schemeClr val="bg1"/>
                </a:solidFill>
                <a:latin typeface="隶书" panose="02010509060101010101" pitchFamily="49" charset="-122"/>
                <a:ea typeface="隶书" panose="02010509060101010101" pitchFamily="49" charset="-122"/>
              </a:rPr>
              <a:t/>
            </a:r>
            <a:br>
              <a:rPr lang="zh-CN" altLang="en-US" sz="3200" b="1">
                <a:solidFill>
                  <a:schemeClr val="bg1"/>
                </a:solidFill>
                <a:latin typeface="隶书" panose="02010509060101010101" pitchFamily="49" charset="-122"/>
                <a:ea typeface="隶书" panose="02010509060101010101" pitchFamily="49" charset="-122"/>
              </a:rPr>
            </a:br>
            <a:r>
              <a:rPr lang="zh-CN" altLang="en-US" sz="3200">
                <a:solidFill>
                  <a:schemeClr val="bg1"/>
                </a:solidFill>
                <a:latin typeface="隶书" panose="02010509060101010101" pitchFamily="49" charset="-122"/>
                <a:ea typeface="隶书" panose="02010509060101010101" pitchFamily="49" charset="-122"/>
              </a:rPr>
              <a:t> </a:t>
            </a:r>
            <a:r>
              <a:rPr lang="zh-CN" altLang="en-US" sz="3200" b="1">
                <a:solidFill>
                  <a:schemeClr val="bg1"/>
                </a:solidFill>
                <a:latin typeface="隶书" panose="02010509060101010101" pitchFamily="49" charset="-122"/>
                <a:ea typeface="隶书" panose="02010509060101010101" pitchFamily="49" charset="-122"/>
              </a:rPr>
              <a:t>                        </a:t>
            </a:r>
            <a:r>
              <a:rPr lang="zh-CN" altLang="en-US" sz="2400" b="1">
                <a:solidFill>
                  <a:schemeClr val="bg1"/>
                </a:solidFill>
              </a:rPr>
              <a:t>内容提要</a:t>
            </a:r>
            <a:endParaRPr lang="en-US" altLang="zh-CN" sz="2400" b="1">
              <a:solidFill>
                <a:schemeClr val="bg1"/>
              </a:solidFill>
            </a:endParaRPr>
          </a:p>
        </p:txBody>
      </p:sp>
      <p:sp>
        <p:nvSpPr>
          <p:cNvPr id="23557" name="Rectangle 6">
            <a:extLst>
              <a:ext uri="{FF2B5EF4-FFF2-40B4-BE49-F238E27FC236}">
                <a16:creationId xmlns:a16="http://schemas.microsoft.com/office/drawing/2014/main" xmlns="" id="{983037D2-CDC3-4E38-83F2-58175843FC53}"/>
              </a:ext>
            </a:extLst>
          </p:cNvPr>
          <p:cNvSpPr>
            <a:spLocks noChangeArrowheads="1"/>
          </p:cNvSpPr>
          <p:nvPr/>
        </p:nvSpPr>
        <p:spPr bwMode="auto">
          <a:xfrm>
            <a:off x="469900" y="1917700"/>
            <a:ext cx="8278813" cy="4391025"/>
          </a:xfrm>
          <a:prstGeom prst="rect">
            <a:avLst/>
          </a:prstGeom>
          <a:noFill/>
          <a:ln w="57150" cmpd="thickThin">
            <a:solidFill>
              <a:srgbClr val="339966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/>
          <a:lstStyle>
            <a:lvl1pPr marL="533400" indent="-533400"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tabLst>
                <a:tab pos="6178550" algn="l"/>
              </a:tabLst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tabLst>
                <a:tab pos="6178550" algn="l"/>
              </a:tabLst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tabLst>
                <a:tab pos="6178550" algn="l"/>
              </a:tabLst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tabLst>
                <a:tab pos="6178550" algn="l"/>
              </a:tabLst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tabLst>
                <a:tab pos="6178550" algn="l"/>
              </a:tabLst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tabLst>
                <a:tab pos="6178550" algn="l"/>
              </a:tabLst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tabLst>
                <a:tab pos="6178550" algn="l"/>
              </a:tabLst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tabLst>
                <a:tab pos="6178550" algn="l"/>
              </a:tabLst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tabLst>
                <a:tab pos="6178550" algn="l"/>
              </a:tabLst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 eaLnBrk="1" hangingPunct="1">
              <a:spcBef>
                <a:spcPct val="30000"/>
              </a:spcBef>
            </a:pPr>
            <a:r>
              <a:rPr lang="zh-CN" altLang="en-US">
                <a:latin typeface="隶书" panose="02010509060101010101" pitchFamily="49" charset="-122"/>
                <a:ea typeface="隶书" panose="02010509060101010101" pitchFamily="49" charset="-122"/>
              </a:rPr>
              <a:t>分类的基本概念与步骤 </a:t>
            </a:r>
            <a:endParaRPr lang="en-US" altLang="zh-CN">
              <a:latin typeface="隶书" panose="02010509060101010101" pitchFamily="49" charset="-122"/>
              <a:ea typeface="隶书" panose="02010509060101010101" pitchFamily="49" charset="-122"/>
            </a:endParaRPr>
          </a:p>
          <a:p>
            <a:pPr eaLnBrk="1" hangingPunct="1">
              <a:spcBef>
                <a:spcPct val="30000"/>
              </a:spcBef>
            </a:pPr>
            <a:r>
              <a:rPr lang="zh-CN" altLang="en-US">
                <a:solidFill>
                  <a:schemeClr val="hlink"/>
                </a:solidFill>
                <a:latin typeface="隶书" panose="02010509060101010101" pitchFamily="49" charset="-122"/>
                <a:ea typeface="隶书" panose="02010509060101010101" pitchFamily="49" charset="-122"/>
              </a:rPr>
              <a:t>基于距离的分类算法</a:t>
            </a:r>
            <a:r>
              <a:rPr lang="zh-CN" altLang="en-US">
                <a:latin typeface="隶书" panose="02010509060101010101" pitchFamily="49" charset="-122"/>
                <a:ea typeface="隶书" panose="02010509060101010101" pitchFamily="49" charset="-122"/>
              </a:rPr>
              <a:t> </a:t>
            </a:r>
          </a:p>
          <a:p>
            <a:pPr eaLnBrk="1" hangingPunct="1">
              <a:spcBef>
                <a:spcPct val="30000"/>
              </a:spcBef>
            </a:pPr>
            <a:r>
              <a:rPr lang="zh-CN" altLang="en-US">
                <a:latin typeface="隶书" panose="02010509060101010101" pitchFamily="49" charset="-122"/>
                <a:ea typeface="隶书" panose="02010509060101010101" pitchFamily="49" charset="-122"/>
              </a:rPr>
              <a:t>决策树分类方法 </a:t>
            </a:r>
          </a:p>
          <a:p>
            <a:pPr eaLnBrk="1" hangingPunct="1">
              <a:spcBef>
                <a:spcPct val="30000"/>
              </a:spcBef>
            </a:pPr>
            <a:r>
              <a:rPr lang="zh-CN" altLang="en-US">
                <a:latin typeface="隶书" panose="02010509060101010101" pitchFamily="49" charset="-122"/>
                <a:ea typeface="隶书" panose="02010509060101010101" pitchFamily="49" charset="-122"/>
              </a:rPr>
              <a:t>贝叶斯分类 </a:t>
            </a:r>
          </a:p>
          <a:p>
            <a:pPr eaLnBrk="1" hangingPunct="1">
              <a:spcBef>
                <a:spcPct val="30000"/>
              </a:spcBef>
            </a:pPr>
            <a:r>
              <a:rPr lang="zh-CN" altLang="en-US">
                <a:latin typeface="隶书" panose="02010509060101010101" pitchFamily="49" charset="-122"/>
                <a:ea typeface="隶书" panose="02010509060101010101" pitchFamily="49" charset="-122"/>
              </a:rPr>
              <a:t>规则归纳 </a:t>
            </a:r>
          </a:p>
          <a:p>
            <a:pPr eaLnBrk="1" hangingPunct="1">
              <a:spcBef>
                <a:spcPct val="30000"/>
              </a:spcBef>
            </a:pPr>
            <a:r>
              <a:rPr lang="zh-CN" altLang="en-US">
                <a:latin typeface="隶书" panose="02010509060101010101" pitchFamily="49" charset="-122"/>
                <a:ea typeface="隶书" panose="02010509060101010101" pitchFamily="49" charset="-122"/>
              </a:rPr>
              <a:t>与分类有关的问题 </a:t>
            </a:r>
          </a:p>
          <a:p>
            <a:pPr eaLnBrk="1" hangingPunct="1">
              <a:buFont typeface="Wingdings" panose="05000000000000000000" pitchFamily="2" charset="2"/>
              <a:buNone/>
            </a:pPr>
            <a:endParaRPr lang="en-US" altLang="zh-CN">
              <a:latin typeface="隶书" panose="02010509060101010101" pitchFamily="49" charset="-122"/>
              <a:ea typeface="隶书" panose="02010509060101010101" pitchFamily="49" charset="-122"/>
            </a:endParaRPr>
          </a:p>
        </p:txBody>
      </p:sp>
      <p:pic>
        <p:nvPicPr>
          <p:cNvPr id="23558" name="Picture 8" descr="j0237704">
            <a:extLst>
              <a:ext uri="{FF2B5EF4-FFF2-40B4-BE49-F238E27FC236}">
                <a16:creationId xmlns:a16="http://schemas.microsoft.com/office/drawing/2014/main" xmlns="" id="{09CC84D1-7E69-4D3E-A1B4-C2B3C505EBBD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626100" y="3068638"/>
            <a:ext cx="2867025" cy="30972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7" name="日期占位符 3">
            <a:extLst>
              <a:ext uri="{FF2B5EF4-FFF2-40B4-BE49-F238E27FC236}">
                <a16:creationId xmlns:a16="http://schemas.microsoft.com/office/drawing/2014/main" xmlns="" id="{ED32F8E5-ED20-4B8A-B787-22811CD4DA4A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A6EEAA4B-D5E6-41E5-B716-AD7E98E67ABE}" type="datetime4">
              <a:rPr lang="zh-CN" altLang="en-US" sz="12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2018年10月21日星期日</a:t>
            </a:fld>
            <a:endParaRPr lang="en-US" altLang="zh-CN" sz="12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4578" name="页脚占位符 4">
            <a:extLst>
              <a:ext uri="{FF2B5EF4-FFF2-40B4-BE49-F238E27FC236}">
                <a16:creationId xmlns:a16="http://schemas.microsoft.com/office/drawing/2014/main" xmlns="" id="{E80ADB9B-5835-4269-BA5E-C8B2723028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200">
                <a:latin typeface="Tahoma" panose="020B0604030504040204" pitchFamily="34" charset="0"/>
                <a:ea typeface="宋体" panose="02010600030101010101" pitchFamily="2" charset="-122"/>
              </a:rPr>
              <a:t>DMKD  Sides</a:t>
            </a:r>
          </a:p>
        </p:txBody>
      </p:sp>
      <p:sp>
        <p:nvSpPr>
          <p:cNvPr id="24579" name="灯片编号占位符 5">
            <a:extLst>
              <a:ext uri="{FF2B5EF4-FFF2-40B4-BE49-F238E27FC236}">
                <a16:creationId xmlns:a16="http://schemas.microsoft.com/office/drawing/2014/main" xmlns="" id="{DDD69C3C-BB3A-4580-8756-6CA36C3B439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7D3CCF4-8BD3-4F81-AD25-8442E5AA0CA1}" type="slidenum">
              <a:rPr lang="zh-CN" altLang="en-US" sz="14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7</a:t>
            </a:fld>
            <a:endParaRPr lang="en-US" altLang="zh-CN" sz="14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4580" name="Rectangle 2">
            <a:extLst>
              <a:ext uri="{FF2B5EF4-FFF2-40B4-BE49-F238E27FC236}">
                <a16:creationId xmlns:a16="http://schemas.microsoft.com/office/drawing/2014/main" xmlns="" id="{CD59134E-9335-4B6B-A774-3206573ED62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/>
              <a:t>基于距离的分类算法的思路</a:t>
            </a:r>
          </a:p>
        </p:txBody>
      </p:sp>
      <p:sp>
        <p:nvSpPr>
          <p:cNvPr id="24581" name="Rectangle 3">
            <a:extLst>
              <a:ext uri="{FF2B5EF4-FFF2-40B4-BE49-F238E27FC236}">
                <a16:creationId xmlns:a16="http://schemas.microsoft.com/office/drawing/2014/main" xmlns="" id="{6864CF93-5A8A-4AED-914C-D760EF80715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zh-CN" altLang="en-US" b="1"/>
              <a:t>定义</a:t>
            </a:r>
            <a:r>
              <a:rPr lang="en-US" altLang="zh-CN" b="1"/>
              <a:t>4-2 </a:t>
            </a:r>
            <a:r>
              <a:rPr lang="zh-CN" altLang="en-US" b="1"/>
              <a:t>给定一个数据库 </a:t>
            </a:r>
            <a:r>
              <a:rPr lang="en-US" altLang="zh-CN" b="1" i="1"/>
              <a:t>D</a:t>
            </a:r>
            <a:r>
              <a:rPr lang="en-US" altLang="zh-CN" b="1"/>
              <a:t>={</a:t>
            </a:r>
            <a:r>
              <a:rPr lang="en-US" altLang="zh-CN" b="1" i="1"/>
              <a:t>t</a:t>
            </a:r>
            <a:r>
              <a:rPr lang="en-US" altLang="zh-CN" b="1" baseline="-25000"/>
              <a:t>1</a:t>
            </a:r>
            <a:r>
              <a:rPr lang="zh-CN" altLang="en-US" b="1"/>
              <a:t>，</a:t>
            </a:r>
            <a:r>
              <a:rPr lang="en-US" altLang="zh-CN" b="1" i="1"/>
              <a:t>t</a:t>
            </a:r>
            <a:r>
              <a:rPr lang="en-US" altLang="zh-CN" b="1" baseline="-25000"/>
              <a:t>2</a:t>
            </a:r>
            <a:r>
              <a:rPr lang="zh-CN" altLang="en-US" b="1"/>
              <a:t>，</a:t>
            </a:r>
            <a:r>
              <a:rPr lang="en-US" altLang="zh-CN" b="1">
                <a:latin typeface="Tahoma" panose="020B0604030504040204" pitchFamily="34" charset="0"/>
              </a:rPr>
              <a:t>…</a:t>
            </a:r>
            <a:r>
              <a:rPr lang="zh-CN" altLang="en-US" b="1"/>
              <a:t>，</a:t>
            </a:r>
            <a:r>
              <a:rPr lang="en-US" altLang="zh-CN" b="1" i="1"/>
              <a:t>t</a:t>
            </a:r>
            <a:r>
              <a:rPr lang="en-US" altLang="zh-CN" b="1" baseline="-25000"/>
              <a:t>n</a:t>
            </a:r>
            <a:r>
              <a:rPr lang="en-US" altLang="zh-CN" b="1"/>
              <a:t>}</a:t>
            </a:r>
            <a:r>
              <a:rPr lang="zh-CN" altLang="en-US" b="1"/>
              <a:t>和一组类</a:t>
            </a:r>
            <a:r>
              <a:rPr lang="en-US" altLang="zh-CN" b="1" i="1"/>
              <a:t>C</a:t>
            </a:r>
            <a:r>
              <a:rPr lang="en-US" altLang="zh-CN" b="1"/>
              <a:t>={</a:t>
            </a:r>
            <a:r>
              <a:rPr lang="en-US" altLang="zh-CN" b="1" i="1"/>
              <a:t>C</a:t>
            </a:r>
            <a:r>
              <a:rPr lang="en-US" altLang="zh-CN" b="1" baseline="-25000"/>
              <a:t>1</a:t>
            </a:r>
            <a:r>
              <a:rPr lang="zh-CN" altLang="en-US" b="1"/>
              <a:t>，</a:t>
            </a:r>
            <a:r>
              <a:rPr lang="en-US" altLang="zh-CN" b="1">
                <a:latin typeface="Tahoma" panose="020B0604030504040204" pitchFamily="34" charset="0"/>
              </a:rPr>
              <a:t>…</a:t>
            </a:r>
            <a:r>
              <a:rPr lang="zh-CN" altLang="en-US" b="1"/>
              <a:t>，</a:t>
            </a:r>
            <a:r>
              <a:rPr lang="en-US" altLang="zh-CN" b="1" i="1"/>
              <a:t>C</a:t>
            </a:r>
            <a:r>
              <a:rPr lang="en-US" altLang="zh-CN" b="1" baseline="-25000"/>
              <a:t>m</a:t>
            </a:r>
            <a:r>
              <a:rPr lang="en-US" altLang="zh-CN" b="1"/>
              <a:t>}</a:t>
            </a:r>
            <a:r>
              <a:rPr lang="zh-CN" altLang="en-US" b="1"/>
              <a:t>。假定每个元组包括一些数值型的属性值：</a:t>
            </a:r>
            <a:r>
              <a:rPr lang="en-US" altLang="zh-CN" b="1" i="1"/>
              <a:t>t</a:t>
            </a:r>
            <a:r>
              <a:rPr lang="en-US" altLang="zh-CN" b="1" baseline="-25000"/>
              <a:t>i</a:t>
            </a:r>
            <a:r>
              <a:rPr lang="en-US" altLang="zh-CN" b="1"/>
              <a:t>={</a:t>
            </a:r>
            <a:r>
              <a:rPr lang="en-US" altLang="zh-CN" b="1" i="1"/>
              <a:t>t</a:t>
            </a:r>
            <a:r>
              <a:rPr lang="en-US" altLang="zh-CN" b="1" baseline="-25000"/>
              <a:t>i1</a:t>
            </a:r>
            <a:r>
              <a:rPr lang="zh-CN" altLang="en-US" b="1"/>
              <a:t>，</a:t>
            </a:r>
            <a:r>
              <a:rPr lang="en-US" altLang="zh-CN" b="1" i="1"/>
              <a:t>t</a:t>
            </a:r>
            <a:r>
              <a:rPr lang="en-US" altLang="zh-CN" b="1" baseline="-25000"/>
              <a:t>i2</a:t>
            </a:r>
            <a:r>
              <a:rPr lang="zh-CN" altLang="en-US" b="1"/>
              <a:t>，</a:t>
            </a:r>
            <a:r>
              <a:rPr lang="en-US" altLang="zh-CN" b="1">
                <a:latin typeface="Tahoma" panose="020B0604030504040204" pitchFamily="34" charset="0"/>
              </a:rPr>
              <a:t>…</a:t>
            </a:r>
            <a:r>
              <a:rPr lang="zh-CN" altLang="en-US" b="1"/>
              <a:t>，</a:t>
            </a:r>
            <a:r>
              <a:rPr lang="en-US" altLang="zh-CN" b="1" i="1"/>
              <a:t>t</a:t>
            </a:r>
            <a:r>
              <a:rPr lang="en-US" altLang="zh-CN" b="1" baseline="-25000"/>
              <a:t>ik</a:t>
            </a:r>
            <a:r>
              <a:rPr lang="en-US" altLang="zh-CN" b="1"/>
              <a:t>}</a:t>
            </a:r>
            <a:r>
              <a:rPr lang="zh-CN" altLang="en-US" b="1"/>
              <a:t>，每个类也包含数值性属性值：</a:t>
            </a:r>
            <a:r>
              <a:rPr lang="en-US" altLang="zh-CN" b="1" i="1"/>
              <a:t>C</a:t>
            </a:r>
            <a:r>
              <a:rPr lang="en-US" altLang="zh-CN" b="1" baseline="-25000"/>
              <a:t>j</a:t>
            </a:r>
            <a:r>
              <a:rPr lang="en-US" altLang="zh-CN" b="1"/>
              <a:t>={</a:t>
            </a:r>
            <a:r>
              <a:rPr lang="en-US" altLang="zh-CN" b="1" i="1"/>
              <a:t>C</a:t>
            </a:r>
            <a:r>
              <a:rPr lang="en-US" altLang="zh-CN" b="1" baseline="-25000"/>
              <a:t>j1</a:t>
            </a:r>
            <a:r>
              <a:rPr lang="zh-CN" altLang="en-US" b="1"/>
              <a:t>，</a:t>
            </a:r>
            <a:r>
              <a:rPr lang="en-US" altLang="zh-CN" b="1" i="1"/>
              <a:t>C</a:t>
            </a:r>
            <a:r>
              <a:rPr lang="en-US" altLang="zh-CN" b="1" baseline="-25000"/>
              <a:t>j2</a:t>
            </a:r>
            <a:r>
              <a:rPr lang="zh-CN" altLang="en-US" b="1"/>
              <a:t>，</a:t>
            </a:r>
            <a:r>
              <a:rPr lang="en-US" altLang="zh-CN" b="1">
                <a:latin typeface="Tahoma" panose="020B0604030504040204" pitchFamily="34" charset="0"/>
              </a:rPr>
              <a:t>…</a:t>
            </a:r>
            <a:r>
              <a:rPr lang="zh-CN" altLang="en-US" b="1"/>
              <a:t>，</a:t>
            </a:r>
            <a:r>
              <a:rPr lang="en-US" altLang="zh-CN" b="1" i="1"/>
              <a:t>C</a:t>
            </a:r>
            <a:r>
              <a:rPr lang="en-US" altLang="zh-CN" b="1" baseline="-25000"/>
              <a:t>jk</a:t>
            </a:r>
            <a:r>
              <a:rPr lang="en-US" altLang="zh-CN" b="1"/>
              <a:t>}</a:t>
            </a:r>
            <a:r>
              <a:rPr lang="zh-CN" altLang="en-US" b="1"/>
              <a:t>，则分类问题是要分配每个</a:t>
            </a:r>
            <a:r>
              <a:rPr lang="en-US" altLang="zh-CN" b="1"/>
              <a:t>t</a:t>
            </a:r>
            <a:r>
              <a:rPr lang="en-US" altLang="zh-CN" b="1" baseline="-25000"/>
              <a:t>i</a:t>
            </a:r>
            <a:r>
              <a:rPr lang="zh-CN" altLang="en-US" b="1"/>
              <a:t>到满足如下条件的类</a:t>
            </a:r>
            <a:r>
              <a:rPr lang="en-US" altLang="zh-CN" b="1" i="1"/>
              <a:t>C</a:t>
            </a:r>
            <a:r>
              <a:rPr lang="en-US" altLang="zh-CN" b="1" baseline="-25000"/>
              <a:t>j</a:t>
            </a:r>
            <a:r>
              <a:rPr lang="zh-CN" altLang="en-US" b="1"/>
              <a:t>：</a:t>
            </a:r>
            <a:endParaRPr lang="zh-CN" altLang="en-US" b="1" i="1"/>
          </a:p>
          <a:p>
            <a:pPr lvl="1" eaLnBrk="1" hangingPunct="1">
              <a:buFont typeface="Wingdings" panose="05000000000000000000" pitchFamily="2" charset="2"/>
              <a:buNone/>
            </a:pPr>
            <a:r>
              <a:rPr lang="en-US" altLang="zh-CN" b="1" i="1"/>
              <a:t>sim</a:t>
            </a:r>
            <a:r>
              <a:rPr lang="en-US" altLang="zh-CN" b="1"/>
              <a:t>(</a:t>
            </a:r>
            <a:r>
              <a:rPr lang="en-US" altLang="zh-CN" b="1" i="1"/>
              <a:t>t</a:t>
            </a:r>
            <a:r>
              <a:rPr lang="en-US" altLang="zh-CN" b="1" baseline="-25000"/>
              <a:t>i</a:t>
            </a:r>
            <a:r>
              <a:rPr lang="zh-CN" altLang="en-US" b="1"/>
              <a:t>，</a:t>
            </a:r>
            <a:r>
              <a:rPr lang="en-US" altLang="zh-CN" b="1" i="1"/>
              <a:t>C</a:t>
            </a:r>
            <a:r>
              <a:rPr lang="en-US" altLang="zh-CN" b="1" baseline="-25000"/>
              <a:t>j</a:t>
            </a:r>
            <a:r>
              <a:rPr lang="en-US" altLang="zh-CN" b="1"/>
              <a:t>)&gt;=</a:t>
            </a:r>
            <a:r>
              <a:rPr lang="en-US" altLang="zh-CN" b="1" i="1"/>
              <a:t>sim</a:t>
            </a:r>
            <a:r>
              <a:rPr lang="en-US" altLang="zh-CN" b="1"/>
              <a:t>(</a:t>
            </a:r>
            <a:r>
              <a:rPr lang="en-US" altLang="zh-CN" b="1" i="1"/>
              <a:t>t</a:t>
            </a:r>
            <a:r>
              <a:rPr lang="en-US" altLang="zh-CN" b="1" baseline="-25000"/>
              <a:t>i</a:t>
            </a:r>
            <a:r>
              <a:rPr lang="zh-CN" altLang="en-US" b="1"/>
              <a:t>，</a:t>
            </a:r>
            <a:r>
              <a:rPr lang="en-US" altLang="zh-CN" b="1" i="1"/>
              <a:t>C</a:t>
            </a:r>
            <a:r>
              <a:rPr lang="en-US" altLang="zh-CN" b="1" baseline="-25000"/>
              <a:t>l</a:t>
            </a:r>
            <a:r>
              <a:rPr lang="en-US" altLang="zh-CN" b="1"/>
              <a:t>) </a:t>
            </a:r>
            <a:r>
              <a:rPr lang="zh-CN" altLang="en-US" b="1"/>
              <a:t>，</a:t>
            </a:r>
            <a:r>
              <a:rPr lang="zh-CN" altLang="en-US" b="1">
                <a:sym typeface="Symbol" panose="05050102010706020507" pitchFamily="18" charset="2"/>
              </a:rPr>
              <a:t></a:t>
            </a:r>
            <a:r>
              <a:rPr lang="en-US" altLang="zh-CN" b="1" i="1"/>
              <a:t>C</a:t>
            </a:r>
            <a:r>
              <a:rPr lang="en-US" altLang="zh-CN" b="1" baseline="-25000"/>
              <a:t>l</a:t>
            </a:r>
            <a:r>
              <a:rPr lang="en-US" altLang="zh-CN" b="1"/>
              <a:t>∈</a:t>
            </a:r>
            <a:r>
              <a:rPr lang="en-US" altLang="zh-CN" b="1" i="1"/>
              <a:t>C</a:t>
            </a:r>
            <a:r>
              <a:rPr lang="zh-CN" altLang="en-US" b="1"/>
              <a:t>，</a:t>
            </a:r>
            <a:r>
              <a:rPr lang="en-US" altLang="zh-CN" b="1" i="1"/>
              <a:t>C</a:t>
            </a:r>
            <a:r>
              <a:rPr lang="en-US" altLang="zh-CN" b="1" baseline="-25000"/>
              <a:t>l</a:t>
            </a:r>
            <a:r>
              <a:rPr lang="en-US" altLang="zh-CN" b="1"/>
              <a:t>≠</a:t>
            </a:r>
            <a:r>
              <a:rPr lang="en-US" altLang="zh-CN" b="1" i="1"/>
              <a:t>C</a:t>
            </a:r>
            <a:r>
              <a:rPr lang="en-US" altLang="zh-CN" b="1" baseline="-25000"/>
              <a:t>j</a:t>
            </a:r>
            <a:r>
              <a:rPr lang="zh-CN" altLang="en-US" b="1"/>
              <a:t>，</a:t>
            </a:r>
          </a:p>
          <a:p>
            <a:pPr eaLnBrk="1" hangingPunct="1">
              <a:buFont typeface="Wingdings" panose="05000000000000000000" pitchFamily="2" charset="2"/>
              <a:buNone/>
            </a:pPr>
            <a:r>
              <a:rPr lang="zh-CN" altLang="en-US" b="1"/>
              <a:t>其中</a:t>
            </a:r>
            <a:r>
              <a:rPr lang="en-US" altLang="zh-CN" b="1" i="1"/>
              <a:t>sim</a:t>
            </a:r>
            <a:r>
              <a:rPr lang="en-US" altLang="zh-CN" b="1"/>
              <a:t>(</a:t>
            </a:r>
            <a:r>
              <a:rPr lang="en-US" altLang="zh-CN" b="1" i="1"/>
              <a:t>t</a:t>
            </a:r>
            <a:r>
              <a:rPr lang="en-US" altLang="zh-CN" b="1" baseline="-25000"/>
              <a:t>i</a:t>
            </a:r>
            <a:r>
              <a:rPr lang="zh-CN" altLang="en-US" b="1"/>
              <a:t>，</a:t>
            </a:r>
            <a:r>
              <a:rPr lang="en-US" altLang="zh-CN" b="1" i="1"/>
              <a:t>C</a:t>
            </a:r>
            <a:r>
              <a:rPr lang="en-US" altLang="zh-CN" b="1" baseline="-25000"/>
              <a:t>j</a:t>
            </a:r>
            <a:r>
              <a:rPr lang="en-US" altLang="zh-CN" b="1"/>
              <a:t>)</a:t>
            </a:r>
            <a:r>
              <a:rPr lang="zh-CN" altLang="en-US" b="1"/>
              <a:t>被称为相似性。</a:t>
            </a:r>
          </a:p>
          <a:p>
            <a:pPr eaLnBrk="1" hangingPunct="1"/>
            <a:r>
              <a:rPr lang="zh-CN" altLang="en-US" b="1">
                <a:solidFill>
                  <a:srgbClr val="000066"/>
                </a:solidFill>
              </a:rPr>
              <a:t>在实际的计算中往往用</a:t>
            </a:r>
            <a:r>
              <a:rPr lang="zh-CN" altLang="en-US" b="1">
                <a:solidFill>
                  <a:schemeClr val="hlink"/>
                </a:solidFill>
              </a:rPr>
              <a:t>距离</a:t>
            </a:r>
            <a:r>
              <a:rPr lang="zh-CN" altLang="en-US" b="1">
                <a:solidFill>
                  <a:srgbClr val="000066"/>
                </a:solidFill>
              </a:rPr>
              <a:t>来表征，距离越近，相似性越大，距离越远，相似性越小。</a:t>
            </a:r>
          </a:p>
          <a:p>
            <a:pPr eaLnBrk="1" hangingPunct="1"/>
            <a:r>
              <a:rPr lang="zh-CN" altLang="en-US" b="1"/>
              <a:t>距离的计算方法有多种，最常用的是通过计算每个类的中心来完成。</a:t>
            </a:r>
            <a:endParaRPr lang="zh-CN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01" name="日期占位符 3">
            <a:extLst>
              <a:ext uri="{FF2B5EF4-FFF2-40B4-BE49-F238E27FC236}">
                <a16:creationId xmlns:a16="http://schemas.microsoft.com/office/drawing/2014/main" xmlns="" id="{6BF08A87-30A0-4187-841E-28436175D09B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34E08F78-72C9-4536-B177-9F587862E267}" type="datetime4">
              <a:rPr lang="zh-CN" altLang="en-US" sz="12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2018年10月21日星期日</a:t>
            </a:fld>
            <a:endParaRPr lang="en-US" altLang="zh-CN" sz="12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5602" name="页脚占位符 4">
            <a:extLst>
              <a:ext uri="{FF2B5EF4-FFF2-40B4-BE49-F238E27FC236}">
                <a16:creationId xmlns:a16="http://schemas.microsoft.com/office/drawing/2014/main" xmlns="" id="{6940EBD8-AD63-493C-B660-C394C9F9B82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200">
                <a:latin typeface="Tahoma" panose="020B0604030504040204" pitchFamily="34" charset="0"/>
                <a:ea typeface="宋体" panose="02010600030101010101" pitchFamily="2" charset="-122"/>
              </a:rPr>
              <a:t>DMKD  Sides</a:t>
            </a:r>
          </a:p>
        </p:txBody>
      </p:sp>
      <p:sp>
        <p:nvSpPr>
          <p:cNvPr id="25603" name="灯片编号占位符 5">
            <a:extLst>
              <a:ext uri="{FF2B5EF4-FFF2-40B4-BE49-F238E27FC236}">
                <a16:creationId xmlns:a16="http://schemas.microsoft.com/office/drawing/2014/main" xmlns="" id="{3E2C4033-C5AD-4600-B4C3-F3865A636F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D1C6471B-9F6E-48CC-B3D4-5A40829B800A}" type="slidenum">
              <a:rPr lang="zh-CN" altLang="en-US" sz="14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8</a:t>
            </a:fld>
            <a:endParaRPr lang="en-US" altLang="zh-CN" sz="14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5604" name="Rectangle 2">
            <a:extLst>
              <a:ext uri="{FF2B5EF4-FFF2-40B4-BE49-F238E27FC236}">
                <a16:creationId xmlns:a16="http://schemas.microsoft.com/office/drawing/2014/main" xmlns="" id="{D0720D83-DC30-4E3F-81EC-BE6BE9B7F45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/>
              <a:t> 基于距离的分类搜索算法描述</a:t>
            </a:r>
            <a:endParaRPr lang="en-US" altLang="zh-CN"/>
          </a:p>
        </p:txBody>
      </p:sp>
      <p:sp>
        <p:nvSpPr>
          <p:cNvPr id="25605" name="Rectangle 3">
            <a:extLst>
              <a:ext uri="{FF2B5EF4-FFF2-40B4-BE49-F238E27FC236}">
                <a16:creationId xmlns:a16="http://schemas.microsoft.com/office/drawing/2014/main" xmlns="" id="{43E301C8-53D6-4471-9934-0D7CDE1019ED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zh-CN" altLang="en-US"/>
          </a:p>
          <a:p>
            <a:pPr eaLnBrk="1" hangingPunct="1"/>
            <a:endParaRPr lang="zh-CN" altLang="en-US"/>
          </a:p>
          <a:p>
            <a:pPr eaLnBrk="1" hangingPunct="1"/>
            <a:endParaRPr lang="zh-CN" altLang="en-US"/>
          </a:p>
          <a:p>
            <a:pPr eaLnBrk="1" hangingPunct="1"/>
            <a:endParaRPr lang="zh-CN" altLang="en-US"/>
          </a:p>
          <a:p>
            <a:pPr eaLnBrk="1" hangingPunct="1"/>
            <a:endParaRPr lang="zh-CN" altLang="en-US"/>
          </a:p>
          <a:p>
            <a:pPr eaLnBrk="1" hangingPunct="1"/>
            <a:endParaRPr lang="zh-CN" altLang="en-US"/>
          </a:p>
          <a:p>
            <a:pPr eaLnBrk="1" hangingPunct="1"/>
            <a:endParaRPr lang="zh-CN" altLang="en-US"/>
          </a:p>
          <a:p>
            <a:pPr eaLnBrk="1" hangingPunct="1"/>
            <a:endParaRPr lang="en-US" altLang="zh-CN"/>
          </a:p>
          <a:p>
            <a:pPr eaLnBrk="1" hangingPunct="1"/>
            <a:r>
              <a:rPr lang="zh-CN" altLang="en-US"/>
              <a:t>算法 </a:t>
            </a:r>
            <a:r>
              <a:rPr lang="en-US" altLang="zh-CN"/>
              <a:t>4-1</a:t>
            </a:r>
            <a:r>
              <a:rPr lang="zh-CN" altLang="en-US"/>
              <a:t>通过对每个元组和各个类的中心来比较，从而可以找出他的最近的类中心，得到确定的类别标记。</a:t>
            </a:r>
          </a:p>
        </p:txBody>
      </p:sp>
      <p:sp>
        <p:nvSpPr>
          <p:cNvPr id="25606" name="Text Box 4">
            <a:extLst>
              <a:ext uri="{FF2B5EF4-FFF2-40B4-BE49-F238E27FC236}">
                <a16:creationId xmlns:a16="http://schemas.microsoft.com/office/drawing/2014/main" xmlns="" id="{EC7BE934-39F8-4D44-857F-B1068BD1B7F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1052513"/>
            <a:ext cx="7848600" cy="3170237"/>
          </a:xfrm>
          <a:prstGeom prst="rect">
            <a:avLst/>
          </a:prstGeom>
          <a:solidFill>
            <a:schemeClr val="accent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000" b="1">
                <a:latin typeface="Tahoma" panose="020B0604030504040204" pitchFamily="34" charset="0"/>
                <a:ea typeface="宋体" panose="02010600030101010101" pitchFamily="2" charset="-122"/>
              </a:rPr>
              <a:t>算法 </a:t>
            </a:r>
            <a:r>
              <a:rPr lang="en-US" altLang="zh-CN" sz="2000" b="1">
                <a:latin typeface="Tahoma" panose="020B0604030504040204" pitchFamily="34" charset="0"/>
                <a:ea typeface="宋体" panose="02010600030101010101" pitchFamily="2" charset="-122"/>
              </a:rPr>
              <a:t>4-1 </a:t>
            </a:r>
            <a:r>
              <a:rPr lang="zh-CN" altLang="en-US" sz="2000">
                <a:latin typeface="Tahoma" panose="020B0604030504040204" pitchFamily="34" charset="0"/>
                <a:ea typeface="宋体" panose="02010600030101010101" pitchFamily="2" charset="-122"/>
              </a:rPr>
              <a:t>基于距离的分类算法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000">
                <a:latin typeface="Tahoma" panose="020B0604030504040204" pitchFamily="34" charset="0"/>
                <a:ea typeface="宋体" panose="02010600030101010101" pitchFamily="2" charset="-122"/>
              </a:rPr>
              <a:t>输入：每个类的中心</a:t>
            </a:r>
            <a:r>
              <a:rPr lang="en-US" altLang="zh-CN" sz="2000" i="1">
                <a:latin typeface="Tahoma" panose="020B0604030504040204" pitchFamily="34" charset="0"/>
                <a:ea typeface="宋体" panose="02010600030101010101" pitchFamily="2" charset="-122"/>
              </a:rPr>
              <a:t>C</a:t>
            </a:r>
            <a:r>
              <a:rPr lang="en-US" altLang="zh-CN" sz="2000" baseline="-25000">
                <a:latin typeface="Tahoma" panose="020B0604030504040204" pitchFamily="34" charset="0"/>
                <a:ea typeface="宋体" panose="02010600030101010101" pitchFamily="2" charset="-122"/>
              </a:rPr>
              <a:t>1</a:t>
            </a:r>
            <a:r>
              <a:rPr lang="zh-CN" altLang="en-US" sz="2000">
                <a:latin typeface="Tahoma" panose="020B0604030504040204" pitchFamily="34" charset="0"/>
                <a:ea typeface="宋体" panose="02010600030101010101" pitchFamily="2" charset="-122"/>
              </a:rPr>
              <a:t>，</a:t>
            </a:r>
            <a:r>
              <a:rPr lang="en-US" altLang="zh-CN" sz="2000">
                <a:latin typeface="Tahoma" panose="020B0604030504040204" pitchFamily="34" charset="0"/>
                <a:ea typeface="宋体" panose="02010600030101010101" pitchFamily="2" charset="-122"/>
              </a:rPr>
              <a:t>…</a:t>
            </a:r>
            <a:r>
              <a:rPr lang="zh-CN" altLang="en-US" sz="2000">
                <a:latin typeface="Tahoma" panose="020B0604030504040204" pitchFamily="34" charset="0"/>
                <a:ea typeface="宋体" panose="02010600030101010101" pitchFamily="2" charset="-122"/>
              </a:rPr>
              <a:t>，</a:t>
            </a:r>
            <a:r>
              <a:rPr lang="en-US" altLang="zh-CN" sz="2000" i="1">
                <a:latin typeface="Tahoma" panose="020B0604030504040204" pitchFamily="34" charset="0"/>
                <a:ea typeface="宋体" panose="02010600030101010101" pitchFamily="2" charset="-122"/>
              </a:rPr>
              <a:t>C</a:t>
            </a:r>
            <a:r>
              <a:rPr lang="en-US" altLang="zh-CN" sz="2000" baseline="-25000">
                <a:latin typeface="Tahoma" panose="020B0604030504040204" pitchFamily="34" charset="0"/>
                <a:ea typeface="宋体" panose="02010600030101010101" pitchFamily="2" charset="-122"/>
              </a:rPr>
              <a:t>m</a:t>
            </a:r>
            <a:r>
              <a:rPr lang="zh-CN" altLang="en-US" sz="2000">
                <a:latin typeface="Tahoma" panose="020B0604030504040204" pitchFamily="34" charset="0"/>
                <a:ea typeface="宋体" panose="02010600030101010101" pitchFamily="2" charset="-122"/>
              </a:rPr>
              <a:t>；待分类的元组</a:t>
            </a:r>
            <a:r>
              <a:rPr lang="en-US" altLang="zh-CN" sz="2000" i="1">
                <a:latin typeface="Tahoma" panose="020B0604030504040204" pitchFamily="34" charset="0"/>
                <a:ea typeface="宋体" panose="02010600030101010101" pitchFamily="2" charset="-122"/>
              </a:rPr>
              <a:t>t</a:t>
            </a:r>
            <a:r>
              <a:rPr lang="zh-CN" altLang="en-US" sz="2000">
                <a:latin typeface="Tahoma" panose="020B0604030504040204" pitchFamily="34" charset="0"/>
                <a:ea typeface="宋体" panose="02010600030101010101" pitchFamily="2" charset="-122"/>
              </a:rPr>
              <a:t>。 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000">
                <a:latin typeface="Tahoma" panose="020B0604030504040204" pitchFamily="34" charset="0"/>
                <a:ea typeface="宋体" panose="02010600030101010101" pitchFamily="2" charset="-122"/>
              </a:rPr>
              <a:t>输出：输出类别</a:t>
            </a:r>
            <a:r>
              <a:rPr lang="en-US" altLang="zh-CN" sz="2000" i="1">
                <a:latin typeface="Tahoma" panose="020B0604030504040204" pitchFamily="34" charset="0"/>
                <a:ea typeface="宋体" panose="02010600030101010101" pitchFamily="2" charset="-122"/>
              </a:rPr>
              <a:t>c</a:t>
            </a:r>
            <a:r>
              <a:rPr lang="zh-CN" altLang="en-US" sz="2000">
                <a:latin typeface="Tahoma" panose="020B0604030504040204" pitchFamily="34" charset="0"/>
                <a:ea typeface="宋体" panose="02010600030101010101" pitchFamily="2" charset="-122"/>
              </a:rPr>
              <a:t>。 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000">
                <a:latin typeface="Tahoma" panose="020B0604030504040204" pitchFamily="34" charset="0"/>
                <a:ea typeface="宋体" panose="02010600030101010101" pitchFamily="2" charset="-122"/>
              </a:rPr>
              <a:t>（</a:t>
            </a:r>
            <a:r>
              <a:rPr lang="en-US" altLang="zh-CN" sz="2000">
                <a:latin typeface="Tahoma" panose="020B0604030504040204" pitchFamily="34" charset="0"/>
                <a:ea typeface="宋体" panose="02010600030101010101" pitchFamily="2" charset="-122"/>
              </a:rPr>
              <a:t>1</a:t>
            </a:r>
            <a:r>
              <a:rPr lang="zh-CN" altLang="en-US" sz="2000">
                <a:latin typeface="Tahoma" panose="020B0604030504040204" pitchFamily="34" charset="0"/>
                <a:ea typeface="宋体" panose="02010600030101010101" pitchFamily="2" charset="-122"/>
              </a:rPr>
              <a:t>）</a:t>
            </a:r>
            <a:r>
              <a:rPr lang="en-US" altLang="zh-CN" sz="2000">
                <a:latin typeface="Tahoma" panose="020B0604030504040204" pitchFamily="34" charset="0"/>
                <a:ea typeface="宋体" panose="02010600030101010101" pitchFamily="2" charset="-122"/>
              </a:rPr>
              <a:t>dist=</a:t>
            </a:r>
            <a:r>
              <a:rPr lang="en-US" altLang="zh-CN" sz="2000" i="1">
                <a:latin typeface="Tahoma" panose="020B0604030504040204" pitchFamily="34" charset="0"/>
                <a:ea typeface="宋体" panose="02010600030101010101" pitchFamily="2" charset="-122"/>
              </a:rPr>
              <a:t>∞</a:t>
            </a:r>
            <a:r>
              <a:rPr lang="zh-CN" altLang="en-US" sz="2000">
                <a:latin typeface="Tahoma" panose="020B0604030504040204" pitchFamily="34" charset="0"/>
                <a:ea typeface="宋体" panose="02010600030101010101" pitchFamily="2" charset="-122"/>
              </a:rPr>
              <a:t>；</a:t>
            </a:r>
            <a:r>
              <a:rPr lang="en-US" altLang="zh-CN" sz="2000">
                <a:latin typeface="Tahoma" panose="020B0604030504040204" pitchFamily="34" charset="0"/>
                <a:ea typeface="宋体" panose="02010600030101010101" pitchFamily="2" charset="-122"/>
              </a:rPr>
              <a:t>//</a:t>
            </a:r>
            <a:r>
              <a:rPr lang="zh-CN" altLang="en-US" sz="2000">
                <a:latin typeface="Tahoma" panose="020B0604030504040204" pitchFamily="34" charset="0"/>
                <a:ea typeface="宋体" panose="02010600030101010101" pitchFamily="2" charset="-122"/>
              </a:rPr>
              <a:t>距离初始化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000">
                <a:latin typeface="Tahoma" panose="020B0604030504040204" pitchFamily="34" charset="0"/>
                <a:ea typeface="宋体" panose="02010600030101010101" pitchFamily="2" charset="-122"/>
              </a:rPr>
              <a:t>（</a:t>
            </a:r>
            <a:r>
              <a:rPr lang="en-US" altLang="zh-CN" sz="2000">
                <a:latin typeface="Tahoma" panose="020B0604030504040204" pitchFamily="34" charset="0"/>
                <a:ea typeface="宋体" panose="02010600030101010101" pitchFamily="2" charset="-122"/>
              </a:rPr>
              <a:t>2</a:t>
            </a:r>
            <a:r>
              <a:rPr lang="zh-CN" altLang="en-US" sz="2000">
                <a:latin typeface="Tahoma" panose="020B0604030504040204" pitchFamily="34" charset="0"/>
                <a:ea typeface="宋体" panose="02010600030101010101" pitchFamily="2" charset="-122"/>
              </a:rPr>
              <a:t>）</a:t>
            </a:r>
            <a:r>
              <a:rPr lang="en-US" altLang="zh-CN" sz="2000">
                <a:latin typeface="Tahoma" panose="020B0604030504040204" pitchFamily="34" charset="0"/>
                <a:ea typeface="宋体" panose="02010600030101010101" pitchFamily="2" charset="-122"/>
              </a:rPr>
              <a:t>FOR i:=1 to m DO 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000">
                <a:latin typeface="Tahoma" panose="020B0604030504040204" pitchFamily="34" charset="0"/>
                <a:ea typeface="宋体" panose="02010600030101010101" pitchFamily="2" charset="-122"/>
              </a:rPr>
              <a:t>（</a:t>
            </a:r>
            <a:r>
              <a:rPr lang="en-US" altLang="zh-CN" sz="2000">
                <a:latin typeface="Tahoma" panose="020B0604030504040204" pitchFamily="34" charset="0"/>
                <a:ea typeface="宋体" panose="02010600030101010101" pitchFamily="2" charset="-122"/>
              </a:rPr>
              <a:t>3</a:t>
            </a:r>
            <a:r>
              <a:rPr lang="zh-CN" altLang="en-US" sz="2000">
                <a:latin typeface="Tahoma" panose="020B0604030504040204" pitchFamily="34" charset="0"/>
                <a:ea typeface="宋体" panose="02010600030101010101" pitchFamily="2" charset="-122"/>
              </a:rPr>
              <a:t>）	   </a:t>
            </a:r>
            <a:r>
              <a:rPr lang="en-US" altLang="zh-CN" sz="2000">
                <a:latin typeface="Tahoma" panose="020B0604030504040204" pitchFamily="34" charset="0"/>
                <a:ea typeface="宋体" panose="02010600030101010101" pitchFamily="2" charset="-122"/>
              </a:rPr>
              <a:t>IF </a:t>
            </a:r>
            <a:r>
              <a:rPr lang="en-US" altLang="zh-CN" sz="2000" i="1">
                <a:latin typeface="Tahoma" panose="020B0604030504040204" pitchFamily="34" charset="0"/>
                <a:ea typeface="宋体" panose="02010600030101010101" pitchFamily="2" charset="-122"/>
              </a:rPr>
              <a:t>dis</a:t>
            </a:r>
            <a:r>
              <a:rPr lang="en-US" altLang="zh-CN" sz="2000">
                <a:latin typeface="Tahoma" panose="020B0604030504040204" pitchFamily="34" charset="0"/>
                <a:ea typeface="宋体" panose="02010600030101010101" pitchFamily="2" charset="-122"/>
              </a:rPr>
              <a:t>(</a:t>
            </a:r>
            <a:r>
              <a:rPr lang="en-US" altLang="zh-CN" sz="2000" i="1">
                <a:latin typeface="Tahoma" panose="020B0604030504040204" pitchFamily="34" charset="0"/>
                <a:ea typeface="宋体" panose="02010600030101010101" pitchFamily="2" charset="-122"/>
              </a:rPr>
              <a:t>c</a:t>
            </a:r>
            <a:r>
              <a:rPr lang="en-US" altLang="zh-CN" sz="2000" baseline="-25000">
                <a:latin typeface="Tahoma" panose="020B0604030504040204" pitchFamily="34" charset="0"/>
                <a:ea typeface="宋体" panose="02010600030101010101" pitchFamily="2" charset="-122"/>
              </a:rPr>
              <a:t>i</a:t>
            </a:r>
            <a:r>
              <a:rPr lang="zh-CN" altLang="en-US" sz="2000">
                <a:latin typeface="Tahoma" panose="020B0604030504040204" pitchFamily="34" charset="0"/>
                <a:ea typeface="宋体" panose="02010600030101010101" pitchFamily="2" charset="-122"/>
              </a:rPr>
              <a:t>，</a:t>
            </a:r>
            <a:r>
              <a:rPr lang="en-US" altLang="zh-CN" sz="2000" i="1">
                <a:latin typeface="Tahoma" panose="020B0604030504040204" pitchFamily="34" charset="0"/>
                <a:ea typeface="宋体" panose="02010600030101010101" pitchFamily="2" charset="-122"/>
              </a:rPr>
              <a:t>t</a:t>
            </a:r>
            <a:r>
              <a:rPr lang="en-US" altLang="zh-CN" sz="2000">
                <a:latin typeface="Tahoma" panose="020B0604030504040204" pitchFamily="34" charset="0"/>
                <a:ea typeface="宋体" panose="02010600030101010101" pitchFamily="2" charset="-122"/>
              </a:rPr>
              <a:t>)&lt;dist THEN BEGIN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000">
                <a:latin typeface="Tahoma" panose="020B0604030504040204" pitchFamily="34" charset="0"/>
                <a:ea typeface="宋体" panose="02010600030101010101" pitchFamily="2" charset="-122"/>
              </a:rPr>
              <a:t>（</a:t>
            </a:r>
            <a:r>
              <a:rPr lang="da-DK" altLang="zh-CN" sz="2000">
                <a:latin typeface="Tahoma" panose="020B0604030504040204" pitchFamily="34" charset="0"/>
                <a:ea typeface="宋体" panose="02010600030101010101" pitchFamily="2" charset="-122"/>
              </a:rPr>
              <a:t>4</a:t>
            </a:r>
            <a:r>
              <a:rPr lang="zh-CN" altLang="da-DK" sz="2000">
                <a:latin typeface="Tahoma" panose="020B0604030504040204" pitchFamily="34" charset="0"/>
                <a:ea typeface="宋体" panose="02010600030101010101" pitchFamily="2" charset="-122"/>
              </a:rPr>
              <a:t>）		</a:t>
            </a:r>
            <a:r>
              <a:rPr lang="da-DK" altLang="zh-CN" sz="2000" i="1">
                <a:latin typeface="Tahoma" panose="020B0604030504040204" pitchFamily="34" charset="0"/>
                <a:ea typeface="宋体" panose="02010600030101010101" pitchFamily="2" charset="-122"/>
              </a:rPr>
              <a:t>c</a:t>
            </a:r>
            <a:r>
              <a:rPr lang="da-DK" altLang="zh-CN" sz="2000">
                <a:latin typeface="Tahoma" panose="020B0604030504040204" pitchFamily="34" charset="0"/>
                <a:ea typeface="宋体" panose="02010600030101010101" pitchFamily="2" charset="-122"/>
              </a:rPr>
              <a:t>← i</a:t>
            </a:r>
            <a:r>
              <a:rPr lang="zh-CN" altLang="da-DK" sz="2000">
                <a:latin typeface="Tahoma" panose="020B0604030504040204" pitchFamily="34" charset="0"/>
                <a:ea typeface="宋体" panose="02010600030101010101" pitchFamily="2" charset="-122"/>
              </a:rPr>
              <a:t>；   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da-DK" sz="2000">
                <a:latin typeface="Tahoma" panose="020B0604030504040204" pitchFamily="34" charset="0"/>
                <a:ea typeface="宋体" panose="02010600030101010101" pitchFamily="2" charset="-122"/>
              </a:rPr>
              <a:t>（</a:t>
            </a:r>
            <a:r>
              <a:rPr lang="da-DK" altLang="zh-CN" sz="2000">
                <a:latin typeface="Tahoma" panose="020B0604030504040204" pitchFamily="34" charset="0"/>
                <a:ea typeface="宋体" panose="02010600030101010101" pitchFamily="2" charset="-122"/>
              </a:rPr>
              <a:t>5</a:t>
            </a:r>
            <a:r>
              <a:rPr lang="zh-CN" altLang="da-DK" sz="2000">
                <a:latin typeface="Tahoma" panose="020B0604030504040204" pitchFamily="34" charset="0"/>
                <a:ea typeface="宋体" panose="02010600030101010101" pitchFamily="2" charset="-122"/>
              </a:rPr>
              <a:t>）		</a:t>
            </a:r>
            <a:r>
              <a:rPr lang="da-DK" altLang="zh-CN" sz="2000">
                <a:latin typeface="Tahoma" panose="020B0604030504040204" pitchFamily="34" charset="0"/>
                <a:ea typeface="宋体" panose="02010600030101010101" pitchFamily="2" charset="-122"/>
              </a:rPr>
              <a:t>dist←dist(</a:t>
            </a:r>
            <a:r>
              <a:rPr lang="da-DK" altLang="zh-CN" sz="2000" i="1">
                <a:latin typeface="Tahoma" panose="020B0604030504040204" pitchFamily="34" charset="0"/>
                <a:ea typeface="宋体" panose="02010600030101010101" pitchFamily="2" charset="-122"/>
              </a:rPr>
              <a:t>c</a:t>
            </a:r>
            <a:r>
              <a:rPr lang="da-DK" altLang="zh-CN" sz="2000" baseline="-25000">
                <a:latin typeface="Tahoma" panose="020B0604030504040204" pitchFamily="34" charset="0"/>
                <a:ea typeface="宋体" panose="02010600030101010101" pitchFamily="2" charset="-122"/>
              </a:rPr>
              <a:t>i</a:t>
            </a:r>
            <a:r>
              <a:rPr lang="zh-CN" altLang="da-DK" sz="2000">
                <a:latin typeface="Tahoma" panose="020B0604030504040204" pitchFamily="34" charset="0"/>
                <a:ea typeface="宋体" panose="02010600030101010101" pitchFamily="2" charset="-122"/>
              </a:rPr>
              <a:t>，</a:t>
            </a:r>
            <a:r>
              <a:rPr lang="da-DK" altLang="zh-CN" sz="2000" i="1">
                <a:latin typeface="Tahoma" panose="020B0604030504040204" pitchFamily="34" charset="0"/>
                <a:ea typeface="宋体" panose="02010600030101010101" pitchFamily="2" charset="-122"/>
              </a:rPr>
              <a:t>t</a:t>
            </a:r>
            <a:r>
              <a:rPr lang="da-DK" altLang="zh-CN" sz="2000">
                <a:latin typeface="Tahoma" panose="020B0604030504040204" pitchFamily="34" charset="0"/>
                <a:ea typeface="宋体" panose="02010600030101010101" pitchFamily="2" charset="-122"/>
              </a:rPr>
              <a:t>)</a:t>
            </a:r>
            <a:r>
              <a:rPr lang="zh-CN" altLang="da-DK" sz="2000">
                <a:latin typeface="Tahoma" panose="020B0604030504040204" pitchFamily="34" charset="0"/>
                <a:ea typeface="宋体" panose="02010600030101010101" pitchFamily="2" charset="-122"/>
              </a:rPr>
              <a:t>；    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da-DK" sz="2000">
                <a:latin typeface="Tahoma" panose="020B0604030504040204" pitchFamily="34" charset="0"/>
                <a:ea typeface="宋体" panose="02010600030101010101" pitchFamily="2" charset="-122"/>
              </a:rPr>
              <a:t>（</a:t>
            </a:r>
            <a:r>
              <a:rPr lang="da-DK" altLang="zh-CN" sz="2000">
                <a:latin typeface="Tahoma" panose="020B0604030504040204" pitchFamily="34" charset="0"/>
                <a:ea typeface="宋体" panose="02010600030101010101" pitchFamily="2" charset="-122"/>
              </a:rPr>
              <a:t>6</a:t>
            </a:r>
            <a:r>
              <a:rPr lang="zh-CN" altLang="da-DK" sz="2000">
                <a:latin typeface="Tahoma" panose="020B0604030504040204" pitchFamily="34" charset="0"/>
                <a:ea typeface="宋体" panose="02010600030101010101" pitchFamily="2" charset="-122"/>
              </a:rPr>
              <a:t>）	   </a:t>
            </a:r>
            <a:r>
              <a:rPr lang="da-DK" altLang="zh-CN" sz="2000">
                <a:latin typeface="Tahoma" panose="020B0604030504040204" pitchFamily="34" charset="0"/>
                <a:ea typeface="宋体" panose="02010600030101010101" pitchFamily="2" charset="-122"/>
              </a:rPr>
              <a:t>END</a:t>
            </a:r>
            <a:r>
              <a:rPr lang="zh-CN" altLang="en-US" sz="2000">
                <a:latin typeface="Tahoma" panose="020B0604030504040204" pitchFamily="34" charset="0"/>
                <a:ea typeface="宋体" panose="02010600030101010101" pitchFamily="2" charset="-122"/>
              </a:rPr>
              <a:t>；</a:t>
            </a:r>
            <a:endParaRPr lang="en-US" altLang="zh-CN" sz="2000">
              <a:latin typeface="Tahoma" panose="020B0604030504040204" pitchFamily="34" charset="0"/>
              <a:ea typeface="宋体" panose="02010600030101010101" pitchFamily="2" charset="-122"/>
            </a:endParaRP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000">
                <a:latin typeface="Tahoma" panose="020B0604030504040204" pitchFamily="34" charset="0"/>
                <a:ea typeface="宋体" panose="02010600030101010101" pitchFamily="2" charset="-122"/>
              </a:rPr>
              <a:t>（</a:t>
            </a:r>
            <a:r>
              <a:rPr lang="en-US" altLang="zh-CN" sz="2000">
                <a:latin typeface="Tahoma" panose="020B0604030504040204" pitchFamily="34" charset="0"/>
                <a:ea typeface="宋体" panose="02010600030101010101" pitchFamily="2" charset="-122"/>
              </a:rPr>
              <a:t>7</a:t>
            </a:r>
            <a:r>
              <a:rPr lang="zh-CN" altLang="en-US" sz="2000">
                <a:latin typeface="Tahoma" panose="020B0604030504040204" pitchFamily="34" charset="0"/>
                <a:ea typeface="宋体" panose="02010600030101010101" pitchFamily="2" charset="-122"/>
              </a:rPr>
              <a:t>） </a:t>
            </a:r>
            <a:r>
              <a:rPr lang="en-US" altLang="zh-CN" sz="2000">
                <a:latin typeface="Tahoma" panose="020B0604030504040204" pitchFamily="34" charset="0"/>
                <a:ea typeface="宋体" panose="02010600030101010101" pitchFamily="2" charset="-122"/>
              </a:rPr>
              <a:t>flag </a:t>
            </a:r>
            <a:r>
              <a:rPr lang="en-US" altLang="zh-CN" sz="2000" i="1">
                <a:latin typeface="Tahoma" panose="020B0604030504040204" pitchFamily="34" charset="0"/>
                <a:ea typeface="宋体" panose="02010600030101010101" pitchFamily="2" charset="-122"/>
              </a:rPr>
              <a:t>t</a:t>
            </a:r>
            <a:r>
              <a:rPr lang="en-US" altLang="zh-CN" sz="2000">
                <a:latin typeface="Tahoma" panose="020B0604030504040204" pitchFamily="34" charset="0"/>
                <a:ea typeface="宋体" panose="02010600030101010101" pitchFamily="2" charset="-122"/>
              </a:rPr>
              <a:t> with </a:t>
            </a:r>
            <a:r>
              <a:rPr lang="en-US" altLang="zh-CN" sz="2000" i="1">
                <a:latin typeface="Tahoma" panose="020B0604030504040204" pitchFamily="34" charset="0"/>
                <a:ea typeface="宋体" panose="02010600030101010101" pitchFamily="2" charset="-122"/>
              </a:rPr>
              <a:t>c</a:t>
            </a:r>
            <a:r>
              <a:rPr lang="en-US" altLang="zh-CN" sz="2000">
                <a:latin typeface="Tahoma" panose="020B0604030504040204" pitchFamily="34" charset="0"/>
                <a:ea typeface="宋体" panose="02010600030101010101" pitchFamily="2" charset="-122"/>
              </a:rPr>
              <a:t>.</a:t>
            </a:r>
            <a:endParaRPr lang="zh-CN" altLang="en-US" sz="20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625" name="日期占位符 3">
            <a:extLst>
              <a:ext uri="{FF2B5EF4-FFF2-40B4-BE49-F238E27FC236}">
                <a16:creationId xmlns:a16="http://schemas.microsoft.com/office/drawing/2014/main" xmlns="" id="{250BBFF9-D6B0-4206-9B4B-E954F929E171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1E6E1E40-3E31-47F8-99C6-AF1E1508386F}" type="datetime4">
              <a:rPr lang="zh-CN" altLang="en-US" sz="12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2018年10月21日星期日</a:t>
            </a:fld>
            <a:endParaRPr lang="en-US" altLang="zh-CN" sz="12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6626" name="页脚占位符 4">
            <a:extLst>
              <a:ext uri="{FF2B5EF4-FFF2-40B4-BE49-F238E27FC236}">
                <a16:creationId xmlns:a16="http://schemas.microsoft.com/office/drawing/2014/main" xmlns="" id="{566C612B-8976-4FD4-BFA9-17466ACE7B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200">
                <a:latin typeface="Tahoma" panose="020B0604030504040204" pitchFamily="34" charset="0"/>
                <a:ea typeface="宋体" panose="02010600030101010101" pitchFamily="2" charset="-122"/>
              </a:rPr>
              <a:t>DMKD  Sides</a:t>
            </a:r>
          </a:p>
        </p:txBody>
      </p:sp>
      <p:sp>
        <p:nvSpPr>
          <p:cNvPr id="26627" name="灯片编号占位符 5">
            <a:extLst>
              <a:ext uri="{FF2B5EF4-FFF2-40B4-BE49-F238E27FC236}">
                <a16:creationId xmlns:a16="http://schemas.microsoft.com/office/drawing/2014/main" xmlns="" id="{36646421-51E3-4EE5-B51B-DCFF3F7547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D7CEBDC0-8A6B-466C-9CF4-7856F1C9DECD}" type="slidenum">
              <a:rPr lang="zh-CN" altLang="en-US" sz="14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9</a:t>
            </a:fld>
            <a:endParaRPr lang="en-US" altLang="zh-CN" sz="14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6628" name="Rectangle 2">
            <a:extLst>
              <a:ext uri="{FF2B5EF4-FFF2-40B4-BE49-F238E27FC236}">
                <a16:creationId xmlns:a16="http://schemas.microsoft.com/office/drawing/2014/main" xmlns="" id="{D3493273-424B-48AB-9EE8-271B1E5B61CB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zh-CN" altLang="en-US"/>
              <a:t>基于距离的分类方法的直观解释</a:t>
            </a:r>
            <a:endParaRPr lang="en-US" altLang="zh-CN"/>
          </a:p>
        </p:txBody>
      </p:sp>
      <p:sp>
        <p:nvSpPr>
          <p:cNvPr id="26629" name="Rectangle 3">
            <a:extLst>
              <a:ext uri="{FF2B5EF4-FFF2-40B4-BE49-F238E27FC236}">
                <a16:creationId xmlns:a16="http://schemas.microsoft.com/office/drawing/2014/main" xmlns="" id="{04C5F71A-6E33-4113-92BE-7E95F00FAB7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endParaRPr lang="zh-CN" altLang="en-US"/>
          </a:p>
        </p:txBody>
      </p:sp>
      <p:sp>
        <p:nvSpPr>
          <p:cNvPr id="26630" name="Text Box 4">
            <a:extLst>
              <a:ext uri="{FF2B5EF4-FFF2-40B4-BE49-F238E27FC236}">
                <a16:creationId xmlns:a16="http://schemas.microsoft.com/office/drawing/2014/main" xmlns="" id="{C2E84AF5-30C8-4C49-BFEB-AFD57D1AFE7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55738" y="2224088"/>
            <a:ext cx="1841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CN" altLang="en-US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pic>
        <p:nvPicPr>
          <p:cNvPr id="26631" name="Picture 7" descr="ZHOU2">
            <a:extLst>
              <a:ext uri="{FF2B5EF4-FFF2-40B4-BE49-F238E27FC236}">
                <a16:creationId xmlns:a16="http://schemas.microsoft.com/office/drawing/2014/main" xmlns="" id="{9D57D6E6-9CE1-46FE-83A2-1EB1E1B4C33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835150" y="1989138"/>
            <a:ext cx="1724025" cy="1685925"/>
          </a:xfrm>
          <a:prstGeom prst="rect">
            <a:avLst/>
          </a:prstGeom>
          <a:solidFill>
            <a:schemeClr val="accent2"/>
          </a:solidFill>
          <a:ln w="9525">
            <a:solidFill>
              <a:schemeClr val="accent2"/>
            </a:solidFill>
            <a:miter lim="800000"/>
            <a:headEnd/>
            <a:tailEnd/>
          </a:ln>
        </p:spPr>
      </p:pic>
      <p:pic>
        <p:nvPicPr>
          <p:cNvPr id="26632" name="Picture 6" descr="ZHOU2">
            <a:extLst>
              <a:ext uri="{FF2B5EF4-FFF2-40B4-BE49-F238E27FC236}">
                <a16:creationId xmlns:a16="http://schemas.microsoft.com/office/drawing/2014/main" xmlns="" id="{274BCA9A-3675-4B27-B72B-39A32D45A16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924300" y="2060575"/>
            <a:ext cx="1724025" cy="1685925"/>
          </a:xfrm>
          <a:prstGeom prst="rect">
            <a:avLst/>
          </a:prstGeom>
          <a:noFill/>
          <a:ln w="9525">
            <a:solidFill>
              <a:srgbClr val="000066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6633" name="Picture 5" descr="ZHOU1">
            <a:extLst>
              <a:ext uri="{FF2B5EF4-FFF2-40B4-BE49-F238E27FC236}">
                <a16:creationId xmlns:a16="http://schemas.microsoft.com/office/drawing/2014/main" xmlns="" id="{B1574FD7-B752-4290-8359-FC374CE4ACC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084888" y="2060575"/>
            <a:ext cx="1714500" cy="1676400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6634" name="Rectangle 8">
            <a:extLst>
              <a:ext uri="{FF2B5EF4-FFF2-40B4-BE49-F238E27FC236}">
                <a16:creationId xmlns:a16="http://schemas.microsoft.com/office/drawing/2014/main" xmlns="" id="{FB5B54BE-7147-4B63-B077-C1B58485CEB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CN" altLang="en-US" sz="2400">
              <a:latin typeface="Times New Roman" panose="02020603050405020304" pitchFamily="18" charset="0"/>
              <a:ea typeface="宋体" panose="02010600030101010101" pitchFamily="2" charset="-122"/>
            </a:endParaRPr>
          </a:p>
        </p:txBody>
      </p:sp>
      <p:sp>
        <p:nvSpPr>
          <p:cNvPr id="26635" name="Rectangle 9">
            <a:extLst>
              <a:ext uri="{FF2B5EF4-FFF2-40B4-BE49-F238E27FC236}">
                <a16:creationId xmlns:a16="http://schemas.microsoft.com/office/drawing/2014/main" xmlns="" id="{4FE2A8EE-E866-4443-9348-941AF20C7F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3371850"/>
            <a:ext cx="9144000" cy="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 anchor="ctr">
            <a:spAutoFit/>
          </a:bodyPr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CN" altLang="en-US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6636" name="Rectangle 11">
            <a:extLst>
              <a:ext uri="{FF2B5EF4-FFF2-40B4-BE49-F238E27FC236}">
                <a16:creationId xmlns:a16="http://schemas.microsoft.com/office/drawing/2014/main" xmlns="" id="{04463AC0-EC7C-4366-BA90-1BAB7D393E96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05000" y="3933825"/>
            <a:ext cx="1597025" cy="406400"/>
          </a:xfrm>
          <a:prstGeom prst="rect">
            <a:avLst/>
          </a:prstGeom>
          <a:noFill/>
          <a:ln w="9525">
            <a:solidFill>
              <a:schemeClr val="accent2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2000">
                <a:latin typeface="Tahoma" panose="020B0604030504040204" pitchFamily="34" charset="0"/>
                <a:ea typeface="宋体" panose="02010600030101010101" pitchFamily="2" charset="-122"/>
              </a:rPr>
              <a:t>（</a:t>
            </a:r>
            <a:r>
              <a:rPr lang="en-US" altLang="zh-CN" sz="2000">
                <a:latin typeface="Tahoma" panose="020B0604030504040204" pitchFamily="34" charset="0"/>
                <a:ea typeface="宋体" panose="02010600030101010101" pitchFamily="2" charset="-122"/>
              </a:rPr>
              <a:t>a</a:t>
            </a:r>
            <a:r>
              <a:rPr lang="zh-CN" altLang="en-US" sz="2000">
                <a:latin typeface="Tahoma" panose="020B0604030504040204" pitchFamily="34" charset="0"/>
                <a:ea typeface="宋体" panose="02010600030101010101" pitchFamily="2" charset="-122"/>
              </a:rPr>
              <a:t>）类定义</a:t>
            </a:r>
          </a:p>
        </p:txBody>
      </p:sp>
      <p:sp>
        <p:nvSpPr>
          <p:cNvPr id="26637" name="Rectangle 13">
            <a:extLst>
              <a:ext uri="{FF2B5EF4-FFF2-40B4-BE49-F238E27FC236}">
                <a16:creationId xmlns:a16="http://schemas.microsoft.com/office/drawing/2014/main" xmlns="" id="{30F6AC66-D073-43D2-8CB9-0037FC14B80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779838" y="3984625"/>
            <a:ext cx="1920875" cy="376238"/>
          </a:xfrm>
          <a:prstGeom prst="rect">
            <a:avLst/>
          </a:prstGeom>
          <a:noFill/>
          <a:ln w="9525">
            <a:solidFill>
              <a:srgbClr val="000066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1800">
                <a:latin typeface="Tahoma" panose="020B0604030504040204" pitchFamily="34" charset="0"/>
                <a:ea typeface="宋体" panose="02010600030101010101" pitchFamily="2" charset="-122"/>
              </a:rPr>
              <a:t>（</a:t>
            </a:r>
            <a:r>
              <a:rPr lang="en-US" altLang="zh-CN" sz="1800">
                <a:latin typeface="Tahoma" panose="020B0604030504040204" pitchFamily="34" charset="0"/>
                <a:ea typeface="宋体" panose="02010600030101010101" pitchFamily="2" charset="-122"/>
              </a:rPr>
              <a:t>b</a:t>
            </a:r>
            <a:r>
              <a:rPr lang="zh-CN" altLang="en-US" sz="1800">
                <a:latin typeface="Tahoma" panose="020B0604030504040204" pitchFamily="34" charset="0"/>
                <a:ea typeface="宋体" panose="02010600030101010101" pitchFamily="2" charset="-122"/>
              </a:rPr>
              <a:t>）待分类样例</a:t>
            </a:r>
          </a:p>
        </p:txBody>
      </p:sp>
      <p:sp>
        <p:nvSpPr>
          <p:cNvPr id="26638" name="Rectangle 14">
            <a:extLst>
              <a:ext uri="{FF2B5EF4-FFF2-40B4-BE49-F238E27FC236}">
                <a16:creationId xmlns:a16="http://schemas.microsoft.com/office/drawing/2014/main" xmlns="" id="{00E73B22-F7D4-4799-ACD3-6D6C0E28D9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6011863" y="4005263"/>
            <a:ext cx="1670050" cy="376237"/>
          </a:xfrm>
          <a:prstGeom prst="rect">
            <a:avLst/>
          </a:prstGeom>
          <a:noFill/>
          <a:ln w="9525">
            <a:solidFill>
              <a:schemeClr val="hlink"/>
            </a:solidFill>
            <a:miter lim="800000"/>
            <a:headEnd/>
            <a:tailEnd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wrap="none">
            <a:spAutoFit/>
          </a:bodyPr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1800">
                <a:latin typeface="Tahoma" panose="020B0604030504040204" pitchFamily="34" charset="0"/>
                <a:ea typeface="宋体" panose="02010600030101010101" pitchFamily="2" charset="-122"/>
              </a:rPr>
              <a:t>（</a:t>
            </a:r>
            <a:r>
              <a:rPr lang="en-US" altLang="zh-CN" sz="1800">
                <a:latin typeface="Tahoma" panose="020B0604030504040204" pitchFamily="34" charset="0"/>
                <a:ea typeface="宋体" panose="02010600030101010101" pitchFamily="2" charset="-122"/>
              </a:rPr>
              <a:t>c</a:t>
            </a:r>
            <a:r>
              <a:rPr lang="zh-CN" altLang="en-US" sz="1800">
                <a:latin typeface="Tahoma" panose="020B0604030504040204" pitchFamily="34" charset="0"/>
                <a:ea typeface="宋体" panose="02010600030101010101" pitchFamily="2" charset="-122"/>
              </a:rPr>
              <a:t>）分类结果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290" name="Rectangle 2">
            <a:extLst>
              <a:ext uri="{FF2B5EF4-FFF2-40B4-BE49-F238E27FC236}">
                <a16:creationId xmlns:a16="http://schemas.microsoft.com/office/drawing/2014/main" xmlns="" id="{461081CE-76E2-4984-A661-0CC56DAB7B29}"/>
              </a:ext>
            </a:extLst>
          </p:cNvPr>
          <p:cNvSpPr>
            <a:spLocks noGrp="1" noRot="1" noChangeArrowheads="1"/>
          </p:cNvSpPr>
          <p:nvPr>
            <p:ph type="ctrTitle" idx="4294967295"/>
          </p:nvPr>
        </p:nvSpPr>
        <p:spPr>
          <a:xfrm>
            <a:off x="685800" y="2286000"/>
            <a:ext cx="7772400" cy="1143000"/>
          </a:xfrm>
        </p:spPr>
        <p:txBody>
          <a:bodyPr anchorCtr="0"/>
          <a:lstStyle/>
          <a:p>
            <a:pPr algn="ctr"/>
            <a:r>
              <a:rPr lang="en-US" altLang="zh-CN" sz="5400" dirty="0"/>
              <a:t>K-</a:t>
            </a:r>
            <a:r>
              <a:rPr lang="zh-CN" altLang="en-US" sz="5400" dirty="0"/>
              <a:t>最近邻分类</a:t>
            </a:r>
          </a:p>
        </p:txBody>
      </p:sp>
      <p:sp>
        <p:nvSpPr>
          <p:cNvPr id="12291" name="Rectangle 3">
            <a:extLst>
              <a:ext uri="{FF2B5EF4-FFF2-40B4-BE49-F238E27FC236}">
                <a16:creationId xmlns:a16="http://schemas.microsoft.com/office/drawing/2014/main" xmlns="" id="{3EDFF946-0761-46F0-8E89-70B6E27841B3}"/>
              </a:ext>
            </a:extLst>
          </p:cNvPr>
          <p:cNvSpPr>
            <a:spLocks noGrp="1" noRot="1" noChangeArrowheads="1"/>
          </p:cNvSpPr>
          <p:nvPr>
            <p:ph type="subTitle" idx="4294967295"/>
          </p:nvPr>
        </p:nvSpPr>
        <p:spPr>
          <a:xfrm>
            <a:off x="1371600" y="3886200"/>
            <a:ext cx="6400800" cy="1752600"/>
          </a:xfrm>
        </p:spPr>
        <p:txBody>
          <a:bodyPr/>
          <a:lstStyle/>
          <a:p>
            <a:pPr marL="0" indent="0" algn="ctr">
              <a:buFont typeface="Wingdings" panose="05000000000000000000" pitchFamily="2" charset="2"/>
              <a:buNone/>
            </a:pPr>
            <a:endParaRPr lang="zh-CN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866" name="Text Box 131">
            <a:extLst>
              <a:ext uri="{FF2B5EF4-FFF2-40B4-BE49-F238E27FC236}">
                <a16:creationId xmlns:a16="http://schemas.microsoft.com/office/drawing/2014/main" xmlns="" id="{80AC25F4-1FDD-4512-AFAF-4BC0D8EC875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00038" y="865188"/>
            <a:ext cx="2771775" cy="58578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zh-CN" sz="3200" b="1">
                <a:latin typeface="楷体_GB2312"/>
                <a:ea typeface="楷体_GB2312"/>
                <a:cs typeface="楷体_GB2312"/>
              </a:rPr>
              <a:t>c</a:t>
            </a:r>
            <a:r>
              <a:rPr lang="zh-CN" altLang="en-US" sz="3200" b="1">
                <a:latin typeface="楷体_GB2312"/>
                <a:ea typeface="楷体_GB2312"/>
                <a:cs typeface="楷体_GB2312"/>
              </a:rPr>
              <a:t>类问题</a:t>
            </a:r>
            <a:r>
              <a:rPr lang="en-US" altLang="zh-CN" sz="3200" b="1">
                <a:latin typeface="楷体_GB2312"/>
                <a:ea typeface="楷体_GB2312"/>
                <a:cs typeface="楷体_GB2312"/>
              </a:rPr>
              <a:t>,</a:t>
            </a:r>
            <a:r>
              <a:rPr lang="zh-CN" altLang="en-US" sz="3200" b="1">
                <a:latin typeface="楷体_GB2312"/>
                <a:ea typeface="楷体_GB2312"/>
                <a:cs typeface="楷体_GB2312"/>
              </a:rPr>
              <a:t>设</a:t>
            </a:r>
          </a:p>
        </p:txBody>
      </p:sp>
      <p:graphicFrame>
        <p:nvGraphicFramePr>
          <p:cNvPr id="36867" name="Object 148">
            <a:extLst>
              <a:ext uri="{FF2B5EF4-FFF2-40B4-BE49-F238E27FC236}">
                <a16:creationId xmlns:a16="http://schemas.microsoft.com/office/drawing/2014/main" xmlns="" id="{AE73CDEB-2E11-4302-96B1-76FC62785457}"/>
              </a:ext>
            </a:extLst>
          </p:cNvPr>
          <p:cNvGraphicFramePr>
            <a:graphicFrameLocks noChangeAspect="1"/>
          </p:cNvGraphicFramePr>
          <p:nvPr/>
        </p:nvGraphicFramePr>
        <p:xfrm>
          <a:off x="2700338" y="857250"/>
          <a:ext cx="6203950" cy="7175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4867" name="Equation" r:id="rId3" imgW="2222280" imgH="253800" progId="Equation.DSMT4">
                  <p:embed/>
                </p:oleObj>
              </mc:Choice>
              <mc:Fallback>
                <p:oleObj name="Equation" r:id="rId3" imgW="2222280" imgH="253800" progId="Equation.DSMT4">
                  <p:embed/>
                  <p:pic>
                    <p:nvPicPr>
                      <p:cNvPr id="36867" name="Object 148">
                        <a:extLst>
                          <a:ext uri="{FF2B5EF4-FFF2-40B4-BE49-F238E27FC236}">
                            <a16:creationId xmlns:a16="http://schemas.microsoft.com/office/drawing/2014/main" xmlns="" id="{AE73CDEB-2E11-4302-96B1-76FC62785457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700338" y="857250"/>
                        <a:ext cx="6203950" cy="717550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868" name="Rectangle 110">
            <a:extLst>
              <a:ext uri="{FF2B5EF4-FFF2-40B4-BE49-F238E27FC236}">
                <a16:creationId xmlns:a16="http://schemas.microsoft.com/office/drawing/2014/main" xmlns="" id="{63FD50C2-19DD-4A05-8407-AC8DE7E2E71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260350"/>
            <a:ext cx="8569325" cy="5794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2800" b="1" dirty="0">
                <a:solidFill>
                  <a:schemeClr val="bg2"/>
                </a:solidFill>
                <a:latin typeface="Times New Roman" panose="02020603050405020304" pitchFamily="18" charset="0"/>
                <a:ea typeface="黑体" panose="02010609060101010101" pitchFamily="49" charset="-122"/>
              </a:rPr>
              <a:t>最近邻方法			</a:t>
            </a:r>
            <a:r>
              <a:rPr lang="zh-CN" altLang="en-US" sz="3200" b="1" dirty="0">
                <a:solidFill>
                  <a:schemeClr val="bg2"/>
                </a:solidFill>
                <a:latin typeface="楷体_GB2312"/>
                <a:ea typeface="楷体_GB2312"/>
                <a:cs typeface="楷体_GB2312"/>
              </a:rPr>
              <a:t>最近邻决策规则</a:t>
            </a:r>
            <a:r>
              <a:rPr lang="en-US" altLang="zh-CN" sz="3200" b="1" dirty="0">
                <a:solidFill>
                  <a:schemeClr val="bg2"/>
                </a:solidFill>
                <a:ea typeface="楷体_GB2312"/>
                <a:cs typeface="楷体_GB2312"/>
              </a:rPr>
              <a:t>—</a:t>
            </a:r>
            <a:r>
              <a:rPr lang="en-US" altLang="zh-CN" sz="3200" b="1" dirty="0">
                <a:solidFill>
                  <a:schemeClr val="bg2"/>
                </a:solidFill>
                <a:latin typeface="楷体_GB2312"/>
                <a:ea typeface="楷体_GB2312"/>
                <a:cs typeface="楷体_GB2312"/>
              </a:rPr>
              <a:t>1-NN</a:t>
            </a:r>
          </a:p>
        </p:txBody>
      </p:sp>
      <p:grpSp>
        <p:nvGrpSpPr>
          <p:cNvPr id="36869" name="Group 163">
            <a:extLst>
              <a:ext uri="{FF2B5EF4-FFF2-40B4-BE49-F238E27FC236}">
                <a16:creationId xmlns:a16="http://schemas.microsoft.com/office/drawing/2014/main" xmlns="" id="{CAAB6A92-D71C-4A97-B1A1-33B3217E1283}"/>
              </a:ext>
            </a:extLst>
          </p:cNvPr>
          <p:cNvGrpSpPr>
            <a:grpSpLocks/>
          </p:cNvGrpSpPr>
          <p:nvPr/>
        </p:nvGrpSpPr>
        <p:grpSpPr bwMode="auto">
          <a:xfrm>
            <a:off x="285750" y="1643063"/>
            <a:ext cx="8858250" cy="2800350"/>
            <a:chOff x="385" y="1389"/>
            <a:chExt cx="5580" cy="1764"/>
          </a:xfrm>
        </p:grpSpPr>
        <p:sp>
          <p:nvSpPr>
            <p:cNvPr id="36870" name="Text Box 132">
              <a:extLst>
                <a:ext uri="{FF2B5EF4-FFF2-40B4-BE49-F238E27FC236}">
                  <a16:creationId xmlns:a16="http://schemas.microsoft.com/office/drawing/2014/main" xmlns="" id="{034A40F4-A70C-4000-963C-9452997C0362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5" y="1389"/>
              <a:ext cx="5580" cy="176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zh-CN" altLang="en-US" sz="3200" b="1" dirty="0">
                  <a:solidFill>
                    <a:srgbClr val="FFFF66"/>
                  </a:solidFill>
                  <a:latin typeface="楷体_GB2312"/>
                  <a:ea typeface="楷体_GB2312"/>
                  <a:cs typeface="楷体_GB2312"/>
                </a:rPr>
                <a:t>最近邻分类规则</a:t>
              </a:r>
              <a:r>
                <a:rPr lang="en-US" altLang="zh-CN" sz="3200" b="1" dirty="0">
                  <a:solidFill>
                    <a:srgbClr val="FFFF66"/>
                  </a:solidFill>
                  <a:latin typeface="楷体_GB2312"/>
                  <a:ea typeface="楷体_GB2312"/>
                  <a:cs typeface="楷体_GB2312"/>
                </a:rPr>
                <a:t>:</a:t>
              </a:r>
              <a:r>
                <a:rPr lang="zh-CN" altLang="en-US" sz="3200" b="1" dirty="0">
                  <a:latin typeface="Times New Roman" panose="02020603050405020304" pitchFamily="18" charset="0"/>
                </a:rPr>
                <a:t> </a:t>
              </a:r>
            </a:p>
            <a:p>
              <a:pPr eaLnBrk="1" hangingPunct="1">
                <a:lnSpc>
                  <a:spcPct val="150000"/>
                </a:lnSpc>
              </a:pPr>
              <a:r>
                <a:rPr lang="zh-CN" altLang="en-US" sz="3200" b="1" dirty="0">
                  <a:latin typeface="Times New Roman" panose="02020603050405020304" pitchFamily="18" charset="0"/>
                </a:rPr>
                <a:t>       </a:t>
              </a:r>
              <a:r>
                <a:rPr lang="zh-CN" altLang="en-US" sz="3200" b="1" dirty="0">
                  <a:latin typeface="楷体_GB2312"/>
                  <a:ea typeface="楷体_GB2312"/>
                  <a:cs typeface="楷体_GB2312"/>
                </a:rPr>
                <a:t>对待识别模式   </a:t>
              </a:r>
              <a:r>
                <a:rPr lang="en-US" altLang="zh-CN" sz="3200" b="1" dirty="0">
                  <a:latin typeface="楷体_GB2312"/>
                  <a:ea typeface="楷体_GB2312"/>
                  <a:cs typeface="楷体_GB2312"/>
                </a:rPr>
                <a:t>, </a:t>
              </a:r>
              <a:r>
                <a:rPr lang="zh-CN" altLang="en-US" sz="3200" b="1" dirty="0">
                  <a:latin typeface="楷体_GB2312"/>
                  <a:ea typeface="楷体_GB2312"/>
                  <a:cs typeface="楷体_GB2312"/>
                </a:rPr>
                <a:t>分别计算它与</a:t>
              </a:r>
            </a:p>
            <a:p>
              <a:pPr eaLnBrk="1" hangingPunct="1">
                <a:lnSpc>
                  <a:spcPct val="150000"/>
                </a:lnSpc>
              </a:pPr>
              <a:r>
                <a:rPr lang="zh-CN" altLang="en-US" sz="3200" b="1" dirty="0">
                  <a:latin typeface="楷体_GB2312"/>
                  <a:ea typeface="楷体_GB2312"/>
                  <a:cs typeface="楷体_GB2312"/>
                </a:rPr>
                <a:t>个已知类别的样本    的距离</a:t>
              </a:r>
              <a:r>
                <a:rPr lang="en-US" altLang="zh-CN" sz="3200" b="1" dirty="0">
                  <a:latin typeface="楷体_GB2312"/>
                  <a:ea typeface="楷体_GB2312"/>
                  <a:cs typeface="楷体_GB2312"/>
                </a:rPr>
                <a:t>,</a:t>
              </a:r>
              <a:r>
                <a:rPr lang="zh-CN" altLang="en-US" sz="3200" b="1" dirty="0">
                  <a:latin typeface="楷体_GB2312"/>
                  <a:ea typeface="楷体_GB2312"/>
                  <a:cs typeface="楷体_GB2312"/>
                </a:rPr>
                <a:t>将它判为距离最近的那个样本所属的类。</a:t>
              </a:r>
              <a:endParaRPr lang="en-US" altLang="zh-CN" sz="3200" b="1" dirty="0">
                <a:latin typeface="楷体_GB2312"/>
                <a:ea typeface="楷体_GB2312"/>
                <a:cs typeface="楷体_GB2312"/>
              </a:endParaRPr>
            </a:p>
          </p:txBody>
        </p:sp>
        <p:graphicFrame>
          <p:nvGraphicFramePr>
            <p:cNvPr id="36871" name="Object 150">
              <a:extLst>
                <a:ext uri="{FF2B5EF4-FFF2-40B4-BE49-F238E27FC236}">
                  <a16:creationId xmlns:a16="http://schemas.microsoft.com/office/drawing/2014/main" xmlns="" id="{C9D23E02-99C0-4B9B-8B3D-6AB7EA53F66E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177829168"/>
                </p:ext>
              </p:extLst>
            </p:nvPr>
          </p:nvGraphicFramePr>
          <p:xfrm>
            <a:off x="4418" y="1578"/>
            <a:ext cx="1294" cy="8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868" name="Equation" r:id="rId5" imgW="660240" imgH="431640" progId="Equation.DSMT4">
                    <p:embed/>
                  </p:oleObj>
                </mc:Choice>
                <mc:Fallback>
                  <p:oleObj name="Equation" r:id="rId5" imgW="660240" imgH="431640" progId="Equation.DSMT4">
                    <p:embed/>
                    <p:pic>
                      <p:nvPicPr>
                        <p:cNvPr id="36871" name="Object 150">
                          <a:extLst>
                            <a:ext uri="{FF2B5EF4-FFF2-40B4-BE49-F238E27FC236}">
                              <a16:creationId xmlns:a16="http://schemas.microsoft.com/office/drawing/2014/main" xmlns="" id="{C9D23E02-99C0-4B9B-8B3D-6AB7EA53F66E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418" y="1578"/>
                          <a:ext cx="1294" cy="83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6872" name="Object 155">
              <a:extLst>
                <a:ext uri="{FF2B5EF4-FFF2-40B4-BE49-F238E27FC236}">
                  <a16:creationId xmlns:a16="http://schemas.microsoft.com/office/drawing/2014/main" xmlns="" id="{471462F1-2626-4564-91F1-BB9F18653EF2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1466926368"/>
                </p:ext>
              </p:extLst>
            </p:nvPr>
          </p:nvGraphicFramePr>
          <p:xfrm>
            <a:off x="2384" y="2178"/>
            <a:ext cx="483" cy="5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869" name="Equation" r:id="rId7" imgW="228600" imgH="253800" progId="Equation.DSMT4">
                    <p:embed/>
                  </p:oleObj>
                </mc:Choice>
                <mc:Fallback>
                  <p:oleObj name="Equation" r:id="rId7" imgW="228600" imgH="253800" progId="Equation.DSMT4">
                    <p:embed/>
                    <p:pic>
                      <p:nvPicPr>
                        <p:cNvPr id="36872" name="Object 155">
                          <a:extLst>
                            <a:ext uri="{FF2B5EF4-FFF2-40B4-BE49-F238E27FC236}">
                              <a16:creationId xmlns:a16="http://schemas.microsoft.com/office/drawing/2014/main" xmlns="" id="{471462F1-2626-4564-91F1-BB9F18653EF2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84" y="2178"/>
                          <a:ext cx="483" cy="537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6873" name="Object 162">
              <a:extLst>
                <a:ext uri="{FF2B5EF4-FFF2-40B4-BE49-F238E27FC236}">
                  <a16:creationId xmlns:a16="http://schemas.microsoft.com/office/drawing/2014/main" xmlns="" id="{9C3CDD69-067C-4ADE-A9A6-9DF6BF5EF333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455" y="1704"/>
            <a:ext cx="315" cy="44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870" name="Equation" r:id="rId9" imgW="126720" imgH="177480" progId="Equation.DSMT4">
                    <p:embed/>
                  </p:oleObj>
                </mc:Choice>
                <mc:Fallback>
                  <p:oleObj name="Equation" r:id="rId9" imgW="126720" imgH="177480" progId="Equation.DSMT4">
                    <p:embed/>
                    <p:pic>
                      <p:nvPicPr>
                        <p:cNvPr id="36873" name="Object 162">
                          <a:extLst>
                            <a:ext uri="{FF2B5EF4-FFF2-40B4-BE49-F238E27FC236}">
                              <a16:creationId xmlns:a16="http://schemas.microsoft.com/office/drawing/2014/main" xmlns="" id="{9C3CDD69-067C-4ADE-A9A6-9DF6BF5EF333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455" y="1704"/>
                          <a:ext cx="315" cy="442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pSp>
        <p:nvGrpSpPr>
          <p:cNvPr id="3" name="Group 166">
            <a:extLst>
              <a:ext uri="{FF2B5EF4-FFF2-40B4-BE49-F238E27FC236}">
                <a16:creationId xmlns:a16="http://schemas.microsoft.com/office/drawing/2014/main" xmlns="" id="{2827B877-261F-4F30-A063-E53E02BB1583}"/>
              </a:ext>
            </a:extLst>
          </p:cNvPr>
          <p:cNvGrpSpPr>
            <a:grpSpLocks/>
          </p:cNvGrpSpPr>
          <p:nvPr/>
        </p:nvGrpSpPr>
        <p:grpSpPr bwMode="auto">
          <a:xfrm>
            <a:off x="611188" y="4429125"/>
            <a:ext cx="8389937" cy="2357438"/>
            <a:chOff x="385" y="2790"/>
            <a:chExt cx="5285" cy="1485"/>
          </a:xfrm>
        </p:grpSpPr>
        <p:graphicFrame>
          <p:nvGraphicFramePr>
            <p:cNvPr id="36875" name="Object 151">
              <a:extLst>
                <a:ext uri="{FF2B5EF4-FFF2-40B4-BE49-F238E27FC236}">
                  <a16:creationId xmlns:a16="http://schemas.microsoft.com/office/drawing/2014/main" xmlns="" id="{89F7C911-8B21-4B0B-910A-B9BAF8446527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990" y="2790"/>
            <a:ext cx="3085" cy="796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871" name="Equation" r:id="rId11" imgW="1473120" imgH="380880" progId="Equation.DSMT4">
                    <p:embed/>
                  </p:oleObj>
                </mc:Choice>
                <mc:Fallback>
                  <p:oleObj name="Equation" r:id="rId11" imgW="1473120" imgH="380880" progId="Equation.DSMT4">
                    <p:embed/>
                    <p:pic>
                      <p:nvPicPr>
                        <p:cNvPr id="36875" name="Object 151">
                          <a:extLst>
                            <a:ext uri="{FF2B5EF4-FFF2-40B4-BE49-F238E27FC236}">
                              <a16:creationId xmlns:a16="http://schemas.microsoft.com/office/drawing/2014/main" xmlns="" id="{89F7C911-8B21-4B0B-910A-B9BAF8446527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990" y="2790"/>
                          <a:ext cx="3085" cy="796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6876" name="Object 152">
              <a:extLst>
                <a:ext uri="{FF2B5EF4-FFF2-40B4-BE49-F238E27FC236}">
                  <a16:creationId xmlns:a16="http://schemas.microsoft.com/office/drawing/2014/main" xmlns="" id="{A79CF345-DA3F-4477-AFCB-E7DE50A497EE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154" y="2970"/>
            <a:ext cx="1516" cy="4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872" name="Equation" r:id="rId13" imgW="749160" imgH="203040" progId="Equation.DSMT4">
                    <p:embed/>
                  </p:oleObj>
                </mc:Choice>
                <mc:Fallback>
                  <p:oleObj name="Equation" r:id="rId13" imgW="749160" imgH="203040" progId="Equation.DSMT4">
                    <p:embed/>
                    <p:pic>
                      <p:nvPicPr>
                        <p:cNvPr id="36876" name="Object 152">
                          <a:extLst>
                            <a:ext uri="{FF2B5EF4-FFF2-40B4-BE49-F238E27FC236}">
                              <a16:creationId xmlns:a16="http://schemas.microsoft.com/office/drawing/2014/main" xmlns="" id="{A79CF345-DA3F-4477-AFCB-E7DE50A497EE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154" y="2970"/>
                          <a:ext cx="1516" cy="40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6877" name="Object 153">
              <a:extLst>
                <a:ext uri="{FF2B5EF4-FFF2-40B4-BE49-F238E27FC236}">
                  <a16:creationId xmlns:a16="http://schemas.microsoft.com/office/drawing/2014/main" xmlns="" id="{8793AF1E-1D45-4C26-BA54-1AD6C4EA5B60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975" y="3624"/>
            <a:ext cx="2362" cy="65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873" name="Equation" r:id="rId15" imgW="1244520" imgH="342720" progId="Equation.DSMT4">
                    <p:embed/>
                  </p:oleObj>
                </mc:Choice>
                <mc:Fallback>
                  <p:oleObj name="Equation" r:id="rId15" imgW="1244520" imgH="342720" progId="Equation.DSMT4">
                    <p:embed/>
                    <p:pic>
                      <p:nvPicPr>
                        <p:cNvPr id="36877" name="Object 153">
                          <a:extLst>
                            <a:ext uri="{FF2B5EF4-FFF2-40B4-BE49-F238E27FC236}">
                              <a16:creationId xmlns:a16="http://schemas.microsoft.com/office/drawing/2014/main" xmlns="" id="{8793AF1E-1D45-4C26-BA54-1AD6C4EA5B60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975" y="3624"/>
                          <a:ext cx="2362" cy="651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6878" name="Object 154">
              <a:extLst>
                <a:ext uri="{FF2B5EF4-FFF2-40B4-BE49-F238E27FC236}">
                  <a16:creationId xmlns:a16="http://schemas.microsoft.com/office/drawing/2014/main" xmlns="" id="{5E1B1CED-FA39-4477-877E-2F469F50D38F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839" y="3612"/>
            <a:ext cx="1021" cy="529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4874" name="Equation" r:id="rId17" imgW="444240" imgH="228600" progId="Equation.DSMT4">
                    <p:embed/>
                  </p:oleObj>
                </mc:Choice>
                <mc:Fallback>
                  <p:oleObj name="Equation" r:id="rId17" imgW="444240" imgH="228600" progId="Equation.DSMT4">
                    <p:embed/>
                    <p:pic>
                      <p:nvPicPr>
                        <p:cNvPr id="36878" name="Object 154">
                          <a:extLst>
                            <a:ext uri="{FF2B5EF4-FFF2-40B4-BE49-F238E27FC236}">
                              <a16:creationId xmlns:a16="http://schemas.microsoft.com/office/drawing/2014/main" xmlns="" id="{5E1B1CED-FA39-4477-877E-2F469F50D38F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839" y="3612"/>
                          <a:ext cx="1021" cy="529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6879" name="Text Box 156">
              <a:extLst>
                <a:ext uri="{FF2B5EF4-FFF2-40B4-BE49-F238E27FC236}">
                  <a16:creationId xmlns:a16="http://schemas.microsoft.com/office/drawing/2014/main" xmlns="" id="{21D20408-C296-43AE-A473-21A8DF26135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5" y="3612"/>
              <a:ext cx="680" cy="3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zh-CN" altLang="en-US" sz="3200" b="1">
                  <a:latin typeface="楷体_GB2312"/>
                  <a:ea typeface="楷体_GB2312"/>
                  <a:cs typeface="楷体_GB2312"/>
                </a:rPr>
                <a:t>如果</a:t>
              </a:r>
            </a:p>
          </p:txBody>
        </p:sp>
        <p:sp>
          <p:nvSpPr>
            <p:cNvPr id="36880" name="Text Box 157">
              <a:extLst>
                <a:ext uri="{FF2B5EF4-FFF2-40B4-BE49-F238E27FC236}">
                  <a16:creationId xmlns:a16="http://schemas.microsoft.com/office/drawing/2014/main" xmlns="" id="{2C6241BF-F87D-4034-B94A-13D7FE28E50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71" y="3612"/>
              <a:ext cx="409" cy="3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zh-CN" altLang="en-US" sz="3200" b="1">
                  <a:latin typeface="楷体_GB2312"/>
                  <a:ea typeface="楷体_GB2312"/>
                  <a:cs typeface="楷体_GB2312"/>
                </a:rPr>
                <a:t>则</a:t>
              </a:r>
            </a:p>
          </p:txBody>
        </p:sp>
        <p:sp>
          <p:nvSpPr>
            <p:cNvPr id="36881" name="Text Box 164">
              <a:extLst>
                <a:ext uri="{FF2B5EF4-FFF2-40B4-BE49-F238E27FC236}">
                  <a16:creationId xmlns:a16="http://schemas.microsoft.com/office/drawing/2014/main" xmlns="" id="{64103EC0-E1EB-432E-AD4F-FB67110662F6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5" y="2925"/>
              <a:ext cx="362" cy="3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zh-CN" altLang="en-US" sz="3200" b="1">
                  <a:latin typeface="楷体_GB2312"/>
                  <a:ea typeface="楷体_GB2312"/>
                  <a:cs typeface="楷体_GB2312"/>
                </a:rPr>
                <a:t>即</a:t>
              </a: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890" name="Rectangle 4">
            <a:extLst>
              <a:ext uri="{FF2B5EF4-FFF2-40B4-BE49-F238E27FC236}">
                <a16:creationId xmlns:a16="http://schemas.microsoft.com/office/drawing/2014/main" xmlns="" id="{6EE995DD-3227-4B28-ACDE-E456865356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71438"/>
            <a:ext cx="856932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2800" b="1" dirty="0">
                <a:solidFill>
                  <a:schemeClr val="bg2"/>
                </a:solidFill>
                <a:latin typeface="Times New Roman" panose="02020603050405020304" pitchFamily="18" charset="0"/>
                <a:ea typeface="黑体" panose="02010609060101010101" pitchFamily="49" charset="-122"/>
              </a:rPr>
              <a:t>最近邻方法			</a:t>
            </a:r>
            <a:r>
              <a:rPr lang="zh-CN" altLang="en-US" sz="3200" b="1" dirty="0">
                <a:solidFill>
                  <a:schemeClr val="bg2"/>
                </a:solidFill>
                <a:latin typeface="楷体_GB2312"/>
                <a:ea typeface="楷体_GB2312"/>
                <a:cs typeface="楷体_GB2312"/>
              </a:rPr>
              <a:t>最近邻决策规则</a:t>
            </a:r>
            <a:r>
              <a:rPr lang="en-US" altLang="zh-CN" sz="3200" b="1" dirty="0">
                <a:solidFill>
                  <a:schemeClr val="bg2"/>
                </a:solidFill>
                <a:ea typeface="楷体_GB2312"/>
                <a:cs typeface="楷体_GB2312"/>
              </a:rPr>
              <a:t>—</a:t>
            </a:r>
            <a:r>
              <a:rPr lang="en-US" altLang="zh-CN" sz="3200" b="1" dirty="0">
                <a:solidFill>
                  <a:schemeClr val="bg2"/>
                </a:solidFill>
                <a:latin typeface="楷体_GB2312"/>
                <a:ea typeface="楷体_GB2312"/>
                <a:cs typeface="楷体_GB2312"/>
              </a:rPr>
              <a:t>1-NN</a:t>
            </a:r>
          </a:p>
        </p:txBody>
      </p:sp>
      <p:sp>
        <p:nvSpPr>
          <p:cNvPr id="37891" name="Oval 18">
            <a:extLst>
              <a:ext uri="{FF2B5EF4-FFF2-40B4-BE49-F238E27FC236}">
                <a16:creationId xmlns:a16="http://schemas.microsoft.com/office/drawing/2014/main" xmlns="" id="{A3EA4B41-2847-40B2-82DF-4786AD1C1F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6238" y="2565400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892" name="Oval 19">
            <a:extLst>
              <a:ext uri="{FF2B5EF4-FFF2-40B4-BE49-F238E27FC236}">
                <a16:creationId xmlns:a16="http://schemas.microsoft.com/office/drawing/2014/main" xmlns="" id="{2FD6C56F-94D0-466E-A600-7473885CEB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3068638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893" name="Oval 20">
            <a:extLst>
              <a:ext uri="{FF2B5EF4-FFF2-40B4-BE49-F238E27FC236}">
                <a16:creationId xmlns:a16="http://schemas.microsoft.com/office/drawing/2014/main" xmlns="" id="{4DF6E218-F719-4B79-969F-2FF3D305A4C8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2138" y="3068638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894" name="Oval 21">
            <a:extLst>
              <a:ext uri="{FF2B5EF4-FFF2-40B4-BE49-F238E27FC236}">
                <a16:creationId xmlns:a16="http://schemas.microsoft.com/office/drawing/2014/main" xmlns="" id="{2D8EE912-FC47-470A-AEC7-6DEDEE9735D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00" y="2852738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895" name="Oval 22">
            <a:extLst>
              <a:ext uri="{FF2B5EF4-FFF2-40B4-BE49-F238E27FC236}">
                <a16:creationId xmlns:a16="http://schemas.microsoft.com/office/drawing/2014/main" xmlns="" id="{4A7EC8DF-B575-4B1B-B997-2F752F24244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00" y="2565400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896" name="Oval 23">
            <a:extLst>
              <a:ext uri="{FF2B5EF4-FFF2-40B4-BE49-F238E27FC236}">
                <a16:creationId xmlns:a16="http://schemas.microsoft.com/office/drawing/2014/main" xmlns="" id="{41BDE4B9-107C-441A-B448-081D49BEBCA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8038" y="2276475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897" name="Oval 24">
            <a:extLst>
              <a:ext uri="{FF2B5EF4-FFF2-40B4-BE49-F238E27FC236}">
                <a16:creationId xmlns:a16="http://schemas.microsoft.com/office/drawing/2014/main" xmlns="" id="{12F30509-0703-4D58-82DA-4FFD424C0527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6238" y="2133600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898" name="Oval 25">
            <a:extLst>
              <a:ext uri="{FF2B5EF4-FFF2-40B4-BE49-F238E27FC236}">
                <a16:creationId xmlns:a16="http://schemas.microsoft.com/office/drawing/2014/main" xmlns="" id="{9BF17615-F237-462C-8428-C45B9B97F86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875" y="2565400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899" name="Oval 26">
            <a:extLst>
              <a:ext uri="{FF2B5EF4-FFF2-40B4-BE49-F238E27FC236}">
                <a16:creationId xmlns:a16="http://schemas.microsoft.com/office/drawing/2014/main" xmlns="" id="{2B02D5A6-EDD6-4AA2-B75C-3D5C9034D6E0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8538" y="2708275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900" name="Oval 27">
            <a:extLst>
              <a:ext uri="{FF2B5EF4-FFF2-40B4-BE49-F238E27FC236}">
                <a16:creationId xmlns:a16="http://schemas.microsoft.com/office/drawing/2014/main" xmlns="" id="{F4F450EF-766A-4C34-973F-82A58D5F220A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8538" y="2205038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901" name="Oval 28">
            <a:extLst>
              <a:ext uri="{FF2B5EF4-FFF2-40B4-BE49-F238E27FC236}">
                <a16:creationId xmlns:a16="http://schemas.microsoft.com/office/drawing/2014/main" xmlns="" id="{A3C9A622-C422-48BF-9AA6-C44D709A652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11413" y="3141663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902" name="Oval 29">
            <a:extLst>
              <a:ext uri="{FF2B5EF4-FFF2-40B4-BE49-F238E27FC236}">
                <a16:creationId xmlns:a16="http://schemas.microsoft.com/office/drawing/2014/main" xmlns="" id="{829183A2-2303-4BEE-B698-056710B86C06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9700" y="2636838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903" name="Oval 30">
            <a:extLst>
              <a:ext uri="{FF2B5EF4-FFF2-40B4-BE49-F238E27FC236}">
                <a16:creationId xmlns:a16="http://schemas.microsoft.com/office/drawing/2014/main" xmlns="" id="{219943A8-5211-4C2A-9959-4C753AF0897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5238" y="3140075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904" name="Oval 31">
            <a:extLst>
              <a:ext uri="{FF2B5EF4-FFF2-40B4-BE49-F238E27FC236}">
                <a16:creationId xmlns:a16="http://schemas.microsoft.com/office/drawing/2014/main" xmlns="" id="{FE9FFF33-FDCB-462A-85A3-0B1BACB74DF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5600" y="3140075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905" name="Oval 32">
            <a:extLst>
              <a:ext uri="{FF2B5EF4-FFF2-40B4-BE49-F238E27FC236}">
                <a16:creationId xmlns:a16="http://schemas.microsoft.com/office/drawing/2014/main" xmlns="" id="{5D26286C-8AE4-4886-9E74-DDDAF55D4398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5963" y="2924175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906" name="Oval 33">
            <a:extLst>
              <a:ext uri="{FF2B5EF4-FFF2-40B4-BE49-F238E27FC236}">
                <a16:creationId xmlns:a16="http://schemas.microsoft.com/office/drawing/2014/main" xmlns="" id="{D6D6DDD8-2382-4CFB-B0AE-54537C59C1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5963" y="2636838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907" name="Oval 34">
            <a:extLst>
              <a:ext uri="{FF2B5EF4-FFF2-40B4-BE49-F238E27FC236}">
                <a16:creationId xmlns:a16="http://schemas.microsoft.com/office/drawing/2014/main" xmlns="" id="{455392FC-ACC8-48FB-B884-AFC27731F3D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1500" y="2347913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908" name="Oval 35">
            <a:extLst>
              <a:ext uri="{FF2B5EF4-FFF2-40B4-BE49-F238E27FC236}">
                <a16:creationId xmlns:a16="http://schemas.microsoft.com/office/drawing/2014/main" xmlns="" id="{7314F411-7121-48FA-BF99-1ABC26C8041F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9700" y="2205038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909" name="Oval 36">
            <a:extLst>
              <a:ext uri="{FF2B5EF4-FFF2-40B4-BE49-F238E27FC236}">
                <a16:creationId xmlns:a16="http://schemas.microsoft.com/office/drawing/2014/main" xmlns="" id="{AECF4FD1-F4D7-4C12-82B9-108D451CB4D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9338" y="2636838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910" name="Oval 37">
            <a:extLst>
              <a:ext uri="{FF2B5EF4-FFF2-40B4-BE49-F238E27FC236}">
                <a16:creationId xmlns:a16="http://schemas.microsoft.com/office/drawing/2014/main" xmlns="" id="{DEB8CCCF-C464-4F80-943C-4A760AE385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2779713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911" name="Oval 38">
            <a:extLst>
              <a:ext uri="{FF2B5EF4-FFF2-40B4-BE49-F238E27FC236}">
                <a16:creationId xmlns:a16="http://schemas.microsoft.com/office/drawing/2014/main" xmlns="" id="{E958528E-6C6E-44D3-80CB-2B9724F599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2276475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912" name="Oval 39">
            <a:extLst>
              <a:ext uri="{FF2B5EF4-FFF2-40B4-BE49-F238E27FC236}">
                <a16:creationId xmlns:a16="http://schemas.microsoft.com/office/drawing/2014/main" xmlns="" id="{794DA8F3-A90A-4F8B-AF83-1C44D30E45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14875" y="3213100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913" name="Oval 40">
            <a:extLst>
              <a:ext uri="{FF2B5EF4-FFF2-40B4-BE49-F238E27FC236}">
                <a16:creationId xmlns:a16="http://schemas.microsoft.com/office/drawing/2014/main" xmlns="" id="{B60EA091-3375-49AE-8597-00FCBCAE26ED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1275" y="3213100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914" name="Oval 42">
            <a:extLst>
              <a:ext uri="{FF2B5EF4-FFF2-40B4-BE49-F238E27FC236}">
                <a16:creationId xmlns:a16="http://schemas.microsoft.com/office/drawing/2014/main" xmlns="" id="{4F9F8B5A-F4C3-4337-A51F-1EDA3131A797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7175" y="3716338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915" name="Oval 43">
            <a:extLst>
              <a:ext uri="{FF2B5EF4-FFF2-40B4-BE49-F238E27FC236}">
                <a16:creationId xmlns:a16="http://schemas.microsoft.com/office/drawing/2014/main" xmlns="" id="{15E7EC33-7CCF-49EF-AD0C-72F48BEEC8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7538" y="3500438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916" name="Oval 44">
            <a:extLst>
              <a:ext uri="{FF2B5EF4-FFF2-40B4-BE49-F238E27FC236}">
                <a16:creationId xmlns:a16="http://schemas.microsoft.com/office/drawing/2014/main" xmlns="" id="{09882DDF-39F2-4614-8DF1-40730B0A616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7538" y="3213100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917" name="Oval 45">
            <a:extLst>
              <a:ext uri="{FF2B5EF4-FFF2-40B4-BE49-F238E27FC236}">
                <a16:creationId xmlns:a16="http://schemas.microsoft.com/office/drawing/2014/main" xmlns="" id="{681353C4-D06A-436B-B813-6FBA9192AD5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3075" y="2924175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451630" name="Oval 46">
            <a:extLst>
              <a:ext uri="{FF2B5EF4-FFF2-40B4-BE49-F238E27FC236}">
                <a16:creationId xmlns:a16="http://schemas.microsoft.com/office/drawing/2014/main" xmlns="" id="{3783322B-E342-4CD6-ACC5-D39851E3E5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1275" y="2781300"/>
            <a:ext cx="142875" cy="142875"/>
          </a:xfrm>
          <a:prstGeom prst="ellipse">
            <a:avLst/>
          </a:prstGeom>
          <a:solidFill>
            <a:schemeClr val="accent1">
              <a:lumMod val="60000"/>
              <a:lumOff val="40000"/>
            </a:schemeClr>
          </a:solidFill>
          <a:ln w="9525">
            <a:solidFill>
              <a:schemeClr val="tx1"/>
            </a:solidFill>
            <a:round/>
            <a:headEnd/>
            <a:tailEnd/>
          </a:ln>
          <a:effectLst/>
        </p:spPr>
        <p:txBody>
          <a:bodyPr wrap="none" anchor="ctr"/>
          <a:lstStyle/>
          <a:p>
            <a:pPr>
              <a:defRPr/>
            </a:pPr>
            <a:endParaRPr lang="zh-CN" altLang="en-US">
              <a:latin typeface="Tahoma" pitchFamily="34" charset="0"/>
            </a:endParaRPr>
          </a:p>
        </p:txBody>
      </p:sp>
      <p:sp>
        <p:nvSpPr>
          <p:cNvPr id="37919" name="Oval 47">
            <a:extLst>
              <a:ext uri="{FF2B5EF4-FFF2-40B4-BE49-F238E27FC236}">
                <a16:creationId xmlns:a16="http://schemas.microsoft.com/office/drawing/2014/main" xmlns="" id="{7F6C710C-0960-4F23-AB31-A71C680F48F4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0913" y="3213100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920" name="Oval 48">
            <a:extLst>
              <a:ext uri="{FF2B5EF4-FFF2-40B4-BE49-F238E27FC236}">
                <a16:creationId xmlns:a16="http://schemas.microsoft.com/office/drawing/2014/main" xmlns="" id="{DC42E0B2-FA42-4420-B2D3-05D5851531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3575" y="3355975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921" name="Oval 49">
            <a:extLst>
              <a:ext uri="{FF2B5EF4-FFF2-40B4-BE49-F238E27FC236}">
                <a16:creationId xmlns:a16="http://schemas.microsoft.com/office/drawing/2014/main" xmlns="" id="{6AA449A3-E036-4DF9-A17F-F2EC20E6DFF5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3575" y="2852738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sp>
        <p:nvSpPr>
          <p:cNvPr id="37922" name="Oval 50">
            <a:extLst>
              <a:ext uri="{FF2B5EF4-FFF2-40B4-BE49-F238E27FC236}">
                <a16:creationId xmlns:a16="http://schemas.microsoft.com/office/drawing/2014/main" xmlns="" id="{D73EB586-4A9D-4328-A1AE-5B5C05962FF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6450" y="3789363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  <p:grpSp>
        <p:nvGrpSpPr>
          <p:cNvPr id="2" name="Group 64">
            <a:extLst>
              <a:ext uri="{FF2B5EF4-FFF2-40B4-BE49-F238E27FC236}">
                <a16:creationId xmlns:a16="http://schemas.microsoft.com/office/drawing/2014/main" xmlns="" id="{2710C36F-1D00-4C8D-BE01-B0FF3EA44266}"/>
              </a:ext>
            </a:extLst>
          </p:cNvPr>
          <p:cNvGrpSpPr>
            <a:grpSpLocks/>
          </p:cNvGrpSpPr>
          <p:nvPr/>
        </p:nvGrpSpPr>
        <p:grpSpPr bwMode="auto">
          <a:xfrm>
            <a:off x="1285875" y="642938"/>
            <a:ext cx="5157788" cy="3433762"/>
            <a:chOff x="810" y="405"/>
            <a:chExt cx="3249" cy="2163"/>
          </a:xfrm>
        </p:grpSpPr>
        <p:sp>
          <p:nvSpPr>
            <p:cNvPr id="451636" name="AutoShape 52">
              <a:extLst>
                <a:ext uri="{FF2B5EF4-FFF2-40B4-BE49-F238E27FC236}">
                  <a16:creationId xmlns:a16="http://schemas.microsoft.com/office/drawing/2014/main" xmlns="" id="{8C4EB2D8-99D0-4463-9E25-27E9B43F683B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810" y="405"/>
              <a:ext cx="2161" cy="687"/>
            </a:xfrm>
            <a:prstGeom prst="wedgeRoundRectCallout">
              <a:avLst>
                <a:gd name="adj1" fmla="val 27300"/>
                <a:gd name="adj2" fmla="val 56298"/>
                <a:gd name="adj3" fmla="val 16667"/>
              </a:avLst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>
                <a:spcBef>
                  <a:spcPct val="50000"/>
                </a:spcBef>
                <a:defRPr/>
              </a:pPr>
              <a:r>
                <a:rPr lang="en-US" altLang="zh-CN" sz="3200" b="1">
                  <a:latin typeface="楷体_GB2312" pitchFamily="49" charset="-122"/>
                  <a:ea typeface="楷体_GB2312" pitchFamily="49" charset="-122"/>
                </a:rPr>
                <a:t>(1)</a:t>
              </a:r>
              <a:r>
                <a:rPr lang="zh-CN" altLang="en-US" sz="3200" b="1">
                  <a:latin typeface="楷体_GB2312" pitchFamily="49" charset="-122"/>
                  <a:ea typeface="楷体_GB2312" pitchFamily="49" charset="-122"/>
                </a:rPr>
                <a:t>已知</a:t>
              </a:r>
              <a:r>
                <a:rPr lang="en-US" altLang="zh-CN" sz="3200" b="1">
                  <a:latin typeface="楷体_GB2312" pitchFamily="49" charset="-122"/>
                  <a:ea typeface="楷体_GB2312" pitchFamily="49" charset="-122"/>
                </a:rPr>
                <a:t>N</a:t>
              </a:r>
              <a:r>
                <a:rPr lang="zh-CN" altLang="en-US" sz="3200" b="1">
                  <a:latin typeface="楷体_GB2312" pitchFamily="49" charset="-122"/>
                  <a:ea typeface="楷体_GB2312" pitchFamily="49" charset="-122"/>
                </a:rPr>
                <a:t>个已知类别样本</a:t>
              </a:r>
              <a:r>
                <a:rPr lang="en-US" altLang="zh-CN" sz="3200" b="1">
                  <a:latin typeface="楷体_GB2312" pitchFamily="49" charset="-122"/>
                  <a:ea typeface="楷体_GB2312" pitchFamily="49" charset="-122"/>
                </a:rPr>
                <a:t>X</a:t>
              </a:r>
              <a:endParaRPr lang="en-US" altLang="zh-CN" sz="3200">
                <a:latin typeface="Tahoma" pitchFamily="34" charset="0"/>
              </a:endParaRPr>
            </a:p>
          </p:txBody>
        </p:sp>
        <p:sp>
          <p:nvSpPr>
            <p:cNvPr id="37925" name="Oval 53">
              <a:extLst>
                <a:ext uri="{FF2B5EF4-FFF2-40B4-BE49-F238E27FC236}">
                  <a16:creationId xmlns:a16="http://schemas.microsoft.com/office/drawing/2014/main" xmlns="" id="{F743135B-7FE0-487C-885D-8DCDB8D68CF3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0" y="1117"/>
              <a:ext cx="3039" cy="1451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>
                <a:latin typeface="Tahoma" panose="020B0604030504040204" pitchFamily="34" charset="0"/>
              </a:endParaRPr>
            </a:p>
          </p:txBody>
        </p:sp>
      </p:grpSp>
      <p:grpSp>
        <p:nvGrpSpPr>
          <p:cNvPr id="3" name="Group 65">
            <a:extLst>
              <a:ext uri="{FF2B5EF4-FFF2-40B4-BE49-F238E27FC236}">
                <a16:creationId xmlns:a16="http://schemas.microsoft.com/office/drawing/2014/main" xmlns="" id="{4A34E5D3-B6DF-4D72-88B0-D0D20223D03A}"/>
              </a:ext>
            </a:extLst>
          </p:cNvPr>
          <p:cNvGrpSpPr>
            <a:grpSpLocks/>
          </p:cNvGrpSpPr>
          <p:nvPr/>
        </p:nvGrpSpPr>
        <p:grpSpPr bwMode="auto">
          <a:xfrm>
            <a:off x="4140200" y="642938"/>
            <a:ext cx="4360863" cy="1704975"/>
            <a:chOff x="2608" y="405"/>
            <a:chExt cx="2747" cy="1074"/>
          </a:xfrm>
        </p:grpSpPr>
        <p:sp>
          <p:nvSpPr>
            <p:cNvPr id="37927" name="Oval 54">
              <a:extLst>
                <a:ext uri="{FF2B5EF4-FFF2-40B4-BE49-F238E27FC236}">
                  <a16:creationId xmlns:a16="http://schemas.microsoft.com/office/drawing/2014/main" xmlns="" id="{7F5EE2D7-8747-4BED-9682-32EE4BD9C8B5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8" y="1389"/>
              <a:ext cx="90" cy="9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3200">
                <a:latin typeface="Tahoma" panose="020B0604030504040204" pitchFamily="34" charset="0"/>
              </a:endParaRPr>
            </a:p>
          </p:txBody>
        </p:sp>
        <p:sp>
          <p:nvSpPr>
            <p:cNvPr id="451639" name="AutoShape 55">
              <a:extLst>
                <a:ext uri="{FF2B5EF4-FFF2-40B4-BE49-F238E27FC236}">
                  <a16:creationId xmlns:a16="http://schemas.microsoft.com/office/drawing/2014/main" xmlns="" id="{124FF8C5-CA4B-49A0-A862-498D92C939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060" y="405"/>
              <a:ext cx="2295" cy="675"/>
            </a:xfrm>
            <a:prstGeom prst="wedgeRoundRectCallout">
              <a:avLst>
                <a:gd name="adj1" fmla="val -67515"/>
                <a:gd name="adj2" fmla="val 100640"/>
                <a:gd name="adj3" fmla="val 16667"/>
              </a:avLst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>
                <a:spcBef>
                  <a:spcPct val="50000"/>
                </a:spcBef>
                <a:defRPr/>
              </a:pPr>
              <a:r>
                <a:rPr lang="en-US" altLang="zh-CN" sz="3200" b="1" dirty="0">
                  <a:latin typeface="楷体_GB2312" pitchFamily="49" charset="-122"/>
                  <a:ea typeface="楷体_GB2312" pitchFamily="49" charset="-122"/>
                </a:rPr>
                <a:t>(2)</a:t>
              </a:r>
              <a:r>
                <a:rPr lang="zh-CN" altLang="en-US" sz="3200" b="1" dirty="0">
                  <a:latin typeface="楷体_GB2312" pitchFamily="49" charset="-122"/>
                  <a:ea typeface="楷体_GB2312" pitchFamily="49" charset="-122"/>
                </a:rPr>
                <a:t>输入未知类别样本</a:t>
              </a:r>
              <a:r>
                <a:rPr lang="en-US" altLang="zh-CN" sz="3200" b="1" dirty="0">
                  <a:latin typeface="楷体_GB2312" pitchFamily="49" charset="-122"/>
                  <a:ea typeface="楷体_GB2312" pitchFamily="49" charset="-122"/>
                </a:rPr>
                <a:t>x</a:t>
              </a:r>
              <a:endParaRPr lang="en-US" altLang="zh-CN" sz="3200" dirty="0">
                <a:latin typeface="Tahoma" pitchFamily="34" charset="0"/>
              </a:endParaRPr>
            </a:p>
          </p:txBody>
        </p:sp>
      </p:grpSp>
      <p:grpSp>
        <p:nvGrpSpPr>
          <p:cNvPr id="4" name="Group 66">
            <a:extLst>
              <a:ext uri="{FF2B5EF4-FFF2-40B4-BE49-F238E27FC236}">
                <a16:creationId xmlns:a16="http://schemas.microsoft.com/office/drawing/2014/main" xmlns="" id="{BF4C9211-B307-41F3-9C3A-E82E02B5BCDC}"/>
              </a:ext>
            </a:extLst>
          </p:cNvPr>
          <p:cNvGrpSpPr>
            <a:grpSpLocks/>
          </p:cNvGrpSpPr>
          <p:nvPr/>
        </p:nvGrpSpPr>
        <p:grpSpPr bwMode="auto">
          <a:xfrm>
            <a:off x="3492500" y="1916113"/>
            <a:ext cx="5651500" cy="2155825"/>
            <a:chOff x="2200" y="1207"/>
            <a:chExt cx="3560" cy="1358"/>
          </a:xfrm>
        </p:grpSpPr>
        <p:sp>
          <p:nvSpPr>
            <p:cNvPr id="37930" name="Line 56">
              <a:extLst>
                <a:ext uri="{FF2B5EF4-FFF2-40B4-BE49-F238E27FC236}">
                  <a16:creationId xmlns:a16="http://schemas.microsoft.com/office/drawing/2014/main" xmlns="" id="{CD0D196A-8176-4B98-89CA-8839EE726A67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200" y="1434"/>
              <a:ext cx="408" cy="4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7931" name="Line 57">
              <a:extLst>
                <a:ext uri="{FF2B5EF4-FFF2-40B4-BE49-F238E27FC236}">
                  <a16:creationId xmlns:a16="http://schemas.microsoft.com/office/drawing/2014/main" xmlns="" id="{CE0830C9-E840-4487-B039-13F666E0164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290" y="1480"/>
              <a:ext cx="318" cy="136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7932" name="Line 58">
              <a:extLst>
                <a:ext uri="{FF2B5EF4-FFF2-40B4-BE49-F238E27FC236}">
                  <a16:creationId xmlns:a16="http://schemas.microsoft.com/office/drawing/2014/main" xmlns="" id="{B5F91EF2-9998-4CA7-A6D6-A280CC5D4FD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472" y="1480"/>
              <a:ext cx="181" cy="272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37933" name="Line 59">
              <a:extLst>
                <a:ext uri="{FF2B5EF4-FFF2-40B4-BE49-F238E27FC236}">
                  <a16:creationId xmlns:a16="http://schemas.microsoft.com/office/drawing/2014/main" xmlns="" id="{1242FB0F-6DBF-43D9-8F9D-609BE3B58B0E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99" y="1480"/>
              <a:ext cx="181" cy="0"/>
            </a:xfrm>
            <a:prstGeom prst="line">
              <a:avLst/>
            </a:prstGeom>
            <a:noFill/>
            <a:ln w="38100">
              <a:solidFill>
                <a:schemeClr val="tx1"/>
              </a:solidFill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noFill/>
                </a14:hiddenFill>
              </a:ext>
            </a:extLst>
          </p:spPr>
          <p:txBody>
            <a:bodyPr/>
            <a:lstStyle/>
            <a:p>
              <a:endParaRPr lang="zh-CN" altLang="en-US"/>
            </a:p>
          </p:txBody>
        </p:sp>
        <p:sp>
          <p:nvSpPr>
            <p:cNvPr id="451644" name="AutoShape 60">
              <a:extLst>
                <a:ext uri="{FF2B5EF4-FFF2-40B4-BE49-F238E27FC236}">
                  <a16:creationId xmlns:a16="http://schemas.microsoft.com/office/drawing/2014/main" xmlns="" id="{D3017463-61B4-413B-867F-9ED029D09C67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50" y="1207"/>
              <a:ext cx="1610" cy="1358"/>
            </a:xfrm>
            <a:prstGeom prst="wedgeRoundRectCallout">
              <a:avLst>
                <a:gd name="adj1" fmla="val -146223"/>
                <a:gd name="adj2" fmla="val -17545"/>
                <a:gd name="adj3" fmla="val 16667"/>
              </a:avLst>
            </a:prstGeom>
            <a:solidFill>
              <a:schemeClr val="bg1">
                <a:lumMod val="75000"/>
              </a:schemeClr>
            </a:solidFill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>
                <a:spcBef>
                  <a:spcPts val="0"/>
                </a:spcBef>
                <a:defRPr/>
              </a:pPr>
              <a:r>
                <a:rPr lang="en-US" altLang="zh-CN" sz="3200" b="1" dirty="0">
                  <a:latin typeface="楷体_GB2312" pitchFamily="49" charset="-122"/>
                  <a:ea typeface="楷体_GB2312" pitchFamily="49" charset="-122"/>
                </a:rPr>
                <a:t>(3)</a:t>
              </a:r>
              <a:r>
                <a:rPr lang="zh-CN" altLang="en-US" sz="3200" b="1" dirty="0">
                  <a:latin typeface="楷体_GB2312" pitchFamily="49" charset="-122"/>
                  <a:ea typeface="楷体_GB2312" pitchFamily="49" charset="-122"/>
                </a:rPr>
                <a:t>计算</a:t>
              </a:r>
              <a:r>
                <a:rPr lang="en-US" altLang="zh-CN" sz="3200" b="1" dirty="0">
                  <a:latin typeface="楷体_GB2312" pitchFamily="49" charset="-122"/>
                  <a:ea typeface="楷体_GB2312" pitchFamily="49" charset="-122"/>
                </a:rPr>
                <a:t>x</a:t>
              </a:r>
              <a:r>
                <a:rPr lang="zh-CN" altLang="en-US" sz="3200" b="1" dirty="0">
                  <a:latin typeface="楷体_GB2312" pitchFamily="49" charset="-122"/>
                  <a:ea typeface="楷体_GB2312" pitchFamily="49" charset="-122"/>
                </a:rPr>
                <a:t>到</a:t>
              </a:r>
              <a:r>
                <a:rPr lang="en-US" altLang="zh-CN" sz="3200" b="1" dirty="0" err="1">
                  <a:latin typeface="楷体_GB2312" pitchFamily="49" charset="-122"/>
                  <a:ea typeface="楷体_GB2312" pitchFamily="49" charset="-122"/>
                </a:rPr>
                <a:t>x</a:t>
              </a:r>
              <a:r>
                <a:rPr lang="en-US" altLang="zh-CN" sz="3200" b="1" baseline="-25000" dirty="0" err="1">
                  <a:latin typeface="楷体_GB2312" pitchFamily="49" charset="-122"/>
                  <a:ea typeface="楷体_GB2312" pitchFamily="49" charset="-122"/>
                </a:rPr>
                <a:t>i</a:t>
              </a:r>
              <a:r>
                <a:rPr lang="en-US" altLang="zh-CN" sz="3200" b="1" dirty="0" err="1">
                  <a:latin typeface="楷体_GB2312" pitchFamily="49" charset="-122"/>
                  <a:ea typeface="楷体_GB2312" pitchFamily="49" charset="-122"/>
                  <a:sym typeface="Symbol" pitchFamily="18" charset="2"/>
                </a:rPr>
                <a:t>X</a:t>
              </a:r>
              <a:r>
                <a:rPr lang="zh-CN" altLang="en-US" sz="3200" b="1" dirty="0">
                  <a:latin typeface="楷体_GB2312" pitchFamily="49" charset="-122"/>
                  <a:ea typeface="楷体_GB2312" pitchFamily="49" charset="-122"/>
                </a:rPr>
                <a:t>，</a:t>
              </a:r>
              <a:r>
                <a:rPr lang="en-US" altLang="zh-CN" sz="3200" b="1" dirty="0">
                  <a:latin typeface="楷体_GB2312" pitchFamily="49" charset="-122"/>
                  <a:ea typeface="楷体_GB2312" pitchFamily="49" charset="-122"/>
                </a:rPr>
                <a:t>(</a:t>
              </a:r>
              <a:r>
                <a:rPr lang="en-US" altLang="zh-CN" sz="3200" b="1" dirty="0" err="1">
                  <a:latin typeface="楷体_GB2312" pitchFamily="49" charset="-122"/>
                  <a:ea typeface="楷体_GB2312" pitchFamily="49" charset="-122"/>
                </a:rPr>
                <a:t>i</a:t>
              </a:r>
              <a:r>
                <a:rPr lang="en-US" altLang="zh-CN" sz="3200" b="1" dirty="0">
                  <a:latin typeface="楷体_GB2312" pitchFamily="49" charset="-122"/>
                  <a:ea typeface="楷体_GB2312" pitchFamily="49" charset="-122"/>
                </a:rPr>
                <a:t>=1,</a:t>
              </a:r>
            </a:p>
            <a:p>
              <a:pPr>
                <a:spcBef>
                  <a:spcPts val="0"/>
                </a:spcBef>
                <a:defRPr/>
              </a:pPr>
              <a:r>
                <a:rPr lang="en-US" altLang="zh-CN" sz="3200" b="1" dirty="0">
                  <a:latin typeface="楷体_GB2312" pitchFamily="49" charset="-122"/>
                  <a:ea typeface="楷体_GB2312" pitchFamily="49" charset="-122"/>
                </a:rPr>
                <a:t>2,</a:t>
              </a:r>
              <a:r>
                <a:rPr lang="en-US" altLang="zh-CN" sz="3200" b="1" dirty="0">
                  <a:latin typeface="Arial"/>
                  <a:ea typeface="楷体_GB2312" pitchFamily="49" charset="-122"/>
                </a:rPr>
                <a:t>…</a:t>
              </a:r>
              <a:r>
                <a:rPr lang="en-US" altLang="zh-CN" sz="3200" b="1" dirty="0">
                  <a:latin typeface="楷体_GB2312" pitchFamily="49" charset="-122"/>
                  <a:ea typeface="楷体_GB2312" pitchFamily="49" charset="-122"/>
                </a:rPr>
                <a:t>,N)</a:t>
              </a:r>
              <a:r>
                <a:rPr lang="zh-CN" altLang="en-US" sz="3200" b="1" dirty="0">
                  <a:latin typeface="楷体_GB2312" pitchFamily="49" charset="-122"/>
                  <a:ea typeface="楷体_GB2312" pitchFamily="49" charset="-122"/>
                </a:rPr>
                <a:t>的距离</a:t>
              </a:r>
              <a:r>
                <a:rPr lang="en-US" altLang="zh-CN" sz="3200" b="1" dirty="0" err="1">
                  <a:latin typeface="楷体_GB2312" pitchFamily="49" charset="-122"/>
                  <a:ea typeface="楷体_GB2312" pitchFamily="49" charset="-122"/>
                </a:rPr>
                <a:t>d</a:t>
              </a:r>
              <a:r>
                <a:rPr lang="en-US" altLang="zh-CN" sz="3200" b="1" baseline="-25000" dirty="0" err="1">
                  <a:latin typeface="楷体_GB2312" pitchFamily="49" charset="-122"/>
                  <a:ea typeface="楷体_GB2312" pitchFamily="49" charset="-122"/>
                </a:rPr>
                <a:t>i</a:t>
              </a:r>
              <a:r>
                <a:rPr lang="en-US" altLang="zh-CN" sz="3200" b="1" dirty="0">
                  <a:latin typeface="楷体_GB2312" pitchFamily="49" charset="-122"/>
                  <a:ea typeface="楷体_GB2312" pitchFamily="49" charset="-122"/>
                </a:rPr>
                <a:t>(x)</a:t>
              </a:r>
              <a:endParaRPr lang="zh-CN" altLang="en-US" sz="3200" dirty="0">
                <a:latin typeface="Tahoma" pitchFamily="34" charset="0"/>
              </a:endParaRPr>
            </a:p>
          </p:txBody>
        </p:sp>
      </p:grpSp>
      <p:sp>
        <p:nvSpPr>
          <p:cNvPr id="451645" name="AutoShape 61">
            <a:extLst>
              <a:ext uri="{FF2B5EF4-FFF2-40B4-BE49-F238E27FC236}">
                <a16:creationId xmlns:a16="http://schemas.microsoft.com/office/drawing/2014/main" xmlns="" id="{8FB67C9F-7B3D-488D-B36F-BFCC5C60E58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357813" y="4221163"/>
            <a:ext cx="3643312" cy="1350962"/>
          </a:xfrm>
          <a:prstGeom prst="wedgeRoundRectCallout">
            <a:avLst>
              <a:gd name="adj1" fmla="val -78824"/>
              <a:gd name="adj2" fmla="val -189423"/>
              <a:gd name="adj3" fmla="val 16667"/>
            </a:avLst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/>
          <a:lstStyle/>
          <a:p>
            <a:pPr>
              <a:spcBef>
                <a:spcPct val="50000"/>
              </a:spcBef>
              <a:defRPr/>
            </a:pPr>
            <a:r>
              <a:rPr lang="en-US" altLang="zh-CN" sz="3200" b="1" dirty="0">
                <a:latin typeface="楷体_GB2312" pitchFamily="49" charset="-122"/>
                <a:ea typeface="楷体_GB2312" pitchFamily="49" charset="-122"/>
              </a:rPr>
              <a:t>(4)</a:t>
            </a:r>
            <a:r>
              <a:rPr lang="zh-CN" altLang="en-US" sz="3200" b="1" dirty="0">
                <a:latin typeface="楷体_GB2312" pitchFamily="49" charset="-122"/>
                <a:ea typeface="楷体_GB2312" pitchFamily="49" charset="-122"/>
              </a:rPr>
              <a:t>找出最小距离</a:t>
            </a:r>
            <a:r>
              <a:rPr lang="en-US" altLang="zh-CN" sz="3200" b="1" dirty="0">
                <a:latin typeface="楷体_GB2312" pitchFamily="49" charset="-122"/>
                <a:ea typeface="楷体_GB2312" pitchFamily="49" charset="-122"/>
              </a:rPr>
              <a:t>d</a:t>
            </a:r>
            <a:r>
              <a:rPr lang="en-US" altLang="zh-CN" sz="3200" b="1" baseline="-25000" dirty="0">
                <a:latin typeface="楷体_GB2312" pitchFamily="49" charset="-122"/>
                <a:ea typeface="楷体_GB2312" pitchFamily="49" charset="-122"/>
              </a:rPr>
              <a:t>m</a:t>
            </a:r>
            <a:r>
              <a:rPr lang="en-US" altLang="zh-CN" sz="3200" b="1" dirty="0">
                <a:latin typeface="楷体_GB2312" pitchFamily="49" charset="-122"/>
                <a:ea typeface="楷体_GB2312" pitchFamily="49" charset="-122"/>
              </a:rPr>
              <a:t>(x)=min{</a:t>
            </a:r>
            <a:r>
              <a:rPr lang="en-US" altLang="zh-CN" sz="3200" b="1" dirty="0" err="1">
                <a:latin typeface="楷体_GB2312" pitchFamily="49" charset="-122"/>
                <a:ea typeface="楷体_GB2312" pitchFamily="49" charset="-122"/>
              </a:rPr>
              <a:t>d</a:t>
            </a:r>
            <a:r>
              <a:rPr lang="en-US" altLang="zh-CN" sz="3200" b="1" baseline="-25000" dirty="0" err="1">
                <a:latin typeface="楷体_GB2312" pitchFamily="49" charset="-122"/>
                <a:ea typeface="楷体_GB2312" pitchFamily="49" charset="-122"/>
              </a:rPr>
              <a:t>i</a:t>
            </a:r>
            <a:r>
              <a:rPr lang="en-US" altLang="zh-CN" sz="3200" b="1" dirty="0">
                <a:latin typeface="楷体_GB2312" pitchFamily="49" charset="-122"/>
                <a:ea typeface="楷体_GB2312" pitchFamily="49" charset="-122"/>
              </a:rPr>
              <a:t>(x)}</a:t>
            </a:r>
            <a:endParaRPr lang="zh-CN" altLang="en-US" sz="3200" dirty="0">
              <a:latin typeface="Tahoma" pitchFamily="34" charset="0"/>
            </a:endParaRPr>
          </a:p>
        </p:txBody>
      </p:sp>
      <p:sp>
        <p:nvSpPr>
          <p:cNvPr id="451646" name="AutoShape 62">
            <a:extLst>
              <a:ext uri="{FF2B5EF4-FFF2-40B4-BE49-F238E27FC236}">
                <a16:creationId xmlns:a16="http://schemas.microsoft.com/office/drawing/2014/main" xmlns="" id="{61831B81-8C20-49D7-955F-5E96504DA4B3}"/>
              </a:ext>
            </a:extLst>
          </p:cNvPr>
          <p:cNvSpPr>
            <a:spLocks noChangeArrowheads="1"/>
          </p:cNvSpPr>
          <p:nvPr/>
        </p:nvSpPr>
        <p:spPr bwMode="auto">
          <a:xfrm>
            <a:off x="1928813" y="5514975"/>
            <a:ext cx="3289300" cy="1055687"/>
          </a:xfrm>
          <a:prstGeom prst="wedgeRoundRectCallout">
            <a:avLst>
              <a:gd name="adj1" fmla="val 28629"/>
              <a:gd name="adj2" fmla="val -351050"/>
              <a:gd name="adj3" fmla="val 16667"/>
            </a:avLst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/>
          <a:lstStyle/>
          <a:p>
            <a:pPr>
              <a:spcBef>
                <a:spcPct val="50000"/>
              </a:spcBef>
              <a:defRPr/>
            </a:pPr>
            <a:r>
              <a:rPr lang="en-US" altLang="zh-CN" sz="3200" b="1" dirty="0">
                <a:latin typeface="楷体_GB2312" pitchFamily="49" charset="-122"/>
                <a:ea typeface="楷体_GB2312" pitchFamily="49" charset="-122"/>
              </a:rPr>
              <a:t>(5)</a:t>
            </a:r>
            <a:r>
              <a:rPr lang="zh-CN" altLang="en-US" sz="3200" b="1" dirty="0">
                <a:latin typeface="楷体_GB2312" pitchFamily="49" charset="-122"/>
                <a:ea typeface="楷体_GB2312" pitchFamily="49" charset="-122"/>
              </a:rPr>
              <a:t>看</a:t>
            </a:r>
            <a:r>
              <a:rPr lang="en-US" altLang="zh-CN" sz="3200" b="1" dirty="0" err="1">
                <a:latin typeface="楷体_GB2312" pitchFamily="49" charset="-122"/>
                <a:ea typeface="楷体_GB2312" pitchFamily="49" charset="-122"/>
              </a:rPr>
              <a:t>x</a:t>
            </a:r>
            <a:r>
              <a:rPr lang="en-US" altLang="zh-CN" sz="3200" b="1" baseline="-25000" dirty="0" err="1">
                <a:latin typeface="楷体_GB2312" pitchFamily="49" charset="-122"/>
                <a:ea typeface="楷体_GB2312" pitchFamily="49" charset="-122"/>
              </a:rPr>
              <a:t>m</a:t>
            </a:r>
            <a:r>
              <a:rPr lang="zh-CN" altLang="en-US" sz="3200" b="1" dirty="0">
                <a:latin typeface="楷体_GB2312" pitchFamily="49" charset="-122"/>
                <a:ea typeface="楷体_GB2312" pitchFamily="49" charset="-122"/>
              </a:rPr>
              <a:t>属于哪一类：</a:t>
            </a:r>
            <a:r>
              <a:rPr lang="en-US" altLang="zh-CN" sz="3200" b="1" dirty="0" err="1">
                <a:latin typeface="楷体_GB2312" pitchFamily="49" charset="-122"/>
                <a:ea typeface="楷体_GB2312" pitchFamily="49" charset="-122"/>
              </a:rPr>
              <a:t>x</a:t>
            </a:r>
            <a:r>
              <a:rPr lang="en-US" altLang="zh-CN" sz="3200" b="1" baseline="-25000" dirty="0" err="1">
                <a:latin typeface="楷体_GB2312" pitchFamily="49" charset="-122"/>
                <a:ea typeface="楷体_GB2312" pitchFamily="49" charset="-122"/>
              </a:rPr>
              <a:t>m</a:t>
            </a:r>
            <a:r>
              <a:rPr lang="en-US" altLang="zh-CN" sz="3200" b="1" dirty="0">
                <a:latin typeface="楷体_GB2312" pitchFamily="49" charset="-122"/>
                <a:ea typeface="楷体_GB2312" pitchFamily="49" charset="-122"/>
                <a:sym typeface="Symbol" pitchFamily="18" charset="2"/>
              </a:rPr>
              <a:t></a:t>
            </a:r>
            <a:r>
              <a:rPr lang="el-GR" altLang="zh-CN" sz="3200" b="1" dirty="0">
                <a:latin typeface="楷体_GB2312" pitchFamily="49" charset="-122"/>
                <a:ea typeface="楷体_GB2312" pitchFamily="49" charset="-122"/>
                <a:sym typeface="Symbol" pitchFamily="18" charset="2"/>
              </a:rPr>
              <a:t>ω</a:t>
            </a:r>
            <a:r>
              <a:rPr lang="en-US" altLang="zh-CN" sz="3200" b="1" baseline="-25000" dirty="0">
                <a:latin typeface="楷体_GB2312" pitchFamily="49" charset="-122"/>
                <a:ea typeface="楷体_GB2312" pitchFamily="49" charset="-122"/>
                <a:sym typeface="Symbol" pitchFamily="18" charset="2"/>
              </a:rPr>
              <a:t>2</a:t>
            </a:r>
            <a:endParaRPr lang="el-GR" altLang="zh-CN" sz="3200" baseline="-25000" dirty="0">
              <a:latin typeface="楷体_GB2312" pitchFamily="49" charset="-122"/>
              <a:ea typeface="楷体_GB2312" pitchFamily="49" charset="-122"/>
              <a:sym typeface="Symbol" pitchFamily="18" charset="2"/>
            </a:endParaRPr>
          </a:p>
        </p:txBody>
      </p:sp>
      <p:sp>
        <p:nvSpPr>
          <p:cNvPr id="451647" name="AutoShape 63">
            <a:extLst>
              <a:ext uri="{FF2B5EF4-FFF2-40B4-BE49-F238E27FC236}">
                <a16:creationId xmlns:a16="http://schemas.microsoft.com/office/drawing/2014/main" xmlns="" id="{636E078C-500A-4DEB-AFBB-1A03C9F9A6B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57188" y="4286250"/>
            <a:ext cx="2808287" cy="719138"/>
          </a:xfrm>
          <a:prstGeom prst="wedgeRoundRectCallout">
            <a:avLst>
              <a:gd name="adj1" fmla="val 86228"/>
              <a:gd name="adj2" fmla="val -325023"/>
              <a:gd name="adj3" fmla="val 16667"/>
            </a:avLst>
          </a:prstGeom>
          <a:solidFill>
            <a:schemeClr val="bg1">
              <a:lumMod val="75000"/>
            </a:schemeClr>
          </a:solidFill>
          <a:ln w="9525">
            <a:solidFill>
              <a:schemeClr val="tx1"/>
            </a:solidFill>
            <a:miter lim="800000"/>
            <a:headEnd/>
            <a:tailEnd/>
          </a:ln>
          <a:effectLst/>
        </p:spPr>
        <p:txBody>
          <a:bodyPr/>
          <a:lstStyle/>
          <a:p>
            <a:pPr>
              <a:spcBef>
                <a:spcPct val="50000"/>
              </a:spcBef>
              <a:defRPr/>
            </a:pPr>
            <a:r>
              <a:rPr lang="en-US" altLang="zh-CN" sz="3200" b="1">
                <a:latin typeface="楷体_GB2312" pitchFamily="49" charset="-122"/>
                <a:ea typeface="楷体_GB2312" pitchFamily="49" charset="-122"/>
              </a:rPr>
              <a:t>(6) </a:t>
            </a:r>
            <a:r>
              <a:rPr lang="zh-CN" altLang="en-US" sz="3200" b="1">
                <a:latin typeface="楷体_GB2312" pitchFamily="49" charset="-122"/>
                <a:ea typeface="楷体_GB2312" pitchFamily="49" charset="-122"/>
              </a:rPr>
              <a:t>判</a:t>
            </a:r>
            <a:r>
              <a:rPr lang="en-US" altLang="zh-CN" sz="3200" b="1">
                <a:latin typeface="楷体_GB2312" pitchFamily="49" charset="-122"/>
                <a:ea typeface="楷体_GB2312" pitchFamily="49" charset="-122"/>
              </a:rPr>
              <a:t>x</a:t>
            </a:r>
            <a:r>
              <a:rPr lang="en-US" altLang="zh-CN" sz="3200" b="1">
                <a:latin typeface="楷体_GB2312" pitchFamily="49" charset="-122"/>
                <a:ea typeface="楷体_GB2312" pitchFamily="49" charset="-122"/>
                <a:sym typeface="Symbol" pitchFamily="18" charset="2"/>
              </a:rPr>
              <a:t></a:t>
            </a:r>
            <a:r>
              <a:rPr lang="el-GR" altLang="zh-CN" sz="3200" b="1">
                <a:latin typeface="楷体_GB2312" pitchFamily="49" charset="-122"/>
                <a:ea typeface="楷体_GB2312" pitchFamily="49" charset="-122"/>
                <a:sym typeface="Symbol" pitchFamily="18" charset="2"/>
              </a:rPr>
              <a:t>ω</a:t>
            </a:r>
            <a:r>
              <a:rPr lang="en-US" altLang="zh-CN" sz="3200" b="1" baseline="-25000">
                <a:latin typeface="楷体_GB2312" pitchFamily="49" charset="-122"/>
                <a:ea typeface="楷体_GB2312" pitchFamily="49" charset="-122"/>
                <a:sym typeface="Symbol" pitchFamily="18" charset="2"/>
              </a:rPr>
              <a:t>2</a:t>
            </a:r>
            <a:endParaRPr lang="el-GR" altLang="zh-CN" sz="3200" baseline="-25000">
              <a:latin typeface="楷体_GB2312" pitchFamily="49" charset="-122"/>
              <a:ea typeface="楷体_GB2312" pitchFamily="49" charset="-122"/>
              <a:sym typeface="Symbol" pitchFamily="18" charset="2"/>
            </a:endParaRPr>
          </a:p>
        </p:txBody>
      </p:sp>
      <p:sp>
        <p:nvSpPr>
          <p:cNvPr id="451625" name="Oval 41">
            <a:extLst>
              <a:ext uri="{FF2B5EF4-FFF2-40B4-BE49-F238E27FC236}">
                <a16:creationId xmlns:a16="http://schemas.microsoft.com/office/drawing/2014/main" xmlns="" id="{9370E331-949A-4DEA-A2AE-6B7DC918C3D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1788" y="2205038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>
              <a:latin typeface="Tahoma" panose="020B0604030504040204" pitchFamily="34" charset="0"/>
            </a:endParaRP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164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16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164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162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1645" grpId="0" animBg="1"/>
      <p:bldP spid="451646" grpId="0" animBg="1"/>
      <p:bldP spid="451647" grpId="0" animBg="1"/>
      <p:bldP spid="451625" grpId="0" animBg="1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8914" name="Group 33">
            <a:extLst>
              <a:ext uri="{FF2B5EF4-FFF2-40B4-BE49-F238E27FC236}">
                <a16:creationId xmlns:a16="http://schemas.microsoft.com/office/drawing/2014/main" xmlns="" id="{DDE18574-B577-46AD-A064-B65AF79D6652}"/>
              </a:ext>
            </a:extLst>
          </p:cNvPr>
          <p:cNvGrpSpPr>
            <a:grpSpLocks/>
          </p:cNvGrpSpPr>
          <p:nvPr/>
        </p:nvGrpSpPr>
        <p:grpSpPr bwMode="auto">
          <a:xfrm>
            <a:off x="250825" y="642938"/>
            <a:ext cx="8893175" cy="3424237"/>
            <a:chOff x="385" y="1389"/>
            <a:chExt cx="5095" cy="2157"/>
          </a:xfrm>
        </p:grpSpPr>
        <p:sp>
          <p:nvSpPr>
            <p:cNvPr id="38915" name="Text Box 34">
              <a:extLst>
                <a:ext uri="{FF2B5EF4-FFF2-40B4-BE49-F238E27FC236}">
                  <a16:creationId xmlns:a16="http://schemas.microsoft.com/office/drawing/2014/main" xmlns="" id="{1AA6D77D-A9A7-447A-A6BD-5B2864D9FAEB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85" y="1389"/>
              <a:ext cx="5095" cy="2157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3200" b="1">
                  <a:solidFill>
                    <a:srgbClr val="FFFF66"/>
                  </a:solidFill>
                  <a:latin typeface="楷体_GB2312"/>
                  <a:ea typeface="楷体_GB2312"/>
                  <a:cs typeface="楷体_GB2312"/>
                </a:rPr>
                <a:t>k-NN</a:t>
              </a:r>
              <a:r>
                <a:rPr lang="zh-CN" altLang="en-US" sz="3200" b="1">
                  <a:solidFill>
                    <a:srgbClr val="FFFF66"/>
                  </a:solidFill>
                  <a:latin typeface="楷体_GB2312"/>
                  <a:ea typeface="楷体_GB2312"/>
                  <a:cs typeface="楷体_GB2312"/>
                </a:rPr>
                <a:t>分类思想</a:t>
              </a:r>
              <a:r>
                <a:rPr lang="en-US" altLang="zh-CN" sz="3200" b="1">
                  <a:solidFill>
                    <a:srgbClr val="FFFF66"/>
                  </a:solidFill>
                  <a:latin typeface="楷体_GB2312"/>
                  <a:ea typeface="楷体_GB2312"/>
                  <a:cs typeface="楷体_GB2312"/>
                </a:rPr>
                <a:t>:</a:t>
              </a:r>
              <a:r>
                <a:rPr lang="zh-CN" altLang="en-US" sz="3200" b="1">
                  <a:latin typeface="Times New Roman" panose="02020603050405020304" pitchFamily="18" charset="0"/>
                </a:rPr>
                <a:t> </a:t>
              </a:r>
            </a:p>
            <a:p>
              <a:pPr eaLnBrk="1" hangingPunct="1">
                <a:lnSpc>
                  <a:spcPct val="150000"/>
                </a:lnSpc>
              </a:pPr>
              <a:r>
                <a:rPr lang="zh-CN" altLang="en-US" sz="3200" b="1">
                  <a:latin typeface="Times New Roman" panose="02020603050405020304" pitchFamily="18" charset="0"/>
                </a:rPr>
                <a:t>       </a:t>
              </a:r>
              <a:r>
                <a:rPr lang="zh-CN" altLang="en-US" sz="3200" b="1">
                  <a:latin typeface="楷体_GB2312"/>
                  <a:ea typeface="楷体_GB2312"/>
                  <a:cs typeface="楷体_GB2312"/>
                </a:rPr>
                <a:t>对待识别模式   </a:t>
              </a:r>
              <a:r>
                <a:rPr lang="en-US" altLang="zh-CN" sz="3200" b="1">
                  <a:latin typeface="楷体_GB2312"/>
                  <a:ea typeface="楷体_GB2312"/>
                  <a:cs typeface="楷体_GB2312"/>
                </a:rPr>
                <a:t>, </a:t>
              </a:r>
              <a:r>
                <a:rPr lang="zh-CN" altLang="en-US" sz="3200" b="1">
                  <a:latin typeface="楷体_GB2312"/>
                  <a:ea typeface="楷体_GB2312"/>
                  <a:cs typeface="楷体_GB2312"/>
                </a:rPr>
                <a:t>分别计算它与</a:t>
              </a:r>
            </a:p>
            <a:p>
              <a:pPr eaLnBrk="1" hangingPunct="1">
                <a:lnSpc>
                  <a:spcPct val="150000"/>
                </a:lnSpc>
              </a:pPr>
              <a:r>
                <a:rPr lang="zh-CN" altLang="en-US" sz="3200" b="1">
                  <a:latin typeface="楷体_GB2312"/>
                  <a:ea typeface="楷体_GB2312"/>
                  <a:cs typeface="楷体_GB2312"/>
                </a:rPr>
                <a:t>个已知类别的样本    的距离</a:t>
              </a:r>
              <a:r>
                <a:rPr lang="en-US" altLang="zh-CN" sz="3200" b="1">
                  <a:latin typeface="楷体_GB2312"/>
                  <a:ea typeface="楷体_GB2312"/>
                  <a:cs typeface="楷体_GB2312"/>
                </a:rPr>
                <a:t>,</a:t>
              </a:r>
              <a:r>
                <a:rPr lang="zh-CN" altLang="zh-CN" sz="3200" b="1">
                  <a:latin typeface="楷体_GB2312"/>
                  <a:ea typeface="楷体_GB2312"/>
                  <a:cs typeface="楷体_GB2312"/>
                </a:rPr>
                <a:t>取</a:t>
              </a:r>
              <a:r>
                <a:rPr lang="zh-CN" altLang="zh-CN" sz="3200" b="1">
                  <a:solidFill>
                    <a:srgbClr val="66FFFF"/>
                  </a:solidFill>
                  <a:latin typeface="楷体_GB2312"/>
                  <a:ea typeface="楷体_GB2312"/>
                  <a:cs typeface="楷体_GB2312"/>
                </a:rPr>
                <a:t>k</a:t>
              </a:r>
              <a:r>
                <a:rPr lang="zh-CN" altLang="zh-CN" sz="3200" b="1">
                  <a:latin typeface="楷体_GB2312"/>
                  <a:ea typeface="楷体_GB2312"/>
                  <a:cs typeface="楷体_GB2312"/>
                </a:rPr>
                <a:t>个最近邻样本,这</a:t>
              </a:r>
              <a:r>
                <a:rPr lang="zh-CN" altLang="zh-CN" sz="3200" b="1">
                  <a:solidFill>
                    <a:srgbClr val="66FFFF"/>
                  </a:solidFill>
                  <a:latin typeface="楷体_GB2312"/>
                  <a:ea typeface="楷体_GB2312"/>
                  <a:cs typeface="楷体_GB2312"/>
                </a:rPr>
                <a:t>k</a:t>
              </a:r>
              <a:r>
                <a:rPr lang="zh-CN" altLang="zh-CN" sz="3200" b="1">
                  <a:latin typeface="楷体_GB2312"/>
                  <a:ea typeface="楷体_GB2312"/>
                  <a:cs typeface="楷体_GB2312"/>
                </a:rPr>
                <a:t>个样本中哪一类最多, 就判属哪一类</a:t>
              </a:r>
              <a:r>
                <a:rPr lang="zh-CN" altLang="en-US" sz="3200" b="1">
                  <a:latin typeface="楷体_GB2312"/>
                  <a:ea typeface="楷体_GB2312"/>
                  <a:cs typeface="楷体_GB2312"/>
                </a:rPr>
                <a:t>。</a:t>
              </a:r>
              <a:endParaRPr lang="en-US" altLang="zh-CN" sz="3200" b="1">
                <a:latin typeface="楷体_GB2312"/>
                <a:ea typeface="楷体_GB2312"/>
                <a:cs typeface="楷体_GB2312"/>
              </a:endParaRPr>
            </a:p>
          </p:txBody>
        </p:sp>
        <p:graphicFrame>
          <p:nvGraphicFramePr>
            <p:cNvPr id="38916" name="Object 35">
              <a:extLst>
                <a:ext uri="{FF2B5EF4-FFF2-40B4-BE49-F238E27FC236}">
                  <a16:creationId xmlns:a16="http://schemas.microsoft.com/office/drawing/2014/main" xmlns="" id="{B4D9812D-6FF6-4FE4-BB7A-8213B8A74CA4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804186877"/>
                </p:ext>
              </p:extLst>
            </p:nvPr>
          </p:nvGraphicFramePr>
          <p:xfrm>
            <a:off x="4008" y="1677"/>
            <a:ext cx="1073" cy="69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903" name="Equation" r:id="rId3" imgW="660240" imgH="431640" progId="Equation.DSMT4">
                    <p:embed/>
                  </p:oleObj>
                </mc:Choice>
                <mc:Fallback>
                  <p:oleObj name="Equation" r:id="rId3" imgW="660240" imgH="431640" progId="Equation.DSMT4">
                    <p:embed/>
                    <p:pic>
                      <p:nvPicPr>
                        <p:cNvPr id="38916" name="Object 35">
                          <a:extLst>
                            <a:ext uri="{FF2B5EF4-FFF2-40B4-BE49-F238E27FC236}">
                              <a16:creationId xmlns:a16="http://schemas.microsoft.com/office/drawing/2014/main" xmlns="" id="{B4D9812D-6FF6-4FE4-BB7A-8213B8A74CA4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008" y="1677"/>
                          <a:ext cx="1073" cy="694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8917" name="Object 36">
              <a:extLst>
                <a:ext uri="{FF2B5EF4-FFF2-40B4-BE49-F238E27FC236}">
                  <a16:creationId xmlns:a16="http://schemas.microsoft.com/office/drawing/2014/main" xmlns="" id="{9EDD8DC7-D4D9-4D33-BD20-B99359B85B57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843821778"/>
                </p:ext>
              </p:extLst>
            </p:nvPr>
          </p:nvGraphicFramePr>
          <p:xfrm>
            <a:off x="2241" y="2200"/>
            <a:ext cx="448" cy="49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904" name="Equation" r:id="rId5" imgW="228600" imgH="253800" progId="Equation.DSMT4">
                    <p:embed/>
                  </p:oleObj>
                </mc:Choice>
                <mc:Fallback>
                  <p:oleObj name="Equation" r:id="rId5" imgW="228600" imgH="253800" progId="Equation.DSMT4">
                    <p:embed/>
                    <p:pic>
                      <p:nvPicPr>
                        <p:cNvPr id="38917" name="Object 36">
                          <a:extLst>
                            <a:ext uri="{FF2B5EF4-FFF2-40B4-BE49-F238E27FC236}">
                              <a16:creationId xmlns:a16="http://schemas.microsoft.com/office/drawing/2014/main" xmlns="" id="{9EDD8DC7-D4D9-4D33-BD20-B99359B85B57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241" y="2200"/>
                          <a:ext cx="448" cy="49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8918" name="Object 37">
              <a:extLst>
                <a:ext uri="{FF2B5EF4-FFF2-40B4-BE49-F238E27FC236}">
                  <a16:creationId xmlns:a16="http://schemas.microsoft.com/office/drawing/2014/main" xmlns="" id="{CA1AF0B9-481B-4B6D-B203-2F208B66FE5D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241" y="1704"/>
            <a:ext cx="333" cy="46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905" name="Equation" r:id="rId7" imgW="126720" imgH="177480" progId="Equation.DSMT4">
                    <p:embed/>
                  </p:oleObj>
                </mc:Choice>
                <mc:Fallback>
                  <p:oleObj name="Equation" r:id="rId7" imgW="126720" imgH="177480" progId="Equation.DSMT4">
                    <p:embed/>
                    <p:pic>
                      <p:nvPicPr>
                        <p:cNvPr id="38918" name="Object 37">
                          <a:extLst>
                            <a:ext uri="{FF2B5EF4-FFF2-40B4-BE49-F238E27FC236}">
                              <a16:creationId xmlns:a16="http://schemas.microsoft.com/office/drawing/2014/main" xmlns="" id="{CA1AF0B9-481B-4B6D-B203-2F208B66FE5D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241" y="1704"/>
                          <a:ext cx="333" cy="468"/>
                        </a:xfrm>
                        <a:prstGeom prst="rect">
                          <a:avLst/>
                        </a:prstGeom>
                        <a:noFill/>
                        <a:ln>
                          <a:noFill/>
                        </a:ln>
                        <a:effectLst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chemeClr val="accent1"/>
                              </a:solidFill>
                            </a14:hiddenFill>
                          </a:ext>
                          <a:ext uri="{91240B29-F687-4F45-9708-019B960494DF}">
                            <a14:hiddenLine xmlns:a14="http://schemas.microsoft.com/office/drawing/2010/main" w="9525">
                              <a:solidFill>
                                <a:schemeClr val="tx1"/>
                              </a:solidFill>
                              <a:miter lim="800000"/>
                              <a:headEnd/>
                              <a:tailEnd/>
                            </a14:hiddenLine>
                          </a:ext>
                          <a:ext uri="{AF507438-7753-43E0-B8FC-AC1667EBCBE1}">
                            <a14:hiddenEffects xmlns:a14="http://schemas.microsoft.com/office/drawing/2010/main">
                              <a:effectLst>
                                <a:outerShdw dist="35921" dir="2700000" algn="ctr" rotWithShape="0">
                                  <a:schemeClr val="bg2"/>
                                </a:outerShdw>
                              </a:effectLst>
                            </a14:hiddenEffects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sp>
        <p:nvSpPr>
          <p:cNvPr id="38919" name="Rectangle 32">
            <a:extLst>
              <a:ext uri="{FF2B5EF4-FFF2-40B4-BE49-F238E27FC236}">
                <a16:creationId xmlns:a16="http://schemas.microsoft.com/office/drawing/2014/main" xmlns="" id="{37E63A0F-96CC-47C8-8E8E-A99ED70F110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71438"/>
            <a:ext cx="856932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2800" b="1" dirty="0">
                <a:solidFill>
                  <a:schemeClr val="bg2"/>
                </a:solidFill>
                <a:latin typeface="Times New Roman" panose="02020603050405020304" pitchFamily="18" charset="0"/>
                <a:ea typeface="黑体" panose="02010609060101010101" pitchFamily="49" charset="-122"/>
              </a:rPr>
              <a:t>最近邻方法			</a:t>
            </a:r>
            <a:r>
              <a:rPr lang="zh-CN" altLang="en-US" sz="3200" b="1" dirty="0">
                <a:solidFill>
                  <a:schemeClr val="bg2"/>
                </a:solidFill>
                <a:latin typeface="楷体_GB2312"/>
                <a:ea typeface="楷体_GB2312"/>
                <a:cs typeface="楷体_GB2312"/>
              </a:rPr>
              <a:t>最近邻决策规则</a:t>
            </a:r>
            <a:r>
              <a:rPr lang="en-US" altLang="zh-CN" sz="3200" b="1" dirty="0">
                <a:solidFill>
                  <a:schemeClr val="bg2"/>
                </a:solidFill>
                <a:ea typeface="楷体_GB2312"/>
                <a:cs typeface="楷体_GB2312"/>
              </a:rPr>
              <a:t>—</a:t>
            </a:r>
            <a:r>
              <a:rPr lang="en-US" altLang="zh-CN" sz="3200" b="1" dirty="0">
                <a:solidFill>
                  <a:schemeClr val="bg2"/>
                </a:solidFill>
                <a:latin typeface="楷体_GB2312"/>
                <a:ea typeface="楷体_GB2312"/>
                <a:cs typeface="楷体_GB2312"/>
              </a:rPr>
              <a:t>k-NN</a:t>
            </a:r>
          </a:p>
        </p:txBody>
      </p:sp>
      <p:grpSp>
        <p:nvGrpSpPr>
          <p:cNvPr id="3" name="Group 44">
            <a:extLst>
              <a:ext uri="{FF2B5EF4-FFF2-40B4-BE49-F238E27FC236}">
                <a16:creationId xmlns:a16="http://schemas.microsoft.com/office/drawing/2014/main" xmlns="" id="{6708FDA7-ABCF-4D76-A95B-0C4BA32159FD}"/>
              </a:ext>
            </a:extLst>
          </p:cNvPr>
          <p:cNvGrpSpPr>
            <a:grpSpLocks/>
          </p:cNvGrpSpPr>
          <p:nvPr/>
        </p:nvGrpSpPr>
        <p:grpSpPr bwMode="auto">
          <a:xfrm>
            <a:off x="71438" y="3357563"/>
            <a:ext cx="9072562" cy="2286000"/>
            <a:chOff x="204" y="2115"/>
            <a:chExt cx="5556" cy="1440"/>
          </a:xfrm>
        </p:grpSpPr>
        <p:sp>
          <p:nvSpPr>
            <p:cNvPr id="38921" name="Text Box 42">
              <a:extLst>
                <a:ext uri="{FF2B5EF4-FFF2-40B4-BE49-F238E27FC236}">
                  <a16:creationId xmlns:a16="http://schemas.microsoft.com/office/drawing/2014/main" xmlns="" id="{288CAB86-84B5-4B82-9DAB-9B048B2BB3D8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4" y="2160"/>
              <a:ext cx="2495" cy="45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lnSpc>
                  <a:spcPct val="150000"/>
                </a:lnSpc>
              </a:pPr>
              <a:r>
                <a:rPr lang="zh-CN" altLang="en-US" sz="3200" b="1">
                  <a:latin typeface="楷体_GB2312"/>
                  <a:ea typeface="楷体_GB2312"/>
                  <a:cs typeface="楷体_GB2312"/>
                </a:rPr>
                <a:t>即</a:t>
              </a:r>
              <a:r>
                <a:rPr lang="en-US" altLang="zh-CN" sz="3200" b="1">
                  <a:latin typeface="楷体_GB2312"/>
                  <a:ea typeface="楷体_GB2312"/>
                  <a:cs typeface="楷体_GB2312"/>
                </a:rPr>
                <a:t>,</a:t>
              </a:r>
              <a:r>
                <a:rPr lang="zh-CN" altLang="en-US" sz="3200" b="1">
                  <a:latin typeface="楷体_GB2312"/>
                  <a:ea typeface="楷体_GB2312"/>
                  <a:cs typeface="楷体_GB2312"/>
                </a:rPr>
                <a:t>令  与</a:t>
              </a:r>
              <a:r>
                <a:rPr lang="el-GR" altLang="zh-CN" sz="3200" b="1">
                  <a:solidFill>
                    <a:srgbClr val="66FFFF"/>
                  </a:solidFill>
                  <a:latin typeface="楷体_GB2312"/>
                  <a:ea typeface="楷体_GB2312"/>
                  <a:cs typeface="楷体_GB2312"/>
                </a:rPr>
                <a:t>ω</a:t>
              </a:r>
              <a:r>
                <a:rPr lang="en-US" altLang="zh-CN" sz="3200" b="1" baseline="-25000">
                  <a:solidFill>
                    <a:srgbClr val="66FFFF"/>
                  </a:solidFill>
                  <a:latin typeface="楷体_GB2312"/>
                  <a:ea typeface="楷体_GB2312"/>
                  <a:cs typeface="楷体_GB2312"/>
                </a:rPr>
                <a:t>i</a:t>
              </a:r>
              <a:r>
                <a:rPr lang="zh-CN" altLang="en-US" sz="3200" b="1">
                  <a:latin typeface="楷体_GB2312"/>
                  <a:ea typeface="楷体_GB2312"/>
                  <a:cs typeface="楷体_GB2312"/>
                </a:rPr>
                <a:t>的距离</a:t>
              </a:r>
              <a:endParaRPr lang="zh-CN" altLang="en-US" sz="3200">
                <a:latin typeface="Tahoma" panose="020B0604030504040204" pitchFamily="34" charset="0"/>
              </a:endParaRPr>
            </a:p>
          </p:txBody>
        </p:sp>
        <p:graphicFrame>
          <p:nvGraphicFramePr>
            <p:cNvPr id="38922" name="Object 21">
              <a:extLst>
                <a:ext uri="{FF2B5EF4-FFF2-40B4-BE49-F238E27FC236}">
                  <a16:creationId xmlns:a16="http://schemas.microsoft.com/office/drawing/2014/main" xmlns="" id="{95252D99-D1ED-4E97-AE83-167226522B81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2397" y="2250"/>
            <a:ext cx="1059" cy="39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906" name="Equation" r:id="rId9" imgW="609480" imgH="228600" progId="Equation.DSMT4">
                    <p:embed/>
                  </p:oleObj>
                </mc:Choice>
                <mc:Fallback>
                  <p:oleObj name="Equation" r:id="rId9" imgW="609480" imgH="228600" progId="Equation.DSMT4">
                    <p:embed/>
                    <p:pic>
                      <p:nvPicPr>
                        <p:cNvPr id="38922" name="Object 21">
                          <a:extLst>
                            <a:ext uri="{FF2B5EF4-FFF2-40B4-BE49-F238E27FC236}">
                              <a16:creationId xmlns:a16="http://schemas.microsoft.com/office/drawing/2014/main" xmlns="" id="{95252D99-D1ED-4E97-AE83-167226522B81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2397" y="2250"/>
                          <a:ext cx="1059" cy="397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8923" name="Object 20">
              <a:extLst>
                <a:ext uri="{FF2B5EF4-FFF2-40B4-BE49-F238E27FC236}">
                  <a16:creationId xmlns:a16="http://schemas.microsoft.com/office/drawing/2014/main" xmlns="" id="{C07A2608-BD0A-4FA9-9570-35F4DDEC90CA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446" y="2250"/>
            <a:ext cx="1409" cy="364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907" name="Equation" r:id="rId11" imgW="774360" imgH="203040" progId="Equation.DSMT4">
                    <p:embed/>
                  </p:oleObj>
                </mc:Choice>
                <mc:Fallback>
                  <p:oleObj name="Equation" r:id="rId11" imgW="774360" imgH="203040" progId="Equation.DSMT4">
                    <p:embed/>
                    <p:pic>
                      <p:nvPicPr>
                        <p:cNvPr id="38923" name="Object 20">
                          <a:extLst>
                            <a:ext uri="{FF2B5EF4-FFF2-40B4-BE49-F238E27FC236}">
                              <a16:creationId xmlns:a16="http://schemas.microsoft.com/office/drawing/2014/main" xmlns="" id="{C07A2608-BD0A-4FA9-9570-35F4DDEC90CA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2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446" y="2250"/>
                          <a:ext cx="1409" cy="364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8924" name="Object 17">
              <a:extLst>
                <a:ext uri="{FF2B5EF4-FFF2-40B4-BE49-F238E27FC236}">
                  <a16:creationId xmlns:a16="http://schemas.microsoft.com/office/drawing/2014/main" xmlns="" id="{4E542AE5-D95E-4E40-85C1-546961BBAA3E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3777" y="2840"/>
            <a:ext cx="1033" cy="53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908" name="Equation" r:id="rId13" imgW="444240" imgH="228600" progId="Equation.DSMT4">
                    <p:embed/>
                  </p:oleObj>
                </mc:Choice>
                <mc:Fallback>
                  <p:oleObj name="Equation" r:id="rId13" imgW="444240" imgH="228600" progId="Equation.DSMT4">
                    <p:embed/>
                    <p:pic>
                      <p:nvPicPr>
                        <p:cNvPr id="38924" name="Object 17">
                          <a:extLst>
                            <a:ext uri="{FF2B5EF4-FFF2-40B4-BE49-F238E27FC236}">
                              <a16:creationId xmlns:a16="http://schemas.microsoft.com/office/drawing/2014/main" xmlns="" id="{4E542AE5-D95E-4E40-85C1-546961BBAA3E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4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3777" y="2840"/>
                          <a:ext cx="1033" cy="53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38925" name="Text Box 18">
              <a:extLst>
                <a:ext uri="{FF2B5EF4-FFF2-40B4-BE49-F238E27FC236}">
                  <a16:creationId xmlns:a16="http://schemas.microsoft.com/office/drawing/2014/main" xmlns="" id="{5F7E2065-0CB3-4701-BE2D-83E8309EFD8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204" y="2840"/>
              <a:ext cx="680" cy="3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zh-CN" altLang="en-US" sz="3200" b="1">
                  <a:latin typeface="楷体_GB2312"/>
                  <a:ea typeface="楷体_GB2312"/>
                  <a:cs typeface="楷体_GB2312"/>
                </a:rPr>
                <a:t>如果</a:t>
              </a:r>
            </a:p>
          </p:txBody>
        </p:sp>
        <p:sp>
          <p:nvSpPr>
            <p:cNvPr id="38926" name="Text Box 19">
              <a:extLst>
                <a:ext uri="{FF2B5EF4-FFF2-40B4-BE49-F238E27FC236}">
                  <a16:creationId xmlns:a16="http://schemas.microsoft.com/office/drawing/2014/main" xmlns="" id="{C9854190-E70A-40AA-A5C3-5929E6014B9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3382" y="2872"/>
              <a:ext cx="409" cy="36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zh-CN" altLang="en-US" sz="3200" b="1">
                  <a:latin typeface="楷体_GB2312"/>
                  <a:ea typeface="楷体_GB2312"/>
                  <a:cs typeface="楷体_GB2312"/>
                </a:rPr>
                <a:t>则</a:t>
              </a:r>
            </a:p>
          </p:txBody>
        </p:sp>
        <p:graphicFrame>
          <p:nvGraphicFramePr>
            <p:cNvPr id="38927" name="Object 25">
              <a:extLst>
                <a:ext uri="{FF2B5EF4-FFF2-40B4-BE49-F238E27FC236}">
                  <a16:creationId xmlns:a16="http://schemas.microsoft.com/office/drawing/2014/main" xmlns="" id="{27063463-D143-427D-8128-C97412F74FF4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860" y="2834"/>
            <a:ext cx="2679" cy="721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909" name="Equation" r:id="rId15" imgW="1269720" imgH="342720" progId="Equation.DSMT4">
                    <p:embed/>
                  </p:oleObj>
                </mc:Choice>
                <mc:Fallback>
                  <p:oleObj name="Equation" r:id="rId15" imgW="1269720" imgH="342720" progId="Equation.DSMT4">
                    <p:embed/>
                    <p:pic>
                      <p:nvPicPr>
                        <p:cNvPr id="38927" name="Object 25">
                          <a:extLst>
                            <a:ext uri="{FF2B5EF4-FFF2-40B4-BE49-F238E27FC236}">
                              <a16:creationId xmlns:a16="http://schemas.microsoft.com/office/drawing/2014/main" xmlns="" id="{27063463-D143-427D-8128-C97412F74FF4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6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860" y="2834"/>
                          <a:ext cx="2679" cy="721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8928" name="Object 28">
              <a:extLst>
                <a:ext uri="{FF2B5EF4-FFF2-40B4-BE49-F238E27FC236}">
                  <a16:creationId xmlns:a16="http://schemas.microsoft.com/office/drawing/2014/main" xmlns="" id="{5F3FFE53-BAA9-4054-92F6-D6174003B4AE}"/>
                </a:ext>
              </a:extLst>
            </p:cNvPr>
            <p:cNvGraphicFramePr>
              <a:graphicFrameLocks noChangeAspect="1"/>
            </p:cNvGraphicFramePr>
            <p:nvPr/>
          </p:nvGraphicFramePr>
          <p:xfrm>
            <a:off x="4872" y="2115"/>
            <a:ext cx="888" cy="67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910" name="Equation" r:id="rId17" imgW="571320" imgH="431640" progId="Equation.DSMT4">
                    <p:embed/>
                  </p:oleObj>
                </mc:Choice>
                <mc:Fallback>
                  <p:oleObj name="Equation" r:id="rId17" imgW="571320" imgH="431640" progId="Equation.DSMT4">
                    <p:embed/>
                    <p:pic>
                      <p:nvPicPr>
                        <p:cNvPr id="38928" name="Object 28">
                          <a:extLst>
                            <a:ext uri="{FF2B5EF4-FFF2-40B4-BE49-F238E27FC236}">
                              <a16:creationId xmlns:a16="http://schemas.microsoft.com/office/drawing/2014/main" xmlns="" id="{5F3FFE53-BAA9-4054-92F6-D6174003B4AE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18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4872" y="2115"/>
                          <a:ext cx="888" cy="670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38929" name="Object 38">
              <a:extLst>
                <a:ext uri="{FF2B5EF4-FFF2-40B4-BE49-F238E27FC236}">
                  <a16:creationId xmlns:a16="http://schemas.microsoft.com/office/drawing/2014/main" xmlns="" id="{409021F4-9FE6-4226-BEE5-822E77B17696}"/>
                </a:ext>
              </a:extLst>
            </p:cNvPr>
            <p:cNvGraphicFramePr>
              <a:graphicFrameLocks noChangeAspect="1"/>
            </p:cNvGraphicFramePr>
            <p:nvPr>
              <p:extLst>
                <p:ext uri="{D42A27DB-BD31-4B8C-83A1-F6EECF244321}">
                  <p14:modId xmlns:p14="http://schemas.microsoft.com/office/powerpoint/2010/main" val="3335649406"/>
                </p:ext>
              </p:extLst>
            </p:nvPr>
          </p:nvGraphicFramePr>
          <p:xfrm>
            <a:off x="740" y="2200"/>
            <a:ext cx="338" cy="46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35911" name="Equation" r:id="rId19" imgW="126720" imgH="177480" progId="Equation.DSMT4">
                    <p:embed/>
                  </p:oleObj>
                </mc:Choice>
                <mc:Fallback>
                  <p:oleObj name="Equation" r:id="rId19" imgW="126720" imgH="177480" progId="Equation.DSMT4">
                    <p:embed/>
                    <p:pic>
                      <p:nvPicPr>
                        <p:cNvPr id="38929" name="Object 38">
                          <a:extLst>
                            <a:ext uri="{FF2B5EF4-FFF2-40B4-BE49-F238E27FC236}">
                              <a16:creationId xmlns:a16="http://schemas.microsoft.com/office/drawing/2014/main" xmlns="" id="{409021F4-9FE6-4226-BEE5-822E77B17696}"/>
                            </a:ext>
                          </a:extLst>
                        </p:cNvPr>
                        <p:cNvPicPr>
                          <a:picLocks noChangeAspect="1" noChangeArrowheads="1"/>
                        </p:cNvPicPr>
                        <p:nvPr/>
                      </p:nvPicPr>
                      <p:blipFill>
                        <a:blip r:embed="rId20">
                          <a:extLst>
                            <a:ext uri="{28A0092B-C50C-407E-A947-70E740481C1C}">
                              <a14:useLocalDpi xmlns:a14="http://schemas.microsoft.com/office/drawing/2010/main" val="0"/>
                            </a:ext>
                          </a:extLst>
                        </a:blip>
                        <a:srcRect/>
                        <a:stretch>
                          <a:fillRect/>
                        </a:stretch>
                      </p:blipFill>
                      <p:spPr bwMode="auto">
                        <a:xfrm>
                          <a:off x="740" y="2200"/>
                          <a:ext cx="338" cy="465"/>
                        </a:xfrm>
                        <a:prstGeom prst="rect">
                          <a:avLst/>
                        </a:prstGeom>
                        <a:noFill/>
                        <a:extLst>
                          <a:ext uri="{909E8E84-426E-40DD-AFC4-6F175D3DCCD1}">
                            <a14:hiddenFill xmlns:a14="http://schemas.microsoft.com/office/drawing/2010/main">
                              <a:solidFill>
                                <a:srgbClr val="FFFFFF"/>
                              </a:solidFill>
                            </a14:hiddenFill>
                          </a:ext>
                        </a:extLst>
                      </p:spPr>
                    </p:pic>
                  </p:oleObj>
                </mc:Fallback>
              </mc:AlternateContent>
            </a:graphicData>
          </a:graphic>
        </p:graphicFrame>
      </p:grpSp>
      <p:graphicFrame>
        <p:nvGraphicFramePr>
          <p:cNvPr id="18" name="Object 39">
            <a:extLst>
              <a:ext uri="{FF2B5EF4-FFF2-40B4-BE49-F238E27FC236}">
                <a16:creationId xmlns:a16="http://schemas.microsoft.com/office/drawing/2014/main" xmlns="" id="{A85A707C-A2DD-413B-8396-38A0848D19FE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143000" y="5715000"/>
          <a:ext cx="398463" cy="650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5912" name="Equation" r:id="rId21" imgW="139680" imgH="228600" progId="Equation.DSMT4">
                  <p:embed/>
                </p:oleObj>
              </mc:Choice>
              <mc:Fallback>
                <p:oleObj name="Equation" r:id="rId21" imgW="139680" imgH="228600" progId="Equation.DSMT4">
                  <p:embed/>
                  <p:pic>
                    <p:nvPicPr>
                      <p:cNvPr id="18" name="Object 39">
                        <a:extLst>
                          <a:ext uri="{FF2B5EF4-FFF2-40B4-BE49-F238E27FC236}">
                            <a16:creationId xmlns:a16="http://schemas.microsoft.com/office/drawing/2014/main" xmlns="" id="{A85A707C-A2DD-413B-8396-38A0848D19FE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22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143000" y="5715000"/>
                        <a:ext cx="398463" cy="650875"/>
                      </a:xfrm>
                      <a:prstGeom prst="rect">
                        <a:avLst/>
                      </a:prstGeom>
                      <a:noFill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rgbClr val="FFFFFF"/>
                            </a:solidFill>
                          </a14:hiddenFill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" name="Text Box 43">
            <a:extLst>
              <a:ext uri="{FF2B5EF4-FFF2-40B4-BE49-F238E27FC236}">
                <a16:creationId xmlns:a16="http://schemas.microsoft.com/office/drawing/2014/main" xmlns="" id="{9ABAB18A-67C4-45AD-91B0-EABA1BEC3C4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42875" y="5695950"/>
            <a:ext cx="842962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zh-CN" altLang="en-US" sz="3200" b="1" dirty="0">
                <a:latin typeface="楷体_GB2312"/>
                <a:ea typeface="楷体_GB2312"/>
                <a:cs typeface="楷体_GB2312"/>
              </a:rPr>
              <a:t>其中    表示</a:t>
            </a:r>
            <a:r>
              <a:rPr lang="en-US" altLang="zh-CN" sz="3200" b="1" i="1" dirty="0">
                <a:solidFill>
                  <a:srgbClr val="66FFFF"/>
                </a:solidFill>
                <a:latin typeface="楷体_GB2312"/>
                <a:ea typeface="楷体_GB2312"/>
                <a:cs typeface="楷体_GB2312"/>
              </a:rPr>
              <a:t>k</a:t>
            </a:r>
            <a:r>
              <a:rPr lang="zh-CN" altLang="en-US" sz="3200" b="1" dirty="0">
                <a:latin typeface="楷体_GB2312"/>
                <a:ea typeface="楷体_GB2312"/>
                <a:cs typeface="楷体_GB2312"/>
              </a:rPr>
              <a:t>个近邻元中属于</a:t>
            </a:r>
            <a:r>
              <a:rPr lang="el-GR" altLang="zh-CN" sz="3200" b="1" dirty="0">
                <a:solidFill>
                  <a:srgbClr val="66FFFF"/>
                </a:solidFill>
                <a:latin typeface="楷体_GB2312"/>
                <a:ea typeface="楷体_GB2312"/>
                <a:cs typeface="楷体_GB2312"/>
              </a:rPr>
              <a:t>ω</a:t>
            </a:r>
            <a:r>
              <a:rPr lang="en-US" altLang="zh-CN" sz="3200" b="1" baseline="-25000" dirty="0" err="1">
                <a:solidFill>
                  <a:srgbClr val="66FFFF"/>
                </a:solidFill>
                <a:latin typeface="楷体_GB2312"/>
                <a:ea typeface="楷体_GB2312"/>
                <a:cs typeface="楷体_GB2312"/>
              </a:rPr>
              <a:t>i</a:t>
            </a:r>
            <a:r>
              <a:rPr lang="zh-CN" altLang="en-US" sz="3200" b="1" dirty="0">
                <a:latin typeface="楷体_GB2312"/>
                <a:ea typeface="楷体_GB2312"/>
                <a:cs typeface="楷体_GB2312"/>
              </a:rPr>
              <a:t>的样本个数</a:t>
            </a:r>
          </a:p>
        </p:txBody>
      </p: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0" grpId="0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938" name="Rectangle 2">
            <a:extLst>
              <a:ext uri="{FF2B5EF4-FFF2-40B4-BE49-F238E27FC236}">
                <a16:creationId xmlns:a16="http://schemas.microsoft.com/office/drawing/2014/main" xmlns="" id="{3C6AECB0-60E7-4C7D-8F1B-2E487B4D31B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3850" y="71438"/>
            <a:ext cx="8569325" cy="584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r>
              <a:rPr lang="zh-CN" altLang="en-US" sz="2800" b="1" dirty="0">
                <a:solidFill>
                  <a:schemeClr val="bg2"/>
                </a:solidFill>
                <a:latin typeface="Times New Roman" panose="02020603050405020304" pitchFamily="18" charset="0"/>
                <a:ea typeface="黑体" panose="02010609060101010101" pitchFamily="49" charset="-122"/>
              </a:rPr>
              <a:t>最近邻方法			</a:t>
            </a:r>
            <a:r>
              <a:rPr lang="zh-CN" altLang="en-US" sz="3200" b="1" dirty="0">
                <a:solidFill>
                  <a:schemeClr val="bg2"/>
                </a:solidFill>
                <a:latin typeface="楷体_GB2312"/>
                <a:ea typeface="楷体_GB2312"/>
                <a:cs typeface="楷体_GB2312"/>
              </a:rPr>
              <a:t>最近邻决策规则</a:t>
            </a:r>
            <a:r>
              <a:rPr lang="en-US" altLang="zh-CN" sz="3200" b="1" dirty="0">
                <a:solidFill>
                  <a:schemeClr val="bg2"/>
                </a:solidFill>
                <a:ea typeface="楷体_GB2312"/>
                <a:cs typeface="楷体_GB2312"/>
              </a:rPr>
              <a:t>—</a:t>
            </a:r>
            <a:r>
              <a:rPr lang="en-US" altLang="zh-CN" sz="3200" b="1" dirty="0">
                <a:solidFill>
                  <a:schemeClr val="bg2"/>
                </a:solidFill>
                <a:latin typeface="楷体_GB2312"/>
                <a:ea typeface="楷体_GB2312"/>
                <a:cs typeface="楷体_GB2312"/>
              </a:rPr>
              <a:t>k-NN</a:t>
            </a:r>
          </a:p>
        </p:txBody>
      </p:sp>
      <p:sp>
        <p:nvSpPr>
          <p:cNvPr id="39939" name="Oval 3">
            <a:extLst>
              <a:ext uri="{FF2B5EF4-FFF2-40B4-BE49-F238E27FC236}">
                <a16:creationId xmlns:a16="http://schemas.microsoft.com/office/drawing/2014/main" xmlns="" id="{6AF5011F-4A2B-4260-8DDD-D480BD88D3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6238" y="2565400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40" name="Oval 4">
            <a:extLst>
              <a:ext uri="{FF2B5EF4-FFF2-40B4-BE49-F238E27FC236}">
                <a16:creationId xmlns:a16="http://schemas.microsoft.com/office/drawing/2014/main" xmlns="" id="{35606DF6-8DF5-4892-873D-7C21785D60CC}"/>
              </a:ext>
            </a:extLst>
          </p:cNvPr>
          <p:cNvSpPr>
            <a:spLocks noChangeArrowheads="1"/>
          </p:cNvSpPr>
          <p:nvPr/>
        </p:nvSpPr>
        <p:spPr bwMode="auto">
          <a:xfrm>
            <a:off x="2771775" y="3068638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41" name="Oval 5">
            <a:extLst>
              <a:ext uri="{FF2B5EF4-FFF2-40B4-BE49-F238E27FC236}">
                <a16:creationId xmlns:a16="http://schemas.microsoft.com/office/drawing/2014/main" xmlns="" id="{2A42BB2D-18EC-4AB3-9752-8D3EF61F767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132138" y="3068638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42" name="Oval 6">
            <a:extLst>
              <a:ext uri="{FF2B5EF4-FFF2-40B4-BE49-F238E27FC236}">
                <a16:creationId xmlns:a16="http://schemas.microsoft.com/office/drawing/2014/main" xmlns="" id="{01DD5F9A-7CF8-42C5-AD37-BEF586725D4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00" y="2852738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43" name="Oval 7">
            <a:extLst>
              <a:ext uri="{FF2B5EF4-FFF2-40B4-BE49-F238E27FC236}">
                <a16:creationId xmlns:a16="http://schemas.microsoft.com/office/drawing/2014/main" xmlns="" id="{187E36FB-5DB1-4E5E-8E96-F888E1006DB0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2500" y="2565400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44" name="Oval 8">
            <a:extLst>
              <a:ext uri="{FF2B5EF4-FFF2-40B4-BE49-F238E27FC236}">
                <a16:creationId xmlns:a16="http://schemas.microsoft.com/office/drawing/2014/main" xmlns="" id="{4F6E2F05-D05C-472C-AA8D-D62632A6F48E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8038" y="2276475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45" name="Oval 9">
            <a:extLst>
              <a:ext uri="{FF2B5EF4-FFF2-40B4-BE49-F238E27FC236}">
                <a16:creationId xmlns:a16="http://schemas.microsoft.com/office/drawing/2014/main" xmlns="" id="{8A70C32F-D8BB-4D22-82CA-FD1D3F2BAE21}"/>
              </a:ext>
            </a:extLst>
          </p:cNvPr>
          <p:cNvSpPr>
            <a:spLocks noChangeArrowheads="1"/>
          </p:cNvSpPr>
          <p:nvPr/>
        </p:nvSpPr>
        <p:spPr bwMode="auto">
          <a:xfrm>
            <a:off x="2916238" y="2133600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46" name="Oval 10">
            <a:extLst>
              <a:ext uri="{FF2B5EF4-FFF2-40B4-BE49-F238E27FC236}">
                <a16:creationId xmlns:a16="http://schemas.microsoft.com/office/drawing/2014/main" xmlns="" id="{62DEB78A-2425-441E-B08B-C7E45D533AA6}"/>
              </a:ext>
            </a:extLst>
          </p:cNvPr>
          <p:cNvSpPr>
            <a:spLocks noChangeArrowheads="1"/>
          </p:cNvSpPr>
          <p:nvPr/>
        </p:nvSpPr>
        <p:spPr bwMode="auto">
          <a:xfrm>
            <a:off x="2555875" y="2565400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47" name="Oval 11">
            <a:extLst>
              <a:ext uri="{FF2B5EF4-FFF2-40B4-BE49-F238E27FC236}">
                <a16:creationId xmlns:a16="http://schemas.microsoft.com/office/drawing/2014/main" xmlns="" id="{E071E72A-8957-4BA7-9302-CDFE720558F8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8538" y="2708275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48" name="Oval 12">
            <a:extLst>
              <a:ext uri="{FF2B5EF4-FFF2-40B4-BE49-F238E27FC236}">
                <a16:creationId xmlns:a16="http://schemas.microsoft.com/office/drawing/2014/main" xmlns="" id="{15AE8F0D-A774-4D8F-A35B-D3C1F2697404}"/>
              </a:ext>
            </a:extLst>
          </p:cNvPr>
          <p:cNvSpPr>
            <a:spLocks noChangeArrowheads="1"/>
          </p:cNvSpPr>
          <p:nvPr/>
        </p:nvSpPr>
        <p:spPr bwMode="auto">
          <a:xfrm>
            <a:off x="2268538" y="2205038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49" name="Oval 13">
            <a:extLst>
              <a:ext uri="{FF2B5EF4-FFF2-40B4-BE49-F238E27FC236}">
                <a16:creationId xmlns:a16="http://schemas.microsoft.com/office/drawing/2014/main" xmlns="" id="{FEDC0D7E-ED46-433A-8CE1-E8CB79359DFE}"/>
              </a:ext>
            </a:extLst>
          </p:cNvPr>
          <p:cNvSpPr>
            <a:spLocks noChangeArrowheads="1"/>
          </p:cNvSpPr>
          <p:nvPr/>
        </p:nvSpPr>
        <p:spPr bwMode="auto">
          <a:xfrm>
            <a:off x="2411413" y="3141663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50" name="Oval 14">
            <a:extLst>
              <a:ext uri="{FF2B5EF4-FFF2-40B4-BE49-F238E27FC236}">
                <a16:creationId xmlns:a16="http://schemas.microsoft.com/office/drawing/2014/main" xmlns="" id="{4C3D3BCC-BCFB-4285-B509-6C98FD5086DA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9700" y="2636838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51" name="Oval 15">
            <a:extLst>
              <a:ext uri="{FF2B5EF4-FFF2-40B4-BE49-F238E27FC236}">
                <a16:creationId xmlns:a16="http://schemas.microsoft.com/office/drawing/2014/main" xmlns="" id="{66C034E1-6F1E-4CEB-9610-033D7C41E285}"/>
              </a:ext>
            </a:extLst>
          </p:cNvPr>
          <p:cNvSpPr>
            <a:spLocks noChangeArrowheads="1"/>
          </p:cNvSpPr>
          <p:nvPr/>
        </p:nvSpPr>
        <p:spPr bwMode="auto">
          <a:xfrm>
            <a:off x="5075238" y="3140075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52" name="Oval 16">
            <a:extLst>
              <a:ext uri="{FF2B5EF4-FFF2-40B4-BE49-F238E27FC236}">
                <a16:creationId xmlns:a16="http://schemas.microsoft.com/office/drawing/2014/main" xmlns="" id="{5C86C547-58F1-4622-BACA-4722157E8FB4}"/>
              </a:ext>
            </a:extLst>
          </p:cNvPr>
          <p:cNvSpPr>
            <a:spLocks noChangeArrowheads="1"/>
          </p:cNvSpPr>
          <p:nvPr/>
        </p:nvSpPr>
        <p:spPr bwMode="auto">
          <a:xfrm>
            <a:off x="5435600" y="3140075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53" name="Oval 17">
            <a:extLst>
              <a:ext uri="{FF2B5EF4-FFF2-40B4-BE49-F238E27FC236}">
                <a16:creationId xmlns:a16="http://schemas.microsoft.com/office/drawing/2014/main" xmlns="" id="{9049CE7D-9D79-4FE4-B548-2A0FC18082D9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5963" y="2924175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54" name="Oval 18">
            <a:extLst>
              <a:ext uri="{FF2B5EF4-FFF2-40B4-BE49-F238E27FC236}">
                <a16:creationId xmlns:a16="http://schemas.microsoft.com/office/drawing/2014/main" xmlns="" id="{EF444CFB-86D7-419A-A043-439E0BD997DC}"/>
              </a:ext>
            </a:extLst>
          </p:cNvPr>
          <p:cNvSpPr>
            <a:spLocks noChangeArrowheads="1"/>
          </p:cNvSpPr>
          <p:nvPr/>
        </p:nvSpPr>
        <p:spPr bwMode="auto">
          <a:xfrm>
            <a:off x="5795963" y="2636838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55" name="Oval 19">
            <a:extLst>
              <a:ext uri="{FF2B5EF4-FFF2-40B4-BE49-F238E27FC236}">
                <a16:creationId xmlns:a16="http://schemas.microsoft.com/office/drawing/2014/main" xmlns="" id="{CDE89060-2418-48BD-AF98-2C2CF5EE7C8D}"/>
              </a:ext>
            </a:extLst>
          </p:cNvPr>
          <p:cNvSpPr>
            <a:spLocks noChangeArrowheads="1"/>
          </p:cNvSpPr>
          <p:nvPr/>
        </p:nvSpPr>
        <p:spPr bwMode="auto">
          <a:xfrm>
            <a:off x="5651500" y="2347913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56" name="Oval 20">
            <a:extLst>
              <a:ext uri="{FF2B5EF4-FFF2-40B4-BE49-F238E27FC236}">
                <a16:creationId xmlns:a16="http://schemas.microsoft.com/office/drawing/2014/main" xmlns="" id="{16F9135C-D8C7-4C4A-B1B1-5094933E6A83}"/>
              </a:ext>
            </a:extLst>
          </p:cNvPr>
          <p:cNvSpPr>
            <a:spLocks noChangeArrowheads="1"/>
          </p:cNvSpPr>
          <p:nvPr/>
        </p:nvSpPr>
        <p:spPr bwMode="auto">
          <a:xfrm>
            <a:off x="5219700" y="2205038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57" name="Oval 21">
            <a:extLst>
              <a:ext uri="{FF2B5EF4-FFF2-40B4-BE49-F238E27FC236}">
                <a16:creationId xmlns:a16="http://schemas.microsoft.com/office/drawing/2014/main" xmlns="" id="{141CC849-A93E-4546-B72F-23424FA1229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859338" y="2636838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58" name="Oval 22">
            <a:extLst>
              <a:ext uri="{FF2B5EF4-FFF2-40B4-BE49-F238E27FC236}">
                <a16:creationId xmlns:a16="http://schemas.microsoft.com/office/drawing/2014/main" xmlns="" id="{76A78FDD-AD51-4DC5-8D4E-7361BB9CD0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2779713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59" name="Oval 23">
            <a:extLst>
              <a:ext uri="{FF2B5EF4-FFF2-40B4-BE49-F238E27FC236}">
                <a16:creationId xmlns:a16="http://schemas.microsoft.com/office/drawing/2014/main" xmlns="" id="{B3637B11-259A-41B6-A821-646C9731951B}"/>
              </a:ext>
            </a:extLst>
          </p:cNvPr>
          <p:cNvSpPr>
            <a:spLocks noChangeArrowheads="1"/>
          </p:cNvSpPr>
          <p:nvPr/>
        </p:nvSpPr>
        <p:spPr bwMode="auto">
          <a:xfrm>
            <a:off x="4572000" y="2276475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60" name="Oval 24">
            <a:extLst>
              <a:ext uri="{FF2B5EF4-FFF2-40B4-BE49-F238E27FC236}">
                <a16:creationId xmlns:a16="http://schemas.microsoft.com/office/drawing/2014/main" xmlns="" id="{D2DFF175-D8CD-42FA-BB66-9E5C1B4E4DA0}"/>
              </a:ext>
            </a:extLst>
          </p:cNvPr>
          <p:cNvSpPr>
            <a:spLocks noChangeArrowheads="1"/>
          </p:cNvSpPr>
          <p:nvPr/>
        </p:nvSpPr>
        <p:spPr bwMode="auto">
          <a:xfrm>
            <a:off x="4714875" y="3213100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61" name="Oval 25">
            <a:extLst>
              <a:ext uri="{FF2B5EF4-FFF2-40B4-BE49-F238E27FC236}">
                <a16:creationId xmlns:a16="http://schemas.microsoft.com/office/drawing/2014/main" xmlns="" id="{2836D65B-BBA7-4C3B-B519-572D287E8C07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1275" y="3213100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62" name="Oval 26">
            <a:extLst>
              <a:ext uri="{FF2B5EF4-FFF2-40B4-BE49-F238E27FC236}">
                <a16:creationId xmlns:a16="http://schemas.microsoft.com/office/drawing/2014/main" xmlns="" id="{D5E4A60C-7D29-4422-B0D4-D0813DFC9FEF}"/>
              </a:ext>
            </a:extLst>
          </p:cNvPr>
          <p:cNvSpPr>
            <a:spLocks noChangeArrowheads="1"/>
          </p:cNvSpPr>
          <p:nvPr/>
        </p:nvSpPr>
        <p:spPr bwMode="auto">
          <a:xfrm>
            <a:off x="4067175" y="3716338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63" name="Oval 27">
            <a:extLst>
              <a:ext uri="{FF2B5EF4-FFF2-40B4-BE49-F238E27FC236}">
                <a16:creationId xmlns:a16="http://schemas.microsoft.com/office/drawing/2014/main" xmlns="" id="{7EF8B644-5063-432B-8DB8-37172F08A76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7538" y="3500438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64" name="Oval 28">
            <a:extLst>
              <a:ext uri="{FF2B5EF4-FFF2-40B4-BE49-F238E27FC236}">
                <a16:creationId xmlns:a16="http://schemas.microsoft.com/office/drawing/2014/main" xmlns="" id="{E9B1268D-68BA-44AE-8149-D7C2E20E05C2}"/>
              </a:ext>
            </a:extLst>
          </p:cNvPr>
          <p:cNvSpPr>
            <a:spLocks noChangeArrowheads="1"/>
          </p:cNvSpPr>
          <p:nvPr/>
        </p:nvSpPr>
        <p:spPr bwMode="auto">
          <a:xfrm>
            <a:off x="4427538" y="3213100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65" name="Oval 29">
            <a:extLst>
              <a:ext uri="{FF2B5EF4-FFF2-40B4-BE49-F238E27FC236}">
                <a16:creationId xmlns:a16="http://schemas.microsoft.com/office/drawing/2014/main" xmlns="" id="{DDF0C52B-FD7A-48B0-9652-CAF21822F981}"/>
              </a:ext>
            </a:extLst>
          </p:cNvPr>
          <p:cNvSpPr>
            <a:spLocks noChangeArrowheads="1"/>
          </p:cNvSpPr>
          <p:nvPr/>
        </p:nvSpPr>
        <p:spPr bwMode="auto">
          <a:xfrm>
            <a:off x="4283075" y="2924175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66" name="Oval 30">
            <a:extLst>
              <a:ext uri="{FF2B5EF4-FFF2-40B4-BE49-F238E27FC236}">
                <a16:creationId xmlns:a16="http://schemas.microsoft.com/office/drawing/2014/main" xmlns="" id="{64A5AE47-8B91-429D-836F-6363A70EB42F}"/>
              </a:ext>
            </a:extLst>
          </p:cNvPr>
          <p:cNvSpPr>
            <a:spLocks noChangeArrowheads="1"/>
          </p:cNvSpPr>
          <p:nvPr/>
        </p:nvSpPr>
        <p:spPr bwMode="auto">
          <a:xfrm>
            <a:off x="3851275" y="2781300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67" name="Oval 31">
            <a:extLst>
              <a:ext uri="{FF2B5EF4-FFF2-40B4-BE49-F238E27FC236}">
                <a16:creationId xmlns:a16="http://schemas.microsoft.com/office/drawing/2014/main" xmlns="" id="{0342471C-75FD-4388-AAF1-16180ECE74EA}"/>
              </a:ext>
            </a:extLst>
          </p:cNvPr>
          <p:cNvSpPr>
            <a:spLocks noChangeArrowheads="1"/>
          </p:cNvSpPr>
          <p:nvPr/>
        </p:nvSpPr>
        <p:spPr bwMode="auto">
          <a:xfrm>
            <a:off x="3490913" y="3213100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68" name="Oval 32">
            <a:extLst>
              <a:ext uri="{FF2B5EF4-FFF2-40B4-BE49-F238E27FC236}">
                <a16:creationId xmlns:a16="http://schemas.microsoft.com/office/drawing/2014/main" xmlns="" id="{7B17A5F4-ECD9-4343-BBE9-1DB703BA7711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3575" y="3355975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69" name="Oval 33">
            <a:extLst>
              <a:ext uri="{FF2B5EF4-FFF2-40B4-BE49-F238E27FC236}">
                <a16:creationId xmlns:a16="http://schemas.microsoft.com/office/drawing/2014/main" xmlns="" id="{67B07E4D-F729-4BCE-9D9D-0AD0D7D0C242}"/>
              </a:ext>
            </a:extLst>
          </p:cNvPr>
          <p:cNvSpPr>
            <a:spLocks noChangeArrowheads="1"/>
          </p:cNvSpPr>
          <p:nvPr/>
        </p:nvSpPr>
        <p:spPr bwMode="auto">
          <a:xfrm>
            <a:off x="3203575" y="2852738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sp>
        <p:nvSpPr>
          <p:cNvPr id="39970" name="Oval 34">
            <a:extLst>
              <a:ext uri="{FF2B5EF4-FFF2-40B4-BE49-F238E27FC236}">
                <a16:creationId xmlns:a16="http://schemas.microsoft.com/office/drawing/2014/main" xmlns="" id="{2E1AF7EB-B64A-4302-96B6-55E4B09EC2C6}"/>
              </a:ext>
            </a:extLst>
          </p:cNvPr>
          <p:cNvSpPr>
            <a:spLocks noChangeArrowheads="1"/>
          </p:cNvSpPr>
          <p:nvPr/>
        </p:nvSpPr>
        <p:spPr bwMode="auto">
          <a:xfrm>
            <a:off x="3346450" y="3789363"/>
            <a:ext cx="142875" cy="142875"/>
          </a:xfrm>
          <a:prstGeom prst="ellipse">
            <a:avLst/>
          </a:prstGeom>
          <a:solidFill>
            <a:srgbClr val="FFFF00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grpSp>
        <p:nvGrpSpPr>
          <p:cNvPr id="2" name="Group 35">
            <a:extLst>
              <a:ext uri="{FF2B5EF4-FFF2-40B4-BE49-F238E27FC236}">
                <a16:creationId xmlns:a16="http://schemas.microsoft.com/office/drawing/2014/main" xmlns="" id="{27A5D6E7-E3BD-4F4C-90B6-E53022CF4AD8}"/>
              </a:ext>
            </a:extLst>
          </p:cNvPr>
          <p:cNvGrpSpPr>
            <a:grpSpLocks/>
          </p:cNvGrpSpPr>
          <p:nvPr/>
        </p:nvGrpSpPr>
        <p:grpSpPr bwMode="auto">
          <a:xfrm>
            <a:off x="285750" y="642938"/>
            <a:ext cx="6157913" cy="3433762"/>
            <a:chOff x="180" y="405"/>
            <a:chExt cx="3879" cy="2163"/>
          </a:xfrm>
        </p:grpSpPr>
        <p:sp>
          <p:nvSpPr>
            <p:cNvPr id="39972" name="AutoShape 36">
              <a:extLst>
                <a:ext uri="{FF2B5EF4-FFF2-40B4-BE49-F238E27FC236}">
                  <a16:creationId xmlns:a16="http://schemas.microsoft.com/office/drawing/2014/main" xmlns="" id="{3AD9AD4D-69BD-492F-A644-2968148B1771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80" y="405"/>
              <a:ext cx="2025" cy="720"/>
            </a:xfrm>
            <a:prstGeom prst="wedgeRoundRectCallout">
              <a:avLst>
                <a:gd name="adj1" fmla="val 26227"/>
                <a:gd name="adj2" fmla="val 64528"/>
                <a:gd name="adj3" fmla="val 16667"/>
              </a:avLst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3200" b="1" dirty="0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(1)</a:t>
              </a:r>
              <a:r>
                <a:rPr lang="zh-CN" altLang="en-US" sz="3200" b="1" dirty="0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已知</a:t>
              </a:r>
              <a:r>
                <a:rPr lang="en-US" altLang="zh-CN" sz="3200" b="1" dirty="0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N</a:t>
              </a:r>
              <a:r>
                <a:rPr lang="zh-CN" altLang="en-US" sz="3200" b="1" dirty="0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个已知类别样本</a:t>
              </a:r>
              <a:r>
                <a:rPr lang="en-US" altLang="zh-CN" sz="3200" b="1" dirty="0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X</a:t>
              </a:r>
              <a:endParaRPr lang="en-US" altLang="zh-CN" sz="3200" dirty="0">
                <a:solidFill>
                  <a:srgbClr val="FF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39973" name="Oval 37">
              <a:extLst>
                <a:ext uri="{FF2B5EF4-FFF2-40B4-BE49-F238E27FC236}">
                  <a16:creationId xmlns:a16="http://schemas.microsoft.com/office/drawing/2014/main" xmlns="" id="{193C2E5D-015E-48DB-9DFD-78ACC4CDBBC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020" y="1117"/>
              <a:ext cx="3039" cy="1451"/>
            </a:xfrm>
            <a:prstGeom prst="ellipse">
              <a:avLst/>
            </a:prstGeom>
            <a:noFill/>
            <a:ln w="28575">
              <a:solidFill>
                <a:schemeClr val="tx1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3200">
                <a:latin typeface="Tahoma" panose="020B0604030504040204" pitchFamily="34" charset="0"/>
              </a:endParaRPr>
            </a:p>
          </p:txBody>
        </p:sp>
      </p:grpSp>
      <p:grpSp>
        <p:nvGrpSpPr>
          <p:cNvPr id="3" name="Group 38">
            <a:extLst>
              <a:ext uri="{FF2B5EF4-FFF2-40B4-BE49-F238E27FC236}">
                <a16:creationId xmlns:a16="http://schemas.microsoft.com/office/drawing/2014/main" xmlns="" id="{1DED8AFA-05AF-4CF9-A060-73901F37AF7A}"/>
              </a:ext>
            </a:extLst>
          </p:cNvPr>
          <p:cNvGrpSpPr>
            <a:grpSpLocks/>
          </p:cNvGrpSpPr>
          <p:nvPr/>
        </p:nvGrpSpPr>
        <p:grpSpPr bwMode="auto">
          <a:xfrm>
            <a:off x="4140200" y="571500"/>
            <a:ext cx="4432300" cy="1776413"/>
            <a:chOff x="2608" y="360"/>
            <a:chExt cx="2792" cy="1119"/>
          </a:xfrm>
        </p:grpSpPr>
        <p:sp>
          <p:nvSpPr>
            <p:cNvPr id="39975" name="Oval 39">
              <a:extLst>
                <a:ext uri="{FF2B5EF4-FFF2-40B4-BE49-F238E27FC236}">
                  <a16:creationId xmlns:a16="http://schemas.microsoft.com/office/drawing/2014/main" xmlns="" id="{B0CC9E4B-9AD3-4F09-AD82-8E7A5663BE2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608" y="1389"/>
              <a:ext cx="90" cy="90"/>
            </a:xfrm>
            <a:prstGeom prst="ellipse">
              <a:avLst/>
            </a:prstGeom>
            <a:solidFill>
              <a:srgbClr val="FF0000"/>
            </a:solidFill>
            <a:ln w="9525">
              <a:solidFill>
                <a:schemeClr val="tx1"/>
              </a:solidFill>
              <a:round/>
              <a:headEnd/>
              <a:tailEnd/>
            </a:ln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3200">
                <a:latin typeface="Tahoma" panose="020B0604030504040204" pitchFamily="34" charset="0"/>
              </a:endParaRPr>
            </a:p>
          </p:txBody>
        </p:sp>
        <p:sp>
          <p:nvSpPr>
            <p:cNvPr id="39976" name="AutoShape 40">
              <a:extLst>
                <a:ext uri="{FF2B5EF4-FFF2-40B4-BE49-F238E27FC236}">
                  <a16:creationId xmlns:a16="http://schemas.microsoft.com/office/drawing/2014/main" xmlns="" id="{38DB471C-ED38-4B64-BA64-432706BEEE84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3107" y="360"/>
              <a:ext cx="2293" cy="666"/>
            </a:xfrm>
            <a:prstGeom prst="wedgeRoundRectCallout">
              <a:avLst>
                <a:gd name="adj1" fmla="val -67676"/>
                <a:gd name="adj2" fmla="val 108412"/>
                <a:gd name="adj3" fmla="val 16667"/>
              </a:avLst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 sz="3200" b="1" dirty="0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(2)</a:t>
              </a:r>
              <a:r>
                <a:rPr lang="zh-CN" altLang="en-US" sz="3200" b="1" dirty="0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输入未知类别样本</a:t>
              </a:r>
              <a:r>
                <a:rPr lang="en-US" altLang="zh-CN" sz="3200" b="1" dirty="0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x</a:t>
              </a:r>
              <a:endParaRPr lang="en-US" altLang="zh-CN" sz="3200" dirty="0">
                <a:solidFill>
                  <a:srgbClr val="FF0000"/>
                </a:solidFill>
                <a:latin typeface="Tahoma" panose="020B0604030504040204" pitchFamily="34" charset="0"/>
              </a:endParaRPr>
            </a:p>
          </p:txBody>
        </p:sp>
      </p:grpSp>
      <p:sp>
        <p:nvSpPr>
          <p:cNvPr id="452657" name="AutoShape 49">
            <a:extLst>
              <a:ext uri="{FF2B5EF4-FFF2-40B4-BE49-F238E27FC236}">
                <a16:creationId xmlns:a16="http://schemas.microsoft.com/office/drawing/2014/main" xmlns="" id="{4B9481B8-6197-4879-91ED-B18342EA0139}"/>
              </a:ext>
            </a:extLst>
          </p:cNvPr>
          <p:cNvSpPr>
            <a:spLocks noChangeArrowheads="1"/>
          </p:cNvSpPr>
          <p:nvPr/>
        </p:nvSpPr>
        <p:spPr bwMode="auto">
          <a:xfrm>
            <a:off x="142875" y="4437063"/>
            <a:ext cx="2808288" cy="719137"/>
          </a:xfrm>
          <a:prstGeom prst="wedgeRoundRectCallout">
            <a:avLst>
              <a:gd name="adj1" fmla="val 95523"/>
              <a:gd name="adj2" fmla="val -353250"/>
              <a:gd name="adj3" fmla="val 16667"/>
            </a:avLst>
          </a:prstGeom>
          <a:solidFill>
            <a:schemeClr val="bg2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zh-CN" sz="3200" b="1" dirty="0">
                <a:solidFill>
                  <a:srgbClr val="FF0000"/>
                </a:solidFill>
                <a:latin typeface="楷体_GB2312"/>
                <a:ea typeface="楷体_GB2312"/>
                <a:cs typeface="楷体_GB2312"/>
              </a:rPr>
              <a:t>(6) </a:t>
            </a:r>
            <a:r>
              <a:rPr lang="zh-CN" altLang="en-US" sz="3200" b="1" dirty="0">
                <a:solidFill>
                  <a:srgbClr val="FF0000"/>
                </a:solidFill>
                <a:latin typeface="楷体_GB2312"/>
                <a:ea typeface="楷体_GB2312"/>
                <a:cs typeface="楷体_GB2312"/>
              </a:rPr>
              <a:t>判</a:t>
            </a:r>
            <a:r>
              <a:rPr lang="en-US" altLang="zh-CN" sz="3200" b="1" dirty="0">
                <a:solidFill>
                  <a:srgbClr val="FF0000"/>
                </a:solidFill>
                <a:latin typeface="楷体_GB2312"/>
                <a:ea typeface="楷体_GB2312"/>
                <a:cs typeface="楷体_GB2312"/>
              </a:rPr>
              <a:t>x</a:t>
            </a:r>
            <a:r>
              <a:rPr lang="en-US" altLang="zh-CN" sz="3200" b="1" dirty="0">
                <a:solidFill>
                  <a:srgbClr val="FF0000"/>
                </a:solidFill>
                <a:latin typeface="楷体_GB2312"/>
                <a:ea typeface="楷体_GB2312"/>
                <a:cs typeface="楷体_GB2312"/>
                <a:sym typeface="Symbol" panose="05050102010706020507" pitchFamily="18" charset="2"/>
              </a:rPr>
              <a:t></a:t>
            </a:r>
            <a:r>
              <a:rPr lang="el-GR" altLang="zh-CN" sz="3200" b="1" dirty="0">
                <a:solidFill>
                  <a:srgbClr val="FF0000"/>
                </a:solidFill>
                <a:latin typeface="楷体_GB2312"/>
                <a:ea typeface="楷体_GB2312"/>
                <a:cs typeface="楷体_GB2312"/>
                <a:sym typeface="Symbol" panose="05050102010706020507" pitchFamily="18" charset="2"/>
              </a:rPr>
              <a:t>ω</a:t>
            </a:r>
            <a:r>
              <a:rPr lang="en-US" altLang="zh-CN" sz="3200" b="1" baseline="-25000" dirty="0">
                <a:solidFill>
                  <a:srgbClr val="FF0000"/>
                </a:solidFill>
                <a:latin typeface="楷体_GB2312"/>
                <a:ea typeface="楷体_GB2312"/>
                <a:cs typeface="楷体_GB2312"/>
                <a:sym typeface="Symbol" panose="05050102010706020507" pitchFamily="18" charset="2"/>
              </a:rPr>
              <a:t>2</a:t>
            </a:r>
            <a:endParaRPr lang="el-GR" altLang="zh-CN" sz="3200" baseline="-25000" dirty="0">
              <a:solidFill>
                <a:srgbClr val="FF0000"/>
              </a:solidFill>
              <a:latin typeface="楷体_GB2312"/>
              <a:ea typeface="楷体_GB2312"/>
              <a:cs typeface="楷体_GB2312"/>
              <a:sym typeface="Symbol" panose="05050102010706020507" pitchFamily="18" charset="2"/>
            </a:endParaRPr>
          </a:p>
        </p:txBody>
      </p:sp>
      <p:sp>
        <p:nvSpPr>
          <p:cNvPr id="452658" name="Oval 50">
            <a:extLst>
              <a:ext uri="{FF2B5EF4-FFF2-40B4-BE49-F238E27FC236}">
                <a16:creationId xmlns:a16="http://schemas.microsoft.com/office/drawing/2014/main" xmlns="" id="{B69DA30B-FB04-4525-80B2-792987543F2E}"/>
              </a:ext>
            </a:extLst>
          </p:cNvPr>
          <p:cNvSpPr>
            <a:spLocks noChangeArrowheads="1"/>
          </p:cNvSpPr>
          <p:nvPr/>
        </p:nvSpPr>
        <p:spPr bwMode="auto">
          <a:xfrm>
            <a:off x="4141788" y="2205038"/>
            <a:ext cx="142875" cy="142875"/>
          </a:xfrm>
          <a:prstGeom prst="ellipse">
            <a:avLst/>
          </a:prstGeom>
          <a:solidFill>
            <a:schemeClr val="accent1"/>
          </a:solidFill>
          <a:ln w="9525">
            <a:solidFill>
              <a:schemeClr val="tx1"/>
            </a:solidFill>
            <a:round/>
            <a:headEnd/>
            <a:tailEnd/>
          </a:ln>
        </p:spPr>
        <p:txBody>
          <a:bodyPr wrap="none" anchor="ctr"/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3200">
              <a:latin typeface="Tahoma" panose="020B0604030504040204" pitchFamily="34" charset="0"/>
            </a:endParaRPr>
          </a:p>
        </p:txBody>
      </p:sp>
      <p:grpSp>
        <p:nvGrpSpPr>
          <p:cNvPr id="4" name="Group 56">
            <a:extLst>
              <a:ext uri="{FF2B5EF4-FFF2-40B4-BE49-F238E27FC236}">
                <a16:creationId xmlns:a16="http://schemas.microsoft.com/office/drawing/2014/main" xmlns="" id="{8F4959EA-E82A-4019-A327-AEE44E32D5EE}"/>
              </a:ext>
            </a:extLst>
          </p:cNvPr>
          <p:cNvGrpSpPr>
            <a:grpSpLocks/>
          </p:cNvGrpSpPr>
          <p:nvPr/>
        </p:nvGrpSpPr>
        <p:grpSpPr bwMode="auto">
          <a:xfrm>
            <a:off x="3492500" y="1714501"/>
            <a:ext cx="5651500" cy="2143126"/>
            <a:chOff x="2200" y="1080"/>
            <a:chExt cx="3560" cy="1350"/>
          </a:xfrm>
          <a:solidFill>
            <a:schemeClr val="bg2"/>
          </a:solidFill>
        </p:grpSpPr>
        <p:sp>
          <p:nvSpPr>
            <p:cNvPr id="452650" name="Line 42">
              <a:extLst>
                <a:ext uri="{FF2B5EF4-FFF2-40B4-BE49-F238E27FC236}">
                  <a16:creationId xmlns:a16="http://schemas.microsoft.com/office/drawing/2014/main" xmlns="" id="{FDC22379-94CC-441E-9247-D3D04556D3A4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200" y="1434"/>
              <a:ext cx="408" cy="46"/>
            </a:xfrm>
            <a:prstGeom prst="line">
              <a:avLst/>
            </a:prstGeom>
            <a:grp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3200">
                <a:latin typeface="Tahoma" pitchFamily="34" charset="0"/>
              </a:endParaRPr>
            </a:p>
          </p:txBody>
        </p:sp>
        <p:sp>
          <p:nvSpPr>
            <p:cNvPr id="452651" name="Line 43">
              <a:extLst>
                <a:ext uri="{FF2B5EF4-FFF2-40B4-BE49-F238E27FC236}">
                  <a16:creationId xmlns:a16="http://schemas.microsoft.com/office/drawing/2014/main" xmlns="" id="{7ACEC9E0-0773-4488-9EA7-7B01E6092CB8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290" y="1480"/>
              <a:ext cx="318" cy="136"/>
            </a:xfrm>
            <a:prstGeom prst="line">
              <a:avLst/>
            </a:prstGeom>
            <a:grp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3200">
                <a:latin typeface="Tahoma" pitchFamily="34" charset="0"/>
              </a:endParaRPr>
            </a:p>
          </p:txBody>
        </p:sp>
        <p:sp>
          <p:nvSpPr>
            <p:cNvPr id="452652" name="Line 44">
              <a:extLst>
                <a:ext uri="{FF2B5EF4-FFF2-40B4-BE49-F238E27FC236}">
                  <a16:creationId xmlns:a16="http://schemas.microsoft.com/office/drawing/2014/main" xmlns="" id="{4F20D5BE-307C-4DF1-A38B-747A4BDCB580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472" y="1480"/>
              <a:ext cx="181" cy="272"/>
            </a:xfrm>
            <a:prstGeom prst="line">
              <a:avLst/>
            </a:prstGeom>
            <a:grp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3200">
                <a:latin typeface="Tahoma" pitchFamily="34" charset="0"/>
              </a:endParaRPr>
            </a:p>
          </p:txBody>
        </p:sp>
        <p:sp>
          <p:nvSpPr>
            <p:cNvPr id="452653" name="Line 45">
              <a:extLst>
                <a:ext uri="{FF2B5EF4-FFF2-40B4-BE49-F238E27FC236}">
                  <a16:creationId xmlns:a16="http://schemas.microsoft.com/office/drawing/2014/main" xmlns="" id="{CD5D9A80-9103-4E73-A995-414267F9F005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99" y="1480"/>
              <a:ext cx="181" cy="0"/>
            </a:xfrm>
            <a:prstGeom prst="line">
              <a:avLst/>
            </a:prstGeom>
            <a:grp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3200">
                <a:latin typeface="Tahoma" pitchFamily="34" charset="0"/>
              </a:endParaRPr>
            </a:p>
          </p:txBody>
        </p:sp>
        <p:sp>
          <p:nvSpPr>
            <p:cNvPr id="452654" name="AutoShape 46">
              <a:extLst>
                <a:ext uri="{FF2B5EF4-FFF2-40B4-BE49-F238E27FC236}">
                  <a16:creationId xmlns:a16="http://schemas.microsoft.com/office/drawing/2014/main" xmlns="" id="{FAC05062-ADAA-4525-B441-FF9A58CF548A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4150" y="1080"/>
              <a:ext cx="1610" cy="1350"/>
            </a:xfrm>
            <a:prstGeom prst="wedgeRoundRectCallout">
              <a:avLst>
                <a:gd name="adj1" fmla="val -133151"/>
                <a:gd name="adj2" fmla="val -10267"/>
                <a:gd name="adj3" fmla="val 16667"/>
              </a:avLst>
            </a:prstGeom>
            <a:grp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  <p:txBody>
            <a:bodyPr/>
            <a:lstStyle/>
            <a:p>
              <a:pPr>
                <a:spcBef>
                  <a:spcPts val="0"/>
                </a:spcBef>
                <a:defRPr/>
              </a:pPr>
              <a:r>
                <a:rPr lang="en-US" altLang="zh-CN" sz="3200" b="1" dirty="0">
                  <a:solidFill>
                    <a:srgbClr val="FF0000"/>
                  </a:solidFill>
                  <a:latin typeface="楷体_GB2312" pitchFamily="49" charset="-122"/>
                  <a:ea typeface="楷体_GB2312" pitchFamily="49" charset="-122"/>
                </a:rPr>
                <a:t>(3)</a:t>
              </a:r>
              <a:r>
                <a:rPr lang="zh-CN" altLang="en-US" sz="3200" b="1" dirty="0">
                  <a:solidFill>
                    <a:srgbClr val="FF0000"/>
                  </a:solidFill>
                  <a:latin typeface="楷体_GB2312" pitchFamily="49" charset="-122"/>
                  <a:ea typeface="楷体_GB2312" pitchFamily="49" charset="-122"/>
                </a:rPr>
                <a:t>计算</a:t>
              </a:r>
              <a:r>
                <a:rPr lang="en-US" altLang="zh-CN" sz="3200" b="1" dirty="0">
                  <a:solidFill>
                    <a:srgbClr val="FF0000"/>
                  </a:solidFill>
                  <a:latin typeface="楷体_GB2312" pitchFamily="49" charset="-122"/>
                  <a:ea typeface="楷体_GB2312" pitchFamily="49" charset="-122"/>
                </a:rPr>
                <a:t>x</a:t>
              </a:r>
              <a:r>
                <a:rPr lang="zh-CN" altLang="en-US" sz="3200" b="1" dirty="0">
                  <a:solidFill>
                    <a:srgbClr val="FF0000"/>
                  </a:solidFill>
                  <a:latin typeface="楷体_GB2312" pitchFamily="49" charset="-122"/>
                  <a:ea typeface="楷体_GB2312" pitchFamily="49" charset="-122"/>
                </a:rPr>
                <a:t>到</a:t>
              </a:r>
              <a:r>
                <a:rPr lang="en-US" altLang="zh-CN" sz="3200" b="1" dirty="0" err="1">
                  <a:solidFill>
                    <a:srgbClr val="FF0000"/>
                  </a:solidFill>
                  <a:latin typeface="楷体_GB2312" pitchFamily="49" charset="-122"/>
                  <a:ea typeface="楷体_GB2312" pitchFamily="49" charset="-122"/>
                </a:rPr>
                <a:t>x</a:t>
              </a:r>
              <a:r>
                <a:rPr lang="en-US" altLang="zh-CN" sz="3200" b="1" baseline="-25000" dirty="0" err="1">
                  <a:solidFill>
                    <a:srgbClr val="FF0000"/>
                  </a:solidFill>
                  <a:latin typeface="楷体_GB2312" pitchFamily="49" charset="-122"/>
                  <a:ea typeface="楷体_GB2312" pitchFamily="49" charset="-122"/>
                </a:rPr>
                <a:t>i</a:t>
              </a:r>
              <a:r>
                <a:rPr lang="en-US" altLang="zh-CN" sz="3200" b="1" dirty="0" err="1">
                  <a:solidFill>
                    <a:srgbClr val="FF0000"/>
                  </a:solidFill>
                  <a:latin typeface="楷体_GB2312" pitchFamily="49" charset="-122"/>
                  <a:ea typeface="楷体_GB2312" pitchFamily="49" charset="-122"/>
                  <a:sym typeface="Symbol" pitchFamily="18" charset="2"/>
                </a:rPr>
                <a:t>X</a:t>
              </a:r>
              <a:r>
                <a:rPr lang="en-US" altLang="zh-CN" sz="3200" b="1" dirty="0">
                  <a:solidFill>
                    <a:srgbClr val="FF0000"/>
                  </a:solidFill>
                  <a:latin typeface="楷体_GB2312" pitchFamily="49" charset="-122"/>
                  <a:ea typeface="楷体_GB2312" pitchFamily="49" charset="-122"/>
                </a:rPr>
                <a:t>(</a:t>
              </a:r>
              <a:r>
                <a:rPr lang="en-US" altLang="zh-CN" sz="3200" b="1" dirty="0" err="1">
                  <a:solidFill>
                    <a:srgbClr val="FF0000"/>
                  </a:solidFill>
                  <a:latin typeface="楷体_GB2312" pitchFamily="49" charset="-122"/>
                  <a:ea typeface="楷体_GB2312" pitchFamily="49" charset="-122"/>
                </a:rPr>
                <a:t>i</a:t>
              </a:r>
              <a:r>
                <a:rPr lang="en-US" altLang="zh-CN" sz="3200" b="1" dirty="0">
                  <a:solidFill>
                    <a:srgbClr val="FF0000"/>
                  </a:solidFill>
                  <a:latin typeface="楷体_GB2312" pitchFamily="49" charset="-122"/>
                  <a:ea typeface="楷体_GB2312" pitchFamily="49" charset="-122"/>
                </a:rPr>
                <a:t>=1,</a:t>
              </a:r>
            </a:p>
            <a:p>
              <a:pPr>
                <a:spcBef>
                  <a:spcPts val="0"/>
                </a:spcBef>
                <a:defRPr/>
              </a:pPr>
              <a:r>
                <a:rPr lang="en-US" altLang="zh-CN" sz="3200" b="1" dirty="0">
                  <a:solidFill>
                    <a:srgbClr val="C00000"/>
                  </a:solidFill>
                  <a:latin typeface="楷体_GB2312" pitchFamily="49" charset="-122"/>
                  <a:ea typeface="楷体_GB2312" pitchFamily="49" charset="-122"/>
                </a:rPr>
                <a:t>2,</a:t>
              </a:r>
              <a:r>
                <a:rPr lang="en-US" altLang="zh-CN" sz="3200" b="1" dirty="0">
                  <a:solidFill>
                    <a:srgbClr val="C00000"/>
                  </a:solidFill>
                  <a:latin typeface="Arial"/>
                  <a:ea typeface="楷体_GB2312" pitchFamily="49" charset="-122"/>
                </a:rPr>
                <a:t>…</a:t>
              </a:r>
              <a:r>
                <a:rPr lang="en-US" altLang="zh-CN" sz="3200" b="1" dirty="0">
                  <a:solidFill>
                    <a:srgbClr val="C00000"/>
                  </a:solidFill>
                  <a:latin typeface="楷体_GB2312" pitchFamily="49" charset="-122"/>
                  <a:ea typeface="楷体_GB2312" pitchFamily="49" charset="-122"/>
                </a:rPr>
                <a:t>,N)</a:t>
              </a:r>
              <a:r>
                <a:rPr lang="zh-CN" altLang="en-US" sz="3200" b="1" dirty="0">
                  <a:solidFill>
                    <a:srgbClr val="C00000"/>
                  </a:solidFill>
                  <a:latin typeface="楷体_GB2312" pitchFamily="49" charset="-122"/>
                  <a:ea typeface="楷体_GB2312" pitchFamily="49" charset="-122"/>
                </a:rPr>
                <a:t>的距离</a:t>
              </a:r>
              <a:r>
                <a:rPr lang="en-US" altLang="zh-CN" sz="3200" b="1" dirty="0" err="1">
                  <a:solidFill>
                    <a:srgbClr val="C00000"/>
                  </a:solidFill>
                  <a:latin typeface="楷体_GB2312" pitchFamily="49" charset="-122"/>
                  <a:ea typeface="楷体_GB2312" pitchFamily="49" charset="-122"/>
                </a:rPr>
                <a:t>d</a:t>
              </a:r>
              <a:r>
                <a:rPr lang="en-US" altLang="zh-CN" sz="3200" b="1" baseline="-25000" dirty="0" err="1">
                  <a:solidFill>
                    <a:srgbClr val="C00000"/>
                  </a:solidFill>
                  <a:latin typeface="楷体_GB2312" pitchFamily="49" charset="-122"/>
                  <a:ea typeface="楷体_GB2312" pitchFamily="49" charset="-122"/>
                </a:rPr>
                <a:t>i</a:t>
              </a:r>
              <a:r>
                <a:rPr lang="en-US" altLang="zh-CN" sz="3200" b="1" dirty="0">
                  <a:solidFill>
                    <a:srgbClr val="C00000"/>
                  </a:solidFill>
                  <a:latin typeface="楷体_GB2312" pitchFamily="49" charset="-122"/>
                  <a:ea typeface="楷体_GB2312" pitchFamily="49" charset="-122"/>
                </a:rPr>
                <a:t>(x)</a:t>
              </a:r>
              <a:endParaRPr lang="zh-CN" altLang="en-US" sz="3200" dirty="0">
                <a:solidFill>
                  <a:srgbClr val="C00000"/>
                </a:solidFill>
              </a:endParaRPr>
            </a:p>
          </p:txBody>
        </p:sp>
        <p:sp>
          <p:nvSpPr>
            <p:cNvPr id="452659" name="Line 51">
              <a:extLst>
                <a:ext uri="{FF2B5EF4-FFF2-40B4-BE49-F238E27FC236}">
                  <a16:creationId xmlns:a16="http://schemas.microsoft.com/office/drawing/2014/main" xmlns="" id="{CC323F78-5A3E-47D7-86A5-87F56A45651D}"/>
                </a:ext>
              </a:extLst>
            </p:cNvPr>
            <p:cNvSpPr>
              <a:spLocks noChangeShapeType="1"/>
            </p:cNvSpPr>
            <p:nvPr/>
          </p:nvSpPr>
          <p:spPr bwMode="auto">
            <a:xfrm flipH="1">
              <a:off x="2290" y="1480"/>
              <a:ext cx="317" cy="317"/>
            </a:xfrm>
            <a:prstGeom prst="line">
              <a:avLst/>
            </a:prstGeom>
            <a:grp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3200">
                <a:latin typeface="Tahoma" pitchFamily="34" charset="0"/>
              </a:endParaRPr>
            </a:p>
          </p:txBody>
        </p:sp>
        <p:sp>
          <p:nvSpPr>
            <p:cNvPr id="452660" name="Line 52">
              <a:extLst>
                <a:ext uri="{FF2B5EF4-FFF2-40B4-BE49-F238E27FC236}">
                  <a16:creationId xmlns:a16="http://schemas.microsoft.com/office/drawing/2014/main" xmlns="" id="{747836BA-93B2-4C0A-ACD9-C9E6CD64CD41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53" y="1480"/>
              <a:ext cx="91" cy="362"/>
            </a:xfrm>
            <a:prstGeom prst="line">
              <a:avLst/>
            </a:prstGeom>
            <a:grp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3200">
                <a:latin typeface="Tahoma" pitchFamily="34" charset="0"/>
              </a:endParaRPr>
            </a:p>
          </p:txBody>
        </p:sp>
        <p:sp>
          <p:nvSpPr>
            <p:cNvPr id="452661" name="Line 53">
              <a:extLst>
                <a:ext uri="{FF2B5EF4-FFF2-40B4-BE49-F238E27FC236}">
                  <a16:creationId xmlns:a16="http://schemas.microsoft.com/office/drawing/2014/main" xmlns="" id="{F4A32543-FE8E-416E-8BFC-ED92D847F170}"/>
                </a:ext>
              </a:extLst>
            </p:cNvPr>
            <p:cNvSpPr>
              <a:spLocks noChangeShapeType="1"/>
            </p:cNvSpPr>
            <p:nvPr/>
          </p:nvSpPr>
          <p:spPr bwMode="auto">
            <a:xfrm>
              <a:off x="2653" y="1480"/>
              <a:ext cx="228" cy="271"/>
            </a:xfrm>
            <a:prstGeom prst="line">
              <a:avLst/>
            </a:prstGeom>
            <a:grpFill/>
            <a:ln w="38100">
              <a:solidFill>
                <a:schemeClr val="tx1"/>
              </a:solidFill>
              <a:round/>
              <a:headEnd/>
              <a:tailEnd/>
            </a:ln>
            <a:effectLst/>
          </p:spPr>
          <p:txBody>
            <a:bodyPr/>
            <a:lstStyle/>
            <a:p>
              <a:pPr>
                <a:defRPr/>
              </a:pPr>
              <a:endParaRPr lang="zh-CN" altLang="en-US" sz="3200">
                <a:latin typeface="Tahoma" pitchFamily="34" charset="0"/>
              </a:endParaRPr>
            </a:p>
          </p:txBody>
        </p:sp>
      </p:grpSp>
      <p:grpSp>
        <p:nvGrpSpPr>
          <p:cNvPr id="5" name="Group 57">
            <a:extLst>
              <a:ext uri="{FF2B5EF4-FFF2-40B4-BE49-F238E27FC236}">
                <a16:creationId xmlns:a16="http://schemas.microsoft.com/office/drawing/2014/main" xmlns="" id="{94437D70-B5B5-4351-B6F4-D76818EE9B96}"/>
              </a:ext>
            </a:extLst>
          </p:cNvPr>
          <p:cNvGrpSpPr>
            <a:grpSpLocks/>
          </p:cNvGrpSpPr>
          <p:nvPr/>
        </p:nvGrpSpPr>
        <p:grpSpPr bwMode="auto">
          <a:xfrm>
            <a:off x="3276600" y="1844675"/>
            <a:ext cx="5867400" cy="3298825"/>
            <a:chOff x="2064" y="1162"/>
            <a:chExt cx="3696" cy="2078"/>
          </a:xfrm>
        </p:grpSpPr>
        <p:sp>
          <p:nvSpPr>
            <p:cNvPr id="39981" name="AutoShape 47">
              <a:extLst>
                <a:ext uri="{FF2B5EF4-FFF2-40B4-BE49-F238E27FC236}">
                  <a16:creationId xmlns:a16="http://schemas.microsoft.com/office/drawing/2014/main" xmlns="" id="{F9DFAD0A-4E30-4A35-B8AE-3105213D56B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925" y="2523"/>
              <a:ext cx="2835" cy="717"/>
            </a:xfrm>
            <a:prstGeom prst="wedgeRoundRectCallout">
              <a:avLst>
                <a:gd name="adj1" fmla="val -47176"/>
                <a:gd name="adj2" fmla="val -152833"/>
                <a:gd name="adj3" fmla="val 16667"/>
              </a:avLst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3200" b="1" dirty="0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(4)</a:t>
              </a:r>
              <a:r>
                <a:rPr lang="zh-CN" altLang="en-US" sz="3200" b="1" dirty="0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找出</a:t>
              </a:r>
              <a:r>
                <a:rPr lang="en-US" altLang="zh-CN" sz="3200" b="1" dirty="0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x</a:t>
              </a:r>
              <a:r>
                <a:rPr lang="zh-CN" altLang="en-US" sz="3200" b="1" dirty="0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的</a:t>
              </a:r>
              <a:r>
                <a:rPr lang="en-US" altLang="zh-CN" sz="3200" b="1" dirty="0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k</a:t>
              </a:r>
              <a:r>
                <a:rPr lang="zh-CN" altLang="en-US" sz="3200" b="1" dirty="0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个最近邻元</a:t>
              </a:r>
              <a:r>
                <a:rPr lang="en-US" altLang="zh-CN" sz="3200" b="1" dirty="0" err="1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X</a:t>
              </a:r>
              <a:r>
                <a:rPr lang="en-US" altLang="zh-CN" sz="3200" b="1" baseline="-25000" dirty="0" err="1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k</a:t>
              </a:r>
              <a:r>
                <a:rPr lang="en-US" altLang="zh-CN" sz="3200" b="1" dirty="0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={</a:t>
              </a:r>
              <a:r>
                <a:rPr lang="en-US" altLang="zh-CN" sz="3200" b="1" dirty="0" err="1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x</a:t>
              </a:r>
              <a:r>
                <a:rPr lang="en-US" altLang="zh-CN" sz="3200" b="1" baseline="-25000" dirty="0" err="1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i</a:t>
              </a:r>
              <a:r>
                <a:rPr lang="en-US" altLang="zh-CN" sz="3200" b="1" dirty="0" err="1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,i</a:t>
              </a:r>
              <a:r>
                <a:rPr lang="en-US" altLang="zh-CN" sz="3200" b="1" dirty="0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=1,2,</a:t>
              </a:r>
              <a:r>
                <a:rPr lang="en-US" altLang="zh-CN" sz="3200" b="1" dirty="0">
                  <a:solidFill>
                    <a:srgbClr val="FF0000"/>
                  </a:solidFill>
                  <a:ea typeface="楷体_GB2312"/>
                  <a:cs typeface="楷体_GB2312"/>
                </a:rPr>
                <a:t>…</a:t>
              </a:r>
              <a:r>
                <a:rPr lang="en-US" altLang="zh-CN" sz="3200" b="1" dirty="0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,k}</a:t>
              </a:r>
              <a:endParaRPr lang="zh-CN" altLang="en-US" sz="3200" dirty="0">
                <a:solidFill>
                  <a:srgbClr val="FF0000"/>
                </a:solidFill>
                <a:latin typeface="Tahoma" panose="020B0604030504040204" pitchFamily="34" charset="0"/>
              </a:endParaRPr>
            </a:p>
          </p:txBody>
        </p:sp>
        <p:sp>
          <p:nvSpPr>
            <p:cNvPr id="39982" name="Oval 54">
              <a:extLst>
                <a:ext uri="{FF2B5EF4-FFF2-40B4-BE49-F238E27FC236}">
                  <a16:creationId xmlns:a16="http://schemas.microsoft.com/office/drawing/2014/main" xmlns="" id="{4BCBF32A-598D-47E0-8EE5-DAD20AAF930D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64" y="1162"/>
              <a:ext cx="974" cy="862"/>
            </a:xfrm>
            <a:prstGeom prst="ellipse">
              <a:avLst/>
            </a:prstGeom>
            <a:noFill/>
            <a:ln w="38100">
              <a:solidFill>
                <a:srgbClr val="00FF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3200">
                <a:latin typeface="Tahoma" panose="020B0604030504040204" pitchFamily="34" charset="0"/>
              </a:endParaRPr>
            </a:p>
          </p:txBody>
        </p:sp>
      </p:grpSp>
      <p:grpSp>
        <p:nvGrpSpPr>
          <p:cNvPr id="6" name="Group 59">
            <a:extLst>
              <a:ext uri="{FF2B5EF4-FFF2-40B4-BE49-F238E27FC236}">
                <a16:creationId xmlns:a16="http://schemas.microsoft.com/office/drawing/2014/main" xmlns="" id="{3921317D-519E-45F0-92E7-F10FDB1668BA}"/>
              </a:ext>
            </a:extLst>
          </p:cNvPr>
          <p:cNvGrpSpPr>
            <a:grpSpLocks/>
          </p:cNvGrpSpPr>
          <p:nvPr/>
        </p:nvGrpSpPr>
        <p:grpSpPr bwMode="auto">
          <a:xfrm>
            <a:off x="2700338" y="1928813"/>
            <a:ext cx="4943475" cy="4643437"/>
            <a:chOff x="1701" y="1208"/>
            <a:chExt cx="3114" cy="2925"/>
          </a:xfrm>
        </p:grpSpPr>
        <p:sp>
          <p:nvSpPr>
            <p:cNvPr id="39984" name="AutoShape 48">
              <a:extLst>
                <a:ext uri="{FF2B5EF4-FFF2-40B4-BE49-F238E27FC236}">
                  <a16:creationId xmlns:a16="http://schemas.microsoft.com/office/drawing/2014/main" xmlns="" id="{5E2194A2-CC29-46B7-9E74-A9B7E4CE003F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1701" y="3339"/>
              <a:ext cx="3114" cy="794"/>
            </a:xfrm>
            <a:prstGeom prst="wedgeRoundRectCallout">
              <a:avLst>
                <a:gd name="adj1" fmla="val -24213"/>
                <a:gd name="adj2" fmla="val -227398"/>
                <a:gd name="adj3" fmla="val 16667"/>
              </a:avLst>
            </a:prstGeom>
            <a:solidFill>
              <a:schemeClr val="bg2"/>
            </a:solidFill>
            <a:ln w="9525">
              <a:solidFill>
                <a:schemeClr val="tx1"/>
              </a:solidFill>
              <a:miter lim="800000"/>
              <a:headEnd/>
              <a:tailEnd/>
            </a:ln>
          </p:spPr>
          <p:txBody>
            <a:bodyPr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 sz="3200" b="1" dirty="0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(5)</a:t>
              </a:r>
              <a:r>
                <a:rPr lang="zh-CN" altLang="en-US" sz="3200" b="1" dirty="0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看</a:t>
              </a:r>
              <a:r>
                <a:rPr lang="en-US" altLang="zh-CN" sz="3200" b="1" dirty="0" err="1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X</a:t>
              </a:r>
              <a:r>
                <a:rPr lang="en-US" altLang="zh-CN" sz="3200" b="1" baseline="-25000" dirty="0" err="1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k</a:t>
              </a:r>
              <a:r>
                <a:rPr lang="zh-CN" altLang="en-US" sz="3200" b="1" dirty="0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中属于哪一类的样本最多</a:t>
              </a:r>
              <a:r>
                <a:rPr lang="en-US" altLang="zh-CN" sz="3200" b="1" dirty="0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k</a:t>
              </a:r>
              <a:r>
                <a:rPr lang="en-US" altLang="zh-CN" sz="3200" b="1" baseline="-25000" dirty="0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1</a:t>
              </a:r>
              <a:r>
                <a:rPr lang="en-US" altLang="zh-CN" sz="3200" b="1" dirty="0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=3&lt;k</a:t>
              </a:r>
              <a:r>
                <a:rPr lang="en-US" altLang="zh-CN" sz="3200" b="1" baseline="-25000" dirty="0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2</a:t>
              </a:r>
              <a:r>
                <a:rPr lang="en-US" altLang="zh-CN" sz="3200" b="1" dirty="0">
                  <a:solidFill>
                    <a:srgbClr val="FF0000"/>
                  </a:solidFill>
                  <a:latin typeface="楷体_GB2312"/>
                  <a:ea typeface="楷体_GB2312"/>
                  <a:cs typeface="楷体_GB2312"/>
                </a:rPr>
                <a:t>=4</a:t>
              </a:r>
              <a:endParaRPr lang="el-GR" altLang="zh-CN" sz="3200" b="1" baseline="-25000" dirty="0">
                <a:solidFill>
                  <a:srgbClr val="FF0000"/>
                </a:solidFill>
                <a:latin typeface="楷体_GB2312"/>
                <a:ea typeface="楷体_GB2312"/>
                <a:cs typeface="楷体_GB2312"/>
                <a:sym typeface="Symbol" panose="05050102010706020507" pitchFamily="18" charset="2"/>
              </a:endParaRPr>
            </a:p>
          </p:txBody>
        </p:sp>
        <p:sp>
          <p:nvSpPr>
            <p:cNvPr id="39985" name="Oval 58">
              <a:extLst>
                <a:ext uri="{FF2B5EF4-FFF2-40B4-BE49-F238E27FC236}">
                  <a16:creationId xmlns:a16="http://schemas.microsoft.com/office/drawing/2014/main" xmlns="" id="{B0991CAF-38C3-4D38-85F2-8DBD838B41A6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2070" y="1208"/>
              <a:ext cx="675" cy="770"/>
            </a:xfrm>
            <a:prstGeom prst="ellipse">
              <a:avLst/>
            </a:prstGeom>
            <a:noFill/>
            <a:ln w="28575">
              <a:solidFill>
                <a:srgbClr val="FF0000"/>
              </a:solidFill>
              <a:prstDash val="sysDot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 sz="3200">
                <a:latin typeface="Tahoma" panose="020B0604030504040204" pitchFamily="34" charset="0"/>
              </a:endParaRPr>
            </a:p>
          </p:txBody>
        </p: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 nodeType="clickPar">
                      <p:stCondLst>
                        <p:cond delay="indefinite"/>
                      </p:stCondLst>
                      <p:childTnLst>
                        <p:par>
                          <p:cTn id="16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 nodeType="clickPar">
                      <p:stCondLst>
                        <p:cond delay="indefinite"/>
                      </p:stCondLst>
                      <p:childTnLst>
                        <p:par>
                          <p:cTn id="20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 nodeType="clickPar">
                      <p:stCondLst>
                        <p:cond delay="indefinite"/>
                      </p:stCondLst>
                      <p:childTnLst>
                        <p:par>
                          <p:cTn id="2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6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7" fill="hold" nodeType="clickPar">
                      <p:stCondLst>
                        <p:cond delay="indefinite"/>
                      </p:stCondLst>
                      <p:childTnLst>
                        <p:par>
                          <p:cTn id="2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2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526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52657" grpId="0" animBg="1"/>
      <p:bldP spid="452658" grpId="0" animBg="1"/>
    </p:bld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49" name="日期占位符 3">
            <a:extLst>
              <a:ext uri="{FF2B5EF4-FFF2-40B4-BE49-F238E27FC236}">
                <a16:creationId xmlns:a16="http://schemas.microsoft.com/office/drawing/2014/main" xmlns="" id="{81C60640-E60B-4B78-B051-980EF0D19749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D12E03B7-94DB-4ADF-89BA-94EC5FD832C9}" type="datetime4">
              <a:rPr lang="zh-CN" altLang="en-US" sz="12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2018年10月21日星期日</a:t>
            </a:fld>
            <a:endParaRPr lang="en-US" altLang="zh-CN" sz="12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7650" name="页脚占位符 4">
            <a:extLst>
              <a:ext uri="{FF2B5EF4-FFF2-40B4-BE49-F238E27FC236}">
                <a16:creationId xmlns:a16="http://schemas.microsoft.com/office/drawing/2014/main" xmlns="" id="{E49E82FF-1F1B-4FA4-A246-46C6461B33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200">
                <a:latin typeface="Tahoma" panose="020B0604030504040204" pitchFamily="34" charset="0"/>
                <a:ea typeface="宋体" panose="02010600030101010101" pitchFamily="2" charset="-122"/>
              </a:rPr>
              <a:t>DMKD  Sides</a:t>
            </a:r>
          </a:p>
        </p:txBody>
      </p:sp>
      <p:sp>
        <p:nvSpPr>
          <p:cNvPr id="27651" name="灯片编号占位符 5">
            <a:extLst>
              <a:ext uri="{FF2B5EF4-FFF2-40B4-BE49-F238E27FC236}">
                <a16:creationId xmlns:a16="http://schemas.microsoft.com/office/drawing/2014/main" xmlns="" id="{BA64B6A3-607B-4FC5-A33B-56692B1E54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997CC97C-9F70-410C-B3A4-95542EB83023}" type="slidenum">
              <a:rPr lang="zh-CN" altLang="en-US" sz="14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15</a:t>
            </a:fld>
            <a:endParaRPr lang="en-US" altLang="zh-CN" sz="14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7652" name="Rectangle 2">
            <a:extLst>
              <a:ext uri="{FF2B5EF4-FFF2-40B4-BE49-F238E27FC236}">
                <a16:creationId xmlns:a16="http://schemas.microsoft.com/office/drawing/2014/main" xmlns="" id="{DFBAB5FB-D653-4E34-9FAE-10CBB495990F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/>
              <a:t>K-</a:t>
            </a:r>
            <a:r>
              <a:rPr lang="zh-CN" altLang="en-US"/>
              <a:t>近邻分类算法</a:t>
            </a:r>
          </a:p>
        </p:txBody>
      </p:sp>
      <p:sp>
        <p:nvSpPr>
          <p:cNvPr id="27653" name="Rectangle 3">
            <a:extLst>
              <a:ext uri="{FF2B5EF4-FFF2-40B4-BE49-F238E27FC236}">
                <a16:creationId xmlns:a16="http://schemas.microsoft.com/office/drawing/2014/main" xmlns="" id="{AC6D0A57-DE39-4522-8ED1-231C6A4A0AA7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/>
            <a:r>
              <a:rPr lang="en-US" altLang="zh-CN" sz="2400"/>
              <a:t>K-</a:t>
            </a:r>
            <a:r>
              <a:rPr lang="zh-CN" altLang="en-US" sz="2400"/>
              <a:t>近邻分类算法（</a:t>
            </a:r>
            <a:r>
              <a:rPr lang="en-US" altLang="zh-CN" sz="2400"/>
              <a:t>K Nearest Neighbors</a:t>
            </a:r>
            <a:r>
              <a:rPr lang="zh-CN" altLang="en-US" sz="2400"/>
              <a:t>，简称</a:t>
            </a:r>
            <a:r>
              <a:rPr lang="en-US" altLang="zh-CN" sz="2400"/>
              <a:t>KNN</a:t>
            </a:r>
            <a:r>
              <a:rPr lang="zh-CN" altLang="en-US" sz="2400"/>
              <a:t>）通过计算每个训练数据到待分类元组的距离，取和待分类元组距离最近的</a:t>
            </a:r>
            <a:r>
              <a:rPr lang="en-US" altLang="zh-CN" sz="2400"/>
              <a:t>K</a:t>
            </a:r>
            <a:r>
              <a:rPr lang="zh-CN" altLang="en-US" sz="2400"/>
              <a:t>个训练数据，</a:t>
            </a:r>
            <a:r>
              <a:rPr lang="en-US" altLang="zh-CN" sz="2400"/>
              <a:t>K</a:t>
            </a:r>
            <a:r>
              <a:rPr lang="zh-CN" altLang="en-US" sz="2400"/>
              <a:t>个数据中哪个类别的训练数据占多数，则待分类元组就属于哪个类别。</a:t>
            </a:r>
            <a:endParaRPr lang="zh-CN" altLang="en-US"/>
          </a:p>
        </p:txBody>
      </p:sp>
      <p:sp>
        <p:nvSpPr>
          <p:cNvPr id="27654" name="Text Box 4">
            <a:extLst>
              <a:ext uri="{FF2B5EF4-FFF2-40B4-BE49-F238E27FC236}">
                <a16:creationId xmlns:a16="http://schemas.microsoft.com/office/drawing/2014/main" xmlns="" id="{791A8924-FE14-4016-A95B-A3353DAD5E4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684213" y="2420938"/>
            <a:ext cx="7848600" cy="3525837"/>
          </a:xfrm>
          <a:prstGeom prst="rect">
            <a:avLst/>
          </a:prstGeom>
          <a:solidFill>
            <a:schemeClr val="accent2"/>
          </a:solidFill>
          <a:ln>
            <a:noFill/>
          </a:ln>
          <a:extLs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 eaLnBrk="1" hangingPunct="1">
              <a:spcBef>
                <a:spcPct val="20000"/>
              </a:spcBef>
              <a:buClrTx/>
              <a:buSzTx/>
              <a:buFontTx/>
              <a:buNone/>
            </a:pPr>
            <a:r>
              <a:rPr lang="zh-CN" altLang="en-US" sz="1600" b="1">
                <a:latin typeface="Tahoma" panose="020B0604030504040204" pitchFamily="34" charset="0"/>
                <a:ea typeface="宋体" panose="02010600030101010101" pitchFamily="2" charset="-122"/>
              </a:rPr>
              <a:t>算法 </a:t>
            </a:r>
            <a:r>
              <a:rPr lang="en-US" altLang="zh-CN" sz="1600" b="1">
                <a:latin typeface="Tahoma" panose="020B0604030504040204" pitchFamily="34" charset="0"/>
                <a:ea typeface="宋体" panose="02010600030101010101" pitchFamily="2" charset="-122"/>
              </a:rPr>
              <a:t>4-2  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K-</a:t>
            </a: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近邻分类算法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输入：  训练数据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</a:rPr>
              <a:t>T</a:t>
            </a: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；近邻数目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</a:rPr>
              <a:t>K</a:t>
            </a: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；待分类的元组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</a:rPr>
              <a:t>t</a:t>
            </a: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。 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输出：  输出类别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</a:rPr>
              <a:t>c</a:t>
            </a: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。 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（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1</a:t>
            </a: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）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</a:rPr>
              <a:t>N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=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  <a:sym typeface="Symbol" panose="05050102010706020507" pitchFamily="18" charset="2"/>
              </a:rPr>
              <a:t></a:t>
            </a: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；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（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2</a:t>
            </a: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）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FOR each 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</a:rPr>
              <a:t>d 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∈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</a:rPr>
              <a:t>T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 DO BEGIN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（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3</a:t>
            </a: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）   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IF |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</a:rPr>
              <a:t>N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|≤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</a:rPr>
              <a:t>K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 THEN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（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4</a:t>
            </a: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）    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</a:rPr>
              <a:t>N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=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</a:rPr>
              <a:t>N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∪{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</a:rPr>
              <a:t>d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}</a:t>
            </a: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；    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（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5</a:t>
            </a: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）   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ELSE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（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6</a:t>
            </a: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）	 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IF  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  <a:sym typeface="Symbol" panose="05050102010706020507" pitchFamily="18" charset="2"/>
              </a:rPr>
              <a:t>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 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</a:rPr>
              <a:t>u 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∈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</a:rPr>
              <a:t>N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  such that 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</a:rPr>
              <a:t>sim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(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</a:rPr>
              <a:t>t</a:t>
            </a: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，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</a:rPr>
              <a:t>u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)〈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</a:rPr>
              <a:t>sim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(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</a:rPr>
              <a:t>t</a:t>
            </a: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，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</a:rPr>
              <a:t>d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) THEN</a:t>
            </a: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 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BEGIN 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（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7</a:t>
            </a: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）	     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</a:rPr>
              <a:t>N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=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</a:rPr>
              <a:t>N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-{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</a:rPr>
              <a:t>u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}</a:t>
            </a: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；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（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8</a:t>
            </a: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）	     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</a:rPr>
              <a:t>N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=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</a:rPr>
              <a:t>N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∪{</a:t>
            </a:r>
            <a:r>
              <a:rPr lang="en-US" altLang="zh-CN" sz="1600" i="1">
                <a:latin typeface="Tahoma" panose="020B0604030504040204" pitchFamily="34" charset="0"/>
                <a:ea typeface="宋体" panose="02010600030101010101" pitchFamily="2" charset="-122"/>
              </a:rPr>
              <a:t>d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}</a:t>
            </a: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；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（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9</a:t>
            </a: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）	  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END</a:t>
            </a:r>
          </a:p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（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10</a:t>
            </a: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）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END</a:t>
            </a:r>
          </a:p>
          <a:p>
            <a:pPr eaLnBrk="1" hangingPunct="1">
              <a:lnSpc>
                <a:spcPct val="60000"/>
              </a:lnSpc>
              <a:spcBef>
                <a:spcPct val="0"/>
              </a:spcBef>
              <a:buClrTx/>
              <a:buSzTx/>
              <a:buFontTx/>
              <a:buNone/>
            </a:pP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（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11</a:t>
            </a:r>
            <a:r>
              <a:rPr lang="zh-CN" altLang="en-US" sz="1600">
                <a:latin typeface="Tahoma" panose="020B0604030504040204" pitchFamily="34" charset="0"/>
                <a:ea typeface="宋体" panose="02010600030101010101" pitchFamily="2" charset="-122"/>
              </a:rPr>
              <a:t>）</a:t>
            </a:r>
            <a:r>
              <a:rPr lang="en-US" altLang="zh-CN" sz="1600">
                <a:latin typeface="Tahoma" panose="020B0604030504040204" pitchFamily="34" charset="0"/>
                <a:ea typeface="宋体" panose="02010600030101010101" pitchFamily="2" charset="-122"/>
              </a:rPr>
              <a:t>c=class to which the most u∈N.</a:t>
            </a:r>
            <a:r>
              <a:rPr lang="en-US" altLang="zh-CN">
                <a:latin typeface="Tahoma" panose="020B0604030504040204" pitchFamily="34" charset="0"/>
                <a:ea typeface="宋体" panose="02010600030101010101" pitchFamily="2" charset="-122"/>
              </a:rPr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2019450628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82" name="Rectangle 2">
            <a:extLst>
              <a:ext uri="{FF2B5EF4-FFF2-40B4-BE49-F238E27FC236}">
                <a16:creationId xmlns:a16="http://schemas.microsoft.com/office/drawing/2014/main" xmlns="" id="{404BE4AF-3AA5-4119-97D1-907223BFCEAA}"/>
              </a:ext>
            </a:extLst>
          </p:cNvPr>
          <p:cNvSpPr>
            <a:spLocks noGrp="1" noRot="1" noChangeArrowheads="1"/>
          </p:cNvSpPr>
          <p:nvPr>
            <p:ph type="title" idx="4294967295"/>
          </p:nvPr>
        </p:nvSpPr>
        <p:spPr>
          <a:xfrm>
            <a:off x="457200" y="228600"/>
            <a:ext cx="8229600" cy="1143000"/>
          </a:xfrm>
        </p:spPr>
        <p:txBody>
          <a:bodyPr anchorCtr="0"/>
          <a:lstStyle/>
          <a:p>
            <a:r>
              <a:rPr lang="en-US" altLang="zh-CN" sz="3600" b="1"/>
              <a:t>KNN</a:t>
            </a:r>
            <a:r>
              <a:rPr lang="zh-CN" altLang="en-US" sz="3600" b="1"/>
              <a:t>的直观解释</a:t>
            </a:r>
          </a:p>
        </p:txBody>
      </p:sp>
      <p:sp>
        <p:nvSpPr>
          <p:cNvPr id="20483" name="Text Box 3">
            <a:extLst>
              <a:ext uri="{FF2B5EF4-FFF2-40B4-BE49-F238E27FC236}">
                <a16:creationId xmlns:a16="http://schemas.microsoft.com/office/drawing/2014/main" xmlns="" id="{EB82A122-3245-4B1D-86F2-047F1869901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6100" y="1360488"/>
            <a:ext cx="1841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2800">
              <a:latin typeface="Tahoma" panose="020B0604030504040204" pitchFamily="34" charset="0"/>
            </a:endParaRPr>
          </a:p>
        </p:txBody>
      </p:sp>
      <p:sp>
        <p:nvSpPr>
          <p:cNvPr id="20484" name="Text Box 4">
            <a:extLst>
              <a:ext uri="{FF2B5EF4-FFF2-40B4-BE49-F238E27FC236}">
                <a16:creationId xmlns:a16="http://schemas.microsoft.com/office/drawing/2014/main" xmlns="" id="{F9F0EE33-FFF4-416D-99C4-DC187C84696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143000"/>
            <a:ext cx="7467600" cy="49371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zh-CN" sz="2400" dirty="0"/>
              <a:t>1</a:t>
            </a:r>
            <a:r>
              <a:rPr lang="zh-CN" altLang="en-US" sz="2400" dirty="0"/>
              <a:t>、定义的直观形式：</a:t>
            </a:r>
          </a:p>
          <a:p>
            <a:pPr lvl="1" eaLnBrk="1" hangingPunct="1">
              <a:spcBef>
                <a:spcPct val="50000"/>
              </a:spcBef>
              <a:buFontTx/>
              <a:buChar char="•"/>
            </a:pPr>
            <a:r>
              <a:rPr lang="zh-CN" altLang="en-US" sz="2000" dirty="0"/>
              <a:t>找出与目标最接近的</a:t>
            </a:r>
            <a:r>
              <a:rPr lang="en-US" altLang="zh-CN" sz="2000" dirty="0"/>
              <a:t>K</a:t>
            </a:r>
            <a:r>
              <a:rPr lang="zh-CN" altLang="en-US" sz="2000" dirty="0"/>
              <a:t>个样本；</a:t>
            </a:r>
          </a:p>
          <a:p>
            <a:pPr lvl="1" eaLnBrk="1" hangingPunct="1">
              <a:spcBef>
                <a:spcPct val="50000"/>
              </a:spcBef>
              <a:buFontTx/>
              <a:buChar char="•"/>
            </a:pPr>
            <a:r>
              <a:rPr lang="zh-CN" altLang="en-US" sz="2000" dirty="0"/>
              <a:t>将目标划分到找出的</a:t>
            </a:r>
            <a:r>
              <a:rPr lang="en-US" altLang="zh-CN" sz="2000" dirty="0"/>
              <a:t>K</a:t>
            </a:r>
            <a:r>
              <a:rPr lang="zh-CN" altLang="en-US" sz="2000" dirty="0"/>
              <a:t>个样本中出现最频繁的类。</a:t>
            </a:r>
            <a:endParaRPr lang="zh-CN" altLang="en-US" sz="800" dirty="0"/>
          </a:p>
          <a:p>
            <a:pPr eaLnBrk="1" hangingPunct="1">
              <a:spcBef>
                <a:spcPct val="50000"/>
              </a:spcBef>
            </a:pPr>
            <a:r>
              <a:rPr lang="en-US" altLang="zh-CN" sz="2400" dirty="0"/>
              <a:t>2</a:t>
            </a:r>
            <a:r>
              <a:rPr lang="zh-CN" altLang="en-US" sz="2400" dirty="0"/>
              <a:t>、</a:t>
            </a:r>
            <a:r>
              <a:rPr lang="en-US" altLang="zh-CN" sz="2400" dirty="0"/>
              <a:t>K</a:t>
            </a:r>
            <a:r>
              <a:rPr lang="zh-CN" altLang="en-US" sz="2400" dirty="0"/>
              <a:t>的直观形式：</a:t>
            </a:r>
          </a:p>
          <a:p>
            <a:pPr lvl="1" eaLnBrk="1" hangingPunct="1">
              <a:spcBef>
                <a:spcPct val="50000"/>
              </a:spcBef>
              <a:buFontTx/>
              <a:buChar char="•"/>
            </a:pPr>
            <a:r>
              <a:rPr lang="zh-CN" altLang="en-US" sz="2000" dirty="0"/>
              <a:t>以目标样本为中心；</a:t>
            </a:r>
          </a:p>
          <a:p>
            <a:pPr lvl="1" eaLnBrk="1" hangingPunct="1">
              <a:spcBef>
                <a:spcPct val="50000"/>
              </a:spcBef>
              <a:buFontTx/>
              <a:buChar char="•"/>
            </a:pPr>
            <a:r>
              <a:rPr lang="zh-CN" altLang="en-US" sz="2000" dirty="0"/>
              <a:t>划出一个刚好包含</a:t>
            </a:r>
            <a:r>
              <a:rPr lang="en-US" altLang="zh-CN" sz="2000" dirty="0"/>
              <a:t>K</a:t>
            </a:r>
            <a:r>
              <a:rPr lang="zh-CN" altLang="en-US" sz="2000" dirty="0"/>
              <a:t>个样本的圆；</a:t>
            </a:r>
          </a:p>
          <a:p>
            <a:pPr lvl="1" eaLnBrk="1" hangingPunct="1">
              <a:spcBef>
                <a:spcPct val="50000"/>
              </a:spcBef>
              <a:buFontTx/>
              <a:buChar char="•"/>
            </a:pPr>
            <a:r>
              <a:rPr lang="zh-CN" altLang="en-US" sz="2000" dirty="0"/>
              <a:t>当</a:t>
            </a:r>
            <a:r>
              <a:rPr lang="en-US" altLang="zh-CN" sz="2000" dirty="0"/>
              <a:t>K</a:t>
            </a:r>
            <a:r>
              <a:rPr lang="zh-CN" altLang="en-US" sz="2000" dirty="0"/>
              <a:t>增大时，圆半径增大。</a:t>
            </a:r>
          </a:p>
          <a:p>
            <a:pPr lvl="1" eaLnBrk="1" hangingPunct="1">
              <a:spcBef>
                <a:spcPct val="50000"/>
              </a:spcBef>
              <a:buFontTx/>
              <a:buChar char="•"/>
            </a:pPr>
            <a:endParaRPr lang="zh-CN" altLang="en-US" sz="800" dirty="0"/>
          </a:p>
          <a:p>
            <a:pPr eaLnBrk="1" hangingPunct="1">
              <a:spcBef>
                <a:spcPct val="50000"/>
              </a:spcBef>
            </a:pPr>
            <a:endParaRPr lang="zh-CN" altLang="en-US" sz="2400" dirty="0"/>
          </a:p>
          <a:p>
            <a:pPr lvl="1" eaLnBrk="1" hangingPunct="1">
              <a:spcBef>
                <a:spcPct val="50000"/>
              </a:spcBef>
              <a:buFontTx/>
              <a:buChar char="•"/>
            </a:pPr>
            <a:endParaRPr lang="zh-CN" altLang="en-US" sz="2000" dirty="0"/>
          </a:p>
          <a:p>
            <a:pPr eaLnBrk="1" hangingPunct="1">
              <a:spcBef>
                <a:spcPct val="50000"/>
              </a:spcBef>
            </a:pPr>
            <a:endParaRPr lang="en-US" altLang="zh-CN" sz="2000" dirty="0"/>
          </a:p>
        </p:txBody>
      </p:sp>
      <p:graphicFrame>
        <p:nvGraphicFramePr>
          <p:cNvPr id="20485" name="Object 4">
            <a:extLst>
              <a:ext uri="{FF2B5EF4-FFF2-40B4-BE49-F238E27FC236}">
                <a16:creationId xmlns:a16="http://schemas.microsoft.com/office/drawing/2014/main" xmlns="" id="{E7D09259-72C1-49DF-9B43-83D9E6DDD493}"/>
              </a:ext>
            </a:extLst>
          </p:cNvPr>
          <p:cNvGraphicFramePr>
            <a:graphicFrameLocks noChangeAspect="1"/>
          </p:cNvGraphicFramePr>
          <p:nvPr/>
        </p:nvGraphicFramePr>
        <p:xfrm>
          <a:off x="6553200" y="1295400"/>
          <a:ext cx="2438400" cy="20685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879" r:id="rId3" imgW="6663960" imgH="5482800" progId="">
                  <p:embed/>
                </p:oleObj>
              </mc:Choice>
              <mc:Fallback>
                <p:oleObj r:id="rId3" imgW="6663960" imgH="5482800" progId="">
                  <p:embed/>
                  <p:pic>
                    <p:nvPicPr>
                      <p:cNvPr id="20485" name="Object 4">
                        <a:extLst>
                          <a:ext uri="{FF2B5EF4-FFF2-40B4-BE49-F238E27FC236}">
                            <a16:creationId xmlns:a16="http://schemas.microsoft.com/office/drawing/2014/main" xmlns="" id="{E7D09259-72C1-49DF-9B43-83D9E6DDD493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6553200" y="1295400"/>
                        <a:ext cx="2438400" cy="2068513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486" name="Object 3">
            <a:extLst>
              <a:ext uri="{FF2B5EF4-FFF2-40B4-BE49-F238E27FC236}">
                <a16:creationId xmlns:a16="http://schemas.microsoft.com/office/drawing/2014/main" xmlns="" id="{DD226472-6C37-49BB-B37E-E5F6EDB7AD21}"/>
              </a:ext>
            </a:extLst>
          </p:cNvPr>
          <p:cNvGraphicFramePr>
            <a:graphicFrameLocks noChangeAspect="1"/>
          </p:cNvGraphicFramePr>
          <p:nvPr/>
        </p:nvGraphicFramePr>
        <p:xfrm>
          <a:off x="1828800" y="4495800"/>
          <a:ext cx="6934200" cy="2362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6880" r:id="rId5" imgW="9218520" imgH="4274280" progId="Visio.Drawing.11">
                  <p:embed/>
                </p:oleObj>
              </mc:Choice>
              <mc:Fallback>
                <p:oleObj r:id="rId5" imgW="9218520" imgH="4274280" progId="Visio.Drawing.11">
                  <p:embed/>
                  <p:pic>
                    <p:nvPicPr>
                      <p:cNvPr id="20486" name="Object 3">
                        <a:extLst>
                          <a:ext uri="{FF2B5EF4-FFF2-40B4-BE49-F238E27FC236}">
                            <a16:creationId xmlns:a16="http://schemas.microsoft.com/office/drawing/2014/main" xmlns="" id="{DD226472-6C37-49BB-B37E-E5F6EDB7AD21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6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1828800" y="4495800"/>
                        <a:ext cx="6934200" cy="23622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06" name="Rectangle 2">
            <a:extLst>
              <a:ext uri="{FF2B5EF4-FFF2-40B4-BE49-F238E27FC236}">
                <a16:creationId xmlns:a16="http://schemas.microsoft.com/office/drawing/2014/main" xmlns="" id="{473EE554-0770-4591-A602-6C96763C0858}"/>
              </a:ext>
            </a:extLst>
          </p:cNvPr>
          <p:cNvSpPr>
            <a:spLocks noGrp="1" noRot="1" noChangeArrowheads="1"/>
          </p:cNvSpPr>
          <p:nvPr>
            <p:ph type="title" idx="4294967295"/>
          </p:nvPr>
        </p:nvSpPr>
        <p:spPr>
          <a:xfrm>
            <a:off x="457200" y="457200"/>
            <a:ext cx="8229600" cy="1143000"/>
          </a:xfrm>
        </p:spPr>
        <p:txBody>
          <a:bodyPr anchorCtr="0"/>
          <a:lstStyle/>
          <a:p>
            <a:r>
              <a:rPr lang="en-US" altLang="zh-CN" sz="3600" b="1"/>
              <a:t>KNN</a:t>
            </a:r>
            <a:r>
              <a:rPr lang="zh-CN" altLang="en-US" sz="3600" b="1"/>
              <a:t>的直观解释</a:t>
            </a:r>
          </a:p>
        </p:txBody>
      </p:sp>
      <p:sp>
        <p:nvSpPr>
          <p:cNvPr id="21507" name="Text Box 3">
            <a:extLst>
              <a:ext uri="{FF2B5EF4-FFF2-40B4-BE49-F238E27FC236}">
                <a16:creationId xmlns:a16="http://schemas.microsoft.com/office/drawing/2014/main" xmlns="" id="{3AC56268-B988-41EA-A659-2CDA082D98F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6100" y="1360488"/>
            <a:ext cx="1841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2800">
              <a:latin typeface="Tahoma" panose="020B0604030504040204" pitchFamily="34" charset="0"/>
            </a:endParaRPr>
          </a:p>
        </p:txBody>
      </p:sp>
      <p:sp>
        <p:nvSpPr>
          <p:cNvPr id="21508" name="Text Box 4">
            <a:extLst>
              <a:ext uri="{FF2B5EF4-FFF2-40B4-BE49-F238E27FC236}">
                <a16:creationId xmlns:a16="http://schemas.microsoft.com/office/drawing/2014/main" xmlns="" id="{9303FF92-8246-4F42-A682-446ED0F8469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447800"/>
            <a:ext cx="5105400" cy="67945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lvl="1" eaLnBrk="1" hangingPunct="1">
              <a:spcBef>
                <a:spcPct val="50000"/>
              </a:spcBef>
            </a:pPr>
            <a:r>
              <a:rPr lang="en-US" altLang="zh-CN" sz="2400" b="1"/>
              <a:t>3</a:t>
            </a:r>
            <a:r>
              <a:rPr lang="zh-CN" altLang="en-US" sz="2400" b="1"/>
              <a:t>、直观的例子</a:t>
            </a:r>
          </a:p>
          <a:p>
            <a:pPr lvl="1" eaLnBrk="1" hangingPunct="1">
              <a:spcBef>
                <a:spcPct val="50000"/>
              </a:spcBef>
              <a:buFontTx/>
              <a:buChar char="•"/>
            </a:pPr>
            <a:r>
              <a:rPr lang="zh-CN" altLang="en-US" sz="2400"/>
              <a:t>手写识别</a:t>
            </a:r>
          </a:p>
          <a:p>
            <a:pPr lvl="2" eaLnBrk="1" hangingPunct="1">
              <a:spcBef>
                <a:spcPct val="50000"/>
              </a:spcBef>
              <a:buFontTx/>
              <a:buChar char="•"/>
            </a:pPr>
            <a:r>
              <a:rPr lang="zh-CN" altLang="en-US" sz="2000"/>
              <a:t>记录手写体特征；</a:t>
            </a:r>
          </a:p>
          <a:p>
            <a:pPr lvl="2" eaLnBrk="1" hangingPunct="1">
              <a:spcBef>
                <a:spcPct val="50000"/>
              </a:spcBef>
              <a:buFontTx/>
              <a:buChar char="•"/>
            </a:pPr>
            <a:r>
              <a:rPr lang="zh-CN" altLang="en-US" sz="2000"/>
              <a:t>计算手写体与标准汉字的相似度；</a:t>
            </a:r>
          </a:p>
          <a:p>
            <a:pPr lvl="2" eaLnBrk="1" hangingPunct="1">
              <a:spcBef>
                <a:spcPct val="50000"/>
              </a:spcBef>
              <a:buFontTx/>
              <a:buChar char="•"/>
            </a:pPr>
            <a:r>
              <a:rPr lang="zh-CN" altLang="en-US" sz="2000"/>
              <a:t>根据相似度（距离），找出</a:t>
            </a:r>
            <a:r>
              <a:rPr lang="en-US" altLang="zh-CN" sz="2000"/>
              <a:t>K</a:t>
            </a:r>
            <a:r>
              <a:rPr lang="zh-CN" altLang="en-US" sz="2000"/>
              <a:t>个备选集；</a:t>
            </a:r>
          </a:p>
          <a:p>
            <a:pPr lvl="2" eaLnBrk="1" hangingPunct="1">
              <a:spcBef>
                <a:spcPct val="50000"/>
              </a:spcBef>
              <a:buFontTx/>
              <a:buChar char="•"/>
            </a:pPr>
            <a:r>
              <a:rPr lang="zh-CN" altLang="en-US" sz="2000"/>
              <a:t>人工选择一个正确汉字</a:t>
            </a:r>
          </a:p>
          <a:p>
            <a:pPr lvl="2" eaLnBrk="1" hangingPunct="1">
              <a:spcBef>
                <a:spcPct val="50000"/>
              </a:spcBef>
              <a:buFontTx/>
              <a:buChar char="•"/>
            </a:pPr>
            <a:endParaRPr lang="zh-CN" altLang="en-US" sz="800"/>
          </a:p>
          <a:p>
            <a:pPr lvl="1" eaLnBrk="1" hangingPunct="1">
              <a:spcBef>
                <a:spcPct val="50000"/>
              </a:spcBef>
              <a:buFontTx/>
              <a:buChar char="•"/>
            </a:pPr>
            <a:r>
              <a:rPr lang="zh-CN" altLang="en-US" sz="2400"/>
              <a:t>人种识别</a:t>
            </a:r>
          </a:p>
          <a:p>
            <a:pPr lvl="2" eaLnBrk="1" hangingPunct="1">
              <a:spcBef>
                <a:spcPct val="50000"/>
              </a:spcBef>
              <a:buFontTx/>
              <a:buChar char="•"/>
            </a:pPr>
            <a:r>
              <a:rPr lang="zh-CN" altLang="en-US" sz="2000"/>
              <a:t>欧洲人的鼻子、亚洲人的眼睛</a:t>
            </a:r>
          </a:p>
          <a:p>
            <a:pPr lvl="2" eaLnBrk="1" hangingPunct="1">
              <a:spcBef>
                <a:spcPct val="50000"/>
              </a:spcBef>
              <a:buFontTx/>
              <a:buChar char="•"/>
            </a:pPr>
            <a:r>
              <a:rPr lang="zh-CN" altLang="en-US" sz="2000"/>
              <a:t>非洲人的肤色、亚洲人的头发</a:t>
            </a:r>
          </a:p>
          <a:p>
            <a:pPr lvl="2" eaLnBrk="1" hangingPunct="1">
              <a:spcBef>
                <a:spcPct val="50000"/>
              </a:spcBef>
              <a:buFontTx/>
              <a:buChar char="•"/>
            </a:pPr>
            <a:endParaRPr lang="zh-CN" altLang="en-US" sz="2400"/>
          </a:p>
          <a:p>
            <a:pPr lvl="1" eaLnBrk="1" hangingPunct="1">
              <a:spcBef>
                <a:spcPct val="50000"/>
              </a:spcBef>
              <a:buFontTx/>
              <a:buChar char="•"/>
            </a:pPr>
            <a:endParaRPr lang="zh-CN" altLang="en-US" sz="2400"/>
          </a:p>
          <a:p>
            <a:pPr lvl="1" eaLnBrk="1" hangingPunct="1">
              <a:spcBef>
                <a:spcPct val="50000"/>
              </a:spcBef>
              <a:buFontTx/>
              <a:buChar char="•"/>
            </a:pPr>
            <a:endParaRPr lang="zh-CN" altLang="en-US" sz="2000"/>
          </a:p>
          <a:p>
            <a:pPr eaLnBrk="1" hangingPunct="1">
              <a:spcBef>
                <a:spcPct val="50000"/>
              </a:spcBef>
            </a:pPr>
            <a:endParaRPr lang="en-US" altLang="zh-CN" sz="2000"/>
          </a:p>
        </p:txBody>
      </p:sp>
      <p:graphicFrame>
        <p:nvGraphicFramePr>
          <p:cNvPr id="21509" name="Object 4">
            <a:extLst>
              <a:ext uri="{FF2B5EF4-FFF2-40B4-BE49-F238E27FC236}">
                <a16:creationId xmlns:a16="http://schemas.microsoft.com/office/drawing/2014/main" xmlns="" id="{4DB0F0AE-CF22-4D6A-8FDD-BAE2D203C94C}"/>
              </a:ext>
            </a:extLst>
          </p:cNvPr>
          <p:cNvGraphicFramePr>
            <a:graphicFrameLocks noChangeAspect="1"/>
          </p:cNvGraphicFramePr>
          <p:nvPr/>
        </p:nvGraphicFramePr>
        <p:xfrm>
          <a:off x="5715000" y="1447800"/>
          <a:ext cx="3062288" cy="43434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7897" r:id="rId3" imgW="7094160" imgH="8390880" progId="">
                  <p:embed/>
                </p:oleObj>
              </mc:Choice>
              <mc:Fallback>
                <p:oleObj r:id="rId3" imgW="7094160" imgH="8390880" progId="">
                  <p:embed/>
                  <p:pic>
                    <p:nvPicPr>
                      <p:cNvPr id="21509" name="Object 4">
                        <a:extLst>
                          <a:ext uri="{FF2B5EF4-FFF2-40B4-BE49-F238E27FC236}">
                            <a16:creationId xmlns:a16="http://schemas.microsoft.com/office/drawing/2014/main" xmlns="" id="{4DB0F0AE-CF22-4D6A-8FDD-BAE2D203C94C}"/>
                          </a:ext>
                        </a:extLst>
                      </p:cNvPr>
                      <p:cNvPicPr>
                        <a:picLocks noChangeAspect="1"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5715000" y="1447800"/>
                        <a:ext cx="3062288" cy="43434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rgbClr val="000000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/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30" name="Rectangle 2">
            <a:extLst>
              <a:ext uri="{FF2B5EF4-FFF2-40B4-BE49-F238E27FC236}">
                <a16:creationId xmlns:a16="http://schemas.microsoft.com/office/drawing/2014/main" xmlns="" id="{F1BC3DD8-59A5-4964-90ED-E85CC14B085B}"/>
              </a:ext>
            </a:extLst>
          </p:cNvPr>
          <p:cNvSpPr>
            <a:spLocks noGrp="1" noChangeArrowheads="1"/>
          </p:cNvSpPr>
          <p:nvPr>
            <p:ph type="title" idx="4294967295"/>
          </p:nvPr>
        </p:nvSpPr>
        <p:spPr>
          <a:xfrm>
            <a:off x="301625" y="609600"/>
            <a:ext cx="8540750" cy="1143000"/>
          </a:xfrm>
        </p:spPr>
        <p:txBody>
          <a:bodyPr anchorCtr="0"/>
          <a:lstStyle/>
          <a:p>
            <a:r>
              <a:rPr lang="zh-CN" altLang="en-US"/>
              <a:t>形象的例子</a:t>
            </a:r>
          </a:p>
        </p:txBody>
      </p:sp>
      <p:sp>
        <p:nvSpPr>
          <p:cNvPr id="22531" name="Rectangle 3">
            <a:extLst>
              <a:ext uri="{FF2B5EF4-FFF2-40B4-BE49-F238E27FC236}">
                <a16:creationId xmlns:a16="http://schemas.microsoft.com/office/drawing/2014/main" xmlns="" id="{97A80171-C801-4C3C-804B-9E9661A05945}"/>
              </a:ext>
            </a:extLst>
          </p:cNvPr>
          <p:cNvSpPr>
            <a:spLocks noGrp="1" noChangeArrowheads="1"/>
          </p:cNvSpPr>
          <p:nvPr>
            <p:ph type="body" idx="4294967295"/>
          </p:nvPr>
        </p:nvSpPr>
        <p:spPr>
          <a:xfrm>
            <a:off x="304800" y="1371600"/>
            <a:ext cx="8540750" cy="4575175"/>
          </a:xfrm>
        </p:spPr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en-US" altLang="zh-CN"/>
              <a:t>KNN</a:t>
            </a:r>
            <a:r>
              <a:rPr lang="zh-CN" altLang="en-US"/>
              <a:t>的分类思想</a:t>
            </a:r>
          </a:p>
          <a:p>
            <a:pPr>
              <a:buFont typeface="Wingdings" panose="05000000000000000000" pitchFamily="2" charset="2"/>
              <a:buNone/>
            </a:pPr>
            <a:endParaRPr lang="zh-CN" altLang="en-US" sz="800"/>
          </a:p>
          <a:p>
            <a:pPr lvl="1">
              <a:buFontTx/>
              <a:buNone/>
            </a:pPr>
            <a:r>
              <a:rPr lang="zh-CN" altLang="en-US" sz="2400">
                <a:solidFill>
                  <a:schemeClr val="hlink"/>
                </a:solidFill>
              </a:rPr>
              <a:t>如果它走路像鸭子</a:t>
            </a:r>
            <a:r>
              <a:rPr lang="en-US" altLang="zh-CN" sz="2400">
                <a:solidFill>
                  <a:schemeClr val="hlink"/>
                </a:solidFill>
              </a:rPr>
              <a:t>, </a:t>
            </a:r>
            <a:r>
              <a:rPr lang="zh-CN" altLang="en-US" sz="2400">
                <a:solidFill>
                  <a:schemeClr val="hlink"/>
                </a:solidFill>
              </a:rPr>
              <a:t>叫声也像鸭子</a:t>
            </a:r>
            <a:r>
              <a:rPr lang="en-US" altLang="zh-CN" sz="2400">
                <a:solidFill>
                  <a:schemeClr val="hlink"/>
                </a:solidFill>
              </a:rPr>
              <a:t>, </a:t>
            </a:r>
            <a:r>
              <a:rPr lang="zh-CN" altLang="en-US" sz="2400">
                <a:solidFill>
                  <a:schemeClr val="hlink"/>
                </a:solidFill>
              </a:rPr>
              <a:t>那么他可能就是只鸭子</a:t>
            </a:r>
          </a:p>
        </p:txBody>
      </p:sp>
      <p:grpSp>
        <p:nvGrpSpPr>
          <p:cNvPr id="22532" name="Group 4">
            <a:extLst>
              <a:ext uri="{FF2B5EF4-FFF2-40B4-BE49-F238E27FC236}">
                <a16:creationId xmlns:a16="http://schemas.microsoft.com/office/drawing/2014/main" xmlns="" id="{867B3261-7CED-4461-B396-72789EA3CA4B}"/>
              </a:ext>
            </a:extLst>
          </p:cNvPr>
          <p:cNvGrpSpPr>
            <a:grpSpLocks/>
          </p:cNvGrpSpPr>
          <p:nvPr/>
        </p:nvGrpSpPr>
        <p:grpSpPr bwMode="auto">
          <a:xfrm>
            <a:off x="304800" y="2819400"/>
            <a:ext cx="8229600" cy="3429000"/>
            <a:chOff x="0" y="0"/>
            <a:chExt cx="5184" cy="2160"/>
          </a:xfrm>
        </p:grpSpPr>
        <p:pic>
          <p:nvPicPr>
            <p:cNvPr id="22533" name="Picture 5" descr="j0345807">
              <a:extLst>
                <a:ext uri="{FF2B5EF4-FFF2-40B4-BE49-F238E27FC236}">
                  <a16:creationId xmlns:a16="http://schemas.microsoft.com/office/drawing/2014/main" xmlns="" id="{3058CDE0-7910-4AAD-A24A-840BFC6CE8E4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104" y="384"/>
              <a:ext cx="528" cy="409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2534" name="Picture 6" descr="j0239589">
              <a:extLst>
                <a:ext uri="{FF2B5EF4-FFF2-40B4-BE49-F238E27FC236}">
                  <a16:creationId xmlns:a16="http://schemas.microsoft.com/office/drawing/2014/main" xmlns="" id="{CEA93DCA-ABF7-4615-A0B5-8FF8086086A8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4464" y="864"/>
              <a:ext cx="720" cy="47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2535" name="Picture 7" descr="j0350383">
              <a:extLst>
                <a:ext uri="{FF2B5EF4-FFF2-40B4-BE49-F238E27FC236}">
                  <a16:creationId xmlns:a16="http://schemas.microsoft.com/office/drawing/2014/main" xmlns="" id="{30D03832-B959-4568-B02D-EC95BC6C08E6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5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64" y="192"/>
              <a:ext cx="444" cy="48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2536" name="Picture 8" descr="j0330631">
              <a:extLst>
                <a:ext uri="{FF2B5EF4-FFF2-40B4-BE49-F238E27FC236}">
                  <a16:creationId xmlns:a16="http://schemas.microsoft.com/office/drawing/2014/main" xmlns="" id="{47CD9843-245F-4652-A7B0-7E9D35F7853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6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960" y="1200"/>
              <a:ext cx="373" cy="42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2537" name="Picture 9" descr="j0350389">
              <a:extLst>
                <a:ext uri="{FF2B5EF4-FFF2-40B4-BE49-F238E27FC236}">
                  <a16:creationId xmlns:a16="http://schemas.microsoft.com/office/drawing/2014/main" xmlns="" id="{74BD0DB2-3B43-49A7-A39D-C43D382A1A3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7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2016" y="1392"/>
              <a:ext cx="624" cy="44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22538" name="Picture 10" descr="j0350356">
              <a:extLst>
                <a:ext uri="{FF2B5EF4-FFF2-40B4-BE49-F238E27FC236}">
                  <a16:creationId xmlns:a16="http://schemas.microsoft.com/office/drawing/2014/main" xmlns="" id="{BA42D1F4-B54B-4AEF-9FE7-E02ED167AA6E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8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1584" y="672"/>
              <a:ext cx="720" cy="658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22539" name="Oval 11">
              <a:extLst>
                <a:ext uri="{FF2B5EF4-FFF2-40B4-BE49-F238E27FC236}">
                  <a16:creationId xmlns:a16="http://schemas.microsoft.com/office/drawing/2014/main" xmlns="" id="{A8BB5E6B-DDF9-4BA3-AA01-26A26567DFA2}"/>
                </a:ext>
              </a:extLst>
            </p:cNvPr>
            <p:cNvSpPr>
              <a:spLocks noChangeArrowheads="1"/>
            </p:cNvSpPr>
            <p:nvPr/>
          </p:nvSpPr>
          <p:spPr bwMode="auto">
            <a:xfrm>
              <a:off x="624" y="0"/>
              <a:ext cx="2544" cy="2160"/>
            </a:xfrm>
            <a:prstGeom prst="ellipse">
              <a:avLst/>
            </a:prstGeom>
            <a:noFill/>
            <a:ln w="12700">
              <a:solidFill>
                <a:srgbClr val="FF0000"/>
              </a:solidFill>
              <a:prstDash val="dash"/>
              <a:round/>
              <a:headEnd/>
              <a:tailEnd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</a:extLst>
          </p:spPr>
          <p:txBody>
            <a:bodyPr wrap="none" anchor="ctr"/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/>
              <a:endParaRPr lang="zh-CN" altLang="en-US"/>
            </a:p>
          </p:txBody>
        </p:sp>
        <p:sp>
          <p:nvSpPr>
            <p:cNvPr id="22540" name="Text Box 12">
              <a:extLst>
                <a:ext uri="{FF2B5EF4-FFF2-40B4-BE49-F238E27FC236}">
                  <a16:creationId xmlns:a16="http://schemas.microsoft.com/office/drawing/2014/main" xmlns="" id="{DF9326FE-AEDB-48C5-89D5-1D10C841355E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0" y="1536"/>
              <a:ext cx="864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/>
                <a:t>Training Records</a:t>
              </a:r>
            </a:p>
          </p:txBody>
        </p:sp>
        <p:sp>
          <p:nvSpPr>
            <p:cNvPr id="22541" name="Text Box 13">
              <a:extLst>
                <a:ext uri="{FF2B5EF4-FFF2-40B4-BE49-F238E27FC236}">
                  <a16:creationId xmlns:a16="http://schemas.microsoft.com/office/drawing/2014/main" xmlns="" id="{6F199B9F-61C9-4BFF-9CEC-7C54A661018F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4320" y="288"/>
              <a:ext cx="864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algn="ctr" eaLnBrk="1" hangingPunct="1">
                <a:spcBef>
                  <a:spcPct val="50000"/>
                </a:spcBef>
              </a:pPr>
              <a:r>
                <a:rPr lang="en-US" altLang="zh-CN"/>
                <a:t>Test Record</a:t>
              </a:r>
            </a:p>
          </p:txBody>
        </p:sp>
      </p:grpSp>
      <p:grpSp>
        <p:nvGrpSpPr>
          <p:cNvPr id="22542" name="Group 14">
            <a:extLst>
              <a:ext uri="{FF2B5EF4-FFF2-40B4-BE49-F238E27FC236}">
                <a16:creationId xmlns:a16="http://schemas.microsoft.com/office/drawing/2014/main" xmlns="" id="{B8237906-7805-4C4B-9AA3-D6E4773163F5}"/>
              </a:ext>
            </a:extLst>
          </p:cNvPr>
          <p:cNvGrpSpPr>
            <a:grpSpLocks/>
          </p:cNvGrpSpPr>
          <p:nvPr/>
        </p:nvGrpSpPr>
        <p:grpSpPr bwMode="auto">
          <a:xfrm>
            <a:off x="2667000" y="3048000"/>
            <a:ext cx="4572000" cy="2286000"/>
            <a:chOff x="0" y="0"/>
            <a:chExt cx="2880" cy="1440"/>
          </a:xfrm>
        </p:grpSpPr>
        <p:sp>
          <p:nvSpPr>
            <p:cNvPr id="22543" name="Text Box 15">
              <a:extLst>
                <a:ext uri="{FF2B5EF4-FFF2-40B4-BE49-F238E27FC236}">
                  <a16:creationId xmlns:a16="http://schemas.microsoft.com/office/drawing/2014/main" xmlns="" id="{C520B561-B3F1-4B8E-8A80-D623291BBCD9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1632" y="0"/>
              <a:ext cx="864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/>
                <a:t>Compute Distance</a:t>
              </a:r>
            </a:p>
          </p:txBody>
        </p:sp>
        <p:grpSp>
          <p:nvGrpSpPr>
            <p:cNvPr id="22544" name="Group 16">
              <a:extLst>
                <a:ext uri="{FF2B5EF4-FFF2-40B4-BE49-F238E27FC236}">
                  <a16:creationId xmlns:a16="http://schemas.microsoft.com/office/drawing/2014/main" xmlns="" id="{43EFBBE5-68C3-4080-B715-61A0A9CEA2D3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336"/>
              <a:ext cx="2880" cy="1104"/>
              <a:chOff x="0" y="0"/>
              <a:chExt cx="2880" cy="1104"/>
            </a:xfrm>
          </p:grpSpPr>
          <p:sp>
            <p:nvSpPr>
              <p:cNvPr id="22545" name="Line 17">
                <a:extLst>
                  <a:ext uri="{FF2B5EF4-FFF2-40B4-BE49-F238E27FC236}">
                    <a16:creationId xmlns:a16="http://schemas.microsoft.com/office/drawing/2014/main" xmlns="" id="{7E0EC601-57B3-4091-BE77-949096D40F02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1152" y="0"/>
                <a:ext cx="1680" cy="576"/>
              </a:xfrm>
              <a:prstGeom prst="line">
                <a:avLst/>
              </a:prstGeom>
              <a:noFill/>
              <a:ln w="38100">
                <a:solidFill>
                  <a:srgbClr val="FF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2546" name="Line 18">
                <a:extLst>
                  <a:ext uri="{FF2B5EF4-FFF2-40B4-BE49-F238E27FC236}">
                    <a16:creationId xmlns:a16="http://schemas.microsoft.com/office/drawing/2014/main" xmlns="" id="{FA5BC507-1C81-4DBD-9E20-5C77F9A61C01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864" y="624"/>
                <a:ext cx="2016" cy="48"/>
              </a:xfrm>
              <a:prstGeom prst="line">
                <a:avLst/>
              </a:prstGeom>
              <a:noFill/>
              <a:ln w="38100">
                <a:solidFill>
                  <a:srgbClr val="FF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2547" name="Line 19">
                <a:extLst>
                  <a:ext uri="{FF2B5EF4-FFF2-40B4-BE49-F238E27FC236}">
                    <a16:creationId xmlns:a16="http://schemas.microsoft.com/office/drawing/2014/main" xmlns="" id="{14E80043-A611-4AE0-B67F-CB25FB7C0894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1248" y="816"/>
                <a:ext cx="1584" cy="288"/>
              </a:xfrm>
              <a:prstGeom prst="line">
                <a:avLst/>
              </a:prstGeom>
              <a:noFill/>
              <a:ln w="38100">
                <a:solidFill>
                  <a:srgbClr val="FF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2548" name="Line 20">
                <a:extLst>
                  <a:ext uri="{FF2B5EF4-FFF2-40B4-BE49-F238E27FC236}">
                    <a16:creationId xmlns:a16="http://schemas.microsoft.com/office/drawing/2014/main" xmlns="" id="{C2D13E90-8EEC-4F4C-B932-7F2D336FD210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0" y="768"/>
                <a:ext cx="2832" cy="192"/>
              </a:xfrm>
              <a:prstGeom prst="line">
                <a:avLst/>
              </a:prstGeom>
              <a:noFill/>
              <a:ln w="38100">
                <a:solidFill>
                  <a:srgbClr val="FF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2549" name="Line 21">
                <a:extLst>
                  <a:ext uri="{FF2B5EF4-FFF2-40B4-BE49-F238E27FC236}">
                    <a16:creationId xmlns:a16="http://schemas.microsoft.com/office/drawing/2014/main" xmlns="" id="{A1FA4494-2C2B-4B6B-BBFC-C005BAD27858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240" y="96"/>
                <a:ext cx="2544" cy="528"/>
              </a:xfrm>
              <a:prstGeom prst="line">
                <a:avLst/>
              </a:prstGeom>
              <a:noFill/>
              <a:ln w="38100">
                <a:solidFill>
                  <a:srgbClr val="FF0000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</p:grpSp>
      <p:grpSp>
        <p:nvGrpSpPr>
          <p:cNvPr id="22550" name="Group 22">
            <a:extLst>
              <a:ext uri="{FF2B5EF4-FFF2-40B4-BE49-F238E27FC236}">
                <a16:creationId xmlns:a16="http://schemas.microsoft.com/office/drawing/2014/main" xmlns="" id="{9B7B3451-5425-494B-BFC1-E9020CBC68A6}"/>
              </a:ext>
            </a:extLst>
          </p:cNvPr>
          <p:cNvGrpSpPr>
            <a:grpSpLocks/>
          </p:cNvGrpSpPr>
          <p:nvPr/>
        </p:nvGrpSpPr>
        <p:grpSpPr bwMode="auto">
          <a:xfrm>
            <a:off x="4038600" y="4572000"/>
            <a:ext cx="3352800" cy="1327150"/>
            <a:chOff x="0" y="0"/>
            <a:chExt cx="2112" cy="836"/>
          </a:xfrm>
        </p:grpSpPr>
        <p:sp>
          <p:nvSpPr>
            <p:cNvPr id="22551" name="Text Box 23">
              <a:extLst>
                <a:ext uri="{FF2B5EF4-FFF2-40B4-BE49-F238E27FC236}">
                  <a16:creationId xmlns:a16="http://schemas.microsoft.com/office/drawing/2014/main" xmlns="" id="{16935D27-2FA0-4E65-A58D-17B6636A471C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20" y="432"/>
              <a:ext cx="1392" cy="404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>
              <a:spAutoFit/>
            </a:bodyPr>
            <a:lstStyle>
              <a:lvl1pPr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1pPr>
              <a:lvl2pPr marL="742950" indent="-28575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2pPr>
              <a:lvl3pPr marL="11430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3pPr>
              <a:lvl4pPr marL="16002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4pPr>
              <a:lvl5pPr marL="2057400" indent="-228600" eaLnBrk="0" hangingPunct="0"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5pPr>
              <a:lvl6pPr marL="25146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6pPr>
              <a:lvl7pPr marL="29718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7pPr>
              <a:lvl8pPr marL="34290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8pPr>
              <a:lvl9pPr marL="3886200" indent="-228600" eaLnBrk="0" fontAlgn="base" hangingPunct="0">
                <a:spcBef>
                  <a:spcPct val="0"/>
                </a:spcBef>
                <a:spcAft>
                  <a:spcPct val="0"/>
                </a:spcAft>
                <a:defRPr>
                  <a:solidFill>
                    <a:schemeClr val="tx1"/>
                  </a:solidFill>
                  <a:latin typeface="Arial" panose="020B0604020202020204" pitchFamily="34" charset="0"/>
                  <a:ea typeface="宋体" panose="02010600030101010101" pitchFamily="2" charset="-122"/>
                </a:defRPr>
              </a:lvl9pPr>
            </a:lstStyle>
            <a:p>
              <a:pPr eaLnBrk="1" hangingPunct="1">
                <a:spcBef>
                  <a:spcPct val="50000"/>
                </a:spcBef>
              </a:pPr>
              <a:r>
                <a:rPr lang="en-US" altLang="zh-CN"/>
                <a:t>Choose k of the “nearest” records</a:t>
              </a:r>
            </a:p>
          </p:txBody>
        </p:sp>
        <p:grpSp>
          <p:nvGrpSpPr>
            <p:cNvPr id="22552" name="Group 24">
              <a:extLst>
                <a:ext uri="{FF2B5EF4-FFF2-40B4-BE49-F238E27FC236}">
                  <a16:creationId xmlns:a16="http://schemas.microsoft.com/office/drawing/2014/main" xmlns="" id="{DB5AC40B-5B9B-4172-80E0-4CBFC24C0E76}"/>
                </a:ext>
              </a:extLst>
            </p:cNvPr>
            <p:cNvGrpSpPr>
              <a:grpSpLocks/>
            </p:cNvGrpSpPr>
            <p:nvPr/>
          </p:nvGrpSpPr>
          <p:grpSpPr bwMode="auto">
            <a:xfrm>
              <a:off x="0" y="0"/>
              <a:ext cx="2016" cy="480"/>
              <a:chOff x="0" y="0"/>
              <a:chExt cx="2016" cy="480"/>
            </a:xfrm>
          </p:grpSpPr>
          <p:sp>
            <p:nvSpPr>
              <p:cNvPr id="22553" name="Line 25">
                <a:extLst>
                  <a:ext uri="{FF2B5EF4-FFF2-40B4-BE49-F238E27FC236}">
                    <a16:creationId xmlns:a16="http://schemas.microsoft.com/office/drawing/2014/main" xmlns="" id="{4B11EEB4-3616-418F-A455-358B658076AF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>
                <a:off x="0" y="0"/>
                <a:ext cx="2016" cy="48"/>
              </a:xfrm>
              <a:prstGeom prst="line">
                <a:avLst/>
              </a:prstGeom>
              <a:noFill/>
              <a:ln w="44450">
                <a:solidFill>
                  <a:srgbClr val="0000FF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  <p:sp>
            <p:nvSpPr>
              <p:cNvPr id="22554" name="Line 26">
                <a:extLst>
                  <a:ext uri="{FF2B5EF4-FFF2-40B4-BE49-F238E27FC236}">
                    <a16:creationId xmlns:a16="http://schemas.microsoft.com/office/drawing/2014/main" xmlns="" id="{03A6F861-298E-4EEA-85D2-01F68CD07A15}"/>
                  </a:ext>
                </a:extLst>
              </p:cNvPr>
              <p:cNvSpPr>
                <a:spLocks noChangeShapeType="1"/>
              </p:cNvSpPr>
              <p:nvPr/>
            </p:nvSpPr>
            <p:spPr bwMode="auto">
              <a:xfrm flipV="1">
                <a:off x="384" y="192"/>
                <a:ext cx="1584" cy="288"/>
              </a:xfrm>
              <a:prstGeom prst="line">
                <a:avLst/>
              </a:prstGeom>
              <a:noFill/>
              <a:ln w="44450">
                <a:solidFill>
                  <a:srgbClr val="0000FF"/>
                </a:solidFill>
                <a:round/>
                <a:headEnd/>
                <a:tailEnd type="triangle" w="med" len="med"/>
              </a:ln>
              <a:extLst>
                <a:ext uri="{909E8E84-426E-40DD-AFC4-6F175D3DCCD1}">
                  <a14:hiddenFill xmlns:a14="http://schemas.microsoft.com/office/drawing/2010/main">
                    <a:noFill/>
                  </a14:hiddenFill>
                </a:ext>
              </a:extLst>
            </p:spPr>
            <p:txBody>
              <a:bodyPr/>
              <a:lstStyle/>
              <a:p>
                <a:endParaRPr lang="zh-CN" altLang="en-US"/>
              </a:p>
            </p:txBody>
          </p:sp>
        </p:grpSp>
      </p:grpSp>
    </p:spTree>
  </p:cSld>
  <p:clrMapOvr>
    <a:masterClrMapping/>
  </p:clrMapOvr>
  <p:transition/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 nodeType="clickPar">
                      <p:stCondLst>
                        <p:cond delay="indefinite"/>
                      </p:stCondLst>
                      <p:childTnLst>
                        <p:par>
                          <p:cTn id="4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5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 nodeType="clickPar">
                      <p:stCondLst>
                        <p:cond delay="indefinite"/>
                      </p:stCondLst>
                      <p:childTnLst>
                        <p:par>
                          <p:cTn id="8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  <p:subTnLst>
                                    <p:set>
                                      <p:cBhvr override="childStyle">
                                        <p:cTn dur="1" fill="hold" display="0" masterRel="nextClick" afterEffect="1"/>
                                        <p:tgtEl>
                                          <p:spTgt spid="225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sub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 nodeType="clickPar">
                      <p:stCondLst>
                        <p:cond delay="indefinite"/>
                      </p:stCondLst>
                      <p:childTnLst>
                        <p:par>
                          <p:cTn id="12" fill="hold" nodeType="withGroup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499"/>
                                          </p:stCondLst>
                                        </p:cTn>
                                        <p:tgtEl>
                                          <p:spTgt spid="225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78" name="Rectangle 2">
            <a:extLst>
              <a:ext uri="{FF2B5EF4-FFF2-40B4-BE49-F238E27FC236}">
                <a16:creationId xmlns:a16="http://schemas.microsoft.com/office/drawing/2014/main" xmlns="" id="{004B7C15-943F-480E-8B53-9BC94B36037C}"/>
              </a:ext>
            </a:extLst>
          </p:cNvPr>
          <p:cNvSpPr>
            <a:spLocks noGrp="1" noRot="1" noChangeArrowheads="1"/>
          </p:cNvSpPr>
          <p:nvPr>
            <p:ph type="title" idx="4294967295"/>
          </p:nvPr>
        </p:nvSpPr>
        <p:spPr>
          <a:xfrm>
            <a:off x="457200" y="228600"/>
            <a:ext cx="8229600" cy="1143000"/>
          </a:xfrm>
        </p:spPr>
        <p:txBody>
          <a:bodyPr anchorCtr="0"/>
          <a:lstStyle/>
          <a:p>
            <a:r>
              <a:rPr lang="en-US" altLang="zh-CN" sz="3600" b="1"/>
              <a:t>KNN</a:t>
            </a:r>
            <a:r>
              <a:rPr lang="zh-CN" altLang="en-US" sz="3600" b="1"/>
              <a:t>的特点</a:t>
            </a:r>
          </a:p>
        </p:txBody>
      </p:sp>
      <p:sp>
        <p:nvSpPr>
          <p:cNvPr id="24579" name="Text Box 3">
            <a:extLst>
              <a:ext uri="{FF2B5EF4-FFF2-40B4-BE49-F238E27FC236}">
                <a16:creationId xmlns:a16="http://schemas.microsoft.com/office/drawing/2014/main" xmlns="" id="{A35B1288-884F-471E-9F42-659F535A21B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6100" y="1360488"/>
            <a:ext cx="1841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marL="742950" indent="-28575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/>
            <a:endParaRPr lang="zh-CN" altLang="en-US" sz="2800">
              <a:latin typeface="Tahoma" panose="020B0604030504040204" pitchFamily="34" charset="0"/>
            </a:endParaRPr>
          </a:p>
        </p:txBody>
      </p:sp>
      <p:sp>
        <p:nvSpPr>
          <p:cNvPr id="24580" name="Text Box 75">
            <a:extLst>
              <a:ext uri="{FF2B5EF4-FFF2-40B4-BE49-F238E27FC236}">
                <a16:creationId xmlns:a16="http://schemas.microsoft.com/office/drawing/2014/main" xmlns="" id="{95A50857-B66E-4C89-9445-BCDFD540E0F1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33400" y="1143000"/>
            <a:ext cx="7543800" cy="524192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lvl1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1pPr>
            <a:lvl2pPr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2pPr>
            <a:lvl3pPr marL="11430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3pPr>
            <a:lvl4pPr marL="16002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4pPr>
            <a:lvl5pPr marL="2057400" indent="-228600" eaLnBrk="0" hangingPunct="0"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5pPr>
            <a:lvl6pPr marL="25146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6pPr>
            <a:lvl7pPr marL="29718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7pPr>
            <a:lvl8pPr marL="34290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8pPr>
            <a:lvl9pPr marL="3886200" indent="-228600" eaLnBrk="0" fontAlgn="base" hangingPunct="0">
              <a:spcBef>
                <a:spcPct val="0"/>
              </a:spcBef>
              <a:spcAft>
                <a:spcPct val="0"/>
              </a:spcAft>
              <a:defRPr>
                <a:solidFill>
                  <a:schemeClr val="tx1"/>
                </a:solidFill>
                <a:latin typeface="Arial" panose="020B0604020202020204" pitchFamily="34" charset="0"/>
                <a:ea typeface="宋体" panose="02010600030101010101" pitchFamily="2" charset="-122"/>
              </a:defRPr>
            </a:lvl9pPr>
          </a:lstStyle>
          <a:p>
            <a:pPr eaLnBrk="1" hangingPunct="1">
              <a:spcBef>
                <a:spcPct val="50000"/>
              </a:spcBef>
            </a:pPr>
            <a:r>
              <a:rPr lang="en-US" altLang="zh-CN" sz="2400"/>
              <a:t>1</a:t>
            </a:r>
            <a:r>
              <a:rPr lang="zh-CN" altLang="en-US" sz="2400"/>
              <a:t>、非参数统计方法</a:t>
            </a:r>
          </a:p>
          <a:p>
            <a:pPr lvl="1" eaLnBrk="1" hangingPunct="1">
              <a:spcBef>
                <a:spcPct val="50000"/>
              </a:spcBef>
              <a:buFontTx/>
              <a:buChar char="•"/>
            </a:pPr>
            <a:r>
              <a:rPr lang="zh-CN" altLang="en-US" sz="2000"/>
              <a:t>不需引入参数</a:t>
            </a:r>
          </a:p>
          <a:p>
            <a:pPr lvl="1" eaLnBrk="1" hangingPunct="1">
              <a:spcBef>
                <a:spcPct val="50000"/>
              </a:spcBef>
              <a:buFontTx/>
              <a:buChar char="•"/>
            </a:pPr>
            <a:r>
              <a:rPr lang="zh-CN" altLang="en-US" sz="2000"/>
              <a:t>回归分析是参数统计方法</a:t>
            </a:r>
          </a:p>
          <a:p>
            <a:pPr eaLnBrk="1" hangingPunct="1">
              <a:spcBef>
                <a:spcPct val="50000"/>
              </a:spcBef>
            </a:pPr>
            <a:r>
              <a:rPr lang="en-US" altLang="zh-CN" sz="2400"/>
              <a:t>2</a:t>
            </a:r>
            <a:r>
              <a:rPr lang="zh-CN" altLang="en-US" sz="2400"/>
              <a:t>、</a:t>
            </a:r>
            <a:r>
              <a:rPr lang="en-US" altLang="zh-CN" sz="2400"/>
              <a:t>k</a:t>
            </a:r>
            <a:r>
              <a:rPr lang="zh-CN" altLang="en-US" sz="2400"/>
              <a:t>的选择</a:t>
            </a:r>
          </a:p>
          <a:p>
            <a:pPr lvl="1" eaLnBrk="1" hangingPunct="1">
              <a:spcBef>
                <a:spcPct val="50000"/>
              </a:spcBef>
              <a:buFontTx/>
              <a:buChar char="•"/>
            </a:pPr>
            <a:r>
              <a:rPr lang="en-US" altLang="zh-CN" sz="2000"/>
              <a:t>K=1</a:t>
            </a:r>
            <a:r>
              <a:rPr lang="zh-CN" altLang="en-US" sz="2000"/>
              <a:t>时，将待分类样本划入与其最接近的样本的类；</a:t>
            </a:r>
          </a:p>
          <a:p>
            <a:pPr lvl="1" eaLnBrk="1" hangingPunct="1">
              <a:spcBef>
                <a:spcPct val="50000"/>
              </a:spcBef>
              <a:buFontTx/>
              <a:buChar char="•"/>
            </a:pPr>
            <a:r>
              <a:rPr lang="en-US" altLang="zh-CN" sz="2000"/>
              <a:t>K=|X|</a:t>
            </a:r>
            <a:r>
              <a:rPr lang="zh-CN" altLang="en-US" sz="2000"/>
              <a:t>时，仅根据训练样本进行频率统计，将待分类样本划入最多的类；</a:t>
            </a:r>
          </a:p>
          <a:p>
            <a:pPr lvl="1" eaLnBrk="1" hangingPunct="1">
              <a:spcBef>
                <a:spcPct val="50000"/>
              </a:spcBef>
              <a:buFontTx/>
              <a:buChar char="•"/>
            </a:pPr>
            <a:r>
              <a:rPr lang="en-US" altLang="zh-CN" sz="2000"/>
              <a:t>K</a:t>
            </a:r>
            <a:r>
              <a:rPr lang="zh-CN" altLang="en-US" sz="2000"/>
              <a:t>需要合理选择，太小容易受干扰、太大增加计算复杂性</a:t>
            </a:r>
          </a:p>
          <a:p>
            <a:pPr eaLnBrk="1" hangingPunct="1">
              <a:spcBef>
                <a:spcPct val="50000"/>
              </a:spcBef>
              <a:buFontTx/>
              <a:buChar char="•"/>
            </a:pPr>
            <a:endParaRPr lang="zh-CN" altLang="en-US" sz="800"/>
          </a:p>
          <a:p>
            <a:pPr eaLnBrk="1" hangingPunct="1">
              <a:spcBef>
                <a:spcPct val="50000"/>
              </a:spcBef>
            </a:pPr>
            <a:r>
              <a:rPr lang="en-US" altLang="zh-CN" sz="2400"/>
              <a:t>3</a:t>
            </a:r>
            <a:r>
              <a:rPr lang="zh-CN" altLang="en-US" sz="2400"/>
              <a:t>、算法的复杂度</a:t>
            </a:r>
          </a:p>
          <a:p>
            <a:pPr lvl="1" eaLnBrk="1" hangingPunct="1">
              <a:spcBef>
                <a:spcPct val="50000"/>
              </a:spcBef>
              <a:buFontTx/>
              <a:buChar char="•"/>
            </a:pPr>
            <a:r>
              <a:rPr lang="zh-CN" altLang="en-US" sz="2000"/>
              <a:t>维数灾难：当维数增加时，所需的训练样本数急剧增加</a:t>
            </a:r>
          </a:p>
          <a:p>
            <a:pPr lvl="1" eaLnBrk="1" hangingPunct="1">
              <a:spcBef>
                <a:spcPct val="50000"/>
              </a:spcBef>
              <a:buFontTx/>
              <a:buChar char="•"/>
            </a:pPr>
            <a:r>
              <a:rPr lang="zh-CN" altLang="en-US" sz="2000"/>
              <a:t>一般采用降维处理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73" name="日期占位符 3">
            <a:extLst>
              <a:ext uri="{FF2B5EF4-FFF2-40B4-BE49-F238E27FC236}">
                <a16:creationId xmlns:a16="http://schemas.microsoft.com/office/drawing/2014/main" xmlns="" id="{89114D1E-7902-4D16-8E8D-5F0408207F16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BC733370-9E4B-4590-8E4D-D34FCC6741F7}" type="datetime4">
              <a:rPr lang="zh-CN" altLang="en-US" sz="12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2018年10月21日星期日</a:t>
            </a:fld>
            <a:endParaRPr lang="en-US" altLang="zh-CN" sz="12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8674" name="页脚占位符 4">
            <a:extLst>
              <a:ext uri="{FF2B5EF4-FFF2-40B4-BE49-F238E27FC236}">
                <a16:creationId xmlns:a16="http://schemas.microsoft.com/office/drawing/2014/main" xmlns="" id="{5F9ABCE7-9BC4-49C1-A74B-0A4CACE2C7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200">
                <a:latin typeface="Tahoma" panose="020B0604030504040204" pitchFamily="34" charset="0"/>
                <a:ea typeface="宋体" panose="02010600030101010101" pitchFamily="2" charset="-122"/>
              </a:rPr>
              <a:t>DMKD  Sides</a:t>
            </a:r>
          </a:p>
        </p:txBody>
      </p:sp>
      <p:sp>
        <p:nvSpPr>
          <p:cNvPr id="28675" name="灯片编号占位符 5">
            <a:extLst>
              <a:ext uri="{FF2B5EF4-FFF2-40B4-BE49-F238E27FC236}">
                <a16:creationId xmlns:a16="http://schemas.microsoft.com/office/drawing/2014/main" xmlns="" id="{53521994-2528-4CAF-A5AE-A57E0AE81A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95FFEFBD-057A-47F8-8D3E-8DEC0EBA7A2C}" type="slidenum">
              <a:rPr lang="zh-CN" altLang="en-US" sz="14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20</a:t>
            </a:fld>
            <a:endParaRPr lang="en-US" altLang="zh-CN" sz="14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8676" name="Rectangle 2">
            <a:extLst>
              <a:ext uri="{FF2B5EF4-FFF2-40B4-BE49-F238E27FC236}">
                <a16:creationId xmlns:a16="http://schemas.microsoft.com/office/drawing/2014/main" xmlns="" id="{1945965D-035D-413E-BAF1-A32AFB20E666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/>
              <a:t>KNN</a:t>
            </a:r>
            <a:r>
              <a:rPr lang="zh-CN" altLang="en-US"/>
              <a:t>的例子</a:t>
            </a:r>
            <a:r>
              <a:rPr lang="en-US" altLang="zh-CN"/>
              <a:t>-</a:t>
            </a:r>
            <a:r>
              <a:rPr lang="zh-CN" altLang="en-US"/>
              <a:t>训练数据</a:t>
            </a:r>
            <a:endParaRPr lang="en-US" altLang="zh-CN"/>
          </a:p>
        </p:txBody>
      </p:sp>
      <p:sp>
        <p:nvSpPr>
          <p:cNvPr id="28677" name="Rectangle 3">
            <a:extLst>
              <a:ext uri="{FF2B5EF4-FFF2-40B4-BE49-F238E27FC236}">
                <a16:creationId xmlns:a16="http://schemas.microsoft.com/office/drawing/2014/main" xmlns="" id="{CD48BF2C-11AA-44B4-BC24-AF632F369C2A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 eaLnBrk="1" hangingPunct="1">
              <a:buFont typeface="Wingdings" panose="05000000000000000000" pitchFamily="2" charset="2"/>
              <a:buNone/>
            </a:pPr>
            <a:endParaRPr lang="zh-CN" altLang="en-US"/>
          </a:p>
        </p:txBody>
      </p:sp>
      <p:sp>
        <p:nvSpPr>
          <p:cNvPr id="28678" name="Text Box 6">
            <a:extLst>
              <a:ext uri="{FF2B5EF4-FFF2-40B4-BE49-F238E27FC236}">
                <a16:creationId xmlns:a16="http://schemas.microsoft.com/office/drawing/2014/main" xmlns="" id="{4A66D7E6-7326-4D87-9BF2-1CE47A942920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6100" y="1360488"/>
            <a:ext cx="1841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CN" altLang="en-US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pic>
        <p:nvPicPr>
          <p:cNvPr id="28679" name="Picture 10">
            <a:extLst>
              <a:ext uri="{FF2B5EF4-FFF2-40B4-BE49-F238E27FC236}">
                <a16:creationId xmlns:a16="http://schemas.microsoft.com/office/drawing/2014/main" xmlns="" id="{88DEE5C2-028A-4050-A919-7C83B5FA6F5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14375" y="920750"/>
            <a:ext cx="7786688" cy="4970463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97" name="日期占位符 3">
            <a:extLst>
              <a:ext uri="{FF2B5EF4-FFF2-40B4-BE49-F238E27FC236}">
                <a16:creationId xmlns:a16="http://schemas.microsoft.com/office/drawing/2014/main" xmlns="" id="{1ADCA277-B08D-4664-800D-AD473DD90218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86F4C45A-0139-4F16-BCF7-B30CB7E707E7}" type="datetime4">
              <a:rPr lang="zh-CN" altLang="en-US" sz="12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2018年10月21日星期日</a:t>
            </a:fld>
            <a:endParaRPr lang="en-US" altLang="zh-CN" sz="12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9698" name="页脚占位符 4">
            <a:extLst>
              <a:ext uri="{FF2B5EF4-FFF2-40B4-BE49-F238E27FC236}">
                <a16:creationId xmlns:a16="http://schemas.microsoft.com/office/drawing/2014/main" xmlns="" id="{5BF0AF12-A494-435B-9210-56F8CB0622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200">
                <a:latin typeface="Tahoma" panose="020B0604030504040204" pitchFamily="34" charset="0"/>
                <a:ea typeface="宋体" panose="02010600030101010101" pitchFamily="2" charset="-122"/>
              </a:rPr>
              <a:t>DMKD  Sides</a:t>
            </a:r>
          </a:p>
        </p:txBody>
      </p:sp>
      <p:sp>
        <p:nvSpPr>
          <p:cNvPr id="29699" name="灯片编号占位符 5">
            <a:extLst>
              <a:ext uri="{FF2B5EF4-FFF2-40B4-BE49-F238E27FC236}">
                <a16:creationId xmlns:a16="http://schemas.microsoft.com/office/drawing/2014/main" xmlns="" id="{44BE08B5-7B58-4E9A-BEA6-3962C2F00B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77C4D7C1-8A2F-4864-BBF6-E54E49D56019}" type="slidenum">
              <a:rPr lang="zh-CN" altLang="en-US" sz="14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21</a:t>
            </a:fld>
            <a:endParaRPr lang="en-US" altLang="zh-CN" sz="14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29700" name="Rectangle 2">
            <a:extLst>
              <a:ext uri="{FF2B5EF4-FFF2-40B4-BE49-F238E27FC236}">
                <a16:creationId xmlns:a16="http://schemas.microsoft.com/office/drawing/2014/main" xmlns="" id="{19EDB682-DEC6-4168-86FB-531A1765C922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/>
              <a:t>KNN</a:t>
            </a:r>
            <a:r>
              <a:rPr lang="zh-CN" altLang="en-US"/>
              <a:t>的例子</a:t>
            </a:r>
            <a:r>
              <a:rPr lang="en-US" altLang="zh-CN"/>
              <a:t>-</a:t>
            </a:r>
            <a:r>
              <a:rPr lang="zh-CN" altLang="en-US"/>
              <a:t>挖掘过程</a:t>
            </a:r>
            <a:endParaRPr lang="en-US" altLang="zh-CN"/>
          </a:p>
        </p:txBody>
      </p:sp>
      <p:sp>
        <p:nvSpPr>
          <p:cNvPr id="29701" name="Rectangle 3">
            <a:extLst>
              <a:ext uri="{FF2B5EF4-FFF2-40B4-BE49-F238E27FC236}">
                <a16:creationId xmlns:a16="http://schemas.microsoft.com/office/drawing/2014/main" xmlns="" id="{4B84EFBA-9210-45D0-A980-A2C12E016C34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pPr>
              <a:buFont typeface="Wingdings" panose="05000000000000000000" pitchFamily="2" charset="2"/>
              <a:buNone/>
            </a:pPr>
            <a:r>
              <a:rPr lang="zh-CN" altLang="zh-CN"/>
              <a:t>假如高度参与距离计算，</a:t>
            </a:r>
            <a:r>
              <a:rPr lang="en-US" altLang="zh-CN"/>
              <a:t> k=5</a:t>
            </a:r>
            <a:r>
              <a:rPr lang="zh-CN" altLang="zh-CN"/>
              <a:t>。跟踪</a:t>
            </a:r>
            <a:r>
              <a:rPr lang="en-US" altLang="zh-CN"/>
              <a:t> </a:t>
            </a:r>
            <a:r>
              <a:rPr lang="zh-CN" altLang="en-US"/>
              <a:t>算法</a:t>
            </a:r>
            <a:r>
              <a:rPr lang="zh-CN" altLang="zh-CN"/>
              <a:t>：</a:t>
            </a:r>
          </a:p>
          <a:p>
            <a:r>
              <a:rPr lang="zh-CN" altLang="zh-CN" sz="2000"/>
              <a:t>前</a:t>
            </a:r>
            <a:r>
              <a:rPr lang="en-US" altLang="zh-CN" sz="2000"/>
              <a:t> 5</a:t>
            </a:r>
            <a:r>
              <a:rPr lang="zh-CN" altLang="zh-CN" sz="2000"/>
              <a:t>个记录，</a:t>
            </a:r>
            <a:r>
              <a:rPr lang="en-US" altLang="zh-CN" sz="2000"/>
              <a:t> </a:t>
            </a:r>
            <a:r>
              <a:rPr lang="en-US" altLang="zh-CN" sz="2000">
                <a:solidFill>
                  <a:srgbClr val="FF0000"/>
                </a:solidFill>
              </a:rPr>
              <a:t>N={&lt;</a:t>
            </a:r>
            <a:r>
              <a:rPr lang="zh-CN" altLang="zh-CN" sz="2000">
                <a:solidFill>
                  <a:srgbClr val="FF0000"/>
                </a:solidFill>
              </a:rPr>
              <a:t>李莉，女， </a:t>
            </a:r>
            <a:r>
              <a:rPr lang="en-US" altLang="zh-CN" sz="2000">
                <a:solidFill>
                  <a:srgbClr val="FF0000"/>
                </a:solidFill>
              </a:rPr>
              <a:t>1.50&gt;</a:t>
            </a:r>
            <a:r>
              <a:rPr lang="zh-CN" altLang="zh-CN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</a:t>
            </a:r>
            <a:r>
              <a:rPr lang="zh-CN" altLang="zh-CN" sz="2000">
                <a:solidFill>
                  <a:srgbClr val="FF0000"/>
                </a:solidFill>
              </a:rPr>
              <a:t>吉米，男，</a:t>
            </a:r>
            <a:r>
              <a:rPr lang="en-US" altLang="zh-CN" sz="2000">
                <a:solidFill>
                  <a:srgbClr val="FF0000"/>
                </a:solidFill>
              </a:rPr>
              <a:t>1.92&gt;</a:t>
            </a:r>
            <a:r>
              <a:rPr lang="zh-CN" altLang="zh-CN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</a:t>
            </a:r>
            <a:r>
              <a:rPr lang="zh-CN" altLang="zh-CN" sz="2000">
                <a:solidFill>
                  <a:srgbClr val="FF0000"/>
                </a:solidFill>
              </a:rPr>
              <a:t>马大华，女，</a:t>
            </a:r>
            <a:r>
              <a:rPr lang="en-US" altLang="zh-CN" sz="2000">
                <a:solidFill>
                  <a:srgbClr val="FF0000"/>
                </a:solidFill>
              </a:rPr>
              <a:t>1.70&gt;</a:t>
            </a:r>
            <a:r>
              <a:rPr lang="zh-CN" altLang="zh-CN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</a:t>
            </a:r>
            <a:r>
              <a:rPr lang="zh-CN" altLang="zh-CN" sz="2000">
                <a:solidFill>
                  <a:srgbClr val="FF0000"/>
                </a:solidFill>
              </a:rPr>
              <a:t>王小华，女，</a:t>
            </a:r>
            <a:r>
              <a:rPr lang="en-US" altLang="zh-CN" sz="2000">
                <a:solidFill>
                  <a:srgbClr val="FF0000"/>
                </a:solidFill>
              </a:rPr>
              <a:t>1.73&gt;</a:t>
            </a:r>
            <a:r>
              <a:rPr lang="zh-CN" altLang="zh-CN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</a:t>
            </a:r>
            <a:r>
              <a:rPr lang="zh-CN" altLang="zh-CN" sz="2000">
                <a:solidFill>
                  <a:srgbClr val="FF0000"/>
                </a:solidFill>
              </a:rPr>
              <a:t>刘敏杰，女，</a:t>
            </a:r>
            <a:r>
              <a:rPr lang="en-US" altLang="zh-CN" sz="2000">
                <a:solidFill>
                  <a:srgbClr val="FF0000"/>
                </a:solidFill>
              </a:rPr>
              <a:t>1.60&gt;}</a:t>
            </a:r>
            <a:r>
              <a:rPr lang="zh-CN" altLang="zh-CN" sz="2000">
                <a:solidFill>
                  <a:srgbClr val="FF0000"/>
                </a:solidFill>
              </a:rPr>
              <a:t>。</a:t>
            </a:r>
          </a:p>
          <a:p>
            <a:r>
              <a:rPr lang="zh-CN" altLang="zh-CN" sz="2000"/>
              <a:t>第</a:t>
            </a:r>
            <a:r>
              <a:rPr lang="en-US" altLang="zh-CN" sz="2000"/>
              <a:t>6</a:t>
            </a:r>
            <a:r>
              <a:rPr lang="zh-CN" altLang="zh-CN" sz="2000"/>
              <a:t>个记录</a:t>
            </a:r>
            <a:r>
              <a:rPr lang="en-US" altLang="zh-CN" sz="2000"/>
              <a:t> =&lt;</a:t>
            </a:r>
            <a:r>
              <a:rPr lang="zh-CN" altLang="zh-CN" sz="2000"/>
              <a:t>包博，男，</a:t>
            </a:r>
            <a:r>
              <a:rPr lang="en-US" altLang="zh-CN" sz="2000"/>
              <a:t>1.75&gt;</a:t>
            </a:r>
            <a:r>
              <a:rPr lang="zh-CN" altLang="zh-CN" sz="2000"/>
              <a:t>，相比测试记录</a:t>
            </a:r>
            <a:r>
              <a:rPr lang="en-US" altLang="zh-CN" sz="2000"/>
              <a:t>&lt;</a:t>
            </a:r>
            <a:r>
              <a:rPr lang="zh-CN" altLang="zh-CN" sz="2000"/>
              <a:t>范可可，女，</a:t>
            </a:r>
            <a:r>
              <a:rPr lang="en-US" altLang="zh-CN" sz="2000"/>
              <a:t>1.50&gt;</a:t>
            </a:r>
            <a:r>
              <a:rPr lang="zh-CN" altLang="zh-CN" sz="2000"/>
              <a:t>，需要替换掉</a:t>
            </a:r>
            <a:r>
              <a:rPr lang="en-US" altLang="zh-CN" sz="2000" i="1"/>
              <a:t>N</a:t>
            </a:r>
            <a:r>
              <a:rPr lang="zh-CN" altLang="zh-CN" sz="2000"/>
              <a:t>中和测试记录差别最大的</a:t>
            </a:r>
            <a:r>
              <a:rPr lang="en-US" altLang="zh-CN" sz="2000"/>
              <a:t>&lt; </a:t>
            </a:r>
            <a:r>
              <a:rPr lang="zh-CN" altLang="zh-CN" sz="2000"/>
              <a:t>吉米，男，</a:t>
            </a:r>
            <a:r>
              <a:rPr lang="en-US" altLang="zh-CN" sz="2000"/>
              <a:t>1.92&gt;</a:t>
            </a:r>
            <a:r>
              <a:rPr lang="zh-CN" altLang="zh-CN" sz="2000"/>
              <a:t>，得到</a:t>
            </a:r>
            <a:r>
              <a:rPr lang="en-US" altLang="zh-CN" sz="2000"/>
              <a:t> </a:t>
            </a:r>
            <a:r>
              <a:rPr lang="en-US" altLang="zh-CN" sz="2000">
                <a:solidFill>
                  <a:srgbClr val="FF0000"/>
                </a:solidFill>
              </a:rPr>
              <a:t>N={&lt;</a:t>
            </a:r>
            <a:r>
              <a:rPr lang="zh-CN" altLang="zh-CN" sz="2000">
                <a:solidFill>
                  <a:srgbClr val="FF0000"/>
                </a:solidFill>
              </a:rPr>
              <a:t>李莉，女， </a:t>
            </a:r>
            <a:r>
              <a:rPr lang="en-US" altLang="zh-CN" sz="2000">
                <a:solidFill>
                  <a:srgbClr val="FF0000"/>
                </a:solidFill>
              </a:rPr>
              <a:t>1.50&gt;</a:t>
            </a:r>
            <a:r>
              <a:rPr lang="zh-CN" altLang="zh-CN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</a:t>
            </a:r>
            <a:r>
              <a:rPr lang="zh-CN" altLang="zh-CN" sz="2000">
                <a:solidFill>
                  <a:srgbClr val="FF0000"/>
                </a:solidFill>
              </a:rPr>
              <a:t>包博，男，</a:t>
            </a:r>
            <a:r>
              <a:rPr lang="en-US" altLang="zh-CN" sz="2000">
                <a:solidFill>
                  <a:srgbClr val="FF0000"/>
                </a:solidFill>
              </a:rPr>
              <a:t>1.75&gt;</a:t>
            </a:r>
            <a:r>
              <a:rPr lang="zh-CN" altLang="zh-CN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</a:t>
            </a:r>
            <a:r>
              <a:rPr lang="zh-CN" altLang="zh-CN" sz="2000">
                <a:solidFill>
                  <a:srgbClr val="FF0000"/>
                </a:solidFill>
              </a:rPr>
              <a:t>马大华，女，</a:t>
            </a:r>
            <a:r>
              <a:rPr lang="en-US" altLang="zh-CN" sz="2000">
                <a:solidFill>
                  <a:srgbClr val="FF0000"/>
                </a:solidFill>
              </a:rPr>
              <a:t>1.70&gt;</a:t>
            </a:r>
            <a:r>
              <a:rPr lang="zh-CN" altLang="zh-CN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</a:t>
            </a:r>
            <a:r>
              <a:rPr lang="zh-CN" altLang="zh-CN" sz="2000">
                <a:solidFill>
                  <a:srgbClr val="FF0000"/>
                </a:solidFill>
              </a:rPr>
              <a:t>王小华，女，</a:t>
            </a:r>
            <a:r>
              <a:rPr lang="en-US" altLang="zh-CN" sz="2000">
                <a:solidFill>
                  <a:srgbClr val="FF0000"/>
                </a:solidFill>
              </a:rPr>
              <a:t>1.73&gt;</a:t>
            </a:r>
            <a:r>
              <a:rPr lang="zh-CN" altLang="zh-CN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 </a:t>
            </a:r>
            <a:r>
              <a:rPr lang="zh-CN" altLang="zh-CN" sz="2000">
                <a:solidFill>
                  <a:srgbClr val="FF0000"/>
                </a:solidFill>
              </a:rPr>
              <a:t>刘敏杰，女，</a:t>
            </a:r>
            <a:r>
              <a:rPr lang="en-US" altLang="zh-CN" sz="2000">
                <a:solidFill>
                  <a:srgbClr val="FF0000"/>
                </a:solidFill>
              </a:rPr>
              <a:t>1.60&gt;}</a:t>
            </a:r>
            <a:r>
              <a:rPr lang="zh-CN" altLang="zh-CN" sz="2000">
                <a:solidFill>
                  <a:srgbClr val="FF0000"/>
                </a:solidFill>
              </a:rPr>
              <a:t>。</a:t>
            </a:r>
          </a:p>
          <a:p>
            <a:r>
              <a:rPr lang="zh-CN" altLang="zh-CN" sz="2000"/>
              <a:t>第</a:t>
            </a:r>
            <a:r>
              <a:rPr lang="en-US" altLang="zh-CN" sz="2000"/>
              <a:t>7</a:t>
            </a:r>
            <a:r>
              <a:rPr lang="zh-CN" altLang="zh-CN" sz="2000"/>
              <a:t>个记录</a:t>
            </a:r>
            <a:r>
              <a:rPr lang="en-US" altLang="zh-CN" sz="2000"/>
              <a:t> =&lt;</a:t>
            </a:r>
            <a:r>
              <a:rPr lang="zh-CN" altLang="zh-CN" sz="2000"/>
              <a:t>张烨，女，</a:t>
            </a:r>
            <a:r>
              <a:rPr lang="en-US" altLang="zh-CN" sz="2000"/>
              <a:t>1.50&gt;</a:t>
            </a:r>
            <a:r>
              <a:rPr lang="zh-CN" altLang="zh-CN" sz="2000"/>
              <a:t>，需要替换掉</a:t>
            </a:r>
            <a:r>
              <a:rPr lang="en-US" altLang="zh-CN" sz="2000"/>
              <a:t>&lt;</a:t>
            </a:r>
            <a:r>
              <a:rPr lang="zh-CN" altLang="zh-CN" sz="2000"/>
              <a:t>包博，男，</a:t>
            </a:r>
            <a:r>
              <a:rPr lang="en-US" altLang="zh-CN" sz="2000"/>
              <a:t>1.75&gt;</a:t>
            </a:r>
            <a:r>
              <a:rPr lang="zh-CN" altLang="zh-CN" sz="2000"/>
              <a:t>，得到</a:t>
            </a:r>
            <a:r>
              <a:rPr lang="en-US" altLang="zh-CN" sz="2000"/>
              <a:t> </a:t>
            </a:r>
            <a:r>
              <a:rPr lang="en-US" altLang="zh-CN" sz="2000">
                <a:solidFill>
                  <a:srgbClr val="FF0000"/>
                </a:solidFill>
              </a:rPr>
              <a:t>N={&lt;</a:t>
            </a:r>
            <a:r>
              <a:rPr lang="zh-CN" altLang="zh-CN" sz="2000">
                <a:solidFill>
                  <a:srgbClr val="FF0000"/>
                </a:solidFill>
              </a:rPr>
              <a:t>李莉，女， </a:t>
            </a:r>
            <a:r>
              <a:rPr lang="en-US" altLang="zh-CN" sz="2000">
                <a:solidFill>
                  <a:srgbClr val="FF0000"/>
                </a:solidFill>
              </a:rPr>
              <a:t>1.50&gt;</a:t>
            </a:r>
            <a:r>
              <a:rPr lang="zh-CN" altLang="zh-CN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</a:t>
            </a:r>
            <a:r>
              <a:rPr lang="zh-CN" altLang="zh-CN" sz="2000">
                <a:solidFill>
                  <a:srgbClr val="FF0000"/>
                </a:solidFill>
              </a:rPr>
              <a:t>张烨，女，</a:t>
            </a:r>
            <a:r>
              <a:rPr lang="en-US" altLang="zh-CN" sz="2000">
                <a:solidFill>
                  <a:srgbClr val="FF0000"/>
                </a:solidFill>
              </a:rPr>
              <a:t>1.50&gt;</a:t>
            </a:r>
            <a:r>
              <a:rPr lang="zh-CN" altLang="zh-CN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</a:t>
            </a:r>
            <a:r>
              <a:rPr lang="zh-CN" altLang="zh-CN" sz="2000">
                <a:solidFill>
                  <a:srgbClr val="FF0000"/>
                </a:solidFill>
              </a:rPr>
              <a:t>马大华，女，</a:t>
            </a:r>
            <a:r>
              <a:rPr lang="en-US" altLang="zh-CN" sz="2000">
                <a:solidFill>
                  <a:srgbClr val="FF0000"/>
                </a:solidFill>
              </a:rPr>
              <a:t>1.70&gt;</a:t>
            </a:r>
            <a:r>
              <a:rPr lang="zh-CN" altLang="zh-CN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</a:t>
            </a:r>
            <a:r>
              <a:rPr lang="zh-CN" altLang="zh-CN" sz="2000">
                <a:solidFill>
                  <a:srgbClr val="FF0000"/>
                </a:solidFill>
              </a:rPr>
              <a:t>王小华，女，</a:t>
            </a:r>
            <a:r>
              <a:rPr lang="en-US" altLang="zh-CN" sz="2000">
                <a:solidFill>
                  <a:srgbClr val="FF0000"/>
                </a:solidFill>
              </a:rPr>
              <a:t>1.73&gt;</a:t>
            </a:r>
            <a:r>
              <a:rPr lang="zh-CN" altLang="zh-CN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 </a:t>
            </a:r>
            <a:r>
              <a:rPr lang="zh-CN" altLang="zh-CN" sz="2000">
                <a:solidFill>
                  <a:srgbClr val="FF0000"/>
                </a:solidFill>
              </a:rPr>
              <a:t>刘敏杰，女，</a:t>
            </a:r>
            <a:r>
              <a:rPr lang="en-US" altLang="zh-CN" sz="2000">
                <a:solidFill>
                  <a:srgbClr val="FF0000"/>
                </a:solidFill>
              </a:rPr>
              <a:t>1.60&gt;}</a:t>
            </a:r>
            <a:r>
              <a:rPr lang="zh-CN" altLang="zh-CN" sz="2000">
                <a:solidFill>
                  <a:srgbClr val="FF0000"/>
                </a:solidFill>
              </a:rPr>
              <a:t>。</a:t>
            </a:r>
          </a:p>
          <a:p>
            <a:r>
              <a:rPr lang="zh-CN" altLang="zh-CN" sz="2000"/>
              <a:t>第</a:t>
            </a:r>
            <a:r>
              <a:rPr lang="en-US" altLang="zh-CN" sz="2000"/>
              <a:t>8</a:t>
            </a:r>
            <a:r>
              <a:rPr lang="zh-CN" altLang="zh-CN" sz="2000"/>
              <a:t>个记录</a:t>
            </a:r>
            <a:r>
              <a:rPr lang="en-US" altLang="zh-CN" sz="2000"/>
              <a:t> =&lt;</a:t>
            </a:r>
            <a:r>
              <a:rPr lang="zh-CN" altLang="zh-CN" sz="2000"/>
              <a:t>戴维，男，</a:t>
            </a:r>
            <a:r>
              <a:rPr lang="en-US" altLang="zh-CN" sz="2000"/>
              <a:t>1.60&gt;</a:t>
            </a:r>
            <a:r>
              <a:rPr lang="zh-CN" altLang="zh-CN" sz="2000"/>
              <a:t>，需要替换掉</a:t>
            </a:r>
            <a:r>
              <a:rPr lang="en-US" altLang="zh-CN" sz="2000"/>
              <a:t>&lt;</a:t>
            </a:r>
            <a:r>
              <a:rPr lang="zh-CN" altLang="zh-CN" sz="2000"/>
              <a:t>王小华，女，</a:t>
            </a:r>
            <a:r>
              <a:rPr lang="en-US" altLang="zh-CN" sz="2000"/>
              <a:t>1.73&gt;</a:t>
            </a:r>
            <a:r>
              <a:rPr lang="zh-CN" altLang="zh-CN" sz="2000"/>
              <a:t>，得到</a:t>
            </a:r>
            <a:r>
              <a:rPr lang="en-US" altLang="zh-CN" sz="2000">
                <a:solidFill>
                  <a:srgbClr val="FF0000"/>
                </a:solidFill>
              </a:rPr>
              <a:t>N ={&lt;</a:t>
            </a:r>
            <a:r>
              <a:rPr lang="zh-CN" altLang="zh-CN" sz="2000">
                <a:solidFill>
                  <a:srgbClr val="FF0000"/>
                </a:solidFill>
              </a:rPr>
              <a:t>李莉，女， </a:t>
            </a:r>
            <a:r>
              <a:rPr lang="en-US" altLang="zh-CN" sz="2000">
                <a:solidFill>
                  <a:srgbClr val="FF0000"/>
                </a:solidFill>
              </a:rPr>
              <a:t>1.50&gt;</a:t>
            </a:r>
            <a:r>
              <a:rPr lang="zh-CN" altLang="zh-CN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</a:t>
            </a:r>
            <a:r>
              <a:rPr lang="zh-CN" altLang="zh-CN" sz="2000">
                <a:solidFill>
                  <a:srgbClr val="FF0000"/>
                </a:solidFill>
              </a:rPr>
              <a:t>张烨，女，</a:t>
            </a:r>
            <a:r>
              <a:rPr lang="en-US" altLang="zh-CN" sz="2000">
                <a:solidFill>
                  <a:srgbClr val="FF0000"/>
                </a:solidFill>
              </a:rPr>
              <a:t>1.50&gt;</a:t>
            </a:r>
            <a:r>
              <a:rPr lang="zh-CN" altLang="zh-CN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</a:t>
            </a:r>
            <a:r>
              <a:rPr lang="zh-CN" altLang="zh-CN" sz="2000">
                <a:solidFill>
                  <a:srgbClr val="FF0000"/>
                </a:solidFill>
              </a:rPr>
              <a:t>马大华，女，</a:t>
            </a:r>
            <a:r>
              <a:rPr lang="en-US" altLang="zh-CN" sz="2000">
                <a:solidFill>
                  <a:srgbClr val="FF0000"/>
                </a:solidFill>
              </a:rPr>
              <a:t>1.70&gt;</a:t>
            </a:r>
            <a:r>
              <a:rPr lang="zh-CN" altLang="zh-CN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</a:t>
            </a:r>
            <a:r>
              <a:rPr lang="zh-CN" altLang="zh-CN" sz="2000">
                <a:solidFill>
                  <a:srgbClr val="FF0000"/>
                </a:solidFill>
              </a:rPr>
              <a:t>戴维，男，</a:t>
            </a:r>
            <a:r>
              <a:rPr lang="en-US" altLang="zh-CN" sz="2000">
                <a:solidFill>
                  <a:srgbClr val="FF0000"/>
                </a:solidFill>
              </a:rPr>
              <a:t>1.60&gt;</a:t>
            </a:r>
            <a:r>
              <a:rPr lang="zh-CN" altLang="zh-CN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 </a:t>
            </a:r>
            <a:r>
              <a:rPr lang="zh-CN" altLang="zh-CN" sz="2000">
                <a:solidFill>
                  <a:srgbClr val="FF0000"/>
                </a:solidFill>
              </a:rPr>
              <a:t>刘敏杰，女，</a:t>
            </a:r>
            <a:r>
              <a:rPr lang="en-US" altLang="zh-CN" sz="2000">
                <a:solidFill>
                  <a:srgbClr val="FF0000"/>
                </a:solidFill>
              </a:rPr>
              <a:t>1.60&gt;}</a:t>
            </a:r>
            <a:r>
              <a:rPr lang="zh-CN" altLang="zh-CN" sz="2000">
                <a:solidFill>
                  <a:srgbClr val="FF0000"/>
                </a:solidFill>
              </a:rPr>
              <a:t>。</a:t>
            </a:r>
          </a:p>
          <a:p>
            <a:r>
              <a:rPr lang="zh-CN" altLang="zh-CN" sz="2000"/>
              <a:t>对</a:t>
            </a:r>
            <a:r>
              <a:rPr lang="en-US" altLang="zh-CN" sz="2000"/>
              <a:t> </a:t>
            </a:r>
            <a:r>
              <a:rPr lang="zh-CN" altLang="zh-CN" sz="2000"/>
              <a:t>的第</a:t>
            </a:r>
            <a:r>
              <a:rPr lang="en-US" altLang="zh-CN" sz="2000"/>
              <a:t>9</a:t>
            </a:r>
            <a:r>
              <a:rPr lang="zh-CN" altLang="zh-CN" sz="2000"/>
              <a:t>、</a:t>
            </a:r>
            <a:r>
              <a:rPr lang="en-US" altLang="zh-CN" sz="2000"/>
              <a:t>10</a:t>
            </a:r>
            <a:r>
              <a:rPr lang="zh-CN" altLang="zh-CN" sz="2000"/>
              <a:t>个记录，没变化。</a:t>
            </a:r>
            <a:endParaRPr lang="en-US" altLang="zh-CN" sz="2000"/>
          </a:p>
          <a:p>
            <a:r>
              <a:rPr lang="zh-CN" altLang="en-US" sz="2000"/>
              <a:t>第</a:t>
            </a:r>
            <a:r>
              <a:rPr lang="en-US" altLang="zh-CN" sz="2000"/>
              <a:t>11</a:t>
            </a:r>
            <a:r>
              <a:rPr lang="zh-CN" altLang="en-US" sz="2000"/>
              <a:t>个记录</a:t>
            </a:r>
            <a:r>
              <a:rPr lang="en-US" altLang="zh-CN" sz="2000"/>
              <a:t> =&lt;</a:t>
            </a:r>
            <a:r>
              <a:rPr lang="zh-CN" altLang="en-US" sz="2000"/>
              <a:t>刘冰冰，女，</a:t>
            </a:r>
            <a:r>
              <a:rPr lang="en-US" altLang="zh-CN" sz="2000"/>
              <a:t>1.68&gt;</a:t>
            </a:r>
            <a:r>
              <a:rPr lang="zh-CN" altLang="en-US" sz="2000"/>
              <a:t>，需要替换掉</a:t>
            </a:r>
            <a:r>
              <a:rPr lang="en-US" altLang="zh-CN" sz="2000"/>
              <a:t>&lt;</a:t>
            </a:r>
            <a:r>
              <a:rPr lang="zh-CN" altLang="en-US" sz="2000"/>
              <a:t>马大华，女，</a:t>
            </a:r>
            <a:r>
              <a:rPr lang="en-US" altLang="zh-CN" sz="2000"/>
              <a:t>1.70&gt;</a:t>
            </a:r>
            <a:r>
              <a:rPr lang="zh-CN" altLang="en-US" sz="2000"/>
              <a:t>，得到</a:t>
            </a:r>
            <a:r>
              <a:rPr lang="en-US" altLang="zh-CN" sz="2000">
                <a:solidFill>
                  <a:srgbClr val="FF0000"/>
                </a:solidFill>
              </a:rPr>
              <a:t>N ={&lt;</a:t>
            </a:r>
            <a:r>
              <a:rPr lang="zh-CN" altLang="en-US" sz="2000">
                <a:solidFill>
                  <a:srgbClr val="FF0000"/>
                </a:solidFill>
              </a:rPr>
              <a:t>李莉，女， </a:t>
            </a:r>
            <a:r>
              <a:rPr lang="en-US" altLang="zh-CN" sz="2000">
                <a:solidFill>
                  <a:srgbClr val="FF0000"/>
                </a:solidFill>
              </a:rPr>
              <a:t>1.50&gt;</a:t>
            </a:r>
            <a:r>
              <a:rPr lang="zh-CN" altLang="en-US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</a:t>
            </a:r>
            <a:r>
              <a:rPr lang="zh-CN" altLang="en-US" sz="2000">
                <a:solidFill>
                  <a:srgbClr val="FF0000"/>
                </a:solidFill>
              </a:rPr>
              <a:t>张烨，女，</a:t>
            </a:r>
            <a:r>
              <a:rPr lang="en-US" altLang="zh-CN" sz="2000">
                <a:solidFill>
                  <a:srgbClr val="FF0000"/>
                </a:solidFill>
              </a:rPr>
              <a:t>1.50&gt;</a:t>
            </a:r>
            <a:r>
              <a:rPr lang="zh-CN" altLang="en-US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</a:t>
            </a:r>
            <a:r>
              <a:rPr lang="zh-CN" altLang="en-US" sz="2000">
                <a:solidFill>
                  <a:srgbClr val="FF0000"/>
                </a:solidFill>
              </a:rPr>
              <a:t>刘冰冰，女，</a:t>
            </a:r>
            <a:r>
              <a:rPr lang="en-US" altLang="zh-CN" sz="2000">
                <a:solidFill>
                  <a:srgbClr val="FF0000"/>
                </a:solidFill>
              </a:rPr>
              <a:t>1.68&gt;</a:t>
            </a:r>
            <a:r>
              <a:rPr lang="zh-CN" altLang="en-US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</a:t>
            </a:r>
            <a:r>
              <a:rPr lang="zh-CN" altLang="en-US" sz="2000">
                <a:solidFill>
                  <a:srgbClr val="FF0000"/>
                </a:solidFill>
              </a:rPr>
              <a:t>戴维，男，</a:t>
            </a:r>
            <a:r>
              <a:rPr lang="en-US" altLang="zh-CN" sz="2000">
                <a:solidFill>
                  <a:srgbClr val="FF0000"/>
                </a:solidFill>
              </a:rPr>
              <a:t>1.60&gt;</a:t>
            </a:r>
            <a:r>
              <a:rPr lang="zh-CN" altLang="en-US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 </a:t>
            </a:r>
            <a:r>
              <a:rPr lang="zh-CN" altLang="en-US" sz="2000">
                <a:solidFill>
                  <a:srgbClr val="FF0000"/>
                </a:solidFill>
              </a:rPr>
              <a:t>刘敏杰，女，</a:t>
            </a:r>
            <a:r>
              <a:rPr lang="en-US" altLang="zh-CN" sz="2000">
                <a:solidFill>
                  <a:srgbClr val="FF0000"/>
                </a:solidFill>
              </a:rPr>
              <a:t>1.60&gt;}</a:t>
            </a:r>
            <a:r>
              <a:rPr lang="zh-CN" altLang="en-US" sz="2000">
                <a:solidFill>
                  <a:srgbClr val="FF0000"/>
                </a:solidFill>
              </a:rPr>
              <a:t>。</a:t>
            </a:r>
          </a:p>
          <a:p>
            <a:endParaRPr lang="zh-CN" altLang="zh-CN" sz="2000"/>
          </a:p>
          <a:p>
            <a:pPr eaLnBrk="1" hangingPunct="1">
              <a:buFont typeface="Wingdings" panose="05000000000000000000" pitchFamily="2" charset="2"/>
              <a:buNone/>
            </a:pPr>
            <a:endParaRPr lang="zh-CN" altLang="en-US"/>
          </a:p>
        </p:txBody>
      </p:sp>
      <p:sp>
        <p:nvSpPr>
          <p:cNvPr id="29702" name="Text Box 6">
            <a:extLst>
              <a:ext uri="{FF2B5EF4-FFF2-40B4-BE49-F238E27FC236}">
                <a16:creationId xmlns:a16="http://schemas.microsoft.com/office/drawing/2014/main" xmlns="" id="{7A96B25A-009B-45C9-B750-A9DAAC0BF1A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6100" y="1360488"/>
            <a:ext cx="1841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CN" altLang="en-US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21" name="日期占位符 3">
            <a:extLst>
              <a:ext uri="{FF2B5EF4-FFF2-40B4-BE49-F238E27FC236}">
                <a16:creationId xmlns:a16="http://schemas.microsoft.com/office/drawing/2014/main" xmlns="" id="{0DA4BBC2-659F-49EA-AD9A-DA0918514795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5587041D-AD41-4EE0-ADA8-B9C74CD6CD3A}" type="datetime4">
              <a:rPr lang="zh-CN" altLang="en-US" sz="12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2018年10月21日星期日</a:t>
            </a:fld>
            <a:endParaRPr lang="en-US" altLang="zh-CN" sz="12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30722" name="页脚占位符 4">
            <a:extLst>
              <a:ext uri="{FF2B5EF4-FFF2-40B4-BE49-F238E27FC236}">
                <a16:creationId xmlns:a16="http://schemas.microsoft.com/office/drawing/2014/main" xmlns="" id="{B9C4F5FB-C3BF-446C-B03D-A5B2BEFFAAF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200">
                <a:latin typeface="Tahoma" panose="020B0604030504040204" pitchFamily="34" charset="0"/>
                <a:ea typeface="宋体" panose="02010600030101010101" pitchFamily="2" charset="-122"/>
              </a:rPr>
              <a:t>DMKD  Sides</a:t>
            </a:r>
          </a:p>
        </p:txBody>
      </p:sp>
      <p:sp>
        <p:nvSpPr>
          <p:cNvPr id="30723" name="灯片编号占位符 5">
            <a:extLst>
              <a:ext uri="{FF2B5EF4-FFF2-40B4-BE49-F238E27FC236}">
                <a16:creationId xmlns:a16="http://schemas.microsoft.com/office/drawing/2014/main" xmlns="" id="{7E211C02-153C-4EAB-9F81-DFC5AD0371D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1E28F41B-C76A-4909-AD63-64FEA1482BB0}" type="slidenum">
              <a:rPr lang="zh-CN" altLang="en-US" sz="14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22</a:t>
            </a:fld>
            <a:endParaRPr lang="en-US" altLang="zh-CN" sz="14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30724" name="Rectangle 2">
            <a:extLst>
              <a:ext uri="{FF2B5EF4-FFF2-40B4-BE49-F238E27FC236}">
                <a16:creationId xmlns:a16="http://schemas.microsoft.com/office/drawing/2014/main" xmlns="" id="{0AD19165-B5A0-47CD-8FF5-1903E197B2D8}"/>
              </a:ext>
            </a:extLst>
          </p:cNvPr>
          <p:cNvSpPr>
            <a:spLocks noGrp="1" noChangeArrowheads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altLang="zh-CN"/>
              <a:t>KNN</a:t>
            </a:r>
            <a:r>
              <a:rPr lang="zh-CN" altLang="en-US"/>
              <a:t>的例子</a:t>
            </a:r>
            <a:r>
              <a:rPr lang="en-US" altLang="zh-CN"/>
              <a:t>-</a:t>
            </a:r>
            <a:r>
              <a:rPr lang="zh-CN" altLang="en-US"/>
              <a:t>挖掘过程</a:t>
            </a:r>
            <a:r>
              <a:rPr lang="en-US" altLang="zh-CN"/>
              <a:t>(</a:t>
            </a:r>
            <a:r>
              <a:rPr lang="zh-CN" altLang="en-US"/>
              <a:t>续</a:t>
            </a:r>
            <a:r>
              <a:rPr lang="en-US" altLang="zh-CN"/>
              <a:t>)</a:t>
            </a:r>
          </a:p>
        </p:txBody>
      </p:sp>
      <p:sp>
        <p:nvSpPr>
          <p:cNvPr id="30725" name="Rectangle 3">
            <a:extLst>
              <a:ext uri="{FF2B5EF4-FFF2-40B4-BE49-F238E27FC236}">
                <a16:creationId xmlns:a16="http://schemas.microsoft.com/office/drawing/2014/main" xmlns="" id="{1A3CC6E2-D717-4523-A41C-E097C36465B1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/>
        <p:txBody>
          <a:bodyPr/>
          <a:lstStyle/>
          <a:p>
            <a:r>
              <a:rPr lang="zh-CN" altLang="en-US" sz="2000"/>
              <a:t>第</a:t>
            </a:r>
            <a:r>
              <a:rPr lang="en-US" altLang="zh-CN" sz="2000"/>
              <a:t>11</a:t>
            </a:r>
            <a:r>
              <a:rPr lang="zh-CN" altLang="en-US" sz="2000"/>
              <a:t>个记录</a:t>
            </a:r>
            <a:r>
              <a:rPr lang="en-US" altLang="zh-CN" sz="2000"/>
              <a:t> =&lt;</a:t>
            </a:r>
            <a:r>
              <a:rPr lang="zh-CN" altLang="en-US" sz="2000"/>
              <a:t>刘冰冰，女，</a:t>
            </a:r>
            <a:r>
              <a:rPr lang="en-US" altLang="zh-CN" sz="2000"/>
              <a:t>1.68&gt;</a:t>
            </a:r>
            <a:r>
              <a:rPr lang="zh-CN" altLang="en-US" sz="2000"/>
              <a:t>，需要替换掉</a:t>
            </a:r>
            <a:r>
              <a:rPr lang="en-US" altLang="zh-CN" sz="2000"/>
              <a:t>&lt;</a:t>
            </a:r>
            <a:r>
              <a:rPr lang="zh-CN" altLang="en-US" sz="2000"/>
              <a:t>马大华，女，</a:t>
            </a:r>
            <a:r>
              <a:rPr lang="en-US" altLang="zh-CN" sz="2000"/>
              <a:t>1.70&gt;</a:t>
            </a:r>
            <a:r>
              <a:rPr lang="zh-CN" altLang="en-US" sz="2000"/>
              <a:t>，得到</a:t>
            </a:r>
            <a:r>
              <a:rPr lang="en-US" altLang="zh-CN" sz="2000">
                <a:solidFill>
                  <a:srgbClr val="FF0000"/>
                </a:solidFill>
              </a:rPr>
              <a:t>N ={&lt;</a:t>
            </a:r>
            <a:r>
              <a:rPr lang="zh-CN" altLang="en-US" sz="2000">
                <a:solidFill>
                  <a:srgbClr val="FF0000"/>
                </a:solidFill>
              </a:rPr>
              <a:t>李莉，女， </a:t>
            </a:r>
            <a:r>
              <a:rPr lang="en-US" altLang="zh-CN" sz="2000">
                <a:solidFill>
                  <a:srgbClr val="FF0000"/>
                </a:solidFill>
              </a:rPr>
              <a:t>1.50&gt;</a:t>
            </a:r>
            <a:r>
              <a:rPr lang="zh-CN" altLang="en-US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</a:t>
            </a:r>
            <a:r>
              <a:rPr lang="zh-CN" altLang="en-US" sz="2000">
                <a:solidFill>
                  <a:srgbClr val="FF0000"/>
                </a:solidFill>
              </a:rPr>
              <a:t>张烨，女，</a:t>
            </a:r>
            <a:r>
              <a:rPr lang="en-US" altLang="zh-CN" sz="2000">
                <a:solidFill>
                  <a:srgbClr val="FF0000"/>
                </a:solidFill>
              </a:rPr>
              <a:t>1.50&gt;</a:t>
            </a:r>
            <a:r>
              <a:rPr lang="zh-CN" altLang="en-US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</a:t>
            </a:r>
            <a:r>
              <a:rPr lang="zh-CN" altLang="en-US" sz="2000">
                <a:solidFill>
                  <a:srgbClr val="FF0000"/>
                </a:solidFill>
              </a:rPr>
              <a:t>刘冰冰，女，</a:t>
            </a:r>
            <a:r>
              <a:rPr lang="en-US" altLang="zh-CN" sz="2000">
                <a:solidFill>
                  <a:srgbClr val="FF0000"/>
                </a:solidFill>
              </a:rPr>
              <a:t>1.68&gt;</a:t>
            </a:r>
            <a:r>
              <a:rPr lang="zh-CN" altLang="en-US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</a:t>
            </a:r>
            <a:r>
              <a:rPr lang="zh-CN" altLang="en-US" sz="2000">
                <a:solidFill>
                  <a:srgbClr val="FF0000"/>
                </a:solidFill>
              </a:rPr>
              <a:t>戴维，男，</a:t>
            </a:r>
            <a:r>
              <a:rPr lang="en-US" altLang="zh-CN" sz="2000">
                <a:solidFill>
                  <a:srgbClr val="FF0000"/>
                </a:solidFill>
              </a:rPr>
              <a:t>1.60&gt;</a:t>
            </a:r>
            <a:r>
              <a:rPr lang="zh-CN" altLang="en-US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 </a:t>
            </a:r>
            <a:r>
              <a:rPr lang="zh-CN" altLang="en-US" sz="2000">
                <a:solidFill>
                  <a:srgbClr val="FF0000"/>
                </a:solidFill>
              </a:rPr>
              <a:t>刘敏杰，女，</a:t>
            </a:r>
            <a:r>
              <a:rPr lang="en-US" altLang="zh-CN" sz="2000">
                <a:solidFill>
                  <a:srgbClr val="FF0000"/>
                </a:solidFill>
              </a:rPr>
              <a:t>1.60&gt;}</a:t>
            </a:r>
            <a:r>
              <a:rPr lang="zh-CN" altLang="en-US" sz="2000">
                <a:solidFill>
                  <a:srgbClr val="FF0000"/>
                </a:solidFill>
              </a:rPr>
              <a:t>。</a:t>
            </a:r>
          </a:p>
          <a:p>
            <a:r>
              <a:rPr lang="zh-CN" altLang="zh-CN" sz="2000"/>
              <a:t>第</a:t>
            </a:r>
            <a:r>
              <a:rPr lang="en-US" altLang="zh-CN" sz="2000"/>
              <a:t>12</a:t>
            </a:r>
            <a:r>
              <a:rPr lang="zh-CN" altLang="zh-CN" sz="2000"/>
              <a:t>～</a:t>
            </a:r>
            <a:r>
              <a:rPr lang="en-US" altLang="zh-CN" sz="2000"/>
              <a:t>14</a:t>
            </a:r>
            <a:r>
              <a:rPr lang="zh-CN" altLang="zh-CN" sz="2000"/>
              <a:t>个记录，没变化。</a:t>
            </a:r>
          </a:p>
          <a:p>
            <a:r>
              <a:rPr lang="zh-CN" altLang="zh-CN" sz="2000"/>
              <a:t>第</a:t>
            </a:r>
            <a:r>
              <a:rPr lang="en-US" altLang="zh-CN" sz="2000"/>
              <a:t>15</a:t>
            </a:r>
            <a:r>
              <a:rPr lang="zh-CN" altLang="zh-CN" sz="2000"/>
              <a:t>个记录</a:t>
            </a:r>
            <a:r>
              <a:rPr lang="en-US" altLang="zh-CN" sz="2000"/>
              <a:t> =&lt;</a:t>
            </a:r>
            <a:r>
              <a:rPr lang="zh-CN" altLang="zh-CN" sz="2000"/>
              <a:t>徐甜甜，女，</a:t>
            </a:r>
            <a:r>
              <a:rPr lang="en-US" altLang="zh-CN" sz="2000"/>
              <a:t>1.65&gt;</a:t>
            </a:r>
            <a:r>
              <a:rPr lang="zh-CN" altLang="zh-CN" sz="2000"/>
              <a:t>，需要替换掉</a:t>
            </a:r>
            <a:r>
              <a:rPr lang="en-US" altLang="zh-CN" sz="2000"/>
              <a:t>&lt;</a:t>
            </a:r>
            <a:r>
              <a:rPr lang="zh-CN" altLang="zh-CN" sz="2000"/>
              <a:t>刘冰冰，女，</a:t>
            </a:r>
            <a:r>
              <a:rPr lang="en-US" altLang="zh-CN" sz="2000"/>
              <a:t>1.68&gt;</a:t>
            </a:r>
            <a:r>
              <a:rPr lang="zh-CN" altLang="zh-CN" sz="2000"/>
              <a:t>，得到</a:t>
            </a:r>
            <a:r>
              <a:rPr lang="en-US" altLang="zh-CN" sz="2000"/>
              <a:t> </a:t>
            </a:r>
            <a:r>
              <a:rPr lang="en-US" altLang="zh-CN" sz="2000">
                <a:solidFill>
                  <a:srgbClr val="FF0000"/>
                </a:solidFill>
              </a:rPr>
              <a:t>N={&lt;</a:t>
            </a:r>
            <a:r>
              <a:rPr lang="zh-CN" altLang="zh-CN" sz="2000">
                <a:solidFill>
                  <a:srgbClr val="FF0000"/>
                </a:solidFill>
              </a:rPr>
              <a:t>李莉，女， </a:t>
            </a:r>
            <a:r>
              <a:rPr lang="en-US" altLang="zh-CN" sz="2000">
                <a:solidFill>
                  <a:srgbClr val="FF0000"/>
                </a:solidFill>
              </a:rPr>
              <a:t>1.50&gt;</a:t>
            </a:r>
            <a:r>
              <a:rPr lang="zh-CN" altLang="zh-CN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</a:t>
            </a:r>
            <a:r>
              <a:rPr lang="zh-CN" altLang="zh-CN" sz="2000">
                <a:solidFill>
                  <a:srgbClr val="FF0000"/>
                </a:solidFill>
              </a:rPr>
              <a:t>张烨，女，</a:t>
            </a:r>
            <a:r>
              <a:rPr lang="en-US" altLang="zh-CN" sz="2000">
                <a:solidFill>
                  <a:srgbClr val="FF0000"/>
                </a:solidFill>
              </a:rPr>
              <a:t>1.50&gt;</a:t>
            </a:r>
            <a:r>
              <a:rPr lang="zh-CN" altLang="zh-CN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</a:t>
            </a:r>
            <a:r>
              <a:rPr lang="zh-CN" altLang="zh-CN" sz="2000">
                <a:solidFill>
                  <a:srgbClr val="FF0000"/>
                </a:solidFill>
              </a:rPr>
              <a:t>徐甜甜，女，</a:t>
            </a:r>
            <a:r>
              <a:rPr lang="en-US" altLang="zh-CN" sz="2000">
                <a:solidFill>
                  <a:srgbClr val="FF0000"/>
                </a:solidFill>
              </a:rPr>
              <a:t>1.65&gt;</a:t>
            </a:r>
            <a:r>
              <a:rPr lang="zh-CN" altLang="zh-CN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</a:t>
            </a:r>
            <a:r>
              <a:rPr lang="zh-CN" altLang="zh-CN" sz="2000">
                <a:solidFill>
                  <a:srgbClr val="FF0000"/>
                </a:solidFill>
              </a:rPr>
              <a:t>戴维，男，</a:t>
            </a:r>
            <a:r>
              <a:rPr lang="en-US" altLang="zh-CN" sz="2000">
                <a:solidFill>
                  <a:srgbClr val="FF0000"/>
                </a:solidFill>
              </a:rPr>
              <a:t>1.60&gt;</a:t>
            </a:r>
            <a:r>
              <a:rPr lang="zh-CN" altLang="zh-CN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 </a:t>
            </a:r>
            <a:r>
              <a:rPr lang="zh-CN" altLang="zh-CN" sz="2000">
                <a:solidFill>
                  <a:srgbClr val="FF0000"/>
                </a:solidFill>
              </a:rPr>
              <a:t>刘敏杰，女，</a:t>
            </a:r>
            <a:r>
              <a:rPr lang="en-US" altLang="zh-CN" sz="2000">
                <a:solidFill>
                  <a:srgbClr val="FF0000"/>
                </a:solidFill>
              </a:rPr>
              <a:t>1.60&gt;}</a:t>
            </a:r>
            <a:r>
              <a:rPr lang="zh-CN" altLang="zh-CN" sz="2000">
                <a:solidFill>
                  <a:srgbClr val="FF0000"/>
                </a:solidFill>
              </a:rPr>
              <a:t>。</a:t>
            </a:r>
          </a:p>
          <a:p>
            <a:pPr>
              <a:buFont typeface="Wingdings" panose="05000000000000000000" pitchFamily="2" charset="2"/>
              <a:buNone/>
            </a:pPr>
            <a:endParaRPr lang="en-US" altLang="zh-CN" sz="2000">
              <a:solidFill>
                <a:srgbClr val="FF0000"/>
              </a:solidFill>
            </a:endParaRPr>
          </a:p>
          <a:p>
            <a:pPr>
              <a:buFont typeface="Wingdings" panose="05000000000000000000" pitchFamily="2" charset="2"/>
              <a:buNone/>
            </a:pPr>
            <a:r>
              <a:rPr lang="zh-CN" altLang="zh-CN" sz="2000">
                <a:solidFill>
                  <a:srgbClr val="FF0000"/>
                </a:solidFill>
              </a:rPr>
              <a:t>最后的输出</a:t>
            </a:r>
            <a:r>
              <a:rPr lang="en-US" altLang="zh-CN" sz="2000">
                <a:solidFill>
                  <a:srgbClr val="FF0000"/>
                </a:solidFill>
              </a:rPr>
              <a:t> ={&lt;</a:t>
            </a:r>
            <a:r>
              <a:rPr lang="zh-CN" altLang="zh-CN" sz="2000">
                <a:solidFill>
                  <a:srgbClr val="FF0000"/>
                </a:solidFill>
              </a:rPr>
              <a:t>李莉，女， </a:t>
            </a:r>
            <a:r>
              <a:rPr lang="en-US" altLang="zh-CN" sz="2000">
                <a:solidFill>
                  <a:srgbClr val="FF0000"/>
                </a:solidFill>
              </a:rPr>
              <a:t>1.50&gt;</a:t>
            </a:r>
            <a:r>
              <a:rPr lang="zh-CN" altLang="zh-CN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</a:t>
            </a:r>
            <a:r>
              <a:rPr lang="zh-CN" altLang="zh-CN" sz="2000">
                <a:solidFill>
                  <a:srgbClr val="FF0000"/>
                </a:solidFill>
              </a:rPr>
              <a:t>张烨，女，</a:t>
            </a:r>
            <a:r>
              <a:rPr lang="en-US" altLang="zh-CN" sz="2000">
                <a:solidFill>
                  <a:srgbClr val="FF0000"/>
                </a:solidFill>
              </a:rPr>
              <a:t>1.50&gt;</a:t>
            </a:r>
            <a:r>
              <a:rPr lang="zh-CN" altLang="zh-CN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</a:t>
            </a:r>
            <a:r>
              <a:rPr lang="zh-CN" altLang="zh-CN" sz="2000">
                <a:solidFill>
                  <a:srgbClr val="FF0000"/>
                </a:solidFill>
              </a:rPr>
              <a:t>徐甜甜，女，</a:t>
            </a:r>
            <a:r>
              <a:rPr lang="en-US" altLang="zh-CN" sz="2000">
                <a:solidFill>
                  <a:srgbClr val="FF0000"/>
                </a:solidFill>
              </a:rPr>
              <a:t>1.65&gt;</a:t>
            </a:r>
            <a:r>
              <a:rPr lang="zh-CN" altLang="zh-CN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</a:t>
            </a:r>
            <a:r>
              <a:rPr lang="zh-CN" altLang="zh-CN" sz="2000">
                <a:solidFill>
                  <a:srgbClr val="FF0000"/>
                </a:solidFill>
              </a:rPr>
              <a:t>戴维，男，</a:t>
            </a:r>
            <a:r>
              <a:rPr lang="en-US" altLang="zh-CN" sz="2000">
                <a:solidFill>
                  <a:srgbClr val="FF0000"/>
                </a:solidFill>
              </a:rPr>
              <a:t>1.60&gt;</a:t>
            </a:r>
            <a:r>
              <a:rPr lang="zh-CN" altLang="zh-CN" sz="2000">
                <a:solidFill>
                  <a:srgbClr val="FF0000"/>
                </a:solidFill>
              </a:rPr>
              <a:t>，</a:t>
            </a:r>
            <a:r>
              <a:rPr lang="en-US" altLang="zh-CN" sz="2000">
                <a:solidFill>
                  <a:srgbClr val="FF0000"/>
                </a:solidFill>
              </a:rPr>
              <a:t>&lt; </a:t>
            </a:r>
            <a:r>
              <a:rPr lang="zh-CN" altLang="zh-CN" sz="2000">
                <a:solidFill>
                  <a:srgbClr val="FF0000"/>
                </a:solidFill>
              </a:rPr>
              <a:t>刘敏杰，女，</a:t>
            </a:r>
            <a:r>
              <a:rPr lang="en-US" altLang="zh-CN" sz="2000">
                <a:solidFill>
                  <a:srgbClr val="FF0000"/>
                </a:solidFill>
              </a:rPr>
              <a:t>1.60&gt;}</a:t>
            </a:r>
            <a:r>
              <a:rPr lang="zh-CN" altLang="zh-CN" sz="2000">
                <a:solidFill>
                  <a:srgbClr val="FF0000"/>
                </a:solidFill>
              </a:rPr>
              <a:t>。对照表</a:t>
            </a:r>
            <a:r>
              <a:rPr lang="en-US" altLang="zh-CN" sz="2000">
                <a:solidFill>
                  <a:srgbClr val="FF0000"/>
                </a:solidFill>
              </a:rPr>
              <a:t>4-2</a:t>
            </a:r>
            <a:r>
              <a:rPr lang="zh-CN" altLang="zh-CN" sz="2000">
                <a:solidFill>
                  <a:srgbClr val="FF0000"/>
                </a:solidFill>
              </a:rPr>
              <a:t>，在这五项中，四个属于矮个，一个属于中等。最终</a:t>
            </a:r>
            <a:r>
              <a:rPr lang="en-US" altLang="zh-CN" sz="2000">
                <a:solidFill>
                  <a:srgbClr val="FF0000"/>
                </a:solidFill>
              </a:rPr>
              <a:t> -</a:t>
            </a:r>
            <a:r>
              <a:rPr lang="zh-CN" altLang="zh-CN" sz="2000">
                <a:solidFill>
                  <a:srgbClr val="FF0000"/>
                </a:solidFill>
              </a:rPr>
              <a:t>最临近算法认为范可可为矮个。</a:t>
            </a:r>
            <a:endParaRPr lang="en-US" altLang="zh-CN" sz="2000">
              <a:solidFill>
                <a:srgbClr val="FF0000"/>
              </a:solidFill>
            </a:endParaRPr>
          </a:p>
          <a:p>
            <a:pPr>
              <a:buFont typeface="Wingdings" panose="05000000000000000000" pitchFamily="2" charset="2"/>
              <a:buNone/>
            </a:pPr>
            <a:endParaRPr lang="en-US" altLang="zh-CN" sz="2000">
              <a:solidFill>
                <a:srgbClr val="FF0000"/>
              </a:solidFill>
            </a:endParaRPr>
          </a:p>
          <a:p>
            <a:pPr>
              <a:buFont typeface="Wingdings" panose="05000000000000000000" pitchFamily="2" charset="2"/>
              <a:buNone/>
            </a:pPr>
            <a:r>
              <a:rPr lang="zh-CN" altLang="en-US" sz="2000">
                <a:solidFill>
                  <a:srgbClr val="7575D1"/>
                </a:solidFill>
              </a:rPr>
              <a:t>讨论：合理性？</a:t>
            </a:r>
            <a:endParaRPr lang="zh-CN" altLang="zh-CN" sz="2000">
              <a:solidFill>
                <a:srgbClr val="7575D1"/>
              </a:solidFill>
            </a:endParaRPr>
          </a:p>
          <a:p>
            <a:pPr eaLnBrk="1" hangingPunct="1">
              <a:buFont typeface="Wingdings" panose="05000000000000000000" pitchFamily="2" charset="2"/>
              <a:buNone/>
            </a:pPr>
            <a:endParaRPr lang="zh-CN" altLang="en-US"/>
          </a:p>
        </p:txBody>
      </p:sp>
      <p:sp>
        <p:nvSpPr>
          <p:cNvPr id="30726" name="Text Box 6">
            <a:extLst>
              <a:ext uri="{FF2B5EF4-FFF2-40B4-BE49-F238E27FC236}">
                <a16:creationId xmlns:a16="http://schemas.microsoft.com/office/drawing/2014/main" xmlns="" id="{7C984194-6160-4E0B-B3B4-8145263C317C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6100" y="1360488"/>
            <a:ext cx="184150" cy="5191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none">
            <a:spAutoFit/>
          </a:bodyPr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 eaLnBrk="1" hangingPunct="1">
              <a:spcBef>
                <a:spcPct val="0"/>
              </a:spcBef>
              <a:buClrTx/>
              <a:buSzTx/>
              <a:buFontTx/>
              <a:buNone/>
            </a:pPr>
            <a:endParaRPr lang="zh-CN" altLang="en-US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smtClean="0"/>
              <a:t>R</a:t>
            </a:r>
            <a:r>
              <a:rPr kumimoji="1" lang="zh-CN" altLang="en-US" dirty="0" smtClean="0"/>
              <a:t>语言最近邻算法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/>
              <a:t>R</a:t>
            </a:r>
            <a:r>
              <a:rPr lang="zh-CN" altLang="en-US" dirty="0"/>
              <a:t>语言中进行</a:t>
            </a:r>
            <a:r>
              <a:rPr lang="en-US" altLang="zh-CN" dirty="0"/>
              <a:t>K</a:t>
            </a:r>
            <a:r>
              <a:rPr lang="zh-CN" altLang="en-US" dirty="0"/>
              <a:t>近邻算法分析的函数包</a:t>
            </a:r>
            <a:r>
              <a:rPr lang="zh-CN" altLang="en-US" dirty="0" smtClean="0"/>
              <a:t>有</a:t>
            </a:r>
            <a:endParaRPr lang="en-US" altLang="zh-CN" dirty="0" smtClean="0"/>
          </a:p>
          <a:p>
            <a:r>
              <a:rPr lang="en-US" altLang="zh-CN" b="1" dirty="0" smtClean="0"/>
              <a:t>1.</a:t>
            </a:r>
            <a:r>
              <a:rPr lang="zh-CN" altLang="en-US" b="1" dirty="0" smtClean="0"/>
              <a:t> </a:t>
            </a:r>
            <a:r>
              <a:rPr lang="en-US" altLang="zh-CN" b="1" dirty="0" smtClean="0"/>
              <a:t>class</a:t>
            </a:r>
            <a:r>
              <a:rPr lang="zh-CN" altLang="en-US" b="1" dirty="0"/>
              <a:t>包中的</a:t>
            </a:r>
            <a:r>
              <a:rPr lang="en-US" altLang="zh-CN" b="1" dirty="0" err="1"/>
              <a:t>knn</a:t>
            </a:r>
            <a:r>
              <a:rPr lang="zh-CN" altLang="en-US" b="1" dirty="0" smtClean="0"/>
              <a:t>函数</a:t>
            </a:r>
            <a:endParaRPr lang="en-US" altLang="zh-CN" dirty="0"/>
          </a:p>
          <a:p>
            <a:r>
              <a:rPr lang="en-US" altLang="zh-CN" b="1" dirty="0" smtClean="0"/>
              <a:t>2.</a:t>
            </a:r>
            <a:r>
              <a:rPr lang="zh-CN" altLang="en-US" b="1" dirty="0" smtClean="0"/>
              <a:t> </a:t>
            </a:r>
            <a:r>
              <a:rPr lang="en-US" altLang="zh-CN" b="1" dirty="0" smtClean="0"/>
              <a:t>caret</a:t>
            </a:r>
            <a:r>
              <a:rPr lang="zh-CN" altLang="en-US" b="1" dirty="0"/>
              <a:t>包中的</a:t>
            </a:r>
            <a:r>
              <a:rPr lang="en-US" altLang="zh-CN" b="1" dirty="0"/>
              <a:t>train</a:t>
            </a:r>
            <a:r>
              <a:rPr lang="zh-CN" altLang="en-US" b="1" dirty="0" smtClean="0"/>
              <a:t>函数</a:t>
            </a:r>
            <a:r>
              <a:rPr lang="zh-CN" altLang="en-US" dirty="0" smtClean="0"/>
              <a:t> </a:t>
            </a:r>
            <a:endParaRPr lang="en-US" altLang="zh-CN" dirty="0" smtClean="0"/>
          </a:p>
          <a:p>
            <a:r>
              <a:rPr lang="en-US" altLang="zh-CN" b="1" dirty="0" smtClean="0"/>
              <a:t>3.</a:t>
            </a:r>
            <a:r>
              <a:rPr lang="zh-CN" altLang="en-US" b="1" dirty="0" smtClean="0"/>
              <a:t> </a:t>
            </a:r>
            <a:r>
              <a:rPr lang="en-US" altLang="zh-CN" b="1" dirty="0" err="1" smtClean="0"/>
              <a:t>kknn</a:t>
            </a:r>
            <a:r>
              <a:rPr lang="zh-CN" altLang="en-US" b="1" dirty="0"/>
              <a:t>包中的</a:t>
            </a:r>
            <a:r>
              <a:rPr lang="en-US" altLang="zh-CN" b="1" dirty="0" err="1"/>
              <a:t>kknn</a:t>
            </a:r>
            <a:r>
              <a:rPr lang="zh-CN" altLang="en-US" b="1" dirty="0" smtClean="0"/>
              <a:t>函数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D90C663-7954-4E7A-A95E-24A6DB01DF5E}" type="datetime4">
              <a:rPr lang="zh-CN" altLang="en-US" smtClean="0"/>
              <a:pPr>
                <a:defRPr/>
              </a:pPr>
              <a:t>2018年10月22日星期一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zh-CN" smtClean="0"/>
              <a:t>DMKD  Sides</a:t>
            </a:r>
            <a:endParaRPr lang="en-US" altLang="zh-CN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983E5D9-EBC7-4FB7-AC1D-3962FCFCBB11}" type="slidenum">
              <a:rPr lang="zh-CN" altLang="en-US" smtClean="0"/>
              <a:pPr>
                <a:defRPr/>
              </a:pPr>
              <a:t>23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248478489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zh-CN" altLang="en-US" dirty="0" smtClean="0"/>
              <a:t>实例：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zh-CN" altLang="en-US" dirty="0" smtClean="0"/>
              <a:t>对</a:t>
            </a:r>
            <a:r>
              <a:rPr lang="en-US" altLang="zh-CN" dirty="0" smtClean="0"/>
              <a:t>R</a:t>
            </a:r>
            <a:r>
              <a:rPr lang="zh-CN" altLang="en-US" dirty="0" smtClean="0"/>
              <a:t>语言自带的数据集</a:t>
            </a:r>
            <a:r>
              <a:rPr lang="en-US" altLang="zh-CN" dirty="0" smtClean="0"/>
              <a:t>iris3</a:t>
            </a:r>
            <a:r>
              <a:rPr lang="zh-CN" altLang="en-US" dirty="0" smtClean="0"/>
              <a:t>进行最近邻分类：</a:t>
            </a:r>
            <a:endParaRPr lang="en-US" altLang="zh-CN" dirty="0" smtClean="0"/>
          </a:p>
          <a:p>
            <a:endParaRPr lang="en-US" altLang="zh-CN" dirty="0" smtClean="0"/>
          </a:p>
          <a:p>
            <a:r>
              <a:rPr lang="mr-IN" altLang="zh-CN" dirty="0" err="1" smtClean="0"/>
              <a:t>train</a:t>
            </a:r>
            <a:r>
              <a:rPr lang="mr-IN" altLang="zh-CN" dirty="0" smtClean="0"/>
              <a:t> </a:t>
            </a:r>
            <a:r>
              <a:rPr lang="mr-IN" altLang="zh-CN" dirty="0"/>
              <a:t>&lt;- </a:t>
            </a:r>
            <a:r>
              <a:rPr lang="mr-IN" altLang="zh-CN" dirty="0" err="1"/>
              <a:t>rbind</a:t>
            </a:r>
            <a:r>
              <a:rPr lang="mr-IN" altLang="zh-CN" dirty="0"/>
              <a:t>(iris3[1:25,,1], iris3[1:25,,2], iris3[1:25,,3]) </a:t>
            </a:r>
            <a:endParaRPr lang="en-US" altLang="zh-CN" dirty="0" smtClean="0"/>
          </a:p>
          <a:p>
            <a:r>
              <a:rPr lang="mr-IN" altLang="zh-CN" dirty="0" err="1" smtClean="0"/>
              <a:t>test</a:t>
            </a:r>
            <a:r>
              <a:rPr lang="mr-IN" altLang="zh-CN" dirty="0" smtClean="0"/>
              <a:t> </a:t>
            </a:r>
            <a:r>
              <a:rPr lang="mr-IN" altLang="zh-CN" dirty="0"/>
              <a:t>&lt;- </a:t>
            </a:r>
            <a:r>
              <a:rPr lang="mr-IN" altLang="zh-CN" dirty="0" err="1"/>
              <a:t>rbind</a:t>
            </a:r>
            <a:r>
              <a:rPr lang="mr-IN" altLang="zh-CN" dirty="0"/>
              <a:t>(iris3[26:50,,1], iris3[26:50,,2], iris3[26:50,,3]) </a:t>
            </a:r>
            <a:endParaRPr lang="en-US" altLang="zh-CN" dirty="0" smtClean="0"/>
          </a:p>
          <a:p>
            <a:r>
              <a:rPr lang="mr-IN" altLang="zh-CN" dirty="0" err="1" smtClean="0"/>
              <a:t>cl</a:t>
            </a:r>
            <a:r>
              <a:rPr lang="mr-IN" altLang="zh-CN" dirty="0" smtClean="0"/>
              <a:t> </a:t>
            </a:r>
            <a:r>
              <a:rPr lang="mr-IN" altLang="zh-CN" dirty="0"/>
              <a:t>&lt;- </a:t>
            </a:r>
            <a:r>
              <a:rPr lang="mr-IN" altLang="zh-CN" dirty="0" err="1"/>
              <a:t>factor</a:t>
            </a:r>
            <a:r>
              <a:rPr lang="mr-IN" altLang="zh-CN" dirty="0"/>
              <a:t>(</a:t>
            </a:r>
            <a:r>
              <a:rPr lang="mr-IN" altLang="zh-CN" dirty="0" err="1"/>
              <a:t>c</a:t>
            </a:r>
            <a:r>
              <a:rPr lang="mr-IN" altLang="zh-CN" dirty="0"/>
              <a:t>(</a:t>
            </a:r>
            <a:r>
              <a:rPr lang="mr-IN" altLang="zh-CN" dirty="0" err="1"/>
              <a:t>rep</a:t>
            </a:r>
            <a:r>
              <a:rPr lang="mr-IN" altLang="zh-CN" dirty="0"/>
              <a:t>("s",25), </a:t>
            </a:r>
            <a:r>
              <a:rPr lang="mr-IN" altLang="zh-CN" dirty="0" err="1"/>
              <a:t>rep</a:t>
            </a:r>
            <a:r>
              <a:rPr lang="mr-IN" altLang="zh-CN" dirty="0"/>
              <a:t>("c",25), </a:t>
            </a:r>
            <a:r>
              <a:rPr lang="mr-IN" altLang="zh-CN" dirty="0" err="1"/>
              <a:t>rep</a:t>
            </a:r>
            <a:r>
              <a:rPr lang="mr-IN" altLang="zh-CN" dirty="0"/>
              <a:t>("v",25))) </a:t>
            </a:r>
            <a:endParaRPr lang="en-US" altLang="zh-CN" dirty="0" smtClean="0"/>
          </a:p>
          <a:p>
            <a:r>
              <a:rPr lang="mr-IN" altLang="zh-CN" dirty="0" err="1" smtClean="0"/>
              <a:t>knn</a:t>
            </a:r>
            <a:r>
              <a:rPr lang="mr-IN" altLang="zh-CN" dirty="0" smtClean="0"/>
              <a:t>(</a:t>
            </a:r>
            <a:r>
              <a:rPr lang="mr-IN" altLang="zh-CN" dirty="0" err="1" smtClean="0"/>
              <a:t>train</a:t>
            </a:r>
            <a:r>
              <a:rPr lang="mr-IN" altLang="zh-CN" dirty="0"/>
              <a:t>, </a:t>
            </a:r>
            <a:r>
              <a:rPr lang="mr-IN" altLang="zh-CN" dirty="0" err="1"/>
              <a:t>test</a:t>
            </a:r>
            <a:r>
              <a:rPr lang="mr-IN" altLang="zh-CN" dirty="0"/>
              <a:t>, </a:t>
            </a:r>
            <a:r>
              <a:rPr lang="mr-IN" altLang="zh-CN" dirty="0" err="1"/>
              <a:t>cl</a:t>
            </a:r>
            <a:r>
              <a:rPr lang="mr-IN" altLang="zh-CN" dirty="0"/>
              <a:t>, </a:t>
            </a:r>
            <a:r>
              <a:rPr lang="mr-IN" altLang="zh-CN" dirty="0" err="1"/>
              <a:t>k</a:t>
            </a:r>
            <a:r>
              <a:rPr lang="mr-IN" altLang="zh-CN" dirty="0"/>
              <a:t> = 3, </a:t>
            </a:r>
            <a:r>
              <a:rPr lang="mr-IN" altLang="zh-CN" dirty="0" err="1"/>
              <a:t>prob</a:t>
            </a:r>
            <a:r>
              <a:rPr lang="mr-IN" altLang="zh-CN" dirty="0"/>
              <a:t>=TRUE) </a:t>
            </a:r>
            <a:r>
              <a:rPr lang="mr-IN" altLang="zh-CN" dirty="0" err="1"/>
              <a:t>attributes</a:t>
            </a:r>
            <a:r>
              <a:rPr lang="mr-IN" altLang="zh-CN" dirty="0"/>
              <a:t>(.</a:t>
            </a:r>
            <a:r>
              <a:rPr lang="mr-IN" altLang="zh-CN" dirty="0" err="1"/>
              <a:t>Last.value</a:t>
            </a:r>
            <a:r>
              <a:rPr lang="mr-IN" altLang="zh-CN" dirty="0"/>
              <a:t>)</a:t>
            </a:r>
            <a:endParaRPr kumimoji="1"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D90C663-7954-4E7A-A95E-24A6DB01DF5E}" type="datetime4">
              <a:rPr lang="zh-CN" altLang="en-US" smtClean="0"/>
              <a:pPr>
                <a:defRPr/>
              </a:pPr>
              <a:t>2018年10月22日星期一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zh-CN" smtClean="0"/>
              <a:t>DMKD  Sides</a:t>
            </a:r>
            <a:endParaRPr lang="en-US" altLang="zh-CN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983E5D9-EBC7-4FB7-AC1D-3962FCFCBB11}" type="slidenum">
              <a:rPr lang="zh-CN" altLang="en-US" smtClean="0"/>
              <a:pPr>
                <a:defRPr/>
              </a:pPr>
              <a:t>24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44804515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en-US" altLang="zh-CN" dirty="0" err="1" smtClean="0"/>
              <a:t>knn</a:t>
            </a:r>
            <a:r>
              <a:rPr kumimoji="1" lang="zh-CN" altLang="en-US" dirty="0" smtClean="0"/>
              <a:t>函数</a:t>
            </a:r>
            <a:endParaRPr kumimoji="1" lang="zh-CN" altLang="en-US" dirty="0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altLang="zh-CN" dirty="0" err="1"/>
              <a:t>knn</a:t>
            </a:r>
            <a:r>
              <a:rPr lang="en-US" altLang="zh-CN" dirty="0"/>
              <a:t>(train, test, cl, k = 1, l = 0, </a:t>
            </a:r>
            <a:r>
              <a:rPr lang="en-US" altLang="zh-CN" dirty="0" err="1"/>
              <a:t>prob</a:t>
            </a:r>
            <a:r>
              <a:rPr lang="en-US" altLang="zh-CN" dirty="0"/>
              <a:t> = FALSE, </a:t>
            </a:r>
            <a:r>
              <a:rPr lang="en-US" altLang="zh-CN" dirty="0" err="1"/>
              <a:t>use.all</a:t>
            </a:r>
            <a:r>
              <a:rPr lang="en-US" altLang="zh-CN" dirty="0"/>
              <a:t> = TRUE)</a:t>
            </a:r>
            <a:br>
              <a:rPr lang="en-US" altLang="zh-CN" dirty="0"/>
            </a:br>
            <a:r>
              <a:rPr lang="zh-CN" altLang="en-US" dirty="0"/>
              <a:t>参数含义：</a:t>
            </a:r>
            <a:br>
              <a:rPr lang="zh-CN" altLang="en-US" dirty="0"/>
            </a:br>
            <a:r>
              <a:rPr lang="en-US" altLang="zh-CN" dirty="0"/>
              <a:t>train</a:t>
            </a:r>
            <a:r>
              <a:rPr lang="zh-CN" altLang="en-US" dirty="0"/>
              <a:t>：含有训练集的矩阵或数据框</a:t>
            </a:r>
            <a:br>
              <a:rPr lang="zh-CN" altLang="en-US" dirty="0"/>
            </a:br>
            <a:r>
              <a:rPr lang="en-US" altLang="zh-CN" dirty="0"/>
              <a:t>test</a:t>
            </a:r>
            <a:r>
              <a:rPr lang="zh-CN" altLang="en-US" dirty="0"/>
              <a:t>：含有测试集的矩阵或数据框</a:t>
            </a:r>
            <a:br>
              <a:rPr lang="zh-CN" altLang="en-US" dirty="0"/>
            </a:br>
            <a:r>
              <a:rPr lang="en-US" altLang="zh-CN" dirty="0"/>
              <a:t>cl</a:t>
            </a:r>
            <a:r>
              <a:rPr lang="zh-CN" altLang="en-US" dirty="0"/>
              <a:t>：对训练集进行分类的因子变量</a:t>
            </a:r>
            <a:br>
              <a:rPr lang="zh-CN" altLang="en-US" dirty="0"/>
            </a:br>
            <a:r>
              <a:rPr lang="en-US" altLang="zh-CN" dirty="0"/>
              <a:t>k</a:t>
            </a:r>
            <a:r>
              <a:rPr lang="zh-CN" altLang="en-US" dirty="0"/>
              <a:t>：邻居个数</a:t>
            </a:r>
            <a:br>
              <a:rPr lang="zh-CN" altLang="en-US" dirty="0"/>
            </a:br>
            <a:r>
              <a:rPr lang="en-US" altLang="zh-CN" dirty="0"/>
              <a:t>l</a:t>
            </a:r>
            <a:r>
              <a:rPr lang="zh-CN" altLang="en-US" dirty="0"/>
              <a:t>：有限决策的最小投票数</a:t>
            </a:r>
            <a:br>
              <a:rPr lang="zh-CN" altLang="en-US" dirty="0"/>
            </a:br>
            <a:r>
              <a:rPr lang="en-US" altLang="zh-CN" dirty="0" err="1"/>
              <a:t>prob</a:t>
            </a:r>
            <a:r>
              <a:rPr lang="zh-CN" altLang="en-US" dirty="0"/>
              <a:t>：是否计算预测组别的概率</a:t>
            </a:r>
            <a:br>
              <a:rPr lang="zh-CN" altLang="en-US" dirty="0"/>
            </a:br>
            <a:r>
              <a:rPr lang="en-US" altLang="zh-CN" dirty="0" err="1"/>
              <a:t>use.all</a:t>
            </a:r>
            <a:r>
              <a:rPr lang="zh-CN" altLang="en-US" dirty="0"/>
              <a:t>：控制节点的处理办法，即如果有多个第</a:t>
            </a:r>
            <a:r>
              <a:rPr lang="en-US" altLang="zh-CN" dirty="0"/>
              <a:t>K</a:t>
            </a:r>
            <a:r>
              <a:rPr lang="zh-CN" altLang="en-US" dirty="0"/>
              <a:t>近的点与待判样本点的距离相等，默认情况下将这些点都作为判别样本点；当该参数设置为</a:t>
            </a:r>
            <a:r>
              <a:rPr lang="en-US" altLang="zh-CN" dirty="0"/>
              <a:t>FALSE</a:t>
            </a:r>
            <a:r>
              <a:rPr lang="zh-CN" altLang="en-US" dirty="0"/>
              <a:t>时，则随机选择一个点作为第</a:t>
            </a:r>
            <a:r>
              <a:rPr lang="en-US" altLang="zh-CN" dirty="0"/>
              <a:t>K</a:t>
            </a:r>
            <a:r>
              <a:rPr lang="zh-CN" altLang="en-US" dirty="0"/>
              <a:t>近的判别点。</a:t>
            </a:r>
          </a:p>
          <a:p>
            <a:r>
              <a:rPr lang="zh-CN" altLang="en-US" dirty="0"/>
              <a:t/>
            </a:r>
            <a:br>
              <a:rPr lang="zh-CN" altLang="en-US" dirty="0"/>
            </a:br>
            <a:endParaRPr kumimoji="1" lang="zh-CN" altLang="en-US" dirty="0"/>
          </a:p>
          <a:p>
            <a:endParaRPr kumimoji="1"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>
              <a:defRPr/>
            </a:pPr>
            <a:fld id="{CD90C663-7954-4E7A-A95E-24A6DB01DF5E}" type="datetime4">
              <a:rPr lang="zh-CN" altLang="en-US" smtClean="0"/>
              <a:pPr>
                <a:defRPr/>
              </a:pPr>
              <a:t>2018年10月22日星期一</a:t>
            </a:fld>
            <a:endParaRPr lang="en-US" altLang="zh-CN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>
              <a:defRPr/>
            </a:pPr>
            <a:r>
              <a:rPr lang="en-US" altLang="zh-CN" smtClean="0"/>
              <a:t>DMKD  Sides</a:t>
            </a:r>
            <a:endParaRPr lang="en-US" altLang="zh-CN"/>
          </a:p>
        </p:txBody>
      </p:sp>
      <p:sp>
        <p:nvSpPr>
          <p:cNvPr id="6" name="幻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>
              <a:defRPr/>
            </a:pPr>
            <a:fld id="{5983E5D9-EBC7-4FB7-AC1D-3962FCFCBB11}" type="slidenum">
              <a:rPr lang="zh-CN" altLang="en-US" smtClean="0"/>
              <a:pPr>
                <a:defRPr/>
              </a:pPr>
              <a:t>25</a:t>
            </a:fld>
            <a:endParaRPr lang="en-US" altLang="zh-CN"/>
          </a:p>
        </p:txBody>
      </p:sp>
    </p:spTree>
    <p:extLst>
      <p:ext uri="{BB962C8B-B14F-4D97-AF65-F5344CB8AC3E}">
        <p14:creationId xmlns:p14="http://schemas.microsoft.com/office/powerpoint/2010/main" val="146975485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45" name="日期占位符 3">
            <a:extLst>
              <a:ext uri="{FF2B5EF4-FFF2-40B4-BE49-F238E27FC236}">
                <a16:creationId xmlns:a16="http://schemas.microsoft.com/office/drawing/2014/main" xmlns="" id="{D2A7422B-CC9E-4D7F-9F70-E3533902BD04}"/>
              </a:ext>
            </a:extLst>
          </p:cNvPr>
          <p:cNvSpPr>
            <a:spLocks noGrp="1"/>
          </p:cNvSpPr>
          <p:nvPr>
            <p:ph type="dt" sz="quarter" idx="10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7C8842C4-473E-4A2D-9ECC-AB5BBEF78DC1}" type="datetime4">
              <a:rPr lang="zh-CN" altLang="en-US" sz="12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2018年10月21日星期日</a:t>
            </a:fld>
            <a:endParaRPr lang="en-US" altLang="zh-CN" sz="12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31746" name="页脚占位符 4">
            <a:extLst>
              <a:ext uri="{FF2B5EF4-FFF2-40B4-BE49-F238E27FC236}">
                <a16:creationId xmlns:a16="http://schemas.microsoft.com/office/drawing/2014/main" xmlns="" id="{463F24F3-5902-4AD7-BEC3-3E265AD661C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r>
              <a:rPr lang="en-US" altLang="zh-CN" sz="1200">
                <a:latin typeface="Tahoma" panose="020B0604030504040204" pitchFamily="34" charset="0"/>
                <a:ea typeface="宋体" panose="02010600030101010101" pitchFamily="2" charset="-122"/>
              </a:rPr>
              <a:t>DMKD  Sides</a:t>
            </a:r>
          </a:p>
        </p:txBody>
      </p:sp>
      <p:sp>
        <p:nvSpPr>
          <p:cNvPr id="31747" name="灯片编号占位符 5">
            <a:extLst>
              <a:ext uri="{FF2B5EF4-FFF2-40B4-BE49-F238E27FC236}">
                <a16:creationId xmlns:a16="http://schemas.microsoft.com/office/drawing/2014/main" xmlns="" id="{A0320636-7808-43DA-BAF3-1EC3A42407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noFill/>
          <a:ln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/>
          <a:lstStyle>
            <a:lvl1pPr>
              <a:spcBef>
                <a:spcPct val="10000"/>
              </a:spcBef>
              <a:buClr>
                <a:srgbClr val="339966"/>
              </a:buClr>
              <a:buSzPct val="60000"/>
              <a:buFont typeface="Wingdings" panose="05000000000000000000" pitchFamily="2" charset="2"/>
              <a:buChar char="n"/>
              <a:defRPr sz="2800">
                <a:solidFill>
                  <a:schemeClr val="tx1"/>
                </a:solidFill>
                <a:latin typeface="华文新魏" panose="02010800040101010101" pitchFamily="2" charset="-122"/>
                <a:ea typeface="华文新魏" panose="02010800040101010101" pitchFamily="2" charset="-122"/>
                <a:cs typeface="华文新魏" panose="02010800040101010101" pitchFamily="2" charset="-122"/>
              </a:defRPr>
            </a:lvl1pPr>
            <a:lvl2pPr marL="742950" indent="-285750">
              <a:spcBef>
                <a:spcPct val="10000"/>
              </a:spcBef>
              <a:buClr>
                <a:schemeClr val="hlink"/>
              </a:buClr>
              <a:buSzPct val="55000"/>
              <a:buFont typeface="Wingdings" panose="05000000000000000000" pitchFamily="2" charset="2"/>
              <a:buChar char="n"/>
              <a:defRPr sz="24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</a:defRPr>
            </a:lvl2pPr>
            <a:lvl3pPr marL="1143000" indent="-228600">
              <a:buClr>
                <a:schemeClr val="folHlink"/>
              </a:buClr>
              <a:buSzPct val="50000"/>
              <a:buFont typeface="Wingdings" panose="05000000000000000000" pitchFamily="2" charset="2"/>
              <a:buChar char="n"/>
              <a:defRPr sz="2400" b="1">
                <a:solidFill>
                  <a:schemeClr val="tx1"/>
                </a:solidFill>
                <a:latin typeface="楷体_GB2312"/>
                <a:ea typeface="楷体_GB2312"/>
                <a:cs typeface="楷体_GB2312"/>
              </a:defRPr>
            </a:lvl3pPr>
            <a:lvl4pPr marL="1600200" indent="-228600">
              <a:lnSpc>
                <a:spcPct val="80000"/>
              </a:lnSpc>
              <a:spcBef>
                <a:spcPct val="20000"/>
              </a:spcBef>
              <a:buClr>
                <a:schemeClr val="accent2"/>
              </a:buClr>
              <a:buSzPct val="55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4pPr>
            <a:lvl5pPr marL="2057400" indent="-228600">
              <a:lnSpc>
                <a:spcPct val="80000"/>
              </a:lnSpc>
              <a:spcBef>
                <a:spcPct val="20000"/>
              </a:spcBef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5pPr>
            <a:lvl6pPr marL="25146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6pPr>
            <a:lvl7pPr marL="29718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7pPr>
            <a:lvl8pPr marL="34290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8pPr>
            <a:lvl9pPr marL="3886200" indent="-228600" eaLnBrk="0" fontAlgn="base" hangingPunct="0">
              <a:lnSpc>
                <a:spcPct val="80000"/>
              </a:lnSpc>
              <a:spcBef>
                <a:spcPct val="20000"/>
              </a:spcBef>
              <a:spcAft>
                <a:spcPct val="0"/>
              </a:spcAft>
              <a:buClr>
                <a:schemeClr val="accent1"/>
              </a:buClr>
              <a:buSzPct val="50000"/>
              <a:buFont typeface="Wingdings" panose="05000000000000000000" pitchFamily="2" charset="2"/>
              <a:buChar char="n"/>
              <a:defRPr sz="2000">
                <a:solidFill>
                  <a:schemeClr val="tx1"/>
                </a:solidFill>
                <a:latin typeface="Tahoma" panose="020B0604030504040204" pitchFamily="34" charset="0"/>
                <a:ea typeface="宋体" panose="02010600030101010101" pitchFamily="2" charset="-122"/>
                <a:cs typeface="楷体_GB2312"/>
              </a:defRPr>
            </a:lvl9pPr>
          </a:lstStyle>
          <a:p>
            <a:pPr>
              <a:spcBef>
                <a:spcPct val="0"/>
              </a:spcBef>
              <a:buClrTx/>
              <a:buSzTx/>
              <a:buFontTx/>
              <a:buNone/>
            </a:pPr>
            <a:fld id="{5E83170E-E4CD-4F91-B396-1885E32251D4}" type="slidenum">
              <a:rPr lang="zh-CN" altLang="en-US" sz="1400">
                <a:latin typeface="Tahoma" panose="020B0604030504040204" pitchFamily="34" charset="0"/>
                <a:ea typeface="宋体" panose="02010600030101010101" pitchFamily="2" charset="-122"/>
              </a:rPr>
              <a:pPr>
                <a:spcBef>
                  <a:spcPct val="0"/>
                </a:spcBef>
                <a:buClrTx/>
                <a:buSzTx/>
                <a:buFontTx/>
                <a:buNone/>
              </a:pPr>
              <a:t>26</a:t>
            </a:fld>
            <a:endParaRPr lang="en-US" altLang="zh-CN" sz="1400">
              <a:latin typeface="Tahoma" panose="020B0604030504040204" pitchFamily="34" charset="0"/>
              <a:ea typeface="宋体" panose="02010600030101010101" pitchFamily="2" charset="-122"/>
            </a:endParaRPr>
          </a:p>
        </p:txBody>
      </p:sp>
      <p:sp>
        <p:nvSpPr>
          <p:cNvPr id="79875" name="Rectangle 3">
            <a:extLst>
              <a:ext uri="{FF2B5EF4-FFF2-40B4-BE49-F238E27FC236}">
                <a16:creationId xmlns:a16="http://schemas.microsoft.com/office/drawing/2014/main" xmlns="" id="{752D1E0F-BFC3-4CDA-B72E-24FA007A68BE}"/>
              </a:ext>
            </a:extLst>
          </p:cNvPr>
          <p:cNvSpPr>
            <a:spLocks noGrp="1" noChangeArrowheads="1"/>
          </p:cNvSpPr>
          <p:nvPr>
            <p:ph type="body" idx="1"/>
          </p:nvPr>
        </p:nvSpPr>
        <p:spPr>
          <a:xfrm>
            <a:off x="609600" y="5410200"/>
            <a:ext cx="8077200" cy="1219200"/>
          </a:xfrm>
          <a:ln>
            <a:noFill/>
          </a:ln>
        </p:spPr>
        <p:txBody>
          <a:bodyPr lIns="92075" tIns="46038" rIns="92075" bIns="46038"/>
          <a:lstStyle/>
          <a:p>
            <a:pPr algn="ctr" eaLnBrk="1" hangingPunct="1">
              <a:lnSpc>
                <a:spcPct val="90000"/>
              </a:lnSpc>
              <a:buFont typeface="Wingdings" panose="05000000000000000000" pitchFamily="2" charset="2"/>
              <a:buNone/>
              <a:defRPr/>
            </a:pPr>
            <a:r>
              <a:rPr lang="en-US" altLang="zh-CN" sz="7200">
                <a:solidFill>
                  <a:schemeClr val="hlink"/>
                </a:solidFill>
                <a:effectLst>
                  <a:outerShdw blurRad="38100" dist="38100" dir="2700000" algn="tl">
                    <a:srgbClr val="C0C0C0"/>
                  </a:outerShdw>
                </a:effectLst>
                <a:latin typeface="Arial" charset="0"/>
                <a:cs typeface="+mn-cs"/>
              </a:rPr>
              <a:t>Thank you !!!</a:t>
            </a:r>
            <a:endParaRPr lang="en-US" altLang="zh-CN" sz="1600">
              <a:cs typeface="+mn-cs"/>
            </a:endParaRPr>
          </a:p>
        </p:txBody>
      </p:sp>
      <p:graphicFrame>
        <p:nvGraphicFramePr>
          <p:cNvPr id="31749" name="Object 4">
            <a:extLst>
              <a:ext uri="{FF2B5EF4-FFF2-40B4-BE49-F238E27FC236}">
                <a16:creationId xmlns:a16="http://schemas.microsoft.com/office/drawing/2014/main" xmlns="" id="{78613B9C-676E-4E3C-B077-A77AA975539D}"/>
              </a:ext>
            </a:extLst>
          </p:cNvPr>
          <p:cNvGraphicFramePr>
            <a:graphicFrameLocks/>
          </p:cNvGraphicFramePr>
          <p:nvPr/>
        </p:nvGraphicFramePr>
        <p:xfrm>
          <a:off x="2590800" y="1219200"/>
          <a:ext cx="4189413" cy="4191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31757" name="Clip" r:id="rId3" imgW="7833665" imgH="7839151" progId="">
                  <p:embed/>
                </p:oleObj>
              </mc:Choice>
              <mc:Fallback>
                <p:oleObj name="Clip" r:id="rId3" imgW="7833665" imgH="7839151" progId="">
                  <p:embed/>
                  <p:pic>
                    <p:nvPicPr>
                      <p:cNvPr id="0" name="Object 4"/>
                      <p:cNvPicPr>
                        <a:picLocks noChangeArrowheads="1"/>
                      </p:cNvPicPr>
                      <p:nvPr/>
                    </p:nvPicPr>
                    <p:blipFill>
                      <a:blip r:embed="rId4">
                        <a:extLst>
                          <a:ext uri="{28A0092B-C50C-407E-A947-70E740481C1C}">
                            <a14:useLocalDpi xmlns:a14="http://schemas.microsoft.com/office/drawing/2010/main" val="0"/>
                          </a:ext>
                        </a:extLst>
                      </a:blip>
                      <a:srcRect/>
                      <a:stretch>
                        <a:fillRect/>
                      </a:stretch>
                    </p:blipFill>
                    <p:spPr bwMode="auto">
                      <a:xfrm>
                        <a:off x="2590800" y="1219200"/>
                        <a:ext cx="4189413" cy="4191000"/>
                      </a:xfrm>
                      <a:prstGeom prst="rect">
                        <a:avLst/>
                      </a:prstGeom>
                      <a:noFill/>
                      <a:ln>
                        <a:noFill/>
                      </a:ln>
                      <a:effectLst/>
                      <a:extLst>
                        <a:ext uri="{909E8E84-426E-40DD-AFC4-6F175D3DCCD1}">
                          <a14:hiddenFill xmlns:a14="http://schemas.microsoft.com/office/drawing/2010/main">
                            <a:solidFill>
                              <a:schemeClr val="accent1"/>
                            </a:solidFill>
                          </a14:hiddenFill>
                        </a:ext>
                        <a:ext uri="{91240B29-F687-4F45-9708-019B960494DF}">
                          <a14:hiddenLine xmlns:a14="http://schemas.microsoft.com/office/drawing/2010/main" w="9525">
                            <a:solidFill>
                              <a:schemeClr val="tx1"/>
                            </a:solidFill>
                            <a:miter lim="800000"/>
                            <a:headEnd/>
                            <a:tailEnd/>
                          </a14:hiddenLine>
                        </a:ext>
                        <a:ext uri="{AF507438-7753-43E0-B8FC-AC1667EBCBE1}">
                          <a14:hiddenEffects xmlns:a14="http://schemas.microsoft.com/office/drawing/2010/main">
                            <a:effectLst>
                              <a:outerShdw dist="35921" dir="2700000" algn="ctr" rotWithShape="0">
                                <a:schemeClr val="bg2">
                                  <a:alpha val="74997"/>
                                </a:schemeClr>
                              </a:outerShdw>
                            </a:effectLst>
                          </a14:hiddenEffects>
                        </a:ext>
                      </a:extLst>
                    </p:spPr>
                  </p:pic>
                </p:oleObj>
              </mc:Fallback>
            </mc:AlternateContent>
          </a:graphicData>
        </a:graphic>
      </p:graphicFrame>
    </p:spTree>
  </p:cSld>
  <p:clrMapOvr>
    <a:masterClrMapping/>
  </p:clrMapOvr>
  <p:transition>
    <p:blinds/>
  </p:transition>
</p:sld>
</file>

<file path=ppt/theme/theme1.xml><?xml version="1.0" encoding="utf-8"?>
<a:theme xmlns:a="http://schemas.openxmlformats.org/drawingml/2006/main" name="Blends">
  <a:themeElements>
    <a:clrScheme name="Blends 2">
      <a:dk1>
        <a:srgbClr val="000000"/>
      </a:dk1>
      <a:lt1>
        <a:srgbClr val="FFFFFF"/>
      </a:lt1>
      <a:dk2>
        <a:srgbClr val="333399"/>
      </a:dk2>
      <a:lt2>
        <a:srgbClr val="1C1C1C"/>
      </a:lt2>
      <a:accent1>
        <a:srgbClr val="00E4A8"/>
      </a:accent1>
      <a:accent2>
        <a:srgbClr val="FFCF01"/>
      </a:accent2>
      <a:accent3>
        <a:srgbClr val="FFFFFF"/>
      </a:accent3>
      <a:accent4>
        <a:srgbClr val="000000"/>
      </a:accent4>
      <a:accent5>
        <a:srgbClr val="AAEFD1"/>
      </a:accent5>
      <a:accent6>
        <a:srgbClr val="E7BB01"/>
      </a:accent6>
      <a:hlink>
        <a:srgbClr val="FF0000"/>
      </a:hlink>
      <a:folHlink>
        <a:srgbClr val="3333CC"/>
      </a:folHlink>
    </a:clrScheme>
    <a:fontScheme name="Blends">
      <a:majorFont>
        <a:latin typeface="隶书"/>
        <a:ea typeface="隶书"/>
        <a:cs typeface=""/>
      </a:majorFont>
      <a:minorFont>
        <a:latin typeface="华文新魏"/>
        <a:ea typeface="华文新魏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宋体" pitchFamily="2" charset="-122"/>
          </a:defRPr>
        </a:defPPr>
      </a:lstStyle>
    </a:spDef>
    <a:lnDef>
      <a:spPr bwMode="auto">
        <a:xfrm>
          <a:off x="0" y="0"/>
          <a:ext cx="1" cy="1"/>
        </a:xfrm>
        <a:custGeom>
          <a:avLst/>
          <a:gdLst/>
          <a:ahLst/>
          <a:cxnLst/>
          <a:rect l="0" t="0" r="0" b="0"/>
          <a:pathLst/>
        </a:custGeom>
        <a:solidFill>
          <a:schemeClr val="accent1"/>
        </a:solidFill>
        <a:ln w="9525" cap="flat" cmpd="sng" algn="ctr">
          <a:solidFill>
            <a:schemeClr val="tx1"/>
          </a:solidFill>
          <a:prstDash val="solid"/>
          <a:miter lim="800000"/>
          <a:headEnd type="none" w="med" len="med"/>
          <a:tailEnd type="none" w="med" len="med"/>
        </a:ln>
        <a:effectLst/>
      </a:spPr>
      <a:bodyPr vert="horz" wrap="none" lIns="91440" tIns="45720" rIns="91440" bIns="45720" numCol="1" anchor="t" anchorCtr="0" compatLnSpc="1">
        <a:prstTxWarp prst="textNoShape">
          <a:avLst/>
        </a:prstTxWarp>
      </a:bodyPr>
      <a:lstStyle>
        <a:defPPr marL="0" marR="0" indent="0" algn="l" defTabSz="914400" rtl="0" eaLnBrk="1" fontAlgn="base" latinLnBrk="0" hangingPunct="1">
          <a:lnSpc>
            <a:spcPct val="100000"/>
          </a:lnSpc>
          <a:spcBef>
            <a:spcPct val="0"/>
          </a:spcBef>
          <a:spcAft>
            <a:spcPct val="0"/>
          </a:spcAft>
          <a:buClrTx/>
          <a:buSzTx/>
          <a:buFontTx/>
          <a:buNone/>
          <a:tabLst/>
          <a:defRPr kumimoji="0" lang="en-US" sz="2800" b="0" i="0" u="none" strike="noStrike" cap="none" normalizeH="0" baseline="0" smtClean="0">
            <a:ln>
              <a:noFill/>
            </a:ln>
            <a:solidFill>
              <a:schemeClr val="tx1"/>
            </a:solidFill>
            <a:effectLst/>
            <a:latin typeface="Tahoma" pitchFamily="34" charset="0"/>
            <a:ea typeface="宋体" pitchFamily="2" charset="-122"/>
          </a:defRPr>
        </a:defPPr>
      </a:lstStyle>
    </a:lnDef>
  </a:objectDefaults>
  <a:extraClrSchemeLst>
    <a:extraClrScheme>
      <a:clrScheme name="Blends 1">
        <a:dk1>
          <a:srgbClr val="969696"/>
        </a:dk1>
        <a:lt1>
          <a:srgbClr val="FFFFFF"/>
        </a:lt1>
        <a:dk2>
          <a:srgbClr val="000000"/>
        </a:dk2>
        <a:lt2>
          <a:srgbClr val="DDDDDD"/>
        </a:lt2>
        <a:accent1>
          <a:srgbClr val="00E4A8"/>
        </a:accent1>
        <a:accent2>
          <a:srgbClr val="3333CC"/>
        </a:accent2>
        <a:accent3>
          <a:srgbClr val="AAAAAA"/>
        </a:accent3>
        <a:accent4>
          <a:srgbClr val="DADADA"/>
        </a:accent4>
        <a:accent5>
          <a:srgbClr val="AAEFD1"/>
        </a:accent5>
        <a:accent6>
          <a:srgbClr val="2D2DB9"/>
        </a:accent6>
        <a:hlink>
          <a:srgbClr val="FF5050"/>
        </a:hlink>
        <a:folHlink>
          <a:srgbClr val="FFCF01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2">
        <a:dk1>
          <a:srgbClr val="000000"/>
        </a:dk1>
        <a:lt1>
          <a:srgbClr val="FFFFFF"/>
        </a:lt1>
        <a:dk2>
          <a:srgbClr val="333399"/>
        </a:dk2>
        <a:lt2>
          <a:srgbClr val="1C1C1C"/>
        </a:lt2>
        <a:accent1>
          <a:srgbClr val="00E4A8"/>
        </a:accent1>
        <a:accent2>
          <a:srgbClr val="FFCF01"/>
        </a:accent2>
        <a:accent3>
          <a:srgbClr val="FFFFFF"/>
        </a:accent3>
        <a:accent4>
          <a:srgbClr val="000000"/>
        </a:accent4>
        <a:accent5>
          <a:srgbClr val="AAEFD1"/>
        </a:accent5>
        <a:accent6>
          <a:srgbClr val="E7BB01"/>
        </a:accent6>
        <a:hlink>
          <a:srgbClr val="FF0000"/>
        </a:hlink>
        <a:folHlink>
          <a:srgbClr val="3333CC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3">
        <a:dk1>
          <a:srgbClr val="000000"/>
        </a:dk1>
        <a:lt1>
          <a:srgbClr val="FFFFFF"/>
        </a:lt1>
        <a:dk2>
          <a:srgbClr val="000000"/>
        </a:dk2>
        <a:lt2>
          <a:srgbClr val="5F5F5F"/>
        </a:lt2>
        <a:accent1>
          <a:srgbClr val="EAEAEA"/>
        </a:accent1>
        <a:accent2>
          <a:srgbClr val="808080"/>
        </a:accent2>
        <a:accent3>
          <a:srgbClr val="FFFFFF"/>
        </a:accent3>
        <a:accent4>
          <a:srgbClr val="000000"/>
        </a:accent4>
        <a:accent5>
          <a:srgbClr val="F3F3F3"/>
        </a:accent5>
        <a:accent6>
          <a:srgbClr val="737373"/>
        </a:accent6>
        <a:hlink>
          <a:srgbClr val="4D4D4D"/>
        </a:hlink>
        <a:folHlink>
          <a:srgbClr val="C0C0C0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4">
        <a:dk1>
          <a:srgbClr val="000094"/>
        </a:dk1>
        <a:lt1>
          <a:srgbClr val="FFFFFF"/>
        </a:lt1>
        <a:dk2>
          <a:srgbClr val="0000CC"/>
        </a:dk2>
        <a:lt2>
          <a:srgbClr val="FFFFCC"/>
        </a:lt2>
        <a:accent1>
          <a:srgbClr val="3193FF"/>
        </a:accent1>
        <a:accent2>
          <a:srgbClr val="9900FF"/>
        </a:accent2>
        <a:accent3>
          <a:srgbClr val="AAAAE2"/>
        </a:accent3>
        <a:accent4>
          <a:srgbClr val="DADADA"/>
        </a:accent4>
        <a:accent5>
          <a:srgbClr val="ADC8FF"/>
        </a:accent5>
        <a:accent6>
          <a:srgbClr val="8A00E7"/>
        </a:accent6>
        <a:hlink>
          <a:srgbClr val="FF3399"/>
        </a:hlink>
        <a:folHlink>
          <a:srgbClr val="FFCC00"/>
        </a:folHlink>
      </a:clrScheme>
      <a:clrMap bg1="dk2" tx1="lt1" bg2="dk1" tx2="lt2" accent1="accent1" accent2="accent2" accent3="accent3" accent4="accent4" accent5="accent5" accent6="accent6" hlink="hlink" folHlink="folHlink"/>
    </a:extraClrScheme>
    <a:extraClrScheme>
      <a:clrScheme name="Blends 5">
        <a:dk1>
          <a:srgbClr val="000000"/>
        </a:dk1>
        <a:lt1>
          <a:srgbClr val="FFFFFF"/>
        </a:lt1>
        <a:dk2>
          <a:srgbClr val="000066"/>
        </a:dk2>
        <a:lt2>
          <a:srgbClr val="333333"/>
        </a:lt2>
        <a:accent1>
          <a:srgbClr val="C4709A"/>
        </a:accent1>
        <a:accent2>
          <a:srgbClr val="4B4EB5"/>
        </a:accent2>
        <a:accent3>
          <a:srgbClr val="FFFFFF"/>
        </a:accent3>
        <a:accent4>
          <a:srgbClr val="000000"/>
        </a:accent4>
        <a:accent5>
          <a:srgbClr val="DEBBCA"/>
        </a:accent5>
        <a:accent6>
          <a:srgbClr val="4346A4"/>
        </a:accent6>
        <a:hlink>
          <a:srgbClr val="C481CF"/>
        </a:hlink>
        <a:folHlink>
          <a:srgbClr val="76B749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6">
        <a:dk1>
          <a:srgbClr val="000000"/>
        </a:dk1>
        <a:lt1>
          <a:srgbClr val="FFFFFF"/>
        </a:lt1>
        <a:dk2>
          <a:srgbClr val="6A4076"/>
        </a:dk2>
        <a:lt2>
          <a:srgbClr val="969696"/>
        </a:lt2>
        <a:accent1>
          <a:srgbClr val="DBA9C2"/>
        </a:accent1>
        <a:accent2>
          <a:srgbClr val="E1BF91"/>
        </a:accent2>
        <a:accent3>
          <a:srgbClr val="FFFFFF"/>
        </a:accent3>
        <a:accent4>
          <a:srgbClr val="000000"/>
        </a:accent4>
        <a:accent5>
          <a:srgbClr val="EAD1DD"/>
        </a:accent5>
        <a:accent6>
          <a:srgbClr val="CCAD83"/>
        </a:accent6>
        <a:hlink>
          <a:srgbClr val="B3CE82"/>
        </a:hlink>
        <a:folHlink>
          <a:srgbClr val="B8AD48"/>
        </a:folHlink>
      </a:clrScheme>
      <a:clrMap bg1="lt1" tx1="dk1" bg2="lt2" tx2="dk2" accent1="accent1" accent2="accent2" accent3="accent3" accent4="accent4" accent5="accent5" accent6="accent6" hlink="hlink" folHlink="folHlink"/>
    </a:extraClrScheme>
    <a:extraClrScheme>
      <a:clrScheme name="Blends 7">
        <a:dk1>
          <a:srgbClr val="000000"/>
        </a:dk1>
        <a:lt1>
          <a:srgbClr val="FFFFFF"/>
        </a:lt1>
        <a:dk2>
          <a:srgbClr val="515F7B"/>
        </a:dk2>
        <a:lt2>
          <a:srgbClr val="808080"/>
        </a:lt2>
        <a:accent1>
          <a:srgbClr val="9FCAD3"/>
        </a:accent1>
        <a:accent2>
          <a:srgbClr val="C0C0C0"/>
        </a:accent2>
        <a:accent3>
          <a:srgbClr val="FFFFFF"/>
        </a:accent3>
        <a:accent4>
          <a:srgbClr val="000000"/>
        </a:accent4>
        <a:accent5>
          <a:srgbClr val="CDE1E6"/>
        </a:accent5>
        <a:accent6>
          <a:srgbClr val="AEAEAE"/>
        </a:accent6>
        <a:hlink>
          <a:srgbClr val="91AFBF"/>
        </a:hlink>
        <a:folHlink>
          <a:srgbClr val="ECEAAC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</a:theme>
</file>

<file path=ppt/theme/theme2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主题">
  <a:themeElements>
    <a:clrScheme name="">
      <a:dk1>
        <a:srgbClr val="000000"/>
      </a:dk1>
      <a:lt1>
        <a:srgbClr val="FFFFFF"/>
      </a:lt1>
      <a:dk2>
        <a:srgbClr val="000000"/>
      </a:dk2>
      <a:lt2>
        <a:srgbClr val="808080"/>
      </a:lt2>
      <a:accent1>
        <a:srgbClr val="00CC99"/>
      </a:accent1>
      <a:accent2>
        <a:srgbClr val="3333CC"/>
      </a:accent2>
      <a:accent3>
        <a:srgbClr val="FFFFFF"/>
      </a:accent3>
      <a:accent4>
        <a:srgbClr val="000000"/>
      </a:accent4>
      <a:accent5>
        <a:srgbClr val="AAE2CA"/>
      </a:accent5>
      <a:accent6>
        <a:srgbClr val="2D2DB9"/>
      </a:accent6>
      <a:hlink>
        <a:srgbClr val="CCCCFF"/>
      </a:hlink>
      <a:folHlink>
        <a:srgbClr val="B2B2B2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Override1.xml><?xml version="1.0" encoding="utf-8"?>
<a:themeOverride xmlns:a="http://schemas.openxmlformats.org/drawingml/2006/main">
  <a:clrScheme name="">
    <a:dk1>
      <a:srgbClr val="000000"/>
    </a:dk1>
    <a:lt1>
      <a:srgbClr val="FFFFFF"/>
    </a:lt1>
    <a:dk2>
      <a:srgbClr val="000000"/>
    </a:dk2>
    <a:lt2>
      <a:srgbClr val="808080"/>
    </a:lt2>
    <a:accent1>
      <a:srgbClr val="BBE0E3"/>
    </a:accent1>
    <a:accent2>
      <a:srgbClr val="333399"/>
    </a:accent2>
    <a:accent3>
      <a:srgbClr val="FFFFFF"/>
    </a:accent3>
    <a:accent4>
      <a:srgbClr val="000000"/>
    </a:accent4>
    <a:accent5>
      <a:srgbClr val="DAEDEF"/>
    </a:accent5>
    <a:accent6>
      <a:srgbClr val="2D2D8A"/>
    </a:accent6>
    <a:hlink>
      <a:srgbClr val="009999"/>
    </a:hlink>
    <a:folHlink>
      <a:srgbClr val="99CC00"/>
    </a:folHlink>
  </a:clr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emplate>Slit</Template>
  <TotalTime>6222</TotalTime>
  <Words>2371</Words>
  <Application>Microsoft Macintosh PowerPoint</Application>
  <PresentationFormat>全屏显示(4:3)</PresentationFormat>
  <Paragraphs>254</Paragraphs>
  <Slides>26</Slides>
  <Notes>2</Notes>
  <HiddenSlides>0</HiddenSlides>
  <MMClips>0</MMClips>
  <ScaleCrop>false</ScaleCrop>
  <HeadingPairs>
    <vt:vector size="8" baseType="variant">
      <vt:variant>
        <vt:lpstr>已用的字体</vt:lpstr>
      </vt:variant>
      <vt:variant>
        <vt:i4>10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3</vt:i4>
      </vt:variant>
      <vt:variant>
        <vt:lpstr>幻灯片标题</vt:lpstr>
      </vt:variant>
      <vt:variant>
        <vt:i4>26</vt:i4>
      </vt:variant>
    </vt:vector>
  </HeadingPairs>
  <TitlesOfParts>
    <vt:vector size="40" baseType="lpstr">
      <vt:lpstr>Symbol</vt:lpstr>
      <vt:lpstr>Tahoma</vt:lpstr>
      <vt:lpstr>Times New Roman</vt:lpstr>
      <vt:lpstr>Wingdings</vt:lpstr>
      <vt:lpstr>黑体</vt:lpstr>
      <vt:lpstr>华文新魏</vt:lpstr>
      <vt:lpstr>楷体_GB2312</vt:lpstr>
      <vt:lpstr>隶书</vt:lpstr>
      <vt:lpstr>宋体</vt:lpstr>
      <vt:lpstr>Arial</vt:lpstr>
      <vt:lpstr>Blends</vt:lpstr>
      <vt:lpstr>Equation</vt:lpstr>
      <vt:lpstr>Visio.Drawing.11</vt:lpstr>
      <vt:lpstr>Clip</vt:lpstr>
      <vt:lpstr>第四章  分类方法                           内容提要</vt:lpstr>
      <vt:lpstr>分类是数据挖掘中重要的任务 </vt:lpstr>
      <vt:lpstr>分类方法的类型</vt:lpstr>
      <vt:lpstr>分类问题的描述</vt:lpstr>
      <vt:lpstr>数据分类的两个步骤</vt:lpstr>
      <vt:lpstr>PowerPoint 演示文稿</vt:lpstr>
      <vt:lpstr>基于距离的分类算法的思路</vt:lpstr>
      <vt:lpstr> 基于距离的分类搜索算法描述</vt:lpstr>
      <vt:lpstr>基于距离的分类方法的直观解释</vt:lpstr>
      <vt:lpstr>K-最近邻分类</vt:lpstr>
      <vt:lpstr>PowerPoint 演示文稿</vt:lpstr>
      <vt:lpstr>PowerPoint 演示文稿</vt:lpstr>
      <vt:lpstr>PowerPoint 演示文稿</vt:lpstr>
      <vt:lpstr>PowerPoint 演示文稿</vt:lpstr>
      <vt:lpstr>K-近邻分类算法</vt:lpstr>
      <vt:lpstr>KNN的直观解释</vt:lpstr>
      <vt:lpstr>KNN的直观解释</vt:lpstr>
      <vt:lpstr>形象的例子</vt:lpstr>
      <vt:lpstr>KNN的特点</vt:lpstr>
      <vt:lpstr>KNN的例子-训练数据</vt:lpstr>
      <vt:lpstr>KNN的例子-挖掘过程</vt:lpstr>
      <vt:lpstr>KNN的例子-挖掘过程(续)</vt:lpstr>
      <vt:lpstr>R语言最近邻算法</vt:lpstr>
      <vt:lpstr>实例：</vt:lpstr>
      <vt:lpstr>knn函数</vt:lpstr>
      <vt:lpstr>PowerPoint 演示文稿</vt:lpstr>
    </vt:vector>
  </TitlesOfParts>
  <Company>SFU</Company>
  <LinksUpToDate>false</LinksUpToDate>
  <SharedDoc>false</SharedDoc>
  <HyperlinksChanged>false</HyperlinksChanged>
  <AppVersion>15.0041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Mining Frequent Patterns Without Candidate Generation</dc:title>
  <dc:creator>Jiawei Han</dc:creator>
  <cp:lastModifiedBy>Microsoft Office 用户</cp:lastModifiedBy>
  <cp:revision>451</cp:revision>
  <cp:lastPrinted>2000-06-01T21:00:25Z</cp:lastPrinted>
  <dcterms:created xsi:type="dcterms:W3CDTF">1999-12-01T22:01:55Z</dcterms:created>
  <dcterms:modified xsi:type="dcterms:W3CDTF">2018-10-22T11:59:54Z</dcterms:modified>
</cp:coreProperties>
</file>