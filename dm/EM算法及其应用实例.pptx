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sldIdLst>
    <p:sldId id="256" r:id="rId2"/>
    <p:sldId id="257" r:id="rId3"/>
    <p:sldId id="259" r:id="rId4"/>
    <p:sldId id="260" r:id="rId5"/>
    <p:sldId id="261" r:id="rId6"/>
    <p:sldId id="262" r:id="rId7"/>
    <p:sldId id="263" r:id="rId8"/>
    <p:sldId id="264" r:id="rId9"/>
    <p:sldId id="265" r:id="rId10"/>
    <p:sldId id="274" r:id="rId11"/>
    <p:sldId id="267" r:id="rId12"/>
    <p:sldId id="284" r:id="rId13"/>
    <p:sldId id="285" r:id="rId14"/>
    <p:sldId id="286" r:id="rId15"/>
    <p:sldId id="287" r:id="rId16"/>
    <p:sldId id="288" r:id="rId17"/>
    <p:sldId id="268" r:id="rId18"/>
    <p:sldId id="269" r:id="rId19"/>
    <p:sldId id="270" r:id="rId20"/>
    <p:sldId id="271" r:id="rId21"/>
    <p:sldId id="272" r:id="rId22"/>
    <p:sldId id="273" r:id="rId23"/>
    <p:sldId id="275" r:id="rId24"/>
    <p:sldId id="276" r:id="rId25"/>
    <p:sldId id="277" r:id="rId26"/>
    <p:sldId id="278" r:id="rId27"/>
    <p:sldId id="279" r:id="rId28"/>
    <p:sldId id="280" r:id="rId29"/>
    <p:sldId id="281" r:id="rId30"/>
    <p:sldId id="282" r:id="rId31"/>
    <p:sldId id="283"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9" autoAdjust="0"/>
    <p:restoredTop sz="94660"/>
  </p:normalViewPr>
  <p:slideViewPr>
    <p:cSldViewPr snapToGrid="0">
      <p:cViewPr varScale="1">
        <p:scale>
          <a:sx n="92" d="100"/>
          <a:sy n="92" d="100"/>
        </p:scale>
        <p:origin x="30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2910707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2630901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1252746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2788278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388137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1781376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2209657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3029564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3309242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4042171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EB757EC-13DB-43DB-95B1-A49F4A51797B}" type="datetimeFigureOut">
              <a:rPr lang="zh-CN" altLang="en-US" smtClean="0"/>
              <a:t>2015-10-11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8078589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917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B757EC-13DB-43DB-95B1-A49F4A51797B}" type="datetimeFigureOut">
              <a:rPr lang="zh-CN" altLang="en-US" smtClean="0"/>
              <a:t>2015-10-11</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65ABEE-3960-4746-AEAA-6A64890AB8DA}" type="slidenum">
              <a:rPr lang="zh-CN" altLang="en-US" smtClean="0"/>
              <a:t>‹#›</a:t>
            </a:fld>
            <a:endParaRPr lang="zh-CN" altLang="en-US"/>
          </a:p>
        </p:txBody>
      </p:sp>
    </p:spTree>
    <p:extLst>
      <p:ext uri="{BB962C8B-B14F-4D97-AF65-F5344CB8AC3E}">
        <p14:creationId xmlns:p14="http://schemas.microsoft.com/office/powerpoint/2010/main" val="321134670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1.emf"/><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
          <p:cNvSpPr txBox="1">
            <a:spLocks noChangeArrowheads="1"/>
          </p:cNvSpPr>
          <p:nvPr/>
        </p:nvSpPr>
        <p:spPr bwMode="auto">
          <a:xfrm>
            <a:off x="3184525" y="722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8675" name="Group 4"/>
          <p:cNvGrpSpPr>
            <a:grpSpLocks/>
          </p:cNvGrpSpPr>
          <p:nvPr/>
        </p:nvGrpSpPr>
        <p:grpSpPr bwMode="auto">
          <a:xfrm>
            <a:off x="-871538" y="1447801"/>
            <a:ext cx="9366251" cy="4824413"/>
            <a:chOff x="-1509" y="912"/>
            <a:chExt cx="5900" cy="3039"/>
          </a:xfrm>
        </p:grpSpPr>
        <p:sp>
          <p:nvSpPr>
            <p:cNvPr id="45061" name="AutoShape 5"/>
            <p:cNvSpPr>
              <a:spLocks noChangeArrowheads="1"/>
            </p:cNvSpPr>
            <p:nvPr/>
          </p:nvSpPr>
          <p:spPr bwMode="ltGray">
            <a:xfrm rot="5400000">
              <a:off x="-1526" y="929"/>
              <a:ext cx="3039" cy="3005"/>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headEnd/>
              <a:tailEnd/>
            </a:ln>
            <a:effectLst/>
          </p:spPr>
          <p:txBody>
            <a:bodyPr wrap="none" anchor="ctr"/>
            <a:lstStyle/>
            <a:p>
              <a:pPr>
                <a:defRPr/>
              </a:pPr>
              <a:endParaRPr lang="zh-CN" altLang="en-US">
                <a:latin typeface="Arial" charset="0"/>
              </a:endParaRPr>
            </a:p>
          </p:txBody>
        </p:sp>
        <p:sp>
          <p:nvSpPr>
            <p:cNvPr id="45062" name="AutoShape 6"/>
            <p:cNvSpPr>
              <a:spLocks noChangeArrowheads="1"/>
            </p:cNvSpPr>
            <p:nvPr/>
          </p:nvSpPr>
          <p:spPr bwMode="ltGray">
            <a:xfrm rot="5400000" flipH="1">
              <a:off x="-1270" y="1203"/>
              <a:ext cx="2540" cy="2475"/>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chemeClr val="hlink">
                    <a:alpha val="36000"/>
                  </a:schemeClr>
                </a:gs>
                <a:gs pos="100000">
                  <a:schemeClr val="hlink">
                    <a:gamma/>
                    <a:tint val="0"/>
                    <a:invGamma/>
                  </a:schemeClr>
                </a:gs>
              </a:gsLst>
              <a:lin ang="5400000" scaled="1"/>
            </a:gradFill>
            <a:ln w="0" algn="ctr">
              <a:noFill/>
              <a:miter lim="800000"/>
              <a:headEnd/>
              <a:tailEnd/>
            </a:ln>
            <a:effectLst/>
          </p:spPr>
          <p:txBody>
            <a:bodyPr wrap="none" anchor="ctr"/>
            <a:lstStyle/>
            <a:p>
              <a:pPr>
                <a:defRPr/>
              </a:pPr>
              <a:endParaRPr lang="zh-CN" altLang="en-US">
                <a:latin typeface="Arial" charset="0"/>
              </a:endParaRPr>
            </a:p>
          </p:txBody>
        </p:sp>
        <p:grpSp>
          <p:nvGrpSpPr>
            <p:cNvPr id="28678" name="Group 7"/>
            <p:cNvGrpSpPr>
              <a:grpSpLocks/>
            </p:cNvGrpSpPr>
            <p:nvPr/>
          </p:nvGrpSpPr>
          <p:grpSpPr bwMode="auto">
            <a:xfrm>
              <a:off x="912" y="1147"/>
              <a:ext cx="3479" cy="339"/>
              <a:chOff x="912" y="1147"/>
              <a:chExt cx="3479" cy="339"/>
            </a:xfrm>
          </p:grpSpPr>
          <p:sp>
            <p:nvSpPr>
              <p:cNvPr id="28715" name="AutoShape 8"/>
              <p:cNvSpPr>
                <a:spLocks noChangeArrowheads="1"/>
              </p:cNvSpPr>
              <p:nvPr/>
            </p:nvSpPr>
            <p:spPr bwMode="gray">
              <a:xfrm>
                <a:off x="1112" y="1147"/>
                <a:ext cx="3279"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smtClean="0"/>
                  <a:t>最大期望算法简介（</a:t>
                </a:r>
                <a:r>
                  <a:rPr lang="en-US" altLang="zh-CN" b="1" dirty="0" smtClean="0"/>
                  <a:t>Expectation Maximization</a:t>
                </a:r>
                <a:r>
                  <a:rPr lang="zh-CN" altLang="en-US" b="1" dirty="0" smtClean="0"/>
                  <a:t>）</a:t>
                </a:r>
                <a:endParaRPr lang="en-US" altLang="zh-CN" b="1" dirty="0"/>
              </a:p>
            </p:txBody>
          </p:sp>
          <p:grpSp>
            <p:nvGrpSpPr>
              <p:cNvPr id="28716" name="Group 9"/>
              <p:cNvGrpSpPr>
                <a:grpSpLocks/>
              </p:cNvGrpSpPr>
              <p:nvPr/>
            </p:nvGrpSpPr>
            <p:grpSpPr bwMode="auto">
              <a:xfrm>
                <a:off x="912" y="1159"/>
                <a:ext cx="240" cy="327"/>
                <a:chOff x="2078" y="1386"/>
                <a:chExt cx="1615" cy="2204"/>
              </a:xfrm>
            </p:grpSpPr>
            <p:sp>
              <p:nvSpPr>
                <p:cNvPr id="28717" name="Oval 10"/>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18" name="Oval 11"/>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68" name="Oval 12"/>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720" name="Oval 13"/>
                <p:cNvSpPr>
                  <a:spLocks noChangeArrowheads="1"/>
                </p:cNvSpPr>
                <p:nvPr/>
              </p:nvSpPr>
              <p:spPr bwMode="gray">
                <a:xfrm>
                  <a:off x="2254" y="1387"/>
                  <a:ext cx="1101" cy="2202"/>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70" name="Oval 14"/>
                <p:cNvSpPr>
                  <a:spLocks noChangeArrowheads="1"/>
                </p:cNvSpPr>
                <p:nvPr/>
              </p:nvSpPr>
              <p:spPr bwMode="gray">
                <a:xfrm>
                  <a:off x="2334" y="1386"/>
                  <a:ext cx="1097"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722" name="Oval 15"/>
                <p:cNvSpPr>
                  <a:spLocks noChangeArrowheads="1"/>
                </p:cNvSpPr>
                <p:nvPr/>
              </p:nvSpPr>
              <p:spPr bwMode="gray">
                <a:xfrm>
                  <a:off x="2337" y="1386"/>
                  <a:ext cx="1096" cy="2204"/>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28680" name="Group 25"/>
            <p:cNvGrpSpPr>
              <a:grpSpLocks/>
            </p:cNvGrpSpPr>
            <p:nvPr/>
          </p:nvGrpSpPr>
          <p:grpSpPr bwMode="auto">
            <a:xfrm>
              <a:off x="1344" y="2179"/>
              <a:ext cx="2976" cy="331"/>
              <a:chOff x="1344" y="2179"/>
              <a:chExt cx="2976" cy="331"/>
            </a:xfrm>
          </p:grpSpPr>
          <p:sp>
            <p:nvSpPr>
              <p:cNvPr id="28699" name="AutoShape 26"/>
              <p:cNvSpPr>
                <a:spLocks noChangeArrowheads="1"/>
              </p:cNvSpPr>
              <p:nvPr/>
            </p:nvSpPr>
            <p:spPr bwMode="gray">
              <a:xfrm>
                <a:off x="1536" y="2179"/>
                <a:ext cx="2784"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smtClean="0"/>
                  <a:t>几</a:t>
                </a:r>
                <a:r>
                  <a:rPr lang="zh-CN" altLang="en-US" b="1" dirty="0"/>
                  <a:t>个</a:t>
                </a:r>
                <a:r>
                  <a:rPr lang="en-US" altLang="zh-CN" b="1" dirty="0"/>
                  <a:t>EM</a:t>
                </a:r>
                <a:r>
                  <a:rPr lang="zh-CN" altLang="en-US" b="1" dirty="0"/>
                  <a:t>应用</a:t>
                </a:r>
                <a:r>
                  <a:rPr lang="zh-CN" altLang="en-US" b="1" dirty="0" smtClean="0"/>
                  <a:t>实例</a:t>
                </a:r>
                <a:endParaRPr lang="en-US" altLang="zh-CN" b="1" dirty="0"/>
              </a:p>
            </p:txBody>
          </p:sp>
          <p:grpSp>
            <p:nvGrpSpPr>
              <p:cNvPr id="28700" name="Group 27"/>
              <p:cNvGrpSpPr>
                <a:grpSpLocks/>
              </p:cNvGrpSpPr>
              <p:nvPr/>
            </p:nvGrpSpPr>
            <p:grpSpPr bwMode="auto">
              <a:xfrm>
                <a:off x="1344" y="2183"/>
                <a:ext cx="240" cy="327"/>
                <a:chOff x="2078" y="1386"/>
                <a:chExt cx="1615" cy="2204"/>
              </a:xfrm>
            </p:grpSpPr>
            <p:sp>
              <p:nvSpPr>
                <p:cNvPr id="28701" name="Oval 2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02" name="Oval 2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86" name="Oval 3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704" name="Oval 31"/>
                <p:cNvSpPr>
                  <a:spLocks noChangeArrowheads="1"/>
                </p:cNvSpPr>
                <p:nvPr/>
              </p:nvSpPr>
              <p:spPr bwMode="gray">
                <a:xfrm>
                  <a:off x="2254" y="1387"/>
                  <a:ext cx="1101" cy="2202"/>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88" name="Oval 32"/>
                <p:cNvSpPr>
                  <a:spLocks noChangeArrowheads="1"/>
                </p:cNvSpPr>
                <p:nvPr/>
              </p:nvSpPr>
              <p:spPr bwMode="gray">
                <a:xfrm>
                  <a:off x="2334" y="1386"/>
                  <a:ext cx="1097"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706" name="Oval 33"/>
                <p:cNvSpPr>
                  <a:spLocks noChangeArrowheads="1"/>
                </p:cNvSpPr>
                <p:nvPr/>
              </p:nvSpPr>
              <p:spPr bwMode="gray">
                <a:xfrm>
                  <a:off x="2337" y="1386"/>
                  <a:ext cx="1096" cy="2204"/>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28682" name="Group 43"/>
            <p:cNvGrpSpPr>
              <a:grpSpLocks/>
            </p:cNvGrpSpPr>
            <p:nvPr/>
          </p:nvGrpSpPr>
          <p:grpSpPr bwMode="auto">
            <a:xfrm>
              <a:off x="960" y="3199"/>
              <a:ext cx="2972" cy="333"/>
              <a:chOff x="960" y="3199"/>
              <a:chExt cx="2972" cy="333"/>
            </a:xfrm>
          </p:grpSpPr>
          <p:sp>
            <p:nvSpPr>
              <p:cNvPr id="28683" name="AutoShape 44"/>
              <p:cNvSpPr>
                <a:spLocks noChangeArrowheads="1"/>
              </p:cNvSpPr>
              <p:nvPr/>
            </p:nvSpPr>
            <p:spPr bwMode="gray">
              <a:xfrm>
                <a:off x="1148" y="3212"/>
                <a:ext cx="2784"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smtClean="0"/>
                  <a:t>潜类别分析</a:t>
                </a:r>
                <a:r>
                  <a:rPr lang="en-US" altLang="zh-CN" b="1" dirty="0" smtClean="0"/>
                  <a:t>(Latent Class Analysis)</a:t>
                </a:r>
                <a:endParaRPr lang="en-US" altLang="zh-CN" b="1" dirty="0"/>
              </a:p>
            </p:txBody>
          </p:sp>
          <p:grpSp>
            <p:nvGrpSpPr>
              <p:cNvPr id="28684" name="Group 45"/>
              <p:cNvGrpSpPr>
                <a:grpSpLocks/>
              </p:cNvGrpSpPr>
              <p:nvPr/>
            </p:nvGrpSpPr>
            <p:grpSpPr bwMode="auto">
              <a:xfrm>
                <a:off x="960" y="3199"/>
                <a:ext cx="224" cy="327"/>
                <a:chOff x="2078" y="1386"/>
                <a:chExt cx="1615" cy="2204"/>
              </a:xfrm>
            </p:grpSpPr>
            <p:sp>
              <p:nvSpPr>
                <p:cNvPr id="28685" name="Oval 46"/>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6" name="Oval 47"/>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104" name="Oval 48"/>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688" name="Oval 49"/>
                <p:cNvSpPr>
                  <a:spLocks noChangeArrowheads="1"/>
                </p:cNvSpPr>
                <p:nvPr/>
              </p:nvSpPr>
              <p:spPr bwMode="gray">
                <a:xfrm>
                  <a:off x="2254" y="1387"/>
                  <a:ext cx="1180" cy="2202"/>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106" name="Oval 50"/>
                <p:cNvSpPr>
                  <a:spLocks noChangeArrowheads="1"/>
                </p:cNvSpPr>
                <p:nvPr/>
              </p:nvSpPr>
              <p:spPr bwMode="gray">
                <a:xfrm>
                  <a:off x="2338" y="1386"/>
                  <a:ext cx="1096"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690" name="Oval 51"/>
                <p:cNvSpPr>
                  <a:spLocks noChangeArrowheads="1"/>
                </p:cNvSpPr>
                <p:nvPr/>
              </p:nvSpPr>
              <p:spPr bwMode="gray">
                <a:xfrm>
                  <a:off x="2337" y="1386"/>
                  <a:ext cx="1096" cy="2204"/>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sp>
        <p:nvSpPr>
          <p:cNvPr id="2" name="文本框 1"/>
          <p:cNvSpPr txBox="1"/>
          <p:nvPr/>
        </p:nvSpPr>
        <p:spPr>
          <a:xfrm>
            <a:off x="791052" y="3782498"/>
            <a:ext cx="2137273" cy="369332"/>
          </a:xfrm>
          <a:prstGeom prst="rect">
            <a:avLst/>
          </a:prstGeom>
          <a:noFill/>
        </p:spPr>
        <p:txBody>
          <a:bodyPr wrap="square" rtlCol="0">
            <a:spAutoFit/>
          </a:bodyPr>
          <a:lstStyle/>
          <a:p>
            <a:r>
              <a:rPr lang="zh-CN" altLang="en-US" b="1" dirty="0" smtClean="0"/>
              <a:t>目录（</a:t>
            </a:r>
            <a:r>
              <a:rPr lang="en-US" altLang="zh-CN" b="1" dirty="0" smtClean="0"/>
              <a:t>content</a:t>
            </a:r>
            <a:r>
              <a:rPr lang="zh-CN" altLang="en-US" b="1" dirty="0" smtClean="0"/>
              <a:t>）</a:t>
            </a:r>
            <a:endParaRPr lang="zh-CN" altLang="en-US" b="1" dirty="0"/>
          </a:p>
        </p:txBody>
      </p:sp>
    </p:spTree>
    <p:extLst>
      <p:ext uri="{BB962C8B-B14F-4D97-AF65-F5344CB8AC3E}">
        <p14:creationId xmlns:p14="http://schemas.microsoft.com/office/powerpoint/2010/main" val="29926112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
          <p:cNvSpPr txBox="1">
            <a:spLocks noChangeArrowheads="1"/>
          </p:cNvSpPr>
          <p:nvPr/>
        </p:nvSpPr>
        <p:spPr bwMode="auto">
          <a:xfrm>
            <a:off x="3184525" y="722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8675" name="Group 4"/>
          <p:cNvGrpSpPr>
            <a:grpSpLocks/>
          </p:cNvGrpSpPr>
          <p:nvPr/>
        </p:nvGrpSpPr>
        <p:grpSpPr bwMode="auto">
          <a:xfrm>
            <a:off x="-871538" y="1447801"/>
            <a:ext cx="9366251" cy="4824413"/>
            <a:chOff x="-1509" y="912"/>
            <a:chExt cx="5900" cy="3039"/>
          </a:xfrm>
        </p:grpSpPr>
        <p:sp>
          <p:nvSpPr>
            <p:cNvPr id="45061" name="AutoShape 5"/>
            <p:cNvSpPr>
              <a:spLocks noChangeArrowheads="1"/>
            </p:cNvSpPr>
            <p:nvPr/>
          </p:nvSpPr>
          <p:spPr bwMode="ltGray">
            <a:xfrm rot="5400000">
              <a:off x="-1526" y="929"/>
              <a:ext cx="3039" cy="3005"/>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headEnd/>
              <a:tailEnd/>
            </a:ln>
            <a:effectLst/>
          </p:spPr>
          <p:txBody>
            <a:bodyPr wrap="none" anchor="ctr"/>
            <a:lstStyle/>
            <a:p>
              <a:pPr>
                <a:defRPr/>
              </a:pPr>
              <a:endParaRPr lang="zh-CN" altLang="en-US">
                <a:latin typeface="Arial" charset="0"/>
              </a:endParaRPr>
            </a:p>
          </p:txBody>
        </p:sp>
        <p:sp>
          <p:nvSpPr>
            <p:cNvPr id="45062" name="AutoShape 6"/>
            <p:cNvSpPr>
              <a:spLocks noChangeArrowheads="1"/>
            </p:cNvSpPr>
            <p:nvPr/>
          </p:nvSpPr>
          <p:spPr bwMode="ltGray">
            <a:xfrm rot="5400000" flipH="1">
              <a:off x="-1270" y="1203"/>
              <a:ext cx="2540" cy="2475"/>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chemeClr val="hlink">
                    <a:alpha val="36000"/>
                  </a:schemeClr>
                </a:gs>
                <a:gs pos="100000">
                  <a:schemeClr val="hlink">
                    <a:gamma/>
                    <a:tint val="0"/>
                    <a:invGamma/>
                  </a:schemeClr>
                </a:gs>
              </a:gsLst>
              <a:lin ang="5400000" scaled="1"/>
            </a:gradFill>
            <a:ln w="0" algn="ctr">
              <a:noFill/>
              <a:miter lim="800000"/>
              <a:headEnd/>
              <a:tailEnd/>
            </a:ln>
            <a:effectLst/>
          </p:spPr>
          <p:txBody>
            <a:bodyPr wrap="none" anchor="ctr"/>
            <a:lstStyle/>
            <a:p>
              <a:pPr>
                <a:defRPr/>
              </a:pPr>
              <a:endParaRPr lang="zh-CN" altLang="en-US">
                <a:latin typeface="Arial" charset="0"/>
              </a:endParaRPr>
            </a:p>
          </p:txBody>
        </p:sp>
        <p:grpSp>
          <p:nvGrpSpPr>
            <p:cNvPr id="28678" name="Group 7"/>
            <p:cNvGrpSpPr>
              <a:grpSpLocks/>
            </p:cNvGrpSpPr>
            <p:nvPr/>
          </p:nvGrpSpPr>
          <p:grpSpPr bwMode="auto">
            <a:xfrm>
              <a:off x="912" y="1147"/>
              <a:ext cx="3479" cy="339"/>
              <a:chOff x="912" y="1147"/>
              <a:chExt cx="3479" cy="339"/>
            </a:xfrm>
          </p:grpSpPr>
          <p:sp>
            <p:nvSpPr>
              <p:cNvPr id="28715" name="AutoShape 8"/>
              <p:cNvSpPr>
                <a:spLocks noChangeArrowheads="1"/>
              </p:cNvSpPr>
              <p:nvPr/>
            </p:nvSpPr>
            <p:spPr bwMode="gray">
              <a:xfrm>
                <a:off x="1112" y="1147"/>
                <a:ext cx="3279"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smtClean="0">
                    <a:solidFill>
                      <a:srgbClr val="FF0000"/>
                    </a:solidFill>
                  </a:rPr>
                  <a:t>最大期望算法简介（</a:t>
                </a:r>
                <a:r>
                  <a:rPr lang="en-US" altLang="zh-CN" b="1" dirty="0" smtClean="0">
                    <a:solidFill>
                      <a:srgbClr val="FF0000"/>
                    </a:solidFill>
                  </a:rPr>
                  <a:t>Expectation Maximization</a:t>
                </a:r>
                <a:r>
                  <a:rPr lang="zh-CN" altLang="en-US" b="1" dirty="0" smtClean="0">
                    <a:solidFill>
                      <a:srgbClr val="FF0000"/>
                    </a:solidFill>
                  </a:rPr>
                  <a:t>）</a:t>
                </a:r>
                <a:endParaRPr lang="en-US" altLang="zh-CN" b="1" dirty="0">
                  <a:solidFill>
                    <a:srgbClr val="FF0000"/>
                  </a:solidFill>
                </a:endParaRPr>
              </a:p>
            </p:txBody>
          </p:sp>
          <p:grpSp>
            <p:nvGrpSpPr>
              <p:cNvPr id="28716" name="Group 9"/>
              <p:cNvGrpSpPr>
                <a:grpSpLocks/>
              </p:cNvGrpSpPr>
              <p:nvPr/>
            </p:nvGrpSpPr>
            <p:grpSpPr bwMode="auto">
              <a:xfrm>
                <a:off x="912" y="1159"/>
                <a:ext cx="240" cy="327"/>
                <a:chOff x="2078" y="1386"/>
                <a:chExt cx="1615" cy="2204"/>
              </a:xfrm>
            </p:grpSpPr>
            <p:sp>
              <p:nvSpPr>
                <p:cNvPr id="28717" name="Oval 10"/>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18" name="Oval 11"/>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68" name="Oval 12"/>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720" name="Oval 13"/>
                <p:cNvSpPr>
                  <a:spLocks noChangeArrowheads="1"/>
                </p:cNvSpPr>
                <p:nvPr/>
              </p:nvSpPr>
              <p:spPr bwMode="gray">
                <a:xfrm>
                  <a:off x="2254" y="1387"/>
                  <a:ext cx="1101" cy="2202"/>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70" name="Oval 14"/>
                <p:cNvSpPr>
                  <a:spLocks noChangeArrowheads="1"/>
                </p:cNvSpPr>
                <p:nvPr/>
              </p:nvSpPr>
              <p:spPr bwMode="gray">
                <a:xfrm>
                  <a:off x="2334" y="1386"/>
                  <a:ext cx="1097"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722" name="Oval 15"/>
                <p:cNvSpPr>
                  <a:spLocks noChangeArrowheads="1"/>
                </p:cNvSpPr>
                <p:nvPr/>
              </p:nvSpPr>
              <p:spPr bwMode="gray">
                <a:xfrm>
                  <a:off x="2337" y="1386"/>
                  <a:ext cx="1096" cy="2204"/>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28680" name="Group 25"/>
            <p:cNvGrpSpPr>
              <a:grpSpLocks/>
            </p:cNvGrpSpPr>
            <p:nvPr/>
          </p:nvGrpSpPr>
          <p:grpSpPr bwMode="auto">
            <a:xfrm>
              <a:off x="1344" y="2179"/>
              <a:ext cx="2976" cy="331"/>
              <a:chOff x="1344" y="2179"/>
              <a:chExt cx="2976" cy="331"/>
            </a:xfrm>
          </p:grpSpPr>
          <p:sp>
            <p:nvSpPr>
              <p:cNvPr id="28699" name="AutoShape 26"/>
              <p:cNvSpPr>
                <a:spLocks noChangeArrowheads="1"/>
              </p:cNvSpPr>
              <p:nvPr/>
            </p:nvSpPr>
            <p:spPr bwMode="gray">
              <a:xfrm>
                <a:off x="1536" y="2179"/>
                <a:ext cx="2784"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smtClean="0"/>
                  <a:t>几</a:t>
                </a:r>
                <a:r>
                  <a:rPr lang="zh-CN" altLang="en-US" b="1" dirty="0"/>
                  <a:t>个</a:t>
                </a:r>
                <a:r>
                  <a:rPr lang="en-US" altLang="zh-CN" b="1" dirty="0"/>
                  <a:t>EM</a:t>
                </a:r>
                <a:r>
                  <a:rPr lang="zh-CN" altLang="en-US" b="1" dirty="0"/>
                  <a:t>应用</a:t>
                </a:r>
                <a:r>
                  <a:rPr lang="zh-CN" altLang="en-US" b="1" dirty="0" smtClean="0"/>
                  <a:t>实例</a:t>
                </a:r>
                <a:endParaRPr lang="en-US" altLang="zh-CN" b="1" dirty="0"/>
              </a:p>
            </p:txBody>
          </p:sp>
          <p:grpSp>
            <p:nvGrpSpPr>
              <p:cNvPr id="28700" name="Group 27"/>
              <p:cNvGrpSpPr>
                <a:grpSpLocks/>
              </p:cNvGrpSpPr>
              <p:nvPr/>
            </p:nvGrpSpPr>
            <p:grpSpPr bwMode="auto">
              <a:xfrm>
                <a:off x="1344" y="2183"/>
                <a:ext cx="240" cy="327"/>
                <a:chOff x="2078" y="1386"/>
                <a:chExt cx="1615" cy="2204"/>
              </a:xfrm>
            </p:grpSpPr>
            <p:sp>
              <p:nvSpPr>
                <p:cNvPr id="28701" name="Oval 2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02" name="Oval 2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86" name="Oval 3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704" name="Oval 31"/>
                <p:cNvSpPr>
                  <a:spLocks noChangeArrowheads="1"/>
                </p:cNvSpPr>
                <p:nvPr/>
              </p:nvSpPr>
              <p:spPr bwMode="gray">
                <a:xfrm>
                  <a:off x="2254" y="1387"/>
                  <a:ext cx="1101" cy="2202"/>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88" name="Oval 32"/>
                <p:cNvSpPr>
                  <a:spLocks noChangeArrowheads="1"/>
                </p:cNvSpPr>
                <p:nvPr/>
              </p:nvSpPr>
              <p:spPr bwMode="gray">
                <a:xfrm>
                  <a:off x="2334" y="1386"/>
                  <a:ext cx="1097"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706" name="Oval 33"/>
                <p:cNvSpPr>
                  <a:spLocks noChangeArrowheads="1"/>
                </p:cNvSpPr>
                <p:nvPr/>
              </p:nvSpPr>
              <p:spPr bwMode="gray">
                <a:xfrm>
                  <a:off x="2337" y="1386"/>
                  <a:ext cx="1096" cy="2204"/>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28682" name="Group 43"/>
            <p:cNvGrpSpPr>
              <a:grpSpLocks/>
            </p:cNvGrpSpPr>
            <p:nvPr/>
          </p:nvGrpSpPr>
          <p:grpSpPr bwMode="auto">
            <a:xfrm>
              <a:off x="960" y="3199"/>
              <a:ext cx="2972" cy="333"/>
              <a:chOff x="960" y="3199"/>
              <a:chExt cx="2972" cy="333"/>
            </a:xfrm>
          </p:grpSpPr>
          <p:sp>
            <p:nvSpPr>
              <p:cNvPr id="28683" name="AutoShape 44"/>
              <p:cNvSpPr>
                <a:spLocks noChangeArrowheads="1"/>
              </p:cNvSpPr>
              <p:nvPr/>
            </p:nvSpPr>
            <p:spPr bwMode="gray">
              <a:xfrm>
                <a:off x="1148" y="3212"/>
                <a:ext cx="2784"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a:t>潜类别分析</a:t>
                </a:r>
                <a:r>
                  <a:rPr lang="en-US" altLang="zh-CN" b="1" dirty="0"/>
                  <a:t>(Latent Class Analysis)</a:t>
                </a:r>
              </a:p>
            </p:txBody>
          </p:sp>
          <p:grpSp>
            <p:nvGrpSpPr>
              <p:cNvPr id="28684" name="Group 45"/>
              <p:cNvGrpSpPr>
                <a:grpSpLocks/>
              </p:cNvGrpSpPr>
              <p:nvPr/>
            </p:nvGrpSpPr>
            <p:grpSpPr bwMode="auto">
              <a:xfrm>
                <a:off x="960" y="3199"/>
                <a:ext cx="224" cy="327"/>
                <a:chOff x="2078" y="1386"/>
                <a:chExt cx="1615" cy="2204"/>
              </a:xfrm>
            </p:grpSpPr>
            <p:sp>
              <p:nvSpPr>
                <p:cNvPr id="28685" name="Oval 46"/>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6" name="Oval 47"/>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104" name="Oval 48"/>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688" name="Oval 49"/>
                <p:cNvSpPr>
                  <a:spLocks noChangeArrowheads="1"/>
                </p:cNvSpPr>
                <p:nvPr/>
              </p:nvSpPr>
              <p:spPr bwMode="gray">
                <a:xfrm>
                  <a:off x="2254" y="1387"/>
                  <a:ext cx="1180" cy="2202"/>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106" name="Oval 50"/>
                <p:cNvSpPr>
                  <a:spLocks noChangeArrowheads="1"/>
                </p:cNvSpPr>
                <p:nvPr/>
              </p:nvSpPr>
              <p:spPr bwMode="gray">
                <a:xfrm>
                  <a:off x="2338" y="1386"/>
                  <a:ext cx="1096"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690" name="Oval 51"/>
                <p:cNvSpPr>
                  <a:spLocks noChangeArrowheads="1"/>
                </p:cNvSpPr>
                <p:nvPr/>
              </p:nvSpPr>
              <p:spPr bwMode="gray">
                <a:xfrm>
                  <a:off x="2337" y="1386"/>
                  <a:ext cx="1096" cy="2204"/>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sp>
        <p:nvSpPr>
          <p:cNvPr id="2" name="文本框 1"/>
          <p:cNvSpPr txBox="1"/>
          <p:nvPr/>
        </p:nvSpPr>
        <p:spPr>
          <a:xfrm>
            <a:off x="791052" y="3782498"/>
            <a:ext cx="2137273" cy="369332"/>
          </a:xfrm>
          <a:prstGeom prst="rect">
            <a:avLst/>
          </a:prstGeom>
          <a:noFill/>
        </p:spPr>
        <p:txBody>
          <a:bodyPr wrap="square" rtlCol="0">
            <a:spAutoFit/>
          </a:bodyPr>
          <a:lstStyle/>
          <a:p>
            <a:r>
              <a:rPr lang="zh-CN" altLang="en-US" b="1" dirty="0" smtClean="0"/>
              <a:t>目录（</a:t>
            </a:r>
            <a:r>
              <a:rPr lang="en-US" altLang="zh-CN" b="1" dirty="0" smtClean="0"/>
              <a:t>content</a:t>
            </a:r>
            <a:r>
              <a:rPr lang="zh-CN" altLang="en-US" b="1" dirty="0" smtClean="0"/>
              <a:t>）</a:t>
            </a:r>
            <a:endParaRPr lang="zh-CN" altLang="en-US" b="1" dirty="0"/>
          </a:p>
        </p:txBody>
      </p:sp>
    </p:spTree>
    <p:extLst>
      <p:ext uri="{BB962C8B-B14F-4D97-AF65-F5344CB8AC3E}">
        <p14:creationId xmlns:p14="http://schemas.microsoft.com/office/powerpoint/2010/main" val="36019283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48427"/>
          </a:xfrm>
        </p:spPr>
        <p:txBody>
          <a:bodyPr>
            <a:normAutofit fontScale="90000"/>
          </a:bodyPr>
          <a:lstStyle/>
          <a:p>
            <a:r>
              <a:rPr lang="zh-CN" altLang="en-US" sz="2400" b="1" dirty="0" smtClean="0"/>
              <a:t>最大期望算法简介（</a:t>
            </a:r>
            <a:r>
              <a:rPr lang="en-US" altLang="zh-CN" sz="2400" b="1" dirty="0" smtClean="0"/>
              <a:t>Expectation Maximization</a:t>
            </a:r>
            <a:r>
              <a:rPr lang="zh-CN" altLang="en-US" sz="2400" b="1" dirty="0" smtClean="0"/>
              <a:t>）                                                              （</a:t>
            </a:r>
            <a:r>
              <a:rPr lang="en-US" altLang="zh-CN" sz="2400" b="1" dirty="0" smtClean="0"/>
              <a:t>1/7</a:t>
            </a:r>
            <a:r>
              <a:rPr lang="zh-CN" altLang="en-US" sz="2400" b="1" dirty="0" smtClean="0"/>
              <a:t>）</a:t>
            </a:r>
            <a:endParaRPr lang="zh-CN" altLang="en-US" sz="2400" dirty="0"/>
          </a:p>
        </p:txBody>
      </p:sp>
      <p:sp>
        <p:nvSpPr>
          <p:cNvPr id="3" name="内容占位符 2"/>
          <p:cNvSpPr>
            <a:spLocks noGrp="1"/>
          </p:cNvSpPr>
          <p:nvPr>
            <p:ph idx="1"/>
          </p:nvPr>
        </p:nvSpPr>
        <p:spPr>
          <a:xfrm>
            <a:off x="838200" y="1178805"/>
            <a:ext cx="10515600" cy="4998158"/>
          </a:xfrm>
        </p:spPr>
        <p:txBody>
          <a:bodyPr>
            <a:normAutofit/>
          </a:bodyPr>
          <a:lstStyle/>
          <a:p>
            <a:r>
              <a:rPr lang="zh-CN" altLang="en-US" sz="2400" dirty="0" smtClean="0"/>
              <a:t>定义：最大期望算法（</a:t>
            </a:r>
            <a:r>
              <a:rPr lang="en-US" altLang="zh-CN" sz="2400" dirty="0" smtClean="0"/>
              <a:t>Expectation Maximization Algorithm</a:t>
            </a:r>
            <a:r>
              <a:rPr lang="zh-CN" altLang="en-US" sz="2400" dirty="0" smtClean="0"/>
              <a:t>，又译期望最大化算法），是一种迭代算法，用于含有隐变量（</a:t>
            </a:r>
            <a:r>
              <a:rPr lang="en-US" altLang="zh-CN" sz="2400" dirty="0" smtClean="0"/>
              <a:t>hidden variable</a:t>
            </a:r>
            <a:r>
              <a:rPr lang="zh-CN" altLang="en-US" sz="2400" dirty="0" smtClean="0"/>
              <a:t>）的概率参数模型的最大似然估计或极大后验概率估计。</a:t>
            </a:r>
            <a:endParaRPr lang="en-US" altLang="zh-CN" sz="2400" dirty="0" smtClean="0"/>
          </a:p>
          <a:p>
            <a:r>
              <a:rPr lang="zh-CN" altLang="en-US" sz="2400" dirty="0" smtClean="0"/>
              <a:t>在统计计算中，最大期望（</a:t>
            </a:r>
            <a:r>
              <a:rPr lang="en-US" altLang="zh-CN" sz="2400" dirty="0" smtClean="0"/>
              <a:t>EM</a:t>
            </a:r>
            <a:r>
              <a:rPr lang="zh-CN" altLang="en-US" sz="2400" dirty="0" smtClean="0"/>
              <a:t>）算法是在概率（</a:t>
            </a:r>
            <a:r>
              <a:rPr lang="en-US" altLang="zh-CN" sz="2400" dirty="0" smtClean="0"/>
              <a:t>probabilistic</a:t>
            </a:r>
            <a:r>
              <a:rPr lang="zh-CN" altLang="en-US" sz="2400" dirty="0" smtClean="0"/>
              <a:t>）模型中寻找参数最大似然估计或者最大后验估计的算法，其中概率模型依赖于无法观测的隐藏变量（</a:t>
            </a:r>
            <a:r>
              <a:rPr lang="en-US" altLang="zh-CN" sz="2400" dirty="0" smtClean="0"/>
              <a:t>Latent Variable</a:t>
            </a:r>
            <a:r>
              <a:rPr lang="zh-CN" altLang="en-US" sz="2400" dirty="0" smtClean="0"/>
              <a:t>）。最大期望经常用在机器学习和计算机视觉的数据聚类（</a:t>
            </a:r>
            <a:r>
              <a:rPr lang="en-US" altLang="zh-CN" sz="2400" dirty="0" smtClean="0"/>
              <a:t>Data Clustering</a:t>
            </a:r>
            <a:r>
              <a:rPr lang="zh-CN" altLang="en-US" sz="2400" dirty="0" smtClean="0"/>
              <a:t>）领域。</a:t>
            </a:r>
            <a:endParaRPr lang="zh-CN" altLang="en-US" sz="2400" dirty="0"/>
          </a:p>
        </p:txBody>
      </p:sp>
    </p:spTree>
    <p:extLst>
      <p:ext uri="{BB962C8B-B14F-4D97-AF65-F5344CB8AC3E}">
        <p14:creationId xmlns:p14="http://schemas.microsoft.com/office/powerpoint/2010/main" val="34807548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835714"/>
          </a:xfrm>
        </p:spPr>
        <p:txBody>
          <a:bodyPr>
            <a:normAutofit/>
          </a:bodyPr>
          <a:lstStyle/>
          <a:p>
            <a:r>
              <a:rPr lang="zh-CN" altLang="en-US" sz="2000" b="1" dirty="0" smtClean="0"/>
              <a:t>最大期望算法简介（</a:t>
            </a:r>
            <a:r>
              <a:rPr lang="en-US" altLang="zh-CN" sz="2000" b="1" dirty="0" smtClean="0"/>
              <a:t>Expectation Maximization</a:t>
            </a:r>
            <a:r>
              <a:rPr lang="zh-CN" altLang="en-US" sz="2000" b="1" dirty="0" smtClean="0"/>
              <a:t>）                                                                              （</a:t>
            </a:r>
            <a:r>
              <a:rPr lang="en-US" altLang="zh-CN" sz="2000" b="1" dirty="0" smtClean="0"/>
              <a:t>2/7</a:t>
            </a:r>
            <a:r>
              <a:rPr lang="zh-CN" altLang="en-US" sz="2000" b="1" dirty="0" smtClean="0"/>
              <a:t>）</a:t>
            </a:r>
            <a:endParaRPr lang="zh-CN" altLang="en-US" sz="2000" dirty="0"/>
          </a:p>
        </p:txBody>
      </p:sp>
      <p:sp>
        <p:nvSpPr>
          <p:cNvPr id="3" name="内容占位符 2"/>
          <p:cNvSpPr>
            <a:spLocks noGrp="1"/>
          </p:cNvSpPr>
          <p:nvPr>
            <p:ph idx="1"/>
          </p:nvPr>
        </p:nvSpPr>
        <p:spPr/>
        <p:txBody>
          <a:bodyPr/>
          <a:lstStyle/>
          <a:p>
            <a:r>
              <a:rPr lang="zh-CN" altLang="en-US" dirty="0" smtClean="0"/>
              <a:t>问题提出</a:t>
            </a:r>
            <a:endParaRPr lang="en-US" altLang="zh-CN" dirty="0" smtClean="0"/>
          </a:p>
          <a:p>
            <a:pPr lvl="1"/>
            <a:r>
              <a:rPr lang="zh-CN" altLang="en-US" dirty="0" smtClean="0"/>
              <a:t>假设我抽到了</a:t>
            </a:r>
            <a:r>
              <a:rPr lang="en-US" altLang="zh-CN" dirty="0" smtClean="0"/>
              <a:t>200</a:t>
            </a:r>
            <a:r>
              <a:rPr lang="zh-CN" altLang="en-US" dirty="0" smtClean="0"/>
              <a:t>个人的身高数据，现在每一个数据我都不知道那个是男的那个是女的，也就是说我想分别估计男女身高平均值</a:t>
            </a:r>
            <a:r>
              <a:rPr lang="en-US" altLang="zh-CN" dirty="0" smtClean="0"/>
              <a:t>(mean)</a:t>
            </a:r>
            <a:r>
              <a:rPr lang="zh-CN" altLang="en-US" dirty="0" smtClean="0"/>
              <a:t>、方差</a:t>
            </a:r>
            <a:r>
              <a:rPr lang="en-US" altLang="zh-CN" dirty="0" smtClean="0"/>
              <a:t>(variance)</a:t>
            </a:r>
            <a:r>
              <a:rPr lang="zh-CN" altLang="en-US" dirty="0" smtClean="0"/>
              <a:t>，有点困难。</a:t>
            </a:r>
            <a:endParaRPr lang="zh-CN" altLang="en-US" dirty="0"/>
          </a:p>
        </p:txBody>
      </p:sp>
    </p:spTree>
    <p:extLst>
      <p:ext uri="{BB962C8B-B14F-4D97-AF65-F5344CB8AC3E}">
        <p14:creationId xmlns:p14="http://schemas.microsoft.com/office/powerpoint/2010/main" val="17097464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02663"/>
          </a:xfrm>
        </p:spPr>
        <p:txBody>
          <a:bodyPr>
            <a:normAutofit/>
          </a:bodyPr>
          <a:lstStyle/>
          <a:p>
            <a:r>
              <a:rPr lang="en-US" altLang="zh-CN" sz="2400" b="1" dirty="0" smtClean="0"/>
              <a:t>EM</a:t>
            </a:r>
            <a:r>
              <a:rPr lang="zh-CN" altLang="en-US" sz="2400" b="1" dirty="0" smtClean="0"/>
              <a:t>算法推导过程                                                                                                         （</a:t>
            </a:r>
            <a:r>
              <a:rPr lang="en-US" altLang="zh-CN" sz="2400" b="1" dirty="0" smtClean="0"/>
              <a:t>3/7</a:t>
            </a:r>
            <a:r>
              <a:rPr lang="zh-CN" altLang="en-US" sz="2400" b="1" dirty="0" smtClean="0"/>
              <a:t>）</a:t>
            </a:r>
            <a:endParaRPr lang="zh-CN" altLang="en-US" sz="2400" b="1"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167788"/>
                <a:ext cx="10515600" cy="5009175"/>
              </a:xfrm>
            </p:spPr>
            <p:txBody>
              <a:bodyPr>
                <a:noAutofit/>
              </a:bodyPr>
              <a:lstStyle/>
              <a:p>
                <a:r>
                  <a:rPr lang="zh-CN" altLang="en-US" sz="2400" dirty="0" smtClean="0"/>
                  <a:t>假定：有数据</a:t>
                </a:r>
                <a14:m>
                  <m:oMath xmlns:m="http://schemas.openxmlformats.org/officeDocument/2006/math">
                    <m:r>
                      <a:rPr lang="en-US" altLang="zh-CN" sz="2400" b="0" i="1" smtClean="0">
                        <a:latin typeface="Cambria Math" panose="02040503050406030204" pitchFamily="18" charset="0"/>
                      </a:rPr>
                      <m:t>𝑋</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𝑛</m:t>
                            </m:r>
                          </m:sub>
                        </m:sSub>
                      </m:e>
                    </m:d>
                  </m:oMath>
                </a14:m>
                <a:r>
                  <a:rPr lang="zh-CN" altLang="en-US" sz="2400" dirty="0" smtClean="0"/>
                  <a:t>，需要估计参数</a:t>
                </a:r>
                <a14:m>
                  <m:oMath xmlns:m="http://schemas.openxmlformats.org/officeDocument/2006/math">
                    <m:r>
                      <m:rPr>
                        <m:sty m:val="p"/>
                      </m:rPr>
                      <a:rPr lang="el-GR" altLang="zh-CN" sz="2400" i="1" smtClean="0">
                        <a:latin typeface="Cambria Math" panose="02040503050406030204" pitchFamily="18" charset="0"/>
                        <a:ea typeface="Cambria Math" panose="02040503050406030204" pitchFamily="18" charset="0"/>
                      </a:rPr>
                      <m:t>Θ</m:t>
                    </m:r>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zh-CN" altLang="en-US" sz="2400" b="0" i="1" smtClean="0">
                            <a:latin typeface="Cambria Math" panose="02040503050406030204" pitchFamily="18" charset="0"/>
                            <a:ea typeface="Cambria Math" panose="02040503050406030204" pitchFamily="18" charset="0"/>
                          </a:rPr>
                          <m:t>𝜃</m:t>
                        </m:r>
                      </m:e>
                      <m:sub>
                        <m:r>
                          <a:rPr lang="en-US" altLang="zh-CN" sz="2400" b="0" i="1" smtClean="0">
                            <a:latin typeface="Cambria Math" panose="02040503050406030204" pitchFamily="18" charset="0"/>
                            <a:ea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zh-CN" altLang="en-US" sz="2400" b="0" i="1" smtClean="0">
                            <a:latin typeface="Cambria Math" panose="02040503050406030204" pitchFamily="18" charset="0"/>
                            <a:ea typeface="Cambria Math" panose="02040503050406030204" pitchFamily="18" charset="0"/>
                          </a:rPr>
                          <m:t>𝜃</m:t>
                        </m:r>
                      </m:e>
                      <m:sub>
                        <m:r>
                          <a:rPr lang="en-US" altLang="zh-CN" sz="2400" b="0" i="1" smtClean="0">
                            <a:latin typeface="Cambria Math" panose="02040503050406030204" pitchFamily="18" charset="0"/>
                            <a:ea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zh-CN" altLang="en-US" sz="2400" b="0" i="1" smtClean="0">
                            <a:latin typeface="Cambria Math" panose="02040503050406030204" pitchFamily="18" charset="0"/>
                            <a:ea typeface="Cambria Math" panose="02040503050406030204" pitchFamily="18" charset="0"/>
                          </a:rPr>
                          <m:t>𝜃</m:t>
                        </m:r>
                      </m:e>
                      <m:sub>
                        <m:r>
                          <a:rPr lang="en-US" altLang="zh-CN" sz="2400" b="0" i="1" smtClean="0">
                            <a:latin typeface="Cambria Math" panose="02040503050406030204" pitchFamily="18" charset="0"/>
                            <a:ea typeface="Cambria Math" panose="02040503050406030204" pitchFamily="18" charset="0"/>
                          </a:rPr>
                          <m:t>𝑚</m:t>
                        </m:r>
                      </m:sub>
                    </m:sSub>
                    <m:r>
                      <a:rPr lang="en-US" altLang="zh-CN" sz="2400" b="0" i="1" smtClean="0">
                        <a:latin typeface="Cambria Math" panose="02040503050406030204" pitchFamily="18" charset="0"/>
                        <a:ea typeface="Cambria Math" panose="02040503050406030204" pitchFamily="18" charset="0"/>
                      </a:rPr>
                      <m:t>}</m:t>
                    </m:r>
                  </m:oMath>
                </a14:m>
                <a:endParaRPr lang="en-US" altLang="zh-CN" sz="2400" dirty="0" smtClean="0"/>
              </a:p>
              <a:p>
                <a:r>
                  <a:rPr lang="zh-CN" altLang="en-US" sz="2400" dirty="0" smtClean="0"/>
                  <a:t>采用最大似然法估计（</a:t>
                </a:r>
                <a:r>
                  <a:rPr lang="en-US" altLang="zh-CN" sz="2400" dirty="0" smtClean="0"/>
                  <a:t>Maximum Likelihood Estimation, MLE</a:t>
                </a:r>
                <a:r>
                  <a:rPr lang="zh-CN" altLang="en-US" sz="2400" dirty="0" smtClean="0"/>
                  <a:t>），用</a:t>
                </a:r>
                <a:endParaRPr lang="en-US" altLang="zh-CN" sz="2400" dirty="0" smtClean="0"/>
              </a:p>
              <a:p>
                <a:pPr marL="0" indent="0">
                  <a:buNone/>
                </a:pPr>
                <a:r>
                  <a:rPr lang="en-US" altLang="zh-CN" sz="2400" dirty="0" smtClean="0">
                    <a:ea typeface="Cambria Math" panose="02040503050406030204" pitchFamily="18" charset="0"/>
                  </a:rPr>
                  <a:t>L(</a:t>
                </a:r>
                <a14:m>
                  <m:oMath xmlns:m="http://schemas.openxmlformats.org/officeDocument/2006/math">
                    <m:r>
                      <m:rPr>
                        <m:sty m:val="p"/>
                      </m:rPr>
                      <a:rPr lang="el-GR" altLang="zh-CN" sz="2400" i="1" smtClean="0">
                        <a:latin typeface="Cambria Math" panose="02040503050406030204" pitchFamily="18" charset="0"/>
                        <a:ea typeface="Cambria Math" panose="02040503050406030204" pitchFamily="18" charset="0"/>
                      </a:rPr>
                      <m:t>Θ</m:t>
                    </m:r>
                  </m:oMath>
                </a14:m>
                <a:r>
                  <a:rPr lang="en-US" altLang="zh-CN" sz="2400" dirty="0" smtClean="0">
                    <a:ea typeface="Cambria Math" panose="02040503050406030204" pitchFamily="18" charset="0"/>
                  </a:rPr>
                  <a:t>)</a:t>
                </a:r>
                <a:r>
                  <a:rPr lang="zh-CN" altLang="en-US" sz="2400" dirty="0" smtClean="0">
                    <a:ea typeface="Cambria Math" panose="02040503050406030204" pitchFamily="18" charset="0"/>
                  </a:rPr>
                  <a:t>来表示最大似然函数，则必有</a:t>
                </a:r>
                <a:endParaRPr lang="en-US" altLang="zh-CN" sz="2400" dirty="0" smtClean="0">
                  <a:ea typeface="Cambria Math" panose="02040503050406030204" pitchFamily="18" charset="0"/>
                </a:endParaRPr>
              </a:p>
              <a:p>
                <a14:m>
                  <m:oMath xmlns:m="http://schemas.openxmlformats.org/officeDocument/2006/math">
                    <m:r>
                      <m:rPr>
                        <m:sty m:val="p"/>
                      </m:rPr>
                      <a:rPr lang="en-US" altLang="zh-CN" sz="2400" dirty="0" smtClean="0">
                        <a:latin typeface="Cambria Math" panose="02040503050406030204" pitchFamily="18" charset="0"/>
                        <a:ea typeface="Cambria Math" panose="02040503050406030204" pitchFamily="18" charset="0"/>
                      </a:rPr>
                      <m:t>L</m:t>
                    </m:r>
                    <m:d>
                      <m:dPr>
                        <m:ctrlPr>
                          <a:rPr lang="en-US" altLang="zh-CN" sz="2400" b="0" i="1" dirty="0" smtClean="0">
                            <a:latin typeface="Cambria Math" panose="02040503050406030204" pitchFamily="18" charset="0"/>
                            <a:ea typeface="Cambria Math" panose="02040503050406030204" pitchFamily="18" charset="0"/>
                          </a:rPr>
                        </m:ctrlPr>
                      </m:dPr>
                      <m:e>
                        <m:r>
                          <m:rPr>
                            <m:sty m:val="p"/>
                          </m:rPr>
                          <a:rPr lang="el-GR" altLang="zh-CN" sz="2400" b="0" i="1" dirty="0" smtClean="0">
                            <a:latin typeface="Cambria Math" panose="02040503050406030204" pitchFamily="18" charset="0"/>
                            <a:ea typeface="Cambria Math" panose="02040503050406030204" pitchFamily="18" charset="0"/>
                          </a:rPr>
                          <m:t>Θ</m:t>
                        </m:r>
                      </m:e>
                    </m:d>
                    <m:r>
                      <a:rPr lang="en-US" altLang="zh-CN" sz="2400" b="0" i="0" dirty="0" smtClean="0">
                        <a:latin typeface="Cambria Math" panose="02040503050406030204" pitchFamily="18" charset="0"/>
                        <a:ea typeface="Cambria Math" panose="02040503050406030204" pitchFamily="18" charset="0"/>
                      </a:rPr>
                      <m:t>=</m:t>
                    </m:r>
                    <m:nary>
                      <m:naryPr>
                        <m:chr m:val="∏"/>
                        <m:ctrlPr>
                          <a:rPr lang="en-US" altLang="zh-CN" sz="2400" b="0" i="1" dirty="0" smtClean="0">
                            <a:latin typeface="Cambria Math" panose="02040503050406030204" pitchFamily="18" charset="0"/>
                            <a:ea typeface="Cambria Math" panose="02040503050406030204" pitchFamily="18" charset="0"/>
                          </a:rPr>
                        </m:ctrlPr>
                      </m:naryPr>
                      <m:sub>
                        <m:r>
                          <m:rPr>
                            <m:brk m:alnAt="23"/>
                          </m:rPr>
                          <a:rPr lang="en-US" altLang="zh-CN" sz="2400" b="0" i="1" dirty="0" smtClean="0">
                            <a:latin typeface="Cambria Math" panose="02040503050406030204" pitchFamily="18" charset="0"/>
                            <a:ea typeface="Cambria Math" panose="02040503050406030204" pitchFamily="18" charset="0"/>
                          </a:rPr>
                          <m:t>𝑖</m:t>
                        </m:r>
                        <m:r>
                          <a:rPr lang="en-US" altLang="zh-CN" sz="2400" b="0" i="1" dirty="0" smtClean="0">
                            <a:latin typeface="Cambria Math" panose="02040503050406030204" pitchFamily="18" charset="0"/>
                            <a:ea typeface="Cambria Math" panose="02040503050406030204" pitchFamily="18" charset="0"/>
                          </a:rPr>
                          <m:t>=1</m:t>
                        </m:r>
                      </m:sub>
                      <m:sup>
                        <m:r>
                          <a:rPr lang="en-US" altLang="zh-CN" sz="2400" b="0" i="1" dirty="0" smtClean="0">
                            <a:latin typeface="Cambria Math" panose="02040503050406030204" pitchFamily="18" charset="0"/>
                            <a:ea typeface="Cambria Math" panose="02040503050406030204" pitchFamily="18" charset="0"/>
                          </a:rPr>
                          <m:t>𝑛</m:t>
                        </m:r>
                      </m:sup>
                      <m:e>
                        <m:r>
                          <a:rPr lang="en-US" altLang="zh-CN" sz="2400" b="0" i="1" dirty="0" smtClean="0">
                            <a:latin typeface="Cambria Math" panose="02040503050406030204" pitchFamily="18" charset="0"/>
                            <a:ea typeface="Cambria Math" panose="02040503050406030204" pitchFamily="18" charset="0"/>
                          </a:rPr>
                          <m:t>𝑝</m:t>
                        </m:r>
                        <m:r>
                          <a:rPr lang="en-US" altLang="zh-CN" sz="2400" b="0" i="1" dirty="0" smtClean="0">
                            <a:latin typeface="Cambria Math" panose="02040503050406030204" pitchFamily="18" charset="0"/>
                            <a:ea typeface="Cambria Math" panose="02040503050406030204" pitchFamily="18" charset="0"/>
                          </a:rPr>
                          <m:t>(</m:t>
                        </m:r>
                        <m:sSub>
                          <m:sSubPr>
                            <m:ctrlPr>
                              <a:rPr lang="en-US" altLang="zh-CN" sz="2400" b="0" i="1" dirty="0" smtClean="0">
                                <a:latin typeface="Cambria Math" panose="02040503050406030204" pitchFamily="18" charset="0"/>
                                <a:ea typeface="Cambria Math" panose="02040503050406030204" pitchFamily="18" charset="0"/>
                              </a:rPr>
                            </m:ctrlPr>
                          </m:sSubPr>
                          <m:e>
                            <m:r>
                              <a:rPr lang="en-US" altLang="zh-CN" sz="2400" b="0" i="1" dirty="0" smtClean="0">
                                <a:latin typeface="Cambria Math" panose="02040503050406030204" pitchFamily="18" charset="0"/>
                                <a:ea typeface="Cambria Math" panose="02040503050406030204" pitchFamily="18" charset="0"/>
                              </a:rPr>
                              <m:t>𝑥</m:t>
                            </m:r>
                          </m:e>
                          <m:sub>
                            <m:r>
                              <a:rPr lang="en-US" altLang="zh-CN" sz="2400" b="0" i="1" dirty="0" smtClean="0">
                                <a:latin typeface="Cambria Math" panose="02040503050406030204" pitchFamily="18" charset="0"/>
                                <a:ea typeface="Cambria Math" panose="02040503050406030204" pitchFamily="18" charset="0"/>
                              </a:rPr>
                              <m:t>𝑖</m:t>
                            </m:r>
                          </m:sub>
                        </m:sSub>
                        <m:r>
                          <a:rPr lang="en-US" altLang="zh-CN" sz="2400" b="0" i="1" dirty="0" smtClean="0">
                            <a:latin typeface="Cambria Math" panose="02040503050406030204" pitchFamily="18" charset="0"/>
                            <a:ea typeface="Cambria Math" panose="02040503050406030204" pitchFamily="18" charset="0"/>
                          </a:rPr>
                          <m:t>|</m:t>
                        </m:r>
                        <m:r>
                          <m:rPr>
                            <m:sty m:val="p"/>
                          </m:rPr>
                          <a:rPr lang="el-GR" altLang="zh-CN" sz="2400" b="0" i="1" dirty="0" smtClean="0">
                            <a:latin typeface="Cambria Math" panose="02040503050406030204" pitchFamily="18" charset="0"/>
                            <a:ea typeface="Cambria Math" panose="02040503050406030204" pitchFamily="18" charset="0"/>
                          </a:rPr>
                          <m:t>Θ</m:t>
                        </m:r>
                        <m:r>
                          <a:rPr lang="en-US" altLang="zh-CN" sz="2400" b="0" i="1" dirty="0" smtClean="0">
                            <a:latin typeface="Cambria Math" panose="02040503050406030204" pitchFamily="18" charset="0"/>
                            <a:ea typeface="Cambria Math" panose="02040503050406030204" pitchFamily="18" charset="0"/>
                          </a:rPr>
                          <m:t>)</m:t>
                        </m:r>
                      </m:e>
                    </m:nary>
                  </m:oMath>
                </a14:m>
                <a:endParaRPr lang="en-US" altLang="zh-CN" sz="2400" dirty="0"/>
              </a:p>
              <a:p>
                <a:r>
                  <a:rPr lang="zh-CN" altLang="en-US" sz="2400" dirty="0" smtClean="0"/>
                  <a:t>如果数据集</a:t>
                </a:r>
                <a:r>
                  <a:rPr lang="en-US" altLang="zh-CN" sz="2400" dirty="0" smtClean="0"/>
                  <a:t>(Data Set)X</a:t>
                </a:r>
                <a:r>
                  <a:rPr lang="zh-CN" altLang="en-US" sz="2400" dirty="0" smtClean="0"/>
                  <a:t>是完全数据</a:t>
                </a:r>
                <a:r>
                  <a:rPr lang="en-US" altLang="zh-CN" sz="2400" dirty="0" smtClean="0"/>
                  <a:t>(Complete Data)</a:t>
                </a:r>
                <a:r>
                  <a:rPr lang="zh-CN" altLang="en-US" sz="2400" dirty="0" smtClean="0"/>
                  <a:t>，即信息没有</a:t>
                </a:r>
                <a:r>
                  <a:rPr lang="zh-CN" altLang="en-US" sz="2400" dirty="0"/>
                  <a:t>缺失</a:t>
                </a:r>
                <a:r>
                  <a:rPr lang="zh-CN" altLang="en-US" sz="2400" dirty="0" smtClean="0"/>
                  <a:t>，那么估计</a:t>
                </a:r>
                <a14:m>
                  <m:oMath xmlns:m="http://schemas.openxmlformats.org/officeDocument/2006/math">
                    <m:r>
                      <m:rPr>
                        <m:sty m:val="p"/>
                      </m:rPr>
                      <a:rPr lang="el-GR" altLang="zh-CN" sz="2400" b="0" i="1" dirty="0" smtClean="0">
                        <a:latin typeface="Cambria Math" panose="02040503050406030204" pitchFamily="18" charset="0"/>
                        <a:ea typeface="Cambria Math" panose="02040503050406030204" pitchFamily="18" charset="0"/>
                      </a:rPr>
                      <m:t>Θ</m:t>
                    </m:r>
                  </m:oMath>
                </a14:m>
                <a:r>
                  <a:rPr lang="zh-CN" altLang="en-US" sz="2400" dirty="0" smtClean="0"/>
                  <a:t>可以直接求偏导来计算（</a:t>
                </a:r>
                <a:r>
                  <a:rPr lang="en-US" altLang="zh-CN" sz="2400" dirty="0" smtClean="0"/>
                  <a:t>Partial Derivative</a:t>
                </a:r>
                <a:r>
                  <a:rPr lang="zh-CN" altLang="en-US" sz="2400" dirty="0" smtClean="0"/>
                  <a:t>）</a:t>
                </a:r>
                <a:r>
                  <a:rPr lang="en-US" altLang="zh-CN" sz="2400" dirty="0" smtClean="0"/>
                  <a:t>,</a:t>
                </a:r>
                <a:r>
                  <a:rPr lang="zh-CN" altLang="en-US" sz="2400" dirty="0" smtClean="0"/>
                  <a:t>正如上面提到的一个例子，如果我们收集到的</a:t>
                </a:r>
                <a:r>
                  <a:rPr lang="en-US" altLang="zh-CN" sz="2400" dirty="0" smtClean="0"/>
                  <a:t>200</a:t>
                </a:r>
                <a:r>
                  <a:rPr lang="zh-CN" altLang="en-US" sz="2400" dirty="0" smtClean="0"/>
                  <a:t>个身高数据，并且知道那个是男的那个是女的，那么计算他们的平均身高和方差是一件很简单的事情。</a:t>
                </a:r>
                <a:endParaRPr lang="en-US" altLang="zh-CN" sz="2400" dirty="0" smtClean="0"/>
              </a:p>
              <a:p>
                <a:r>
                  <a:rPr lang="zh-CN" altLang="en-US" sz="2400" dirty="0" smtClean="0"/>
                  <a:t>问题出来了，如果数据集</a:t>
                </a:r>
                <a:r>
                  <a:rPr lang="en-US" altLang="zh-CN" sz="2400" dirty="0" smtClean="0"/>
                  <a:t>X</a:t>
                </a:r>
                <a:r>
                  <a:rPr lang="zh-CN" altLang="en-US" sz="2400" dirty="0" smtClean="0"/>
                  <a:t>是非完全数据（</a:t>
                </a:r>
                <a:r>
                  <a:rPr lang="en-US" altLang="zh-CN" sz="2400" dirty="0" smtClean="0"/>
                  <a:t>Incomplete Data</a:t>
                </a:r>
                <a:r>
                  <a:rPr lang="zh-CN" altLang="en-US" sz="2400" dirty="0" smtClean="0"/>
                  <a:t>），即缺失信息，那么传统的似然估计法估计参数将变得不可行。如上面的例子提到，收集的数据不知道那个数据是来自男生样本（</a:t>
                </a:r>
                <a:r>
                  <a:rPr lang="en-US" altLang="zh-CN" sz="2400" dirty="0" smtClean="0"/>
                  <a:t>Sample</a:t>
                </a:r>
                <a:r>
                  <a:rPr lang="zh-CN" altLang="en-US" sz="2400" dirty="0" smtClean="0"/>
                  <a:t>），还是女生样本。</a:t>
                </a: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167788"/>
                <a:ext cx="10515600" cy="5009175"/>
              </a:xfrm>
              <a:blipFill rotWithShape="0">
                <a:blip r:embed="rId2"/>
                <a:stretch>
                  <a:fillRect l="-928" t="-2192" r="-37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81377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02663"/>
          </a:xfrm>
        </p:spPr>
        <p:txBody>
          <a:bodyPr>
            <a:normAutofit/>
          </a:bodyPr>
          <a:lstStyle/>
          <a:p>
            <a:r>
              <a:rPr lang="en-US" altLang="zh-CN" sz="2400" b="1" dirty="0" smtClean="0"/>
              <a:t>EM</a:t>
            </a:r>
            <a:r>
              <a:rPr lang="zh-CN" altLang="en-US" sz="2400" b="1" dirty="0" smtClean="0"/>
              <a:t>算法推导过程                                                                                                          （</a:t>
            </a:r>
            <a:r>
              <a:rPr lang="en-US" altLang="zh-CN" sz="2400" b="1" dirty="0" smtClean="0"/>
              <a:t>4/7</a:t>
            </a:r>
            <a:r>
              <a:rPr lang="zh-CN" altLang="en-US" sz="2400" b="1" dirty="0" smtClean="0"/>
              <a:t>）</a:t>
            </a:r>
            <a:endParaRPr lang="zh-CN" altLang="en-US" sz="2400" b="1"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167788"/>
                <a:ext cx="10515600" cy="5009175"/>
              </a:xfrm>
            </p:spPr>
            <p:txBody>
              <a:bodyPr>
                <a:noAutofit/>
              </a:bodyPr>
              <a:lstStyle/>
              <a:p>
                <a:r>
                  <a:rPr lang="zh-CN" altLang="en-US" sz="2400" dirty="0" smtClean="0"/>
                  <a:t>现在假定每一个数据点（</a:t>
                </a:r>
                <a:r>
                  <a:rPr lang="en-US" altLang="zh-CN" sz="2400" dirty="0" smtClean="0"/>
                  <a:t>Data Point</a:t>
                </a:r>
                <a:r>
                  <a:rPr lang="zh-CN" altLang="en-US" sz="2400" dirty="0" smtClean="0"/>
                  <a:t>）均含有隐藏信息，我们把这种隐藏信息称之为隐变量或者潜变量（</a:t>
                </a:r>
                <a:r>
                  <a:rPr lang="en-US" altLang="zh-CN" sz="2400" dirty="0" smtClean="0"/>
                  <a:t>Latent Variable</a:t>
                </a:r>
                <a:r>
                  <a:rPr lang="zh-CN" altLang="en-US" sz="2400" dirty="0" smtClean="0"/>
                  <a:t>），用符号</a:t>
                </a:r>
                <a:r>
                  <a:rPr lang="en-US" altLang="zh-CN" sz="2400" dirty="0" smtClean="0"/>
                  <a:t>Z</a:t>
                </a:r>
                <a:r>
                  <a:rPr lang="zh-CN" altLang="en-US" sz="2400" dirty="0" smtClean="0"/>
                  <a:t>表示，其集合</a:t>
                </a:r>
                <a14:m>
                  <m:oMath xmlns:m="http://schemas.openxmlformats.org/officeDocument/2006/math">
                    <m:r>
                      <a:rPr lang="en-US" altLang="zh-CN" sz="2400" b="0" i="1" smtClean="0">
                        <a:latin typeface="Cambria Math" panose="02040503050406030204" pitchFamily="18" charset="0"/>
                      </a:rPr>
                      <m:t>𝑍</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2</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𝑘</m:t>
                        </m:r>
                      </m:sub>
                    </m:sSub>
                    <m:r>
                      <a:rPr lang="en-US" altLang="zh-CN" sz="2400" b="0" i="1" smtClean="0">
                        <a:latin typeface="Cambria Math" panose="02040503050406030204" pitchFamily="18" charset="0"/>
                      </a:rPr>
                      <m:t>}</m:t>
                    </m:r>
                  </m:oMath>
                </a14:m>
                <a:endParaRPr lang="en-US" altLang="zh-CN" sz="2400" dirty="0" smtClean="0"/>
              </a:p>
              <a:p>
                <a:r>
                  <a:rPr lang="zh-CN" altLang="en-US" sz="2400" dirty="0" smtClean="0"/>
                  <a:t>那么似然函数就可以写成</a:t>
                </a:r>
                <a14:m>
                  <m:oMath xmlns:m="http://schemas.openxmlformats.org/officeDocument/2006/math">
                    <m:r>
                      <m:rPr>
                        <m:sty m:val="p"/>
                      </m:rPr>
                      <a:rPr lang="en-US" altLang="zh-CN" sz="2400" dirty="0" smtClean="0">
                        <a:latin typeface="Cambria Math" panose="02040503050406030204" pitchFamily="18" charset="0"/>
                        <a:ea typeface="Cambria Math" panose="02040503050406030204" pitchFamily="18" charset="0"/>
                      </a:rPr>
                      <m:t>L</m:t>
                    </m:r>
                    <m:d>
                      <m:dPr>
                        <m:ctrlPr>
                          <a:rPr lang="en-US" altLang="zh-CN" sz="2400" b="0" i="1" dirty="0" smtClean="0">
                            <a:latin typeface="Cambria Math" panose="02040503050406030204" pitchFamily="18" charset="0"/>
                            <a:ea typeface="Cambria Math" panose="02040503050406030204" pitchFamily="18" charset="0"/>
                          </a:rPr>
                        </m:ctrlPr>
                      </m:dPr>
                      <m:e>
                        <m:r>
                          <m:rPr>
                            <m:sty m:val="p"/>
                          </m:rPr>
                          <a:rPr lang="el-GR" altLang="zh-CN" sz="2400" b="0" i="1" dirty="0" smtClean="0">
                            <a:latin typeface="Cambria Math" panose="02040503050406030204" pitchFamily="18" charset="0"/>
                            <a:ea typeface="Cambria Math" panose="02040503050406030204" pitchFamily="18" charset="0"/>
                          </a:rPr>
                          <m:t>Θ</m:t>
                        </m:r>
                      </m:e>
                    </m:d>
                    <m:r>
                      <a:rPr lang="en-US" altLang="zh-CN" sz="2400" b="0" i="0" dirty="0" smtClean="0">
                        <a:latin typeface="Cambria Math" panose="02040503050406030204" pitchFamily="18" charset="0"/>
                        <a:ea typeface="Cambria Math" panose="02040503050406030204" pitchFamily="18" charset="0"/>
                      </a:rPr>
                      <m:t>=</m:t>
                    </m:r>
                    <m:nary>
                      <m:naryPr>
                        <m:chr m:val="∏"/>
                        <m:ctrlPr>
                          <a:rPr lang="en-US" altLang="zh-CN" sz="2400" b="0" i="1" dirty="0" smtClean="0">
                            <a:latin typeface="Cambria Math" panose="02040503050406030204" pitchFamily="18" charset="0"/>
                            <a:ea typeface="Cambria Math" panose="02040503050406030204" pitchFamily="18" charset="0"/>
                          </a:rPr>
                        </m:ctrlPr>
                      </m:naryPr>
                      <m:sub>
                        <m:r>
                          <m:rPr>
                            <m:brk m:alnAt="23"/>
                          </m:rPr>
                          <a:rPr lang="en-US" altLang="zh-CN" sz="2400" b="0" i="1" dirty="0" smtClean="0">
                            <a:latin typeface="Cambria Math" panose="02040503050406030204" pitchFamily="18" charset="0"/>
                            <a:ea typeface="Cambria Math" panose="02040503050406030204" pitchFamily="18" charset="0"/>
                          </a:rPr>
                          <m:t>𝑖</m:t>
                        </m:r>
                        <m:r>
                          <a:rPr lang="en-US" altLang="zh-CN" sz="2400" b="0" i="1" dirty="0" smtClean="0">
                            <a:latin typeface="Cambria Math" panose="02040503050406030204" pitchFamily="18" charset="0"/>
                            <a:ea typeface="Cambria Math" panose="02040503050406030204" pitchFamily="18" charset="0"/>
                          </a:rPr>
                          <m:t>=1</m:t>
                        </m:r>
                      </m:sub>
                      <m:sup>
                        <m:r>
                          <a:rPr lang="en-US" altLang="zh-CN" sz="2400" b="0" i="1" dirty="0" smtClean="0">
                            <a:latin typeface="Cambria Math" panose="02040503050406030204" pitchFamily="18" charset="0"/>
                            <a:ea typeface="Cambria Math" panose="02040503050406030204" pitchFamily="18" charset="0"/>
                          </a:rPr>
                          <m:t>𝑛</m:t>
                        </m:r>
                      </m:sup>
                      <m:e>
                        <m:nary>
                          <m:naryPr>
                            <m:chr m:val="∑"/>
                            <m:supHide m:val="on"/>
                            <m:ctrlPr>
                              <a:rPr lang="en-US" altLang="zh-CN" sz="2400" b="0" i="1" dirty="0" smtClean="0">
                                <a:latin typeface="Cambria Math" panose="02040503050406030204" pitchFamily="18" charset="0"/>
                                <a:ea typeface="Cambria Math" panose="02040503050406030204" pitchFamily="18" charset="0"/>
                              </a:rPr>
                            </m:ctrlPr>
                          </m:naryPr>
                          <m:sub>
                            <m:r>
                              <m:rPr>
                                <m:brk m:alnAt="7"/>
                              </m:rP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𝑍</m:t>
                            </m:r>
                          </m:sub>
                          <m:sup/>
                          <m:e>
                            <m:r>
                              <a:rPr lang="en-US" altLang="zh-CN" sz="2400" b="0" i="1" dirty="0" smtClean="0">
                                <a:latin typeface="Cambria Math" panose="02040503050406030204" pitchFamily="18" charset="0"/>
                                <a:ea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sSub>
                              <m:sSubPr>
                                <m:ctrlPr>
                                  <a:rPr lang="en-US" altLang="zh-CN" sz="2400" b="0" i="1" dirty="0" smtClean="0">
                                    <a:latin typeface="Cambria Math" panose="02040503050406030204" pitchFamily="18" charset="0"/>
                                    <a:ea typeface="Cambria Math" panose="02040503050406030204" pitchFamily="18" charset="0"/>
                                  </a:rPr>
                                </m:ctrlPr>
                              </m:sSubPr>
                              <m:e>
                                <m:r>
                                  <a:rPr lang="en-US" altLang="zh-CN" sz="2400" b="0" i="1" dirty="0" smtClean="0">
                                    <a:latin typeface="Cambria Math" panose="02040503050406030204" pitchFamily="18" charset="0"/>
                                    <a:ea typeface="Cambria Math" panose="02040503050406030204" pitchFamily="18" charset="0"/>
                                  </a:rPr>
                                  <m:t>𝑥</m:t>
                                </m:r>
                              </m:e>
                              <m:sub>
                                <m:r>
                                  <a:rPr lang="en-US" altLang="zh-CN" sz="2400" b="0" i="1" dirty="0" smtClean="0">
                                    <a:latin typeface="Cambria Math" panose="02040503050406030204" pitchFamily="18" charset="0"/>
                                    <a:ea typeface="Cambria Math" panose="02040503050406030204" pitchFamily="18" charset="0"/>
                                  </a:rPr>
                                  <m:t>𝑖</m:t>
                                </m:r>
                              </m:sub>
                            </m:sSub>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m:rPr>
                                <m:sty m:val="p"/>
                              </m:rPr>
                              <a:rPr lang="el-GR" altLang="zh-CN" sz="2400" b="0" i="1" dirty="0" smtClean="0">
                                <a:latin typeface="Cambria Math" panose="02040503050406030204" pitchFamily="18" charset="0"/>
                                <a:ea typeface="Cambria Math" panose="02040503050406030204" pitchFamily="18" charset="0"/>
                              </a:rPr>
                              <m:t>Θ</m:t>
                            </m:r>
                            <m:r>
                              <a:rPr lang="en-US" altLang="zh-CN" sz="2400" b="0" i="1" dirty="0" smtClean="0">
                                <a:latin typeface="Cambria Math" panose="02040503050406030204" pitchFamily="18" charset="0"/>
                                <a:ea typeface="Cambria Math" panose="02040503050406030204" pitchFamily="18" charset="0"/>
                              </a:rPr>
                              <m:t>)</m:t>
                            </m:r>
                          </m:e>
                        </m:nary>
                      </m:e>
                    </m:nary>
                  </m:oMath>
                </a14:m>
                <a:endParaRPr lang="en-US" altLang="zh-CN" sz="2400" dirty="0" smtClean="0"/>
              </a:p>
              <a:p>
                <a:r>
                  <a:rPr lang="zh-CN" altLang="en-US" sz="2400" dirty="0" smtClean="0"/>
                  <a:t>用</a:t>
                </a:r>
                <a14:m>
                  <m:oMath xmlns:m="http://schemas.openxmlformats.org/officeDocument/2006/math">
                    <m:r>
                      <m:rPr>
                        <m:sty m:val="p"/>
                      </m:rPr>
                      <a:rPr lang="en-US" altLang="zh-CN" sz="2400" dirty="0">
                        <a:latin typeface="Cambria Math" panose="02040503050406030204" pitchFamily="18" charset="0"/>
                      </a:rPr>
                      <m:t>l</m:t>
                    </m:r>
                    <m:r>
                      <a:rPr lang="en-US" altLang="zh-CN" sz="2400" b="0" i="0" dirty="0" smtClean="0">
                        <a:latin typeface="Cambria Math" panose="02040503050406030204" pitchFamily="18" charset="0"/>
                      </a:rPr>
                      <m:t>(</m:t>
                    </m:r>
                    <m:r>
                      <m:rPr>
                        <m:sty m:val="p"/>
                      </m:rPr>
                      <a:rPr lang="el-GR" altLang="zh-CN" sz="2400" b="0" i="1" dirty="0" smtClean="0">
                        <a:latin typeface="Cambria Math" panose="02040503050406030204" pitchFamily="18" charset="0"/>
                        <a:ea typeface="Cambria Math" panose="02040503050406030204" pitchFamily="18" charset="0"/>
                      </a:rPr>
                      <m:t>Θ</m:t>
                    </m:r>
                    <m:r>
                      <a:rPr lang="en-US" altLang="zh-CN" sz="2400" b="0" i="0" dirty="0" smtClean="0">
                        <a:latin typeface="Cambria Math" panose="02040503050406030204" pitchFamily="18" charset="0"/>
                      </a:rPr>
                      <m:t>)</m:t>
                    </m:r>
                  </m:oMath>
                </a14:m>
                <a:r>
                  <a:rPr lang="zh-CN" altLang="en-US" sz="2400" dirty="0" smtClean="0"/>
                  <a:t>表示对似然函数对数化</a:t>
                </a:r>
                <a:r>
                  <a:rPr lang="en-US" altLang="zh-CN" sz="2400" dirty="0" smtClean="0"/>
                  <a:t>: </a:t>
                </a:r>
                <a14:m>
                  <m:oMath xmlns:m="http://schemas.openxmlformats.org/officeDocument/2006/math">
                    <m:r>
                      <m:rPr>
                        <m:sty m:val="p"/>
                      </m:rPr>
                      <a:rPr lang="en-US" altLang="zh-CN" sz="2400" dirty="0">
                        <a:latin typeface="Cambria Math" panose="02040503050406030204" pitchFamily="18" charset="0"/>
                      </a:rPr>
                      <m:t>l</m:t>
                    </m:r>
                    <m:d>
                      <m:dPr>
                        <m:ctrlPr>
                          <a:rPr lang="en-US" altLang="zh-CN" sz="2400" b="0" i="1" dirty="0" smtClean="0">
                            <a:latin typeface="Cambria Math" panose="02040503050406030204" pitchFamily="18" charset="0"/>
                          </a:rPr>
                        </m:ctrlPr>
                      </m:dPr>
                      <m:e>
                        <m:r>
                          <m:rPr>
                            <m:sty m:val="p"/>
                          </m:rPr>
                          <a:rPr lang="el-GR" altLang="zh-CN" sz="2400" b="0" i="1" dirty="0" smtClean="0">
                            <a:latin typeface="Cambria Math" panose="02040503050406030204" pitchFamily="18" charset="0"/>
                            <a:ea typeface="Cambria Math" panose="02040503050406030204" pitchFamily="18" charset="0"/>
                          </a:rPr>
                          <m:t>Θ</m:t>
                        </m:r>
                      </m:e>
                    </m:d>
                    <m:r>
                      <a:rPr lang="en-US" altLang="zh-CN" sz="2400" b="0" i="0" dirty="0" smtClean="0">
                        <a:latin typeface="Cambria Math" panose="02040503050406030204" pitchFamily="18" charset="0"/>
                      </a:rPr>
                      <m:t>=</m:t>
                    </m:r>
                    <m:nary>
                      <m:naryPr>
                        <m:chr m:val="∑"/>
                        <m:limLoc m:val="subSup"/>
                        <m:ctrlPr>
                          <a:rPr lang="en-US" altLang="zh-CN" sz="2400" b="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r>
                          <m:rPr>
                            <m:sty m:val="p"/>
                          </m:rPr>
                          <a:rPr lang="en-US" altLang="zh-CN" sz="2400" b="0" i="0" dirty="0" smtClean="0">
                            <a:latin typeface="Cambria Math" panose="02040503050406030204" pitchFamily="18" charset="0"/>
                          </a:rPr>
                          <m:t>log</m:t>
                        </m:r>
                        <m:r>
                          <a:rPr lang="en-US" altLang="zh-CN" sz="2400" b="0" i="1" dirty="0" smtClean="0">
                            <a:latin typeface="Cambria Math" panose="02040503050406030204" pitchFamily="18" charset="0"/>
                          </a:rPr>
                          <m:t>⁡(</m:t>
                        </m:r>
                        <m:nary>
                          <m:naryPr>
                            <m:chr m:val="∑"/>
                            <m:supHide m:val="on"/>
                            <m:ctrlPr>
                              <a:rPr lang="en-US" altLang="zh-CN" sz="2400" b="0" i="1" dirty="0" smtClean="0">
                                <a:latin typeface="Cambria Math" panose="02040503050406030204" pitchFamily="18" charset="0"/>
                                <a:ea typeface="Cambria Math" panose="02040503050406030204" pitchFamily="18" charset="0"/>
                              </a:rPr>
                            </m:ctrlPr>
                          </m:naryPr>
                          <m:sub>
                            <m:r>
                              <m:rPr>
                                <m:brk m:alnAt="7"/>
                              </m:rP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𝑍</m:t>
                            </m:r>
                          </m:sub>
                          <m:sup/>
                          <m:e>
                            <m:r>
                              <a:rPr lang="en-US" altLang="zh-CN" sz="2400" b="0" i="1" dirty="0" smtClean="0">
                                <a:latin typeface="Cambria Math" panose="02040503050406030204" pitchFamily="18" charset="0"/>
                                <a:ea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sSub>
                              <m:sSubPr>
                                <m:ctrlPr>
                                  <a:rPr lang="en-US" altLang="zh-CN" sz="2400" b="0" i="1" dirty="0" smtClean="0">
                                    <a:latin typeface="Cambria Math" panose="02040503050406030204" pitchFamily="18" charset="0"/>
                                    <a:ea typeface="Cambria Math" panose="02040503050406030204" pitchFamily="18" charset="0"/>
                                  </a:rPr>
                                </m:ctrlPr>
                              </m:sSubPr>
                              <m:e>
                                <m:r>
                                  <a:rPr lang="en-US" altLang="zh-CN" sz="2400" b="0" i="1" dirty="0" smtClean="0">
                                    <a:latin typeface="Cambria Math" panose="02040503050406030204" pitchFamily="18" charset="0"/>
                                    <a:ea typeface="Cambria Math" panose="02040503050406030204" pitchFamily="18" charset="0"/>
                                  </a:rPr>
                                  <m:t>𝑥</m:t>
                                </m:r>
                              </m:e>
                              <m:sub>
                                <m:r>
                                  <a:rPr lang="en-US" altLang="zh-CN" sz="2400" b="0" i="1" dirty="0" smtClean="0">
                                    <a:latin typeface="Cambria Math" panose="02040503050406030204" pitchFamily="18" charset="0"/>
                                    <a:ea typeface="Cambria Math" panose="02040503050406030204" pitchFamily="18" charset="0"/>
                                  </a:rPr>
                                  <m:t>𝑖</m:t>
                                </m:r>
                              </m:sub>
                            </m:sSub>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m:rPr>
                                <m:sty m:val="p"/>
                              </m:rPr>
                              <a:rPr lang="el-GR" altLang="zh-CN" sz="2400" b="0" i="1" dirty="0" smtClean="0">
                                <a:latin typeface="Cambria Math" panose="02040503050406030204" pitchFamily="18" charset="0"/>
                                <a:ea typeface="Cambria Math" panose="02040503050406030204" pitchFamily="18" charset="0"/>
                              </a:rPr>
                              <m:t>Θ</m:t>
                            </m:r>
                            <m:r>
                              <a:rPr lang="en-US" altLang="zh-CN" sz="2400" b="0" i="1" dirty="0" smtClean="0">
                                <a:latin typeface="Cambria Math" panose="02040503050406030204" pitchFamily="18" charset="0"/>
                                <a:ea typeface="Cambria Math" panose="02040503050406030204" pitchFamily="18" charset="0"/>
                              </a:rPr>
                              <m:t>)</m:t>
                            </m:r>
                          </m:e>
                        </m:nary>
                        <m:r>
                          <a:rPr lang="en-US" altLang="zh-CN" sz="2400" b="0" i="1" dirty="0" smtClean="0">
                            <a:latin typeface="Cambria Math" panose="02040503050406030204" pitchFamily="18" charset="0"/>
                          </a:rPr>
                          <m:t>)</m:t>
                        </m:r>
                      </m:e>
                    </m:nary>
                  </m:oMath>
                </a14:m>
                <a:r>
                  <a:rPr lang="en-US" altLang="zh-CN" sz="2400" dirty="0" smtClean="0"/>
                  <a:t>;</a:t>
                </a:r>
              </a:p>
              <a:p>
                <a:r>
                  <a:rPr lang="zh-CN" altLang="en-US" sz="2400" dirty="0" smtClean="0"/>
                  <a:t>用条件概率继续将其分解为</a:t>
                </a:r>
                <a:r>
                  <a:rPr lang="en-US" altLang="zh-CN" sz="2400" dirty="0" smtClean="0"/>
                  <a:t>:</a:t>
                </a:r>
                <a:endParaRPr lang="en-US" altLang="zh-CN" sz="2400" dirty="0" smtClean="0">
                  <a:latin typeface="Cambria Math" panose="02040503050406030204" pitchFamily="18" charset="0"/>
                </a:endParaRPr>
              </a:p>
              <a:p>
                <a14:m>
                  <m:oMath xmlns:m="http://schemas.openxmlformats.org/officeDocument/2006/math">
                    <m:r>
                      <m:rPr>
                        <m:sty m:val="p"/>
                      </m:rPr>
                      <a:rPr lang="en-US" altLang="zh-CN" sz="2400" dirty="0" smtClean="0">
                        <a:latin typeface="Cambria Math" panose="02040503050406030204" pitchFamily="18" charset="0"/>
                      </a:rPr>
                      <m:t>l</m:t>
                    </m:r>
                    <m:r>
                      <a:rPr lang="en-US" altLang="zh-CN" sz="2400" b="0" i="0" dirty="0" smtClean="0">
                        <a:latin typeface="Cambria Math" panose="02040503050406030204" pitchFamily="18" charset="0"/>
                      </a:rPr>
                      <m:t>(</m:t>
                    </m:r>
                    <m:r>
                      <m:rPr>
                        <m:sty m:val="p"/>
                      </m:rPr>
                      <a:rPr lang="el-GR" altLang="zh-CN" sz="2400" b="0" i="1" dirty="0" smtClean="0">
                        <a:latin typeface="Cambria Math" panose="02040503050406030204" pitchFamily="18" charset="0"/>
                        <a:ea typeface="Cambria Math" panose="02040503050406030204" pitchFamily="18" charset="0"/>
                      </a:rPr>
                      <m:t>Θ</m:t>
                    </m:r>
                    <m:r>
                      <a:rPr lang="en-US" altLang="zh-CN" sz="2400" b="0" i="0" dirty="0" smtClean="0">
                        <a:latin typeface="Cambria Math" panose="02040503050406030204" pitchFamily="18" charset="0"/>
                      </a:rPr>
                      <m:t>)</m:t>
                    </m:r>
                  </m:oMath>
                </a14:m>
                <a:r>
                  <a:rPr lang="en-US" altLang="zh-CN" sz="2400" dirty="0" smtClean="0"/>
                  <a:t>=</a:t>
                </a:r>
                <a14:m>
                  <m:oMath xmlns:m="http://schemas.openxmlformats.org/officeDocument/2006/math">
                    <m:nary>
                      <m:naryPr>
                        <m:chr m:val="∑"/>
                        <m:limLoc m:val="subSup"/>
                        <m:ctrlPr>
                          <a:rPr lang="en-US" altLang="zh-CN" sz="2400" b="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r>
                          <m:rPr>
                            <m:sty m:val="p"/>
                          </m:rPr>
                          <a:rPr lang="en-US" altLang="zh-CN" sz="2400" b="0" i="0" dirty="0" smtClean="0">
                            <a:latin typeface="Cambria Math" panose="02040503050406030204" pitchFamily="18" charset="0"/>
                          </a:rPr>
                          <m:t>log</m:t>
                        </m:r>
                        <m:r>
                          <a:rPr lang="en-US" altLang="zh-CN" sz="2400" b="0" i="1" dirty="0" smtClean="0">
                            <a:latin typeface="Cambria Math" panose="02040503050406030204" pitchFamily="18" charset="0"/>
                          </a:rPr>
                          <m:t>⁡(</m:t>
                        </m:r>
                        <m:nary>
                          <m:naryPr>
                            <m:chr m:val="∑"/>
                            <m:supHide m:val="on"/>
                            <m:ctrlPr>
                              <a:rPr lang="en-US" altLang="zh-CN" sz="2400" b="0" i="1" dirty="0" smtClean="0">
                                <a:latin typeface="Cambria Math" panose="02040503050406030204" pitchFamily="18" charset="0"/>
                                <a:ea typeface="Cambria Math" panose="02040503050406030204" pitchFamily="18" charset="0"/>
                              </a:rPr>
                            </m:ctrlPr>
                          </m:naryPr>
                          <m:sub>
                            <m:r>
                              <m:rPr>
                                <m:brk m:alnAt="7"/>
                              </m:rP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𝑍</m:t>
                            </m:r>
                          </m:sub>
                          <m:sup/>
                          <m:e>
                            <m:r>
                              <a:rPr lang="en-US" altLang="zh-CN" sz="2400" b="0" i="1" dirty="0" smtClean="0">
                                <a:latin typeface="Cambria Math" panose="02040503050406030204" pitchFamily="18" charset="0"/>
                                <a:ea typeface="Cambria Math" panose="02040503050406030204" pitchFamily="18" charset="0"/>
                              </a:rPr>
                              <m:t>𝑃</m:t>
                            </m:r>
                            <m:d>
                              <m:dPr>
                                <m:ctrlPr>
                                  <a:rPr lang="en-US" altLang="zh-CN" sz="2400" b="0" i="1" dirty="0" smtClean="0">
                                    <a:latin typeface="Cambria Math" panose="02040503050406030204" pitchFamily="18" charset="0"/>
                                    <a:ea typeface="Cambria Math" panose="02040503050406030204" pitchFamily="18" charset="0"/>
                                  </a:rPr>
                                </m:ctrlPr>
                              </m:dPr>
                              <m:e>
                                <m:sSub>
                                  <m:sSubPr>
                                    <m:ctrlPr>
                                      <a:rPr lang="en-US" altLang="zh-CN" sz="2400" b="0" i="1" dirty="0" smtClean="0">
                                        <a:latin typeface="Cambria Math" panose="02040503050406030204" pitchFamily="18" charset="0"/>
                                        <a:ea typeface="Cambria Math" panose="02040503050406030204" pitchFamily="18" charset="0"/>
                                      </a:rPr>
                                    </m:ctrlPr>
                                  </m:sSubPr>
                                  <m:e>
                                    <m:r>
                                      <a:rPr lang="en-US" altLang="zh-CN" sz="2400" b="0" i="1" dirty="0" smtClean="0">
                                        <a:latin typeface="Cambria Math" panose="02040503050406030204" pitchFamily="18" charset="0"/>
                                        <a:ea typeface="Cambria Math" panose="02040503050406030204" pitchFamily="18" charset="0"/>
                                      </a:rPr>
                                      <m:t>𝑥</m:t>
                                    </m:r>
                                  </m:e>
                                  <m:sub>
                                    <m:r>
                                      <a:rPr lang="en-US" altLang="zh-CN" sz="2400" b="0" i="1" dirty="0" smtClean="0">
                                        <a:latin typeface="Cambria Math" panose="02040503050406030204" pitchFamily="18" charset="0"/>
                                        <a:ea typeface="Cambria Math" panose="02040503050406030204" pitchFamily="18" charset="0"/>
                                      </a:rPr>
                                      <m:t>𝑖</m:t>
                                    </m:r>
                                  </m:sub>
                                </m:sSub>
                              </m:e>
                              <m:e>
                                <m: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m:rPr>
                                    <m:sty m:val="p"/>
                                  </m:rPr>
                                  <a:rPr lang="el-GR" altLang="zh-CN" sz="2400" b="0" i="0" dirty="0" smtClean="0">
                                    <a:latin typeface="Cambria Math" panose="02040503050406030204" pitchFamily="18" charset="0"/>
                                    <a:ea typeface="Cambria Math" panose="02040503050406030204" pitchFamily="18" charset="0"/>
                                  </a:rPr>
                                  <m:t>Θ</m:t>
                                </m:r>
                              </m:e>
                            </m:d>
                          </m:e>
                        </m:nary>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m:rPr>
                            <m:sty m:val="p"/>
                          </m:rPr>
                          <a:rPr lang="el-GR" altLang="zh-CN" sz="2400" b="0" i="0" dirty="0" smtClean="0">
                            <a:latin typeface="Cambria Math" panose="02040503050406030204" pitchFamily="18" charset="0"/>
                            <a:ea typeface="Cambria Math" panose="02040503050406030204" pitchFamily="18" charset="0"/>
                          </a:rPr>
                          <m:t>Θ</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rPr>
                          <m:t>)</m:t>
                        </m:r>
                      </m:e>
                    </m:nary>
                  </m:oMath>
                </a14:m>
                <a:endParaRPr lang="en-US" altLang="zh-CN" sz="2400" dirty="0" smtClean="0"/>
              </a:p>
              <a:p>
                <a:pPr marL="0" indent="0">
                  <a:buNone/>
                </a:pPr>
                <a:r>
                  <a:rPr lang="en-US" altLang="zh-CN" sz="2400" dirty="0" smtClean="0"/>
                  <a:t>           =</a:t>
                </a:r>
                <a14:m>
                  <m:oMath xmlns:m="http://schemas.openxmlformats.org/officeDocument/2006/math">
                    <m:nary>
                      <m:naryPr>
                        <m:chr m:val="∑"/>
                        <m:limLoc m:val="subSup"/>
                        <m:ctrlPr>
                          <a:rPr lang="en-US" altLang="zh-CN" sz="2400" b="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func>
                          <m:funcPr>
                            <m:ctrlPr>
                              <a:rPr lang="en-US" altLang="zh-CN" sz="2400" b="0" i="1" dirty="0" smtClean="0">
                                <a:latin typeface="Cambria Math" panose="02040503050406030204" pitchFamily="18" charset="0"/>
                              </a:rPr>
                            </m:ctrlPr>
                          </m:funcPr>
                          <m:fName>
                            <m:r>
                              <m:rPr>
                                <m:sty m:val="p"/>
                              </m:rPr>
                              <a:rPr lang="en-US" altLang="zh-CN" sz="2400" b="0" i="0" dirty="0" smtClean="0">
                                <a:latin typeface="Cambria Math" panose="02040503050406030204" pitchFamily="18" charset="0"/>
                              </a:rPr>
                              <m:t>log</m:t>
                            </m:r>
                          </m:fName>
                          <m:e>
                            <m:d>
                              <m:dPr>
                                <m:ctrlPr>
                                  <a:rPr lang="en-US" altLang="zh-CN" sz="2400" b="0" i="1" dirty="0" smtClean="0">
                                    <a:latin typeface="Cambria Math" panose="02040503050406030204" pitchFamily="18" charset="0"/>
                                  </a:rPr>
                                </m:ctrlPr>
                              </m:dPr>
                              <m:e>
                                <m:nary>
                                  <m:naryPr>
                                    <m:chr m:val="∑"/>
                                    <m:supHide m:val="on"/>
                                    <m:ctrlPr>
                                      <a:rPr lang="en-US" altLang="zh-CN" sz="2400" b="0" i="1" dirty="0" smtClean="0">
                                        <a:latin typeface="Cambria Math" panose="02040503050406030204" pitchFamily="18" charset="0"/>
                                        <a:ea typeface="Cambria Math" panose="02040503050406030204" pitchFamily="18" charset="0"/>
                                      </a:rPr>
                                    </m:ctrlPr>
                                  </m:naryPr>
                                  <m:sub>
                                    <m:r>
                                      <m:rPr>
                                        <m:brk m:alnAt="7"/>
                                      </m:rP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𝑍</m:t>
                                    </m:r>
                                  </m:sub>
                                  <m:sup/>
                                  <m:e>
                                    <m:r>
                                      <a:rPr lang="en-US" altLang="zh-CN" sz="2400" b="0" i="1" dirty="0" smtClean="0">
                                        <a:latin typeface="Cambria Math" panose="02040503050406030204" pitchFamily="18" charset="0"/>
                                        <a:ea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sSub>
                                      <m:sSubPr>
                                        <m:ctrlPr>
                                          <a:rPr lang="en-US" altLang="zh-CN" sz="2400" b="0" i="1" dirty="0" smtClean="0">
                                            <a:latin typeface="Cambria Math" panose="02040503050406030204" pitchFamily="18" charset="0"/>
                                            <a:ea typeface="Cambria Math" panose="02040503050406030204" pitchFamily="18" charset="0"/>
                                          </a:rPr>
                                        </m:ctrlPr>
                                      </m:sSubPr>
                                      <m:e>
                                        <m:r>
                                          <a:rPr lang="en-US" altLang="zh-CN" sz="2400" b="0" i="1" dirty="0" smtClean="0">
                                            <a:latin typeface="Cambria Math" panose="02040503050406030204" pitchFamily="18" charset="0"/>
                                            <a:ea typeface="Cambria Math" panose="02040503050406030204" pitchFamily="18" charset="0"/>
                                          </a:rPr>
                                          <m:t>𝑥</m:t>
                                        </m:r>
                                      </m:e>
                                      <m:sub>
                                        <m:r>
                                          <a:rPr lang="en-US" altLang="zh-CN" sz="2400" b="0" i="1" dirty="0" smtClean="0">
                                            <a:latin typeface="Cambria Math" panose="02040503050406030204" pitchFamily="18" charset="0"/>
                                            <a:ea typeface="Cambria Math" panose="02040503050406030204" pitchFamily="18" charset="0"/>
                                          </a:rPr>
                                          <m:t>𝑖</m:t>
                                        </m:r>
                                      </m:sub>
                                    </m:sSub>
                                  </m:e>
                                </m:nary>
                              </m:e>
                            </m:d>
                          </m:e>
                        </m:func>
                        <m:r>
                          <a:rPr lang="en-US" altLang="zh-CN" sz="2400" b="0" i="1" dirty="0" smtClean="0">
                            <a:latin typeface="Cambria Math" panose="02040503050406030204" pitchFamily="18" charset="0"/>
                            <a:ea typeface="Cambria Math" panose="02040503050406030204" pitchFamily="18" charset="0"/>
                          </a:rPr>
                          <m:t>∗</m:t>
                        </m:r>
                        <m:f>
                          <m:fPr>
                            <m:ctrlPr>
                              <a:rPr lang="en-US" altLang="zh-CN" sz="2400" b="0" i="1" dirty="0" smtClean="0">
                                <a:latin typeface="Cambria Math" panose="02040503050406030204" pitchFamily="18" charset="0"/>
                                <a:ea typeface="Cambria Math" panose="02040503050406030204" pitchFamily="18" charset="0"/>
                              </a:rPr>
                            </m:ctrlPr>
                          </m:fPr>
                          <m:num>
                            <m:r>
                              <a:rPr lang="en-US" altLang="zh-CN" sz="2400" b="0" i="1" dirty="0" smtClean="0">
                                <a:latin typeface="Cambria Math" panose="02040503050406030204" pitchFamily="18" charset="0"/>
                                <a:ea typeface="Cambria Math" panose="02040503050406030204" pitchFamily="18" charset="0"/>
                              </a:rPr>
                              <m:t>𝑃</m:t>
                            </m:r>
                            <m:d>
                              <m:dPr>
                                <m:ctrlPr>
                                  <a:rPr lang="en-US" altLang="zh-CN" sz="2400" b="0" i="1" dirty="0" smtClean="0">
                                    <a:latin typeface="Cambria Math" panose="02040503050406030204" pitchFamily="18" charset="0"/>
                                    <a:ea typeface="Cambria Math" panose="02040503050406030204" pitchFamily="18" charset="0"/>
                                  </a:rPr>
                                </m:ctrlPr>
                              </m:dPr>
                              <m:e>
                                <m:sSub>
                                  <m:sSubPr>
                                    <m:ctrlPr>
                                      <a:rPr lang="en-US" altLang="zh-CN" sz="2400" b="0" i="1" dirty="0" smtClean="0">
                                        <a:latin typeface="Cambria Math" panose="02040503050406030204" pitchFamily="18" charset="0"/>
                                        <a:ea typeface="Cambria Math" panose="02040503050406030204" pitchFamily="18" charset="0"/>
                                      </a:rPr>
                                    </m:ctrlPr>
                                  </m:sSubPr>
                                  <m:e>
                                    <m:r>
                                      <a:rPr lang="en-US" altLang="zh-CN" sz="2400" b="0" i="1" dirty="0" smtClean="0">
                                        <a:latin typeface="Cambria Math" panose="02040503050406030204" pitchFamily="18" charset="0"/>
                                        <a:ea typeface="Cambria Math" panose="02040503050406030204" pitchFamily="18" charset="0"/>
                                      </a:rPr>
                                      <m:t>𝑥</m:t>
                                    </m:r>
                                  </m:e>
                                  <m:sub>
                                    <m:r>
                                      <a:rPr lang="en-US" altLang="zh-CN" sz="2400" b="0" i="1" dirty="0" smtClean="0">
                                        <a:latin typeface="Cambria Math" panose="02040503050406030204" pitchFamily="18" charset="0"/>
                                        <a:ea typeface="Cambria Math" panose="02040503050406030204" pitchFamily="18" charset="0"/>
                                      </a:rPr>
                                      <m:t>𝑖</m:t>
                                    </m:r>
                                  </m:sub>
                                </m:sSub>
                              </m:e>
                              <m:e>
                                <m: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m:rPr>
                                    <m:sty m:val="p"/>
                                  </m:rPr>
                                  <a:rPr lang="el-GR" altLang="zh-CN" sz="2400" b="0" i="0" dirty="0" smtClean="0">
                                    <a:latin typeface="Cambria Math" panose="02040503050406030204" pitchFamily="18" charset="0"/>
                                    <a:ea typeface="Cambria Math" panose="02040503050406030204" pitchFamily="18" charset="0"/>
                                  </a:rPr>
                                  <m:t>Θ</m:t>
                                </m:r>
                              </m:e>
                            </m:d>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m:rPr>
                                <m:sty m:val="p"/>
                              </m:rPr>
                              <a:rPr lang="el-GR" altLang="zh-CN" sz="2400" b="0" i="0" dirty="0" smtClean="0">
                                <a:latin typeface="Cambria Math" panose="02040503050406030204" pitchFamily="18" charset="0"/>
                                <a:ea typeface="Cambria Math" panose="02040503050406030204" pitchFamily="18" charset="0"/>
                              </a:rPr>
                              <m:t>Θ</m:t>
                            </m:r>
                            <m:r>
                              <a:rPr lang="en-US" altLang="zh-CN" sz="2400" b="0" i="1" dirty="0" smtClean="0">
                                <a:latin typeface="Cambria Math" panose="02040503050406030204" pitchFamily="18" charset="0"/>
                              </a:rPr>
                              <m:t>)</m:t>
                            </m:r>
                          </m:num>
                          <m:den>
                            <m:r>
                              <a:rPr lang="en-US" altLang="zh-CN" sz="2400" b="0" i="1" dirty="0" smtClean="0">
                                <a:latin typeface="Cambria Math" panose="02040503050406030204" pitchFamily="18" charset="0"/>
                                <a:ea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sSub>
                              <m:sSubPr>
                                <m:ctrlPr>
                                  <a:rPr lang="en-US" altLang="zh-CN" sz="2400" b="0" i="1" dirty="0" smtClean="0">
                                    <a:latin typeface="Cambria Math" panose="02040503050406030204" pitchFamily="18" charset="0"/>
                                    <a:ea typeface="Cambria Math" panose="02040503050406030204" pitchFamily="18" charset="0"/>
                                  </a:rPr>
                                </m:ctrlPr>
                              </m:sSubPr>
                              <m:e>
                                <m:r>
                                  <a:rPr lang="en-US" altLang="zh-CN" sz="2400" b="0" i="1" dirty="0" smtClean="0">
                                    <a:latin typeface="Cambria Math" panose="02040503050406030204" pitchFamily="18" charset="0"/>
                                    <a:ea typeface="Cambria Math" panose="02040503050406030204" pitchFamily="18" charset="0"/>
                                  </a:rPr>
                                  <m:t>𝑥</m:t>
                                </m:r>
                              </m:e>
                              <m:sub>
                                <m:r>
                                  <a:rPr lang="en-US" altLang="zh-CN" sz="2400" b="0" i="1" dirty="0" smtClean="0">
                                    <a:latin typeface="Cambria Math" panose="02040503050406030204" pitchFamily="18" charset="0"/>
                                    <a:ea typeface="Cambria Math" panose="02040503050406030204" pitchFamily="18" charset="0"/>
                                  </a:rPr>
                                  <m:t>𝑖</m:t>
                                </m:r>
                              </m:sub>
                            </m:sSub>
                            <m:r>
                              <a:rPr lang="en-US" altLang="zh-CN" sz="2400" b="0" i="1" dirty="0" smtClean="0">
                                <a:latin typeface="Cambria Math" panose="02040503050406030204" pitchFamily="18" charset="0"/>
                                <a:ea typeface="Cambria Math" panose="02040503050406030204" pitchFamily="18" charset="0"/>
                              </a:rPr>
                              <m:t>)</m:t>
                            </m:r>
                          </m:den>
                        </m:f>
                        <m:r>
                          <a:rPr lang="en-US" altLang="zh-CN" sz="2400" b="0" i="1" dirty="0" smtClean="0">
                            <a:latin typeface="Cambria Math" panose="02040503050406030204" pitchFamily="18" charset="0"/>
                          </a:rPr>
                          <m:t>)</m:t>
                        </m:r>
                      </m:e>
                    </m:nary>
                  </m:oMath>
                </a14:m>
                <a:endParaRPr lang="en-US" altLang="zh-CN" sz="2400" dirty="0" smtClean="0"/>
              </a:p>
              <a:p>
                <a:pPr marL="0" indent="0">
                  <a:buNone/>
                </a:pPr>
                <a:r>
                  <a:rPr lang="en-US" altLang="zh-CN" sz="2400" dirty="0" smtClean="0"/>
                  <a:t>           </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nary>
                      <m:naryPr>
                        <m:chr m:val="∑"/>
                        <m:limLoc m:val="subSup"/>
                        <m:ctrlPr>
                          <a:rPr lang="en-US" altLang="zh-CN" sz="2400" b="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nary>
                          <m:naryPr>
                            <m:chr m:val="∑"/>
                            <m:limLoc m:val="subSup"/>
                            <m:supHide m:val="on"/>
                            <m:ctrlPr>
                              <a:rPr lang="en-US" altLang="zh-CN" sz="2400" b="0" i="1" dirty="0" smtClean="0">
                                <a:latin typeface="Cambria Math" panose="02040503050406030204" pitchFamily="18" charset="0"/>
                              </a:rPr>
                            </m:ctrlPr>
                          </m:naryPr>
                          <m:sub>
                            <m:r>
                              <m:rPr>
                                <m:brk m:alnAt="9"/>
                              </m:rPr>
                              <a:rPr lang="en-US" altLang="zh-CN" sz="2400" b="0" i="1" dirty="0" smtClean="0">
                                <a:latin typeface="Cambria Math" panose="02040503050406030204" pitchFamily="18" charset="0"/>
                              </a:rPr>
                              <m:t>𝑧</m:t>
                            </m:r>
                          </m:sub>
                          <m:sup/>
                          <m:e>
                            <m:r>
                              <a:rPr lang="en-US" altLang="zh-CN" sz="2400" b="0" i="1" dirty="0" smtClean="0">
                                <a:latin typeface="Cambria Math" panose="02040503050406030204" pitchFamily="18" charset="0"/>
                              </a:rPr>
                              <m:t>𝑃</m:t>
                            </m:r>
                            <m:d>
                              <m:dPr>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𝑧</m:t>
                                </m:r>
                              </m:e>
                              <m:e>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𝑖</m:t>
                                    </m:r>
                                  </m:sub>
                                </m:sSub>
                              </m:e>
                            </m:d>
                            <m:r>
                              <a:rPr lang="en-US" altLang="zh-CN" sz="2400" b="0" i="1" dirty="0" smtClean="0">
                                <a:latin typeface="Cambria Math" panose="02040503050406030204" pitchFamily="18" charset="0"/>
                              </a:rPr>
                              <m:t>∗</m:t>
                            </m:r>
                            <m:r>
                              <m:rPr>
                                <m:sty m:val="p"/>
                              </m:rPr>
                              <a:rPr lang="en-US" altLang="zh-CN" sz="2400" b="0" i="0" dirty="0" smtClean="0">
                                <a:latin typeface="Cambria Math" panose="02040503050406030204" pitchFamily="18" charset="0"/>
                              </a:rPr>
                              <m:t>log</m:t>
                            </m:r>
                            <m:r>
                              <a:rPr lang="en-US" altLang="zh-CN" sz="2400" b="0" i="1" dirty="0" smtClean="0">
                                <a:latin typeface="Cambria Math" panose="02040503050406030204" pitchFamily="18" charset="0"/>
                              </a:rPr>
                              <m:t>⁡(</m:t>
                            </m:r>
                            <m:f>
                              <m:fPr>
                                <m:ctrlPr>
                                  <a:rPr lang="en-US" altLang="zh-CN" sz="2400" b="0" i="1" dirty="0" smtClean="0">
                                    <a:latin typeface="Cambria Math" panose="02040503050406030204" pitchFamily="18" charset="0"/>
                                    <a:ea typeface="Cambria Math" panose="02040503050406030204" pitchFamily="18" charset="0"/>
                                  </a:rPr>
                                </m:ctrlPr>
                              </m:fPr>
                              <m:num>
                                <m:r>
                                  <a:rPr lang="en-US" altLang="zh-CN" sz="2400" b="0" i="1" dirty="0" smtClean="0">
                                    <a:latin typeface="Cambria Math" panose="02040503050406030204" pitchFamily="18" charset="0"/>
                                    <a:ea typeface="Cambria Math" panose="02040503050406030204" pitchFamily="18" charset="0"/>
                                  </a:rPr>
                                  <m:t>𝑃</m:t>
                                </m:r>
                                <m:d>
                                  <m:dPr>
                                    <m:ctrlPr>
                                      <a:rPr lang="en-US" altLang="zh-CN" sz="2400" b="0" i="1" dirty="0" smtClean="0">
                                        <a:latin typeface="Cambria Math" panose="02040503050406030204" pitchFamily="18" charset="0"/>
                                        <a:ea typeface="Cambria Math" panose="02040503050406030204" pitchFamily="18" charset="0"/>
                                      </a:rPr>
                                    </m:ctrlPr>
                                  </m:dPr>
                                  <m:e>
                                    <m:sSub>
                                      <m:sSubPr>
                                        <m:ctrlPr>
                                          <a:rPr lang="en-US" altLang="zh-CN" sz="2400" b="0" i="1" dirty="0" smtClean="0">
                                            <a:latin typeface="Cambria Math" panose="02040503050406030204" pitchFamily="18" charset="0"/>
                                            <a:ea typeface="Cambria Math" panose="02040503050406030204" pitchFamily="18" charset="0"/>
                                          </a:rPr>
                                        </m:ctrlPr>
                                      </m:sSubPr>
                                      <m:e>
                                        <m:r>
                                          <a:rPr lang="en-US" altLang="zh-CN" sz="2400" b="0" i="1" dirty="0" smtClean="0">
                                            <a:latin typeface="Cambria Math" panose="02040503050406030204" pitchFamily="18" charset="0"/>
                                            <a:ea typeface="Cambria Math" panose="02040503050406030204" pitchFamily="18" charset="0"/>
                                          </a:rPr>
                                          <m:t>𝑥</m:t>
                                        </m:r>
                                      </m:e>
                                      <m:sub>
                                        <m:r>
                                          <a:rPr lang="en-US" altLang="zh-CN" sz="2400" b="0" i="1" dirty="0" smtClean="0">
                                            <a:latin typeface="Cambria Math" panose="02040503050406030204" pitchFamily="18" charset="0"/>
                                            <a:ea typeface="Cambria Math" panose="02040503050406030204" pitchFamily="18" charset="0"/>
                                          </a:rPr>
                                          <m:t>𝑖</m:t>
                                        </m:r>
                                      </m:sub>
                                    </m:sSub>
                                  </m:e>
                                  <m:e>
                                    <m: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m:rPr>
                                        <m:sty m:val="p"/>
                                      </m:rPr>
                                      <a:rPr lang="el-GR" altLang="zh-CN" sz="2400" b="0" i="0" dirty="0" smtClean="0">
                                        <a:latin typeface="Cambria Math" panose="02040503050406030204" pitchFamily="18" charset="0"/>
                                        <a:ea typeface="Cambria Math" panose="02040503050406030204" pitchFamily="18" charset="0"/>
                                      </a:rPr>
                                      <m:t>Θ</m:t>
                                    </m:r>
                                  </m:e>
                                </m:d>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𝑧</m:t>
                                </m:r>
                                <m:r>
                                  <a:rPr lang="en-US" altLang="zh-CN" sz="2400" b="0" i="1" dirty="0" smtClean="0">
                                    <a:latin typeface="Cambria Math" panose="02040503050406030204" pitchFamily="18" charset="0"/>
                                    <a:ea typeface="Cambria Math" panose="02040503050406030204" pitchFamily="18" charset="0"/>
                                  </a:rPr>
                                  <m:t>|</m:t>
                                </m:r>
                                <m:r>
                                  <m:rPr>
                                    <m:sty m:val="p"/>
                                  </m:rPr>
                                  <a:rPr lang="el-GR" altLang="zh-CN" sz="2400" b="0" i="0" dirty="0" smtClean="0">
                                    <a:latin typeface="Cambria Math" panose="02040503050406030204" pitchFamily="18" charset="0"/>
                                    <a:ea typeface="Cambria Math" panose="02040503050406030204" pitchFamily="18" charset="0"/>
                                  </a:rPr>
                                  <m:t>Θ</m:t>
                                </m:r>
                                <m:r>
                                  <a:rPr lang="en-US" altLang="zh-CN" sz="2400" b="0" i="1" dirty="0" smtClean="0">
                                    <a:latin typeface="Cambria Math" panose="02040503050406030204" pitchFamily="18" charset="0"/>
                                  </a:rPr>
                                  <m:t>)</m:t>
                                </m:r>
                              </m:num>
                              <m:den>
                                <m:r>
                                  <a:rPr lang="en-US" altLang="zh-CN" sz="2400" b="0" i="1" dirty="0" smtClean="0">
                                    <a:latin typeface="Cambria Math" panose="02040503050406030204" pitchFamily="18" charset="0"/>
                                    <a:ea typeface="Cambria Math" panose="02040503050406030204" pitchFamily="18" charset="0"/>
                                  </a:rPr>
                                  <m:t>𝑃</m:t>
                                </m:r>
                                <m:d>
                                  <m:dPr>
                                    <m:ctrlPr>
                                      <a:rPr lang="en-US" altLang="zh-CN" sz="2400" b="0" i="1" dirty="0" smtClean="0">
                                        <a:latin typeface="Cambria Math" panose="02040503050406030204" pitchFamily="18" charset="0"/>
                                        <a:ea typeface="Cambria Math" panose="02040503050406030204" pitchFamily="18" charset="0"/>
                                      </a:rPr>
                                    </m:ctrlPr>
                                  </m:dPr>
                                  <m:e>
                                    <m:r>
                                      <a:rPr lang="en-US" altLang="zh-CN" sz="2400" b="0" i="1" dirty="0" smtClean="0">
                                        <a:latin typeface="Cambria Math" panose="02040503050406030204" pitchFamily="18" charset="0"/>
                                        <a:ea typeface="Cambria Math" panose="02040503050406030204" pitchFamily="18" charset="0"/>
                                      </a:rPr>
                                      <m:t>𝑧</m:t>
                                    </m:r>
                                  </m:e>
                                  <m:e>
                                    <m:sSub>
                                      <m:sSubPr>
                                        <m:ctrlPr>
                                          <a:rPr lang="en-US" altLang="zh-CN" sz="2400" b="0" i="1" dirty="0" smtClean="0">
                                            <a:latin typeface="Cambria Math" panose="02040503050406030204" pitchFamily="18" charset="0"/>
                                            <a:ea typeface="Cambria Math" panose="02040503050406030204" pitchFamily="18" charset="0"/>
                                          </a:rPr>
                                        </m:ctrlPr>
                                      </m:sSubPr>
                                      <m:e>
                                        <m:r>
                                          <a:rPr lang="en-US" altLang="zh-CN" sz="2400" b="0" i="1" dirty="0" smtClean="0">
                                            <a:latin typeface="Cambria Math" panose="02040503050406030204" pitchFamily="18" charset="0"/>
                                            <a:ea typeface="Cambria Math" panose="02040503050406030204" pitchFamily="18" charset="0"/>
                                          </a:rPr>
                                          <m:t>𝑥</m:t>
                                        </m:r>
                                      </m:e>
                                      <m:sub>
                                        <m:r>
                                          <a:rPr lang="en-US" altLang="zh-CN" sz="2400" b="0" i="1" dirty="0" smtClean="0">
                                            <a:latin typeface="Cambria Math" panose="02040503050406030204" pitchFamily="18" charset="0"/>
                                            <a:ea typeface="Cambria Math" panose="02040503050406030204" pitchFamily="18" charset="0"/>
                                          </a:rPr>
                                          <m:t>𝑖</m:t>
                                        </m:r>
                                      </m:sub>
                                    </m:sSub>
                                  </m:e>
                                </m:d>
                              </m:den>
                            </m:f>
                            <m:r>
                              <a:rPr lang="en-US" altLang="zh-CN" sz="2400" b="0" i="1" dirty="0" smtClean="0">
                                <a:latin typeface="Cambria Math" panose="02040503050406030204" pitchFamily="18" charset="0"/>
                                <a:ea typeface="Cambria Math" panose="02040503050406030204" pitchFamily="18" charset="0"/>
                              </a:rPr>
                              <m:t>)</m:t>
                            </m:r>
                          </m:e>
                        </m:nary>
                      </m:e>
                    </m:nary>
                  </m:oMath>
                </a14:m>
                <a:r>
                  <a:rPr lang="en-US" altLang="zh-CN" sz="2400" dirty="0" smtClean="0"/>
                  <a:t>(Jensen Inequity)</a:t>
                </a:r>
              </a:p>
              <a:p>
                <a:pPr marL="0" indent="0">
                  <a:buNone/>
                </a:pP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𝐸</m:t>
                        </m:r>
                      </m:e>
                      <m:sup>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m:rPr>
                            <m:sty m:val="p"/>
                          </m:rPr>
                          <a:rPr lang="el-GR" altLang="zh-CN" sz="2400" i="0" dirty="0">
                            <a:latin typeface="Cambria Math" panose="02040503050406030204" pitchFamily="18" charset="0"/>
                            <a:ea typeface="Cambria Math" panose="02040503050406030204" pitchFamily="18" charset="0"/>
                          </a:rPr>
                          <m:t>Θ</m:t>
                        </m:r>
                      </m:sup>
                    </m:sSup>
                    <m:r>
                      <a:rPr lang="en-US" altLang="zh-CN" sz="2400" b="0" i="1" smtClean="0">
                        <a:latin typeface="Cambria Math" panose="02040503050406030204" pitchFamily="18" charset="0"/>
                      </a:rPr>
                      <m:t>(</m:t>
                    </m:r>
                    <m:r>
                      <m:rPr>
                        <m:sty m:val="p"/>
                      </m:rPr>
                      <a:rPr lang="en-US" altLang="zh-CN" sz="2400" dirty="0">
                        <a:latin typeface="Cambria Math" panose="02040503050406030204" pitchFamily="18" charset="0"/>
                      </a:rPr>
                      <m:t>l</m:t>
                    </m:r>
                    <m:r>
                      <a:rPr lang="en-US" altLang="zh-CN" sz="2400" dirty="0">
                        <a:latin typeface="Cambria Math" panose="02040503050406030204" pitchFamily="18" charset="0"/>
                      </a:rPr>
                      <m:t>(</m:t>
                    </m:r>
                    <m:r>
                      <m:rPr>
                        <m:sty m:val="p"/>
                      </m:rPr>
                      <a:rPr lang="el-GR" altLang="zh-CN" sz="2400" i="1" dirty="0">
                        <a:latin typeface="Cambria Math" panose="02040503050406030204" pitchFamily="18" charset="0"/>
                        <a:ea typeface="Cambria Math" panose="02040503050406030204" pitchFamily="18" charset="0"/>
                      </a:rPr>
                      <m:t>Θ</m:t>
                    </m:r>
                    <m:r>
                      <a:rPr lang="en-US" altLang="zh-CN" sz="2400" dirty="0">
                        <a:latin typeface="Cambria Math" panose="02040503050406030204" pitchFamily="18" charset="0"/>
                      </a:rPr>
                      <m:t>)</m:t>
                    </m:r>
                    <m:r>
                      <a:rPr lang="en-US" altLang="zh-CN" sz="2400" b="0" i="1" smtClean="0">
                        <a:latin typeface="Cambria Math" panose="02040503050406030204" pitchFamily="18" charset="0"/>
                      </a:rPr>
                      <m:t>)</m:t>
                    </m:r>
                  </m:oMath>
                </a14:m>
                <a:r>
                  <a:rPr lang="en-US" altLang="zh-CN" sz="2400" dirty="0" smtClean="0"/>
                  <a:t> </a:t>
                </a:r>
              </a:p>
              <a:p>
                <a:pPr marL="0" indent="0">
                  <a:buNone/>
                </a:pPr>
                <a:endParaRPr lang="en-US" altLang="zh-CN" sz="2400" dirty="0" smtClean="0"/>
              </a:p>
              <a:p>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167788"/>
                <a:ext cx="10515600" cy="5009175"/>
              </a:xfrm>
              <a:blipFill rotWithShape="0">
                <a:blip r:embed="rId2"/>
                <a:stretch>
                  <a:fillRect l="-812" t="-21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64026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637410"/>
          </a:xfrm>
        </p:spPr>
        <p:txBody>
          <a:bodyPr>
            <a:normAutofit/>
          </a:bodyPr>
          <a:lstStyle/>
          <a:p>
            <a:r>
              <a:rPr lang="en-US" altLang="zh-CN" sz="2400" b="1" dirty="0" smtClean="0"/>
              <a:t>EM</a:t>
            </a:r>
            <a:r>
              <a:rPr lang="zh-CN" altLang="en-US" sz="2400" b="1" dirty="0" smtClean="0"/>
              <a:t>算法推导过程                                                                                                          （</a:t>
            </a:r>
            <a:r>
              <a:rPr lang="en-US" altLang="zh-CN" sz="2400" b="1" dirty="0" smtClean="0"/>
              <a:t>5/7</a:t>
            </a:r>
            <a:r>
              <a:rPr lang="zh-CN" altLang="en-US" sz="2400" b="1" dirty="0" smtClean="0"/>
              <a:t>）</a:t>
            </a:r>
            <a:endParaRPr lang="zh-CN" altLang="en-US" sz="24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002536"/>
                <a:ext cx="10515600" cy="5174427"/>
              </a:xfrm>
            </p:spPr>
            <p:txBody>
              <a:bodyPr/>
              <a:lstStyle/>
              <a:p>
                <a:r>
                  <a:rPr lang="zh-CN" altLang="en-US" dirty="0" smtClean="0"/>
                  <a:t>记含有潜变量的最大似然函数下界（</a:t>
                </a:r>
                <a:r>
                  <a:rPr lang="en-US" altLang="zh-CN" dirty="0" smtClean="0"/>
                  <a:t>Lower Bound</a:t>
                </a:r>
                <a:r>
                  <a:rPr lang="zh-CN" altLang="en-US" dirty="0" smtClean="0"/>
                  <a:t>）</a:t>
                </a:r>
                <a:endParaRPr lang="en-US" altLang="zh-CN" dirty="0" smtClean="0"/>
              </a:p>
              <a:p>
                <a:r>
                  <a:rPr lang="en-US" altLang="zh-CN" dirty="0" smtClean="0"/>
                  <a:t>B(</a:t>
                </a:r>
                <a14:m>
                  <m:oMath xmlns:m="http://schemas.openxmlformats.org/officeDocument/2006/math">
                    <m:r>
                      <m:rPr>
                        <m:sty m:val="p"/>
                      </m:rPr>
                      <a:rPr lang="el-GR" altLang="zh-CN" b="0" i="1" dirty="0" smtClean="0">
                        <a:latin typeface="Cambria Math" panose="02040503050406030204" pitchFamily="18" charset="0"/>
                        <a:ea typeface="Cambria Math" panose="02040503050406030204" pitchFamily="18" charset="0"/>
                      </a:rPr>
                      <m:t>Θ</m:t>
                    </m:r>
                  </m:oMath>
                </a14:m>
                <a:r>
                  <a:rPr lang="en-US" altLang="zh-CN" dirty="0" smtClean="0"/>
                  <a:t>)=</a:t>
                </a:r>
                <a14:m>
                  <m:oMath xmlns:m="http://schemas.openxmlformats.org/officeDocument/2006/math">
                    <m:nary>
                      <m:naryPr>
                        <m:chr m:val="∑"/>
                        <m:limLoc m:val="subSup"/>
                        <m:ctrlPr>
                          <a:rPr lang="en-US" altLang="zh-CN" b="0" i="1" dirty="0" smtClean="0">
                            <a:latin typeface="Cambria Math" panose="02040503050406030204" pitchFamily="18" charset="0"/>
                          </a:rPr>
                        </m:ctrlPr>
                      </m:naryPr>
                      <m:sub>
                        <m:r>
                          <m:rPr>
                            <m:brk m:alnAt="25"/>
                          </m:rP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𝑛</m:t>
                        </m:r>
                      </m:sup>
                      <m:e>
                        <m:nary>
                          <m:naryPr>
                            <m:chr m:val="∑"/>
                            <m:limLoc m:val="subSup"/>
                            <m:supHide m:val="on"/>
                            <m:ctrlPr>
                              <a:rPr lang="en-US" altLang="zh-CN" b="0" i="1" dirty="0" smtClean="0">
                                <a:latin typeface="Cambria Math" panose="02040503050406030204" pitchFamily="18" charset="0"/>
                              </a:rPr>
                            </m:ctrlPr>
                          </m:naryPr>
                          <m:sub>
                            <m:r>
                              <m:rPr>
                                <m:brk m:alnAt="9"/>
                              </m:rPr>
                              <a:rPr lang="en-US" altLang="zh-CN" b="0" i="1" dirty="0" smtClean="0">
                                <a:latin typeface="Cambria Math" panose="02040503050406030204" pitchFamily="18" charset="0"/>
                              </a:rPr>
                              <m:t>𝑧</m:t>
                            </m:r>
                          </m:sub>
                          <m:sup/>
                          <m:e>
                            <m:r>
                              <a:rPr lang="en-US" altLang="zh-CN" b="0" i="1" dirty="0" smtClean="0">
                                <a:latin typeface="Cambria Math" panose="02040503050406030204" pitchFamily="18" charset="0"/>
                              </a:rPr>
                              <m:t>𝑃</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𝑧</m:t>
                                </m:r>
                              </m:e>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𝑖</m:t>
                                    </m:r>
                                  </m:sub>
                                </m:sSub>
                              </m:e>
                            </m:d>
                            <m:r>
                              <a:rPr lang="en-US" altLang="zh-CN" b="0" i="1" dirty="0" smtClean="0">
                                <a:latin typeface="Cambria Math" panose="02040503050406030204" pitchFamily="18" charset="0"/>
                              </a:rPr>
                              <m:t>∗</m:t>
                            </m:r>
                            <m:r>
                              <m:rPr>
                                <m:sty m:val="p"/>
                              </m:rPr>
                              <a:rPr lang="en-US" altLang="zh-CN" b="0" i="0" dirty="0" smtClean="0">
                                <a:latin typeface="Cambria Math" panose="02040503050406030204" pitchFamily="18" charset="0"/>
                              </a:rPr>
                              <m:t>log</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ea typeface="Cambria Math" panose="02040503050406030204" pitchFamily="18" charset="0"/>
                                  </a:rPr>
                                </m:ctrlPr>
                              </m:fPr>
                              <m:num>
                                <m:r>
                                  <a:rPr lang="en-US" altLang="zh-CN" b="0" i="1" dirty="0" smtClean="0">
                                    <a:latin typeface="Cambria Math" panose="02040503050406030204" pitchFamily="18" charset="0"/>
                                    <a:ea typeface="Cambria Math" panose="02040503050406030204" pitchFamily="18" charset="0"/>
                                  </a:rPr>
                                  <m:t>𝑃</m:t>
                                </m:r>
                                <m:d>
                                  <m:dPr>
                                    <m:ctrlPr>
                                      <a:rPr lang="en-US" altLang="zh-CN" b="0" i="1" dirty="0" smtClean="0">
                                        <a:latin typeface="Cambria Math" panose="02040503050406030204" pitchFamily="18" charset="0"/>
                                        <a:ea typeface="Cambria Math" panose="02040503050406030204" pitchFamily="18" charset="0"/>
                                      </a:rPr>
                                    </m:ctrlPr>
                                  </m:dPr>
                                  <m:e>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𝑥</m:t>
                                        </m:r>
                                      </m:e>
                                      <m:sub>
                                        <m:r>
                                          <a:rPr lang="en-US" altLang="zh-CN" b="0" i="1" dirty="0" smtClean="0">
                                            <a:latin typeface="Cambria Math" panose="02040503050406030204" pitchFamily="18" charset="0"/>
                                            <a:ea typeface="Cambria Math" panose="02040503050406030204" pitchFamily="18" charset="0"/>
                                          </a:rPr>
                                          <m:t>𝑖</m:t>
                                        </m:r>
                                      </m:sub>
                                    </m:sSub>
                                  </m:e>
                                  <m:e>
                                    <m:r>
                                      <a:rPr lang="en-US" altLang="zh-CN" b="0" i="1" dirty="0" smtClean="0">
                                        <a:latin typeface="Cambria Math" panose="02040503050406030204" pitchFamily="18" charset="0"/>
                                        <a:ea typeface="Cambria Math" panose="02040503050406030204" pitchFamily="18" charset="0"/>
                                      </a:rPr>
                                      <m:t>𝑧</m:t>
                                    </m:r>
                                    <m:r>
                                      <a:rPr lang="en-US" altLang="zh-CN" b="0" i="1" dirty="0" smtClean="0">
                                        <a:latin typeface="Cambria Math" panose="02040503050406030204" pitchFamily="18" charset="0"/>
                                        <a:ea typeface="Cambria Math" panose="02040503050406030204" pitchFamily="18" charset="0"/>
                                      </a:rPr>
                                      <m:t>,</m:t>
                                    </m:r>
                                    <m:r>
                                      <m:rPr>
                                        <m:sty m:val="p"/>
                                      </m:rPr>
                                      <a:rPr lang="el-GR" altLang="zh-CN" b="0" i="0" dirty="0" smtClean="0">
                                        <a:latin typeface="Cambria Math" panose="02040503050406030204" pitchFamily="18" charset="0"/>
                                        <a:ea typeface="Cambria Math" panose="02040503050406030204" pitchFamily="18" charset="0"/>
                                      </a:rPr>
                                      <m:t>Θ</m:t>
                                    </m:r>
                                  </m:e>
                                </m:d>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𝑃</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𝑧</m:t>
                                </m:r>
                                <m:r>
                                  <a:rPr lang="en-US" altLang="zh-CN" b="0" i="1" dirty="0" smtClean="0">
                                    <a:latin typeface="Cambria Math" panose="02040503050406030204" pitchFamily="18" charset="0"/>
                                    <a:ea typeface="Cambria Math" panose="02040503050406030204" pitchFamily="18" charset="0"/>
                                  </a:rPr>
                                  <m:t>|</m:t>
                                </m:r>
                                <m:r>
                                  <m:rPr>
                                    <m:sty m:val="p"/>
                                  </m:rPr>
                                  <a:rPr lang="el-GR" altLang="zh-CN" b="0" i="0" dirty="0" smtClean="0">
                                    <a:latin typeface="Cambria Math" panose="02040503050406030204" pitchFamily="18" charset="0"/>
                                    <a:ea typeface="Cambria Math" panose="02040503050406030204" pitchFamily="18" charset="0"/>
                                  </a:rPr>
                                  <m:t>Θ</m:t>
                                </m:r>
                                <m:r>
                                  <a:rPr lang="en-US" altLang="zh-CN" b="0" i="1" dirty="0" smtClean="0">
                                    <a:latin typeface="Cambria Math" panose="02040503050406030204" pitchFamily="18" charset="0"/>
                                  </a:rPr>
                                  <m:t>)</m:t>
                                </m:r>
                              </m:num>
                              <m:den>
                                <m:r>
                                  <a:rPr lang="en-US" altLang="zh-CN" b="0" i="1" dirty="0" smtClean="0">
                                    <a:latin typeface="Cambria Math" panose="02040503050406030204" pitchFamily="18" charset="0"/>
                                    <a:ea typeface="Cambria Math" panose="02040503050406030204" pitchFamily="18" charset="0"/>
                                  </a:rPr>
                                  <m:t>𝑃</m:t>
                                </m:r>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𝑧</m:t>
                                    </m:r>
                                  </m:e>
                                  <m:e>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𝑥</m:t>
                                        </m:r>
                                      </m:e>
                                      <m:sub>
                                        <m:r>
                                          <a:rPr lang="en-US" altLang="zh-CN" b="0" i="1" dirty="0" smtClean="0">
                                            <a:latin typeface="Cambria Math" panose="02040503050406030204" pitchFamily="18" charset="0"/>
                                            <a:ea typeface="Cambria Math" panose="02040503050406030204" pitchFamily="18" charset="0"/>
                                          </a:rPr>
                                          <m:t>𝑖</m:t>
                                        </m:r>
                                      </m:sub>
                                    </m:sSub>
                                  </m:e>
                                </m:d>
                              </m:den>
                            </m:f>
                            <m:r>
                              <a:rPr lang="en-US" altLang="zh-CN" b="0" i="1" dirty="0" smtClean="0">
                                <a:latin typeface="Cambria Math" panose="02040503050406030204" pitchFamily="18" charset="0"/>
                                <a:ea typeface="Cambria Math" panose="02040503050406030204" pitchFamily="18" charset="0"/>
                              </a:rPr>
                              <m:t>)</m:t>
                            </m:r>
                          </m:e>
                        </m:nary>
                      </m:e>
                    </m:nary>
                  </m:oMath>
                </a14:m>
                <a:endParaRPr lang="en-US" altLang="zh-CN" b="0" dirty="0" smtClean="0">
                  <a:ea typeface="Cambria Math" panose="02040503050406030204" pitchFamily="18" charset="0"/>
                </a:endParaRPr>
              </a:p>
              <a:p>
                <a:r>
                  <a:rPr lang="zh-CN" altLang="en-US" dirty="0" smtClean="0"/>
                  <a:t>第</a:t>
                </a:r>
                <a:r>
                  <a:rPr lang="en-US" altLang="zh-CN" dirty="0"/>
                  <a:t>t</a:t>
                </a:r>
                <a:r>
                  <a:rPr lang="en-US" altLang="zh-CN" dirty="0" smtClean="0"/>
                  <a:t>+1</a:t>
                </a:r>
                <a:r>
                  <a:rPr lang="zh-CN" altLang="en-US" dirty="0" smtClean="0"/>
                  <a:t>次迭代情况</a:t>
                </a:r>
                <a:endParaRPr lang="en-US" altLang="zh-CN" dirty="0" smtClean="0"/>
              </a:p>
              <a:p>
                <a14:m>
                  <m:oMath xmlns:m="http://schemas.openxmlformats.org/officeDocument/2006/math">
                    <m:r>
                      <m:rPr>
                        <m:sty m:val="p"/>
                      </m:rPr>
                      <a:rPr lang="en-US" altLang="zh-CN" dirty="0" smtClean="0">
                        <a:latin typeface="Cambria Math" panose="02040503050406030204" pitchFamily="18" charset="0"/>
                      </a:rPr>
                      <m:t>l</m:t>
                    </m:r>
                    <m:d>
                      <m:dPr>
                        <m:ctrlPr>
                          <a:rPr lang="en-US" altLang="zh-CN" b="0" i="1" dirty="0" smtClean="0">
                            <a:latin typeface="Cambria Math" panose="02040503050406030204" pitchFamily="18" charset="0"/>
                          </a:rPr>
                        </m:ctrlPr>
                      </m:dPr>
                      <m:e>
                        <m:sSup>
                          <m:sSupPr>
                            <m:ctrlPr>
                              <a:rPr lang="en-US" altLang="zh-CN" b="0" i="1" dirty="0" smtClean="0">
                                <a:latin typeface="Cambria Math" panose="02040503050406030204" pitchFamily="18" charset="0"/>
                                <a:ea typeface="Cambria Math" panose="02040503050406030204" pitchFamily="18" charset="0"/>
                              </a:rPr>
                            </m:ctrlPr>
                          </m:sSupPr>
                          <m:e>
                            <m:r>
                              <m:rPr>
                                <m:sty m:val="p"/>
                              </m:rPr>
                              <a:rPr lang="el-GR" altLang="zh-CN" b="0" i="1" dirty="0" smtClean="0">
                                <a:latin typeface="Cambria Math" panose="02040503050406030204" pitchFamily="18" charset="0"/>
                                <a:ea typeface="Cambria Math" panose="02040503050406030204" pitchFamily="18" charset="0"/>
                              </a:rPr>
                              <m:t>Θ</m:t>
                            </m:r>
                          </m:e>
                          <m:sup>
                            <m:r>
                              <a:rPr lang="en-US" altLang="zh-CN" b="0" i="1" dirty="0" smtClean="0">
                                <a:latin typeface="Cambria Math" panose="02040503050406030204" pitchFamily="18" charset="0"/>
                                <a:ea typeface="Cambria Math" panose="02040503050406030204" pitchFamily="18" charset="0"/>
                              </a:rPr>
                              <m:t>𝑡</m:t>
                            </m:r>
                            <m:r>
                              <a:rPr lang="en-US" altLang="zh-CN" b="0" i="1" dirty="0" smtClean="0">
                                <a:latin typeface="Cambria Math" panose="02040503050406030204" pitchFamily="18" charset="0"/>
                                <a:ea typeface="Cambria Math" panose="02040503050406030204" pitchFamily="18" charset="0"/>
                              </a:rPr>
                              <m:t>+1</m:t>
                            </m:r>
                          </m:sup>
                        </m:sSup>
                      </m:e>
                    </m:d>
                    <m:r>
                      <a:rPr lang="en-US" altLang="zh-CN" b="0" i="1" dirty="0" smtClean="0">
                        <a:latin typeface="Cambria Math" panose="02040503050406030204" pitchFamily="18" charset="0"/>
                        <a:ea typeface="Cambria Math" panose="02040503050406030204" pitchFamily="18" charset="0"/>
                      </a:rPr>
                      <m:t>−</m:t>
                    </m:r>
                    <m:r>
                      <m:rPr>
                        <m:sty m:val="p"/>
                      </m:rPr>
                      <a:rPr lang="en-US" altLang="zh-CN" dirty="0" smtClean="0">
                        <a:latin typeface="Cambria Math" panose="02040503050406030204" pitchFamily="18" charset="0"/>
                      </a:rPr>
                      <m:t>l</m:t>
                    </m:r>
                    <m:d>
                      <m:dPr>
                        <m:ctrlPr>
                          <a:rPr lang="en-US" altLang="zh-CN" b="0" i="1" dirty="0" smtClean="0">
                            <a:latin typeface="Cambria Math" panose="02040503050406030204" pitchFamily="18" charset="0"/>
                          </a:rPr>
                        </m:ctrlPr>
                      </m:dPr>
                      <m:e>
                        <m:sSup>
                          <m:sSupPr>
                            <m:ctrlPr>
                              <a:rPr lang="en-US" altLang="zh-CN" b="0" i="1" dirty="0" smtClean="0">
                                <a:latin typeface="Cambria Math" panose="02040503050406030204" pitchFamily="18" charset="0"/>
                                <a:ea typeface="Cambria Math" panose="02040503050406030204" pitchFamily="18" charset="0"/>
                              </a:rPr>
                            </m:ctrlPr>
                          </m:sSupPr>
                          <m:e>
                            <m:r>
                              <m:rPr>
                                <m:sty m:val="p"/>
                              </m:rPr>
                              <a:rPr lang="el-GR" altLang="zh-CN" b="0" i="1" dirty="0" smtClean="0">
                                <a:latin typeface="Cambria Math" panose="02040503050406030204" pitchFamily="18" charset="0"/>
                                <a:ea typeface="Cambria Math" panose="02040503050406030204" pitchFamily="18" charset="0"/>
                              </a:rPr>
                              <m:t>Θ</m:t>
                            </m:r>
                          </m:e>
                          <m:sup>
                            <m:r>
                              <a:rPr lang="en-US" altLang="zh-CN" b="0" i="1" dirty="0" smtClean="0">
                                <a:latin typeface="Cambria Math" panose="02040503050406030204" pitchFamily="18" charset="0"/>
                                <a:ea typeface="Cambria Math" panose="02040503050406030204" pitchFamily="18" charset="0"/>
                              </a:rPr>
                              <m:t>𝑡</m:t>
                            </m:r>
                          </m:sup>
                        </m:sSup>
                      </m:e>
                    </m:d>
                    <m:r>
                      <a:rPr lang="en-US" altLang="zh-CN" dirty="0">
                        <a:latin typeface="Cambria Math" panose="02040503050406030204" pitchFamily="18" charset="0"/>
                      </a:rPr>
                      <m:t>≥</m:t>
                    </m:r>
                  </m:oMath>
                </a14:m>
                <a:r>
                  <a:rPr lang="en-US" altLang="zh-CN" dirty="0" smtClean="0"/>
                  <a:t> </a:t>
                </a:r>
                <a14:m>
                  <m:oMath xmlns:m="http://schemas.openxmlformats.org/officeDocument/2006/math">
                    <m:r>
                      <m:rPr>
                        <m:nor/>
                      </m:rPr>
                      <a:rPr lang="en-US" altLang="zh-CN" dirty="0" smtClean="0"/>
                      <m:t>B</m:t>
                    </m:r>
                    <m:r>
                      <m:rPr>
                        <m:nor/>
                      </m:rPr>
                      <a:rPr lang="en-US" altLang="zh-CN" dirty="0" smtClean="0"/>
                      <m:t>(</m:t>
                    </m:r>
                    <m:r>
                      <m:rPr>
                        <m:sty m:val="p"/>
                      </m:rPr>
                      <a:rPr lang="el-GR" altLang="zh-CN" b="0" i="1" dirty="0" smtClean="0">
                        <a:latin typeface="Cambria Math" panose="02040503050406030204" pitchFamily="18" charset="0"/>
                        <a:ea typeface="Cambria Math" panose="02040503050406030204" pitchFamily="18" charset="0"/>
                      </a:rPr>
                      <m:t>Θ</m:t>
                    </m:r>
                    <m:r>
                      <a:rPr lang="en-US" altLang="zh-CN" b="0" i="1" dirty="0" smtClean="0">
                        <a:latin typeface="Cambria Math" panose="02040503050406030204" pitchFamily="18" charset="0"/>
                        <a:ea typeface="Cambria Math" panose="02040503050406030204" pitchFamily="18" charset="0"/>
                      </a:rPr>
                      <m:t>;</m:t>
                    </m:r>
                    <m:sSup>
                      <m:sSupPr>
                        <m:ctrlPr>
                          <a:rPr lang="en-US" altLang="zh-CN" b="0" i="1" dirty="0" smtClean="0">
                            <a:latin typeface="Cambria Math" panose="02040503050406030204" pitchFamily="18" charset="0"/>
                            <a:ea typeface="Cambria Math" panose="02040503050406030204" pitchFamily="18" charset="0"/>
                          </a:rPr>
                        </m:ctrlPr>
                      </m:sSupPr>
                      <m:e>
                        <m:r>
                          <m:rPr>
                            <m:sty m:val="p"/>
                          </m:rPr>
                          <a:rPr lang="el-GR" altLang="zh-CN" b="0" i="1" dirty="0" smtClean="0">
                            <a:latin typeface="Cambria Math" panose="02040503050406030204" pitchFamily="18" charset="0"/>
                            <a:ea typeface="Cambria Math" panose="02040503050406030204" pitchFamily="18" charset="0"/>
                          </a:rPr>
                          <m:t>Θ</m:t>
                        </m:r>
                      </m:e>
                      <m:sup>
                        <m:r>
                          <a:rPr lang="en-US" altLang="zh-CN" b="0" i="1" dirty="0" smtClean="0">
                            <a:latin typeface="Cambria Math" panose="02040503050406030204" pitchFamily="18" charset="0"/>
                            <a:ea typeface="Cambria Math" panose="02040503050406030204" pitchFamily="18" charset="0"/>
                          </a:rPr>
                          <m:t>𝑡</m:t>
                        </m:r>
                      </m:sup>
                    </m:sSup>
                    <m:r>
                      <m:rPr>
                        <m:nor/>
                      </m:rPr>
                      <a:rPr lang="en-US" altLang="zh-CN" dirty="0" smtClean="0"/>
                      <m:t>)</m:t>
                    </m:r>
                  </m:oMath>
                </a14:m>
                <a:endParaRPr lang="en-US" altLang="zh-CN" dirty="0" smtClean="0"/>
              </a:p>
              <a:p>
                <a14:m>
                  <m:oMath xmlns:m="http://schemas.openxmlformats.org/officeDocument/2006/math">
                    <m:r>
                      <m:rPr>
                        <m:nor/>
                      </m:rPr>
                      <a:rPr lang="en-US" altLang="zh-CN" dirty="0" smtClean="0"/>
                      <m:t>B</m:t>
                    </m:r>
                    <m:r>
                      <m:rPr>
                        <m:nor/>
                      </m:rPr>
                      <a:rPr lang="en-US" altLang="zh-CN" dirty="0" smtClean="0"/>
                      <m:t>(</m:t>
                    </m:r>
                    <m:r>
                      <m:rPr>
                        <m:sty m:val="p"/>
                      </m:rPr>
                      <a:rPr lang="el-GR" altLang="zh-CN" b="0" i="1" dirty="0" smtClean="0">
                        <a:latin typeface="Cambria Math" panose="02040503050406030204" pitchFamily="18" charset="0"/>
                        <a:ea typeface="Cambria Math" panose="02040503050406030204" pitchFamily="18" charset="0"/>
                      </a:rPr>
                      <m:t>Θ</m:t>
                    </m:r>
                    <m:r>
                      <a:rPr lang="en-US" altLang="zh-CN" b="0" i="1" dirty="0" smtClean="0">
                        <a:latin typeface="Cambria Math" panose="02040503050406030204" pitchFamily="18" charset="0"/>
                        <a:ea typeface="Cambria Math" panose="02040503050406030204" pitchFamily="18" charset="0"/>
                      </a:rPr>
                      <m:t>;</m:t>
                    </m:r>
                    <m:sSup>
                      <m:sSupPr>
                        <m:ctrlPr>
                          <a:rPr lang="en-US" altLang="zh-CN" b="0" i="1" dirty="0" smtClean="0">
                            <a:latin typeface="Cambria Math" panose="02040503050406030204" pitchFamily="18" charset="0"/>
                            <a:ea typeface="Cambria Math" panose="02040503050406030204" pitchFamily="18" charset="0"/>
                          </a:rPr>
                        </m:ctrlPr>
                      </m:sSupPr>
                      <m:e>
                        <m:r>
                          <m:rPr>
                            <m:sty m:val="p"/>
                          </m:rPr>
                          <a:rPr lang="el-GR" altLang="zh-CN" b="0" i="1" dirty="0" smtClean="0">
                            <a:latin typeface="Cambria Math" panose="02040503050406030204" pitchFamily="18" charset="0"/>
                            <a:ea typeface="Cambria Math" panose="02040503050406030204" pitchFamily="18" charset="0"/>
                          </a:rPr>
                          <m:t>Θ</m:t>
                        </m:r>
                      </m:e>
                      <m:sup>
                        <m:r>
                          <a:rPr lang="en-US" altLang="zh-CN" b="0" i="1" dirty="0" smtClean="0">
                            <a:latin typeface="Cambria Math" panose="02040503050406030204" pitchFamily="18" charset="0"/>
                            <a:ea typeface="Cambria Math" panose="02040503050406030204" pitchFamily="18" charset="0"/>
                          </a:rPr>
                          <m:t>𝑡</m:t>
                        </m:r>
                      </m:sup>
                    </m:sSup>
                    <m:r>
                      <m:rPr>
                        <m:nor/>
                      </m:rPr>
                      <a:rPr lang="en-US" altLang="zh-CN" dirty="0" smtClean="0"/>
                      <m:t>)</m:t>
                    </m:r>
                    <m:r>
                      <a:rPr lang="en-US" altLang="zh-CN" b="0" i="0" dirty="0" smtClean="0">
                        <a:latin typeface="Cambria Math" panose="02040503050406030204" pitchFamily="18" charset="0"/>
                      </a:rPr>
                      <m:t>=</m:t>
                    </m:r>
                    <m:r>
                      <m:rPr>
                        <m:sty m:val="p"/>
                      </m:rPr>
                      <a:rPr lang="en-US" altLang="zh-CN" dirty="0" smtClean="0">
                        <a:latin typeface="Cambria Math" panose="02040503050406030204" pitchFamily="18" charset="0"/>
                      </a:rPr>
                      <m:t>l</m:t>
                    </m:r>
                    <m:d>
                      <m:dPr>
                        <m:ctrlPr>
                          <a:rPr lang="en-US" altLang="zh-CN" b="0" i="1" dirty="0" smtClean="0">
                            <a:latin typeface="Cambria Math" panose="02040503050406030204" pitchFamily="18" charset="0"/>
                          </a:rPr>
                        </m:ctrlPr>
                      </m:dPr>
                      <m:e>
                        <m:sSup>
                          <m:sSupPr>
                            <m:ctrlPr>
                              <a:rPr lang="en-US" altLang="zh-CN" b="0" i="1" dirty="0" smtClean="0">
                                <a:latin typeface="Cambria Math" panose="02040503050406030204" pitchFamily="18" charset="0"/>
                                <a:ea typeface="Cambria Math" panose="02040503050406030204" pitchFamily="18" charset="0"/>
                              </a:rPr>
                            </m:ctrlPr>
                          </m:sSupPr>
                          <m:e>
                            <m:r>
                              <m:rPr>
                                <m:sty m:val="p"/>
                              </m:rPr>
                              <a:rPr lang="el-GR" altLang="zh-CN" b="0" i="1" dirty="0" smtClean="0">
                                <a:latin typeface="Cambria Math" panose="02040503050406030204" pitchFamily="18" charset="0"/>
                                <a:ea typeface="Cambria Math" panose="02040503050406030204" pitchFamily="18" charset="0"/>
                              </a:rPr>
                              <m:t>Θ</m:t>
                            </m:r>
                          </m:e>
                          <m:sup>
                            <m:r>
                              <a:rPr lang="en-US" altLang="zh-CN" b="0" i="1" dirty="0" smtClean="0">
                                <a:latin typeface="Cambria Math" panose="02040503050406030204" pitchFamily="18" charset="0"/>
                                <a:ea typeface="Cambria Math" panose="02040503050406030204" pitchFamily="18" charset="0"/>
                              </a:rPr>
                              <m:t>𝑡</m:t>
                            </m:r>
                          </m:sup>
                        </m:sSup>
                      </m:e>
                    </m:d>
                    <m:r>
                      <a:rPr lang="en-US" altLang="zh-CN" b="0" i="1" dirty="0" smtClean="0">
                        <a:latin typeface="Cambria Math" panose="02040503050406030204" pitchFamily="18" charset="0"/>
                      </a:rPr>
                      <m:t>+</m:t>
                    </m:r>
                    <m:nary>
                      <m:naryPr>
                        <m:chr m:val="∑"/>
                        <m:limLoc m:val="subSup"/>
                        <m:ctrlPr>
                          <a:rPr lang="en-US" altLang="zh-CN" b="0" i="1" dirty="0" smtClean="0">
                            <a:latin typeface="Cambria Math" panose="02040503050406030204" pitchFamily="18" charset="0"/>
                          </a:rPr>
                        </m:ctrlPr>
                      </m:naryPr>
                      <m:sub>
                        <m:r>
                          <m:rPr>
                            <m:brk m:alnAt="25"/>
                          </m:rP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𝑛</m:t>
                        </m:r>
                      </m:sup>
                      <m:e>
                        <m:nary>
                          <m:naryPr>
                            <m:chr m:val="∑"/>
                            <m:limLoc m:val="subSup"/>
                            <m:supHide m:val="on"/>
                            <m:ctrlPr>
                              <a:rPr lang="en-US" altLang="zh-CN" b="0" i="1" dirty="0" smtClean="0">
                                <a:latin typeface="Cambria Math" panose="02040503050406030204" pitchFamily="18" charset="0"/>
                              </a:rPr>
                            </m:ctrlPr>
                          </m:naryPr>
                          <m:sub>
                            <m:r>
                              <m:rPr>
                                <m:brk m:alnAt="9"/>
                              </m:rPr>
                              <a:rPr lang="en-US" altLang="zh-CN" b="0" i="1" dirty="0" smtClean="0">
                                <a:latin typeface="Cambria Math" panose="02040503050406030204" pitchFamily="18" charset="0"/>
                              </a:rPr>
                              <m:t>𝑧</m:t>
                            </m:r>
                          </m:sub>
                          <m:sup/>
                          <m:e>
                            <m:r>
                              <a:rPr lang="en-US" altLang="zh-CN" b="0" i="1" dirty="0" smtClean="0">
                                <a:latin typeface="Cambria Math" panose="02040503050406030204" pitchFamily="18" charset="0"/>
                              </a:rPr>
                              <m:t>𝑃</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𝑧</m:t>
                                </m:r>
                              </m:e>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𝑖</m:t>
                                    </m:r>
                                  </m:sub>
                                </m:sSub>
                              </m:e>
                            </m:d>
                            <m:r>
                              <a:rPr lang="en-US" altLang="zh-CN" b="0" i="1" dirty="0" smtClean="0">
                                <a:latin typeface="Cambria Math" panose="02040503050406030204" pitchFamily="18" charset="0"/>
                              </a:rPr>
                              <m:t>∗</m:t>
                            </m:r>
                            <m:r>
                              <m:rPr>
                                <m:sty m:val="p"/>
                              </m:rPr>
                              <a:rPr lang="en-US" altLang="zh-CN" b="0" i="0" dirty="0" smtClean="0">
                                <a:latin typeface="Cambria Math" panose="02040503050406030204" pitchFamily="18" charset="0"/>
                              </a:rPr>
                              <m:t>log</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ea typeface="Cambria Math" panose="02040503050406030204" pitchFamily="18" charset="0"/>
                                  </a:rPr>
                                </m:ctrlPr>
                              </m:fPr>
                              <m:num>
                                <m:r>
                                  <a:rPr lang="en-US" altLang="zh-CN" b="0" i="1" dirty="0" smtClean="0">
                                    <a:latin typeface="Cambria Math" panose="02040503050406030204" pitchFamily="18" charset="0"/>
                                    <a:ea typeface="Cambria Math" panose="02040503050406030204" pitchFamily="18" charset="0"/>
                                  </a:rPr>
                                  <m:t>𝑃</m:t>
                                </m:r>
                                <m:d>
                                  <m:dPr>
                                    <m:ctrlPr>
                                      <a:rPr lang="en-US" altLang="zh-CN" b="0" i="1" dirty="0" smtClean="0">
                                        <a:latin typeface="Cambria Math" panose="02040503050406030204" pitchFamily="18" charset="0"/>
                                        <a:ea typeface="Cambria Math" panose="02040503050406030204" pitchFamily="18" charset="0"/>
                                      </a:rPr>
                                    </m:ctrlPr>
                                  </m:dPr>
                                  <m:e>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𝑥</m:t>
                                        </m:r>
                                      </m:e>
                                      <m:sub>
                                        <m:r>
                                          <a:rPr lang="en-US" altLang="zh-CN" b="0" i="1" dirty="0" smtClean="0">
                                            <a:latin typeface="Cambria Math" panose="02040503050406030204" pitchFamily="18" charset="0"/>
                                            <a:ea typeface="Cambria Math" panose="02040503050406030204" pitchFamily="18" charset="0"/>
                                          </a:rPr>
                                          <m:t>𝑖</m:t>
                                        </m:r>
                                      </m:sub>
                                    </m:sSub>
                                  </m:e>
                                  <m:e>
                                    <m:r>
                                      <a:rPr lang="en-US" altLang="zh-CN" b="0" i="1" dirty="0" smtClean="0">
                                        <a:latin typeface="Cambria Math" panose="02040503050406030204" pitchFamily="18" charset="0"/>
                                        <a:ea typeface="Cambria Math" panose="02040503050406030204" pitchFamily="18" charset="0"/>
                                      </a:rPr>
                                      <m:t>𝑧</m:t>
                                    </m:r>
                                    <m:r>
                                      <a:rPr lang="en-US" altLang="zh-CN" b="0" i="1" dirty="0" smtClean="0">
                                        <a:latin typeface="Cambria Math" panose="02040503050406030204" pitchFamily="18" charset="0"/>
                                        <a:ea typeface="Cambria Math" panose="02040503050406030204" pitchFamily="18" charset="0"/>
                                      </a:rPr>
                                      <m:t>,</m:t>
                                    </m:r>
                                    <m:r>
                                      <m:rPr>
                                        <m:sty m:val="p"/>
                                      </m:rPr>
                                      <a:rPr lang="el-GR" altLang="zh-CN" b="0" i="0" dirty="0" smtClean="0">
                                        <a:latin typeface="Cambria Math" panose="02040503050406030204" pitchFamily="18" charset="0"/>
                                        <a:ea typeface="Cambria Math" panose="02040503050406030204" pitchFamily="18" charset="0"/>
                                      </a:rPr>
                                      <m:t>Θ</m:t>
                                    </m:r>
                                  </m:e>
                                </m:d>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𝑃</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𝑧</m:t>
                                </m:r>
                                <m:r>
                                  <a:rPr lang="en-US" altLang="zh-CN" b="0" i="1" dirty="0" smtClean="0">
                                    <a:latin typeface="Cambria Math" panose="02040503050406030204" pitchFamily="18" charset="0"/>
                                    <a:ea typeface="Cambria Math" panose="02040503050406030204" pitchFamily="18" charset="0"/>
                                  </a:rPr>
                                  <m:t>|</m:t>
                                </m:r>
                                <m:r>
                                  <m:rPr>
                                    <m:sty m:val="p"/>
                                  </m:rPr>
                                  <a:rPr lang="el-GR" altLang="zh-CN" b="0" i="0" dirty="0" smtClean="0">
                                    <a:latin typeface="Cambria Math" panose="02040503050406030204" pitchFamily="18" charset="0"/>
                                    <a:ea typeface="Cambria Math" panose="02040503050406030204" pitchFamily="18" charset="0"/>
                                  </a:rPr>
                                  <m:t>Θ</m:t>
                                </m:r>
                                <m:r>
                                  <a:rPr lang="en-US" altLang="zh-CN" b="0" i="1" dirty="0" smtClean="0">
                                    <a:latin typeface="Cambria Math" panose="02040503050406030204" pitchFamily="18" charset="0"/>
                                  </a:rPr>
                                  <m:t>)</m:t>
                                </m:r>
                              </m:num>
                              <m:den>
                                <m:r>
                                  <a:rPr lang="en-US" altLang="zh-CN" b="0" i="1" dirty="0" smtClean="0">
                                    <a:latin typeface="Cambria Math" panose="02040503050406030204" pitchFamily="18" charset="0"/>
                                    <a:ea typeface="Cambria Math" panose="02040503050406030204" pitchFamily="18" charset="0"/>
                                  </a:rPr>
                                  <m:t>𝑃</m:t>
                                </m:r>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𝑧</m:t>
                                    </m:r>
                                  </m:e>
                                  <m:e>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𝑥</m:t>
                                        </m:r>
                                      </m:e>
                                      <m:sub>
                                        <m:r>
                                          <a:rPr lang="en-US" altLang="zh-CN" b="0" i="1" dirty="0" smtClean="0">
                                            <a:latin typeface="Cambria Math" panose="02040503050406030204" pitchFamily="18" charset="0"/>
                                            <a:ea typeface="Cambria Math" panose="02040503050406030204" pitchFamily="18" charset="0"/>
                                          </a:rPr>
                                          <m:t>𝑖</m:t>
                                        </m:r>
                                      </m:sub>
                                    </m:sSub>
                                  </m:e>
                                </m:d>
                              </m:den>
                            </m:f>
                            <m:r>
                              <a:rPr lang="en-US" altLang="zh-CN" b="0" i="1" dirty="0" smtClean="0">
                                <a:latin typeface="Cambria Math" panose="02040503050406030204" pitchFamily="18" charset="0"/>
                                <a:ea typeface="Cambria Math" panose="02040503050406030204" pitchFamily="18" charset="0"/>
                              </a:rPr>
                              <m:t>)≥0</m:t>
                            </m:r>
                          </m:e>
                        </m:nary>
                      </m:e>
                    </m:nary>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002536"/>
                <a:ext cx="10515600" cy="5174427"/>
              </a:xfrm>
              <a:blipFill rotWithShape="0">
                <a:blip r:embed="rId2"/>
                <a:stretch>
                  <a:fillRect l="-1043" t="-24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471507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813680"/>
          </a:xfrm>
        </p:spPr>
        <p:txBody>
          <a:bodyPr>
            <a:normAutofit/>
          </a:bodyPr>
          <a:lstStyle/>
          <a:p>
            <a:r>
              <a:rPr lang="en-US" altLang="zh-CN" sz="2400" b="1" dirty="0" smtClean="0"/>
              <a:t>EM</a:t>
            </a:r>
            <a:r>
              <a:rPr lang="zh-CN" altLang="en-US" sz="2400" b="1" dirty="0" smtClean="0"/>
              <a:t>算法推导过程                                                                                                          （</a:t>
            </a:r>
            <a:r>
              <a:rPr lang="en-US" altLang="zh-CN" sz="2400" b="1" dirty="0" smtClean="0"/>
              <a:t>6/7</a:t>
            </a:r>
            <a:r>
              <a:rPr lang="zh-CN" altLang="en-US" sz="2400" b="1" dirty="0" smtClean="0"/>
              <a:t>）</a:t>
            </a:r>
            <a:endParaRPr lang="zh-CN" altLang="en-US" sz="2400" dirty="0"/>
          </a:p>
        </p:txBody>
      </p:sp>
      <p:pic>
        <p:nvPicPr>
          <p:cNvPr id="4" name="图片 3"/>
          <p:cNvPicPr>
            <a:picLocks noChangeAspect="1"/>
          </p:cNvPicPr>
          <p:nvPr/>
        </p:nvPicPr>
        <p:blipFill>
          <a:blip r:embed="rId2"/>
          <a:stretch>
            <a:fillRect/>
          </a:stretch>
        </p:blipFill>
        <p:spPr>
          <a:xfrm>
            <a:off x="938670" y="1266586"/>
            <a:ext cx="7191778" cy="4610100"/>
          </a:xfrm>
          <a:prstGeom prst="rect">
            <a:avLst/>
          </a:prstGeom>
        </p:spPr>
      </p:pic>
      <p:sp>
        <p:nvSpPr>
          <p:cNvPr id="5" name="文本框 4"/>
          <p:cNvSpPr txBox="1"/>
          <p:nvPr/>
        </p:nvSpPr>
        <p:spPr>
          <a:xfrm>
            <a:off x="7910111" y="1641513"/>
            <a:ext cx="3922004" cy="830997"/>
          </a:xfrm>
          <a:prstGeom prst="rect">
            <a:avLst/>
          </a:prstGeom>
          <a:noFill/>
        </p:spPr>
        <p:txBody>
          <a:bodyPr wrap="square" rtlCol="0">
            <a:spAutoFit/>
          </a:bodyPr>
          <a:lstStyle/>
          <a:p>
            <a:r>
              <a:rPr lang="zh-CN" altLang="en-US" sz="2400" dirty="0"/>
              <a:t>求</a:t>
            </a:r>
            <a:r>
              <a:rPr lang="zh-CN" altLang="en-US" sz="2400" dirty="0" smtClean="0"/>
              <a:t>出的</a:t>
            </a:r>
            <a:r>
              <a:rPr lang="en-US" altLang="zh-CN" sz="2400" dirty="0" smtClean="0"/>
              <a:t>theta</a:t>
            </a:r>
            <a:r>
              <a:rPr lang="zh-CN" altLang="en-US" sz="2400" dirty="0" smtClean="0"/>
              <a:t>是局部最优，不是全局最优</a:t>
            </a:r>
            <a:endParaRPr lang="zh-CN" altLang="en-US" sz="2400" dirty="0"/>
          </a:p>
        </p:txBody>
      </p:sp>
    </p:spTree>
    <p:extLst>
      <p:ext uri="{BB962C8B-B14F-4D97-AF65-F5344CB8AC3E}">
        <p14:creationId xmlns:p14="http://schemas.microsoft.com/office/powerpoint/2010/main" val="13596646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400" b="1" dirty="0" smtClean="0"/>
              <a:t>EM</a:t>
            </a:r>
            <a:r>
              <a:rPr lang="zh-CN" altLang="en-US" sz="2400" b="1" dirty="0" smtClean="0"/>
              <a:t>算法推导过程                                                                                                          （</a:t>
            </a:r>
            <a:r>
              <a:rPr lang="en-US" altLang="zh-CN" sz="2400" b="1" dirty="0" smtClean="0"/>
              <a:t>7/7</a:t>
            </a:r>
            <a:r>
              <a:rPr lang="zh-CN" altLang="en-US" sz="2400" b="1" dirty="0" smtClean="0"/>
              <a:t>）</a:t>
            </a:r>
            <a:endParaRPr lang="zh-CN" altLang="en-US" sz="24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825625"/>
                <a:ext cx="10515600" cy="2217565"/>
              </a:xfrm>
            </p:spPr>
            <p:txBody>
              <a:bodyPr/>
              <a:lstStyle/>
              <a:p>
                <a:r>
                  <a:rPr lang="en-US" altLang="zh-CN" dirty="0" smtClean="0"/>
                  <a:t>EM</a:t>
                </a:r>
                <a:r>
                  <a:rPr lang="zh-CN" altLang="en-US" dirty="0" smtClean="0"/>
                  <a:t>算法流程</a:t>
                </a:r>
                <a:endParaRPr lang="en-US" altLang="zh-CN" dirty="0" smtClean="0"/>
              </a:p>
              <a:p>
                <a:r>
                  <a:rPr lang="en-US" altLang="zh-CN" dirty="0" smtClean="0"/>
                  <a:t>Repeat Until convergence{</a:t>
                </a:r>
              </a:p>
              <a:p>
                <a:pPr lvl="2"/>
                <a:r>
                  <a:rPr lang="en-US" altLang="zh-CN" dirty="0" smtClean="0"/>
                  <a:t>E-Step</a:t>
                </a:r>
                <a:r>
                  <a:rPr lang="zh-CN" altLang="en-US" dirty="0" smtClean="0"/>
                  <a:t>：</a:t>
                </a:r>
                <a:r>
                  <a:rPr lang="en-US" altLang="zh-CN" dirty="0" smtClean="0"/>
                  <a:t>Compute </a:t>
                </a:r>
                <a14:m>
                  <m:oMath xmlns:m="http://schemas.openxmlformats.org/officeDocument/2006/math">
                    <m:r>
                      <a:rPr lang="en-US" altLang="zh-CN" b="0" i="1" dirty="0" smtClean="0">
                        <a:latin typeface="Cambria Math" panose="02040503050406030204" pitchFamily="18" charset="0"/>
                      </a:rPr>
                      <m:t>𝑃</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𝑧</m:t>
                        </m:r>
                      </m:e>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𝑖</m:t>
                            </m:r>
                          </m:sub>
                        </m:sSub>
                      </m:e>
                    </m:d>
                  </m:oMath>
                </a14:m>
                <a:r>
                  <a:rPr lang="en-US" altLang="zh-CN" dirty="0" smtClean="0"/>
                  <a:t> for each z in the data set X;(</a:t>
                </a:r>
                <a:r>
                  <a:rPr lang="zh-CN" altLang="en-US" dirty="0" smtClean="0"/>
                  <a:t>计算个数为</a:t>
                </a:r>
                <a:r>
                  <a:rPr lang="en-US" altLang="zh-CN" dirty="0"/>
                  <a:t>k</a:t>
                </a:r>
                <a:r>
                  <a:rPr lang="zh-CN" altLang="en-US" dirty="0" smtClean="0"/>
                  <a:t>*</a:t>
                </a:r>
                <a:r>
                  <a:rPr lang="en-US" altLang="zh-CN" dirty="0" smtClean="0"/>
                  <a:t>n)</a:t>
                </a:r>
              </a:p>
              <a:p>
                <a:pPr lvl="2"/>
                <a:r>
                  <a:rPr lang="en-US" altLang="zh-CN" dirty="0" smtClean="0"/>
                  <a:t>M-step</a:t>
                </a:r>
                <a:r>
                  <a:rPr lang="zh-CN" altLang="en-US" dirty="0" smtClean="0"/>
                  <a:t>：</a:t>
                </a:r>
                <a:r>
                  <a:rPr lang="en-US" altLang="zh-CN" dirty="0" smtClean="0"/>
                  <a:t>Compute </a:t>
                </a:r>
                <a14:m>
                  <m:oMath xmlns:m="http://schemas.openxmlformats.org/officeDocument/2006/math">
                    <m:r>
                      <m:rPr>
                        <m:sty m:val="p"/>
                      </m:rPr>
                      <a:rPr lang="el-GR" altLang="zh-CN" b="0" i="1" dirty="0" smtClean="0">
                        <a:latin typeface="Cambria Math" panose="02040503050406030204" pitchFamily="18" charset="0"/>
                        <a:ea typeface="Cambria Math" panose="02040503050406030204" pitchFamily="18" charset="0"/>
                      </a:rPr>
                      <m:t>Θ</m:t>
                    </m:r>
                  </m:oMath>
                </a14:m>
                <a:r>
                  <a:rPr lang="en-US" altLang="zh-CN" dirty="0" smtClean="0"/>
                  <a:t>=argmax</a:t>
                </a:r>
                <a14:m>
                  <m:oMath xmlns:m="http://schemas.openxmlformats.org/officeDocument/2006/math">
                    <m:r>
                      <a:rPr lang="en-US" altLang="zh-CN" b="0" i="0" dirty="0" smtClean="0">
                        <a:latin typeface="Cambria Math" panose="02040503050406030204" pitchFamily="18" charset="0"/>
                      </a:rPr>
                      <m:t> </m:t>
                    </m:r>
                    <m:r>
                      <m:rPr>
                        <m:nor/>
                      </m:rPr>
                      <a:rPr lang="en-US" altLang="zh-CN" dirty="0" smtClean="0"/>
                      <m:t>B</m:t>
                    </m:r>
                    <m:r>
                      <m:rPr>
                        <m:nor/>
                      </m:rPr>
                      <a:rPr lang="en-US" altLang="zh-CN" dirty="0" smtClean="0"/>
                      <m:t>(</m:t>
                    </m:r>
                    <m:r>
                      <m:rPr>
                        <m:sty m:val="p"/>
                      </m:rPr>
                      <a:rPr lang="el-GR" altLang="zh-CN" b="0" i="1" dirty="0" smtClean="0">
                        <a:latin typeface="Cambria Math" panose="02040503050406030204" pitchFamily="18" charset="0"/>
                        <a:ea typeface="Cambria Math" panose="02040503050406030204" pitchFamily="18" charset="0"/>
                      </a:rPr>
                      <m:t>Θ</m:t>
                    </m:r>
                    <m:r>
                      <a:rPr lang="en-US" altLang="zh-CN" b="0" i="1" dirty="0" smtClean="0">
                        <a:latin typeface="Cambria Math" panose="02040503050406030204" pitchFamily="18" charset="0"/>
                        <a:ea typeface="Cambria Math" panose="02040503050406030204" pitchFamily="18" charset="0"/>
                      </a:rPr>
                      <m:t>;</m:t>
                    </m:r>
                    <m:sSup>
                      <m:sSupPr>
                        <m:ctrlPr>
                          <a:rPr lang="en-US" altLang="zh-CN" b="0" i="1" dirty="0" smtClean="0">
                            <a:latin typeface="Cambria Math" panose="02040503050406030204" pitchFamily="18" charset="0"/>
                            <a:ea typeface="Cambria Math" panose="02040503050406030204" pitchFamily="18" charset="0"/>
                          </a:rPr>
                        </m:ctrlPr>
                      </m:sSupPr>
                      <m:e>
                        <m:r>
                          <m:rPr>
                            <m:sty m:val="p"/>
                          </m:rPr>
                          <a:rPr lang="el-GR" altLang="zh-CN" b="0" i="1" dirty="0" smtClean="0">
                            <a:latin typeface="Cambria Math" panose="02040503050406030204" pitchFamily="18" charset="0"/>
                            <a:ea typeface="Cambria Math" panose="02040503050406030204" pitchFamily="18" charset="0"/>
                          </a:rPr>
                          <m:t>Θ</m:t>
                        </m:r>
                      </m:e>
                      <m:sup>
                        <m:r>
                          <a:rPr lang="en-US" altLang="zh-CN" b="0" i="1" dirty="0" smtClean="0">
                            <a:latin typeface="Cambria Math" panose="02040503050406030204" pitchFamily="18" charset="0"/>
                            <a:ea typeface="Cambria Math" panose="02040503050406030204" pitchFamily="18" charset="0"/>
                          </a:rPr>
                          <m:t>𝑡</m:t>
                        </m:r>
                      </m:sup>
                    </m:sSup>
                    <m:r>
                      <m:rPr>
                        <m:nor/>
                      </m:rPr>
                      <a:rPr lang="en-US" altLang="zh-CN" dirty="0" smtClean="0"/>
                      <m:t>)</m:t>
                    </m:r>
                  </m:oMath>
                </a14:m>
                <a:endParaRPr lang="en-US" altLang="zh-CN" dirty="0" smtClean="0"/>
              </a:p>
              <a:p>
                <a:pPr marL="0" indent="0">
                  <a:buNone/>
                </a:pPr>
                <a:r>
                  <a:rPr lang="en-US" altLang="zh-CN" dirty="0"/>
                  <a:t>}</a:t>
                </a:r>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825625"/>
                <a:ext cx="10515600" cy="2217565"/>
              </a:xfrm>
              <a:blipFill rotWithShape="0">
                <a:blip r:embed="rId2"/>
                <a:stretch>
                  <a:fillRect l="-1217" t="-5769" b="-57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844095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
          <p:cNvSpPr txBox="1">
            <a:spLocks noChangeArrowheads="1"/>
          </p:cNvSpPr>
          <p:nvPr/>
        </p:nvSpPr>
        <p:spPr bwMode="auto">
          <a:xfrm>
            <a:off x="3184525" y="722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8675" name="Group 4"/>
          <p:cNvGrpSpPr>
            <a:grpSpLocks/>
          </p:cNvGrpSpPr>
          <p:nvPr/>
        </p:nvGrpSpPr>
        <p:grpSpPr bwMode="auto">
          <a:xfrm>
            <a:off x="-871538" y="1447801"/>
            <a:ext cx="9366251" cy="4824413"/>
            <a:chOff x="-1509" y="912"/>
            <a:chExt cx="5900" cy="3039"/>
          </a:xfrm>
        </p:grpSpPr>
        <p:sp>
          <p:nvSpPr>
            <p:cNvPr id="45061" name="AutoShape 5"/>
            <p:cNvSpPr>
              <a:spLocks noChangeArrowheads="1"/>
            </p:cNvSpPr>
            <p:nvPr/>
          </p:nvSpPr>
          <p:spPr bwMode="ltGray">
            <a:xfrm rot="5400000">
              <a:off x="-1526" y="929"/>
              <a:ext cx="3039" cy="3005"/>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headEnd/>
              <a:tailEnd/>
            </a:ln>
            <a:effectLst/>
          </p:spPr>
          <p:txBody>
            <a:bodyPr wrap="none" anchor="ctr"/>
            <a:lstStyle/>
            <a:p>
              <a:pPr>
                <a:defRPr/>
              </a:pPr>
              <a:endParaRPr lang="zh-CN" altLang="en-US">
                <a:latin typeface="Arial" charset="0"/>
              </a:endParaRPr>
            </a:p>
          </p:txBody>
        </p:sp>
        <p:sp>
          <p:nvSpPr>
            <p:cNvPr id="45062" name="AutoShape 6"/>
            <p:cNvSpPr>
              <a:spLocks noChangeArrowheads="1"/>
            </p:cNvSpPr>
            <p:nvPr/>
          </p:nvSpPr>
          <p:spPr bwMode="ltGray">
            <a:xfrm rot="5400000" flipH="1">
              <a:off x="-1270" y="1203"/>
              <a:ext cx="2540" cy="2475"/>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chemeClr val="hlink">
                    <a:alpha val="36000"/>
                  </a:schemeClr>
                </a:gs>
                <a:gs pos="100000">
                  <a:schemeClr val="hlink">
                    <a:gamma/>
                    <a:tint val="0"/>
                    <a:invGamma/>
                  </a:schemeClr>
                </a:gs>
              </a:gsLst>
              <a:lin ang="5400000" scaled="1"/>
            </a:gradFill>
            <a:ln w="0" algn="ctr">
              <a:noFill/>
              <a:miter lim="800000"/>
              <a:headEnd/>
              <a:tailEnd/>
            </a:ln>
            <a:effectLst/>
          </p:spPr>
          <p:txBody>
            <a:bodyPr wrap="none" anchor="ctr"/>
            <a:lstStyle/>
            <a:p>
              <a:pPr>
                <a:defRPr/>
              </a:pPr>
              <a:endParaRPr lang="zh-CN" altLang="en-US">
                <a:latin typeface="Arial" charset="0"/>
              </a:endParaRPr>
            </a:p>
          </p:txBody>
        </p:sp>
        <p:grpSp>
          <p:nvGrpSpPr>
            <p:cNvPr id="28678" name="Group 7"/>
            <p:cNvGrpSpPr>
              <a:grpSpLocks/>
            </p:cNvGrpSpPr>
            <p:nvPr/>
          </p:nvGrpSpPr>
          <p:grpSpPr bwMode="auto">
            <a:xfrm>
              <a:off x="912" y="1147"/>
              <a:ext cx="3479" cy="339"/>
              <a:chOff x="912" y="1147"/>
              <a:chExt cx="3479" cy="339"/>
            </a:xfrm>
          </p:grpSpPr>
          <p:sp>
            <p:nvSpPr>
              <p:cNvPr id="28715" name="AutoShape 8"/>
              <p:cNvSpPr>
                <a:spLocks noChangeArrowheads="1"/>
              </p:cNvSpPr>
              <p:nvPr/>
            </p:nvSpPr>
            <p:spPr bwMode="gray">
              <a:xfrm>
                <a:off x="1112" y="1147"/>
                <a:ext cx="3279"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smtClean="0"/>
                  <a:t>最大期望算法简介（</a:t>
                </a:r>
                <a:r>
                  <a:rPr lang="en-US" altLang="zh-CN" b="1" dirty="0" smtClean="0"/>
                  <a:t>Expectation Maximization</a:t>
                </a:r>
                <a:r>
                  <a:rPr lang="zh-CN" altLang="en-US" b="1" dirty="0" smtClean="0"/>
                  <a:t>）</a:t>
                </a:r>
                <a:endParaRPr lang="en-US" altLang="zh-CN" b="1" dirty="0"/>
              </a:p>
            </p:txBody>
          </p:sp>
          <p:grpSp>
            <p:nvGrpSpPr>
              <p:cNvPr id="28716" name="Group 9"/>
              <p:cNvGrpSpPr>
                <a:grpSpLocks/>
              </p:cNvGrpSpPr>
              <p:nvPr/>
            </p:nvGrpSpPr>
            <p:grpSpPr bwMode="auto">
              <a:xfrm>
                <a:off x="912" y="1159"/>
                <a:ext cx="240" cy="327"/>
                <a:chOff x="2078" y="1386"/>
                <a:chExt cx="1615" cy="2204"/>
              </a:xfrm>
            </p:grpSpPr>
            <p:sp>
              <p:nvSpPr>
                <p:cNvPr id="28717" name="Oval 10"/>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18" name="Oval 11"/>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68" name="Oval 12"/>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720" name="Oval 13"/>
                <p:cNvSpPr>
                  <a:spLocks noChangeArrowheads="1"/>
                </p:cNvSpPr>
                <p:nvPr/>
              </p:nvSpPr>
              <p:spPr bwMode="gray">
                <a:xfrm>
                  <a:off x="2254" y="1387"/>
                  <a:ext cx="1101" cy="2202"/>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70" name="Oval 14"/>
                <p:cNvSpPr>
                  <a:spLocks noChangeArrowheads="1"/>
                </p:cNvSpPr>
                <p:nvPr/>
              </p:nvSpPr>
              <p:spPr bwMode="gray">
                <a:xfrm>
                  <a:off x="2334" y="1386"/>
                  <a:ext cx="1097"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722" name="Oval 15"/>
                <p:cNvSpPr>
                  <a:spLocks noChangeArrowheads="1"/>
                </p:cNvSpPr>
                <p:nvPr/>
              </p:nvSpPr>
              <p:spPr bwMode="gray">
                <a:xfrm>
                  <a:off x="2337" y="1386"/>
                  <a:ext cx="1096" cy="2204"/>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28680" name="Group 25"/>
            <p:cNvGrpSpPr>
              <a:grpSpLocks/>
            </p:cNvGrpSpPr>
            <p:nvPr/>
          </p:nvGrpSpPr>
          <p:grpSpPr bwMode="auto">
            <a:xfrm>
              <a:off x="1344" y="2179"/>
              <a:ext cx="2976" cy="331"/>
              <a:chOff x="1344" y="2179"/>
              <a:chExt cx="2976" cy="331"/>
            </a:xfrm>
          </p:grpSpPr>
          <p:sp>
            <p:nvSpPr>
              <p:cNvPr id="28699" name="AutoShape 26"/>
              <p:cNvSpPr>
                <a:spLocks noChangeArrowheads="1"/>
              </p:cNvSpPr>
              <p:nvPr/>
            </p:nvSpPr>
            <p:spPr bwMode="gray">
              <a:xfrm>
                <a:off x="1536" y="2179"/>
                <a:ext cx="2784"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smtClean="0">
                    <a:solidFill>
                      <a:srgbClr val="FF0000"/>
                    </a:solidFill>
                  </a:rPr>
                  <a:t>几</a:t>
                </a:r>
                <a:r>
                  <a:rPr lang="zh-CN" altLang="en-US" b="1" dirty="0">
                    <a:solidFill>
                      <a:srgbClr val="FF0000"/>
                    </a:solidFill>
                  </a:rPr>
                  <a:t>个</a:t>
                </a:r>
                <a:r>
                  <a:rPr lang="en-US" altLang="zh-CN" b="1" dirty="0">
                    <a:solidFill>
                      <a:srgbClr val="FF0000"/>
                    </a:solidFill>
                  </a:rPr>
                  <a:t>EM</a:t>
                </a:r>
                <a:r>
                  <a:rPr lang="zh-CN" altLang="en-US" b="1" dirty="0">
                    <a:solidFill>
                      <a:srgbClr val="FF0000"/>
                    </a:solidFill>
                  </a:rPr>
                  <a:t>应用</a:t>
                </a:r>
                <a:r>
                  <a:rPr lang="zh-CN" altLang="en-US" b="1" dirty="0" smtClean="0">
                    <a:solidFill>
                      <a:srgbClr val="FF0000"/>
                    </a:solidFill>
                  </a:rPr>
                  <a:t>实例</a:t>
                </a:r>
                <a:endParaRPr lang="en-US" altLang="zh-CN" b="1" dirty="0">
                  <a:solidFill>
                    <a:srgbClr val="FF0000"/>
                  </a:solidFill>
                </a:endParaRPr>
              </a:p>
            </p:txBody>
          </p:sp>
          <p:grpSp>
            <p:nvGrpSpPr>
              <p:cNvPr id="28700" name="Group 27"/>
              <p:cNvGrpSpPr>
                <a:grpSpLocks/>
              </p:cNvGrpSpPr>
              <p:nvPr/>
            </p:nvGrpSpPr>
            <p:grpSpPr bwMode="auto">
              <a:xfrm>
                <a:off x="1344" y="2183"/>
                <a:ext cx="240" cy="327"/>
                <a:chOff x="2078" y="1386"/>
                <a:chExt cx="1615" cy="2204"/>
              </a:xfrm>
            </p:grpSpPr>
            <p:sp>
              <p:nvSpPr>
                <p:cNvPr id="28701" name="Oval 2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02" name="Oval 2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86" name="Oval 3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704" name="Oval 31"/>
                <p:cNvSpPr>
                  <a:spLocks noChangeArrowheads="1"/>
                </p:cNvSpPr>
                <p:nvPr/>
              </p:nvSpPr>
              <p:spPr bwMode="gray">
                <a:xfrm>
                  <a:off x="2254" y="1387"/>
                  <a:ext cx="1101" cy="2202"/>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88" name="Oval 32"/>
                <p:cNvSpPr>
                  <a:spLocks noChangeArrowheads="1"/>
                </p:cNvSpPr>
                <p:nvPr/>
              </p:nvSpPr>
              <p:spPr bwMode="gray">
                <a:xfrm>
                  <a:off x="2334" y="1386"/>
                  <a:ext cx="1097"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706" name="Oval 33"/>
                <p:cNvSpPr>
                  <a:spLocks noChangeArrowheads="1"/>
                </p:cNvSpPr>
                <p:nvPr/>
              </p:nvSpPr>
              <p:spPr bwMode="gray">
                <a:xfrm>
                  <a:off x="2337" y="1386"/>
                  <a:ext cx="1096" cy="2204"/>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28682" name="Group 43"/>
            <p:cNvGrpSpPr>
              <a:grpSpLocks/>
            </p:cNvGrpSpPr>
            <p:nvPr/>
          </p:nvGrpSpPr>
          <p:grpSpPr bwMode="auto">
            <a:xfrm>
              <a:off x="960" y="3199"/>
              <a:ext cx="2972" cy="333"/>
              <a:chOff x="960" y="3199"/>
              <a:chExt cx="2972" cy="333"/>
            </a:xfrm>
          </p:grpSpPr>
          <p:sp>
            <p:nvSpPr>
              <p:cNvPr id="28683" name="AutoShape 44"/>
              <p:cNvSpPr>
                <a:spLocks noChangeArrowheads="1"/>
              </p:cNvSpPr>
              <p:nvPr/>
            </p:nvSpPr>
            <p:spPr bwMode="gray">
              <a:xfrm>
                <a:off x="1148" y="3212"/>
                <a:ext cx="2784"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a:t>潜类别分析</a:t>
                </a:r>
                <a:r>
                  <a:rPr lang="en-US" altLang="zh-CN" b="1" dirty="0"/>
                  <a:t>(Latent Class Analysis)</a:t>
                </a:r>
              </a:p>
            </p:txBody>
          </p:sp>
          <p:grpSp>
            <p:nvGrpSpPr>
              <p:cNvPr id="28684" name="Group 45"/>
              <p:cNvGrpSpPr>
                <a:grpSpLocks/>
              </p:cNvGrpSpPr>
              <p:nvPr/>
            </p:nvGrpSpPr>
            <p:grpSpPr bwMode="auto">
              <a:xfrm>
                <a:off x="960" y="3199"/>
                <a:ext cx="224" cy="327"/>
                <a:chOff x="2078" y="1386"/>
                <a:chExt cx="1615" cy="2204"/>
              </a:xfrm>
            </p:grpSpPr>
            <p:sp>
              <p:nvSpPr>
                <p:cNvPr id="28685" name="Oval 46"/>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6" name="Oval 47"/>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104" name="Oval 48"/>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688" name="Oval 49"/>
                <p:cNvSpPr>
                  <a:spLocks noChangeArrowheads="1"/>
                </p:cNvSpPr>
                <p:nvPr/>
              </p:nvSpPr>
              <p:spPr bwMode="gray">
                <a:xfrm>
                  <a:off x="2254" y="1387"/>
                  <a:ext cx="1180" cy="2202"/>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106" name="Oval 50"/>
                <p:cNvSpPr>
                  <a:spLocks noChangeArrowheads="1"/>
                </p:cNvSpPr>
                <p:nvPr/>
              </p:nvSpPr>
              <p:spPr bwMode="gray">
                <a:xfrm>
                  <a:off x="2338" y="1386"/>
                  <a:ext cx="1096"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690" name="Oval 51"/>
                <p:cNvSpPr>
                  <a:spLocks noChangeArrowheads="1"/>
                </p:cNvSpPr>
                <p:nvPr/>
              </p:nvSpPr>
              <p:spPr bwMode="gray">
                <a:xfrm>
                  <a:off x="2337" y="1386"/>
                  <a:ext cx="1096" cy="2204"/>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sp>
        <p:nvSpPr>
          <p:cNvPr id="2" name="文本框 1"/>
          <p:cNvSpPr txBox="1"/>
          <p:nvPr/>
        </p:nvSpPr>
        <p:spPr>
          <a:xfrm>
            <a:off x="791052" y="3782498"/>
            <a:ext cx="2137273" cy="369332"/>
          </a:xfrm>
          <a:prstGeom prst="rect">
            <a:avLst/>
          </a:prstGeom>
          <a:noFill/>
        </p:spPr>
        <p:txBody>
          <a:bodyPr wrap="square" rtlCol="0">
            <a:spAutoFit/>
          </a:bodyPr>
          <a:lstStyle/>
          <a:p>
            <a:r>
              <a:rPr lang="zh-CN" altLang="en-US" b="1" dirty="0" smtClean="0"/>
              <a:t>目录（</a:t>
            </a:r>
            <a:r>
              <a:rPr lang="en-US" altLang="zh-CN" b="1" dirty="0" smtClean="0"/>
              <a:t>content</a:t>
            </a:r>
            <a:r>
              <a:rPr lang="zh-CN" altLang="en-US" b="1" dirty="0" smtClean="0"/>
              <a:t>）</a:t>
            </a:r>
            <a:endParaRPr lang="zh-CN" altLang="en-US" b="1" dirty="0"/>
          </a:p>
        </p:txBody>
      </p:sp>
    </p:spTree>
    <p:extLst>
      <p:ext uri="{BB962C8B-B14F-4D97-AF65-F5344CB8AC3E}">
        <p14:creationId xmlns:p14="http://schemas.microsoft.com/office/powerpoint/2010/main" val="15041736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81477"/>
          </a:xfrm>
        </p:spPr>
        <p:txBody>
          <a:bodyPr>
            <a:normAutofit/>
          </a:bodyPr>
          <a:lstStyle/>
          <a:p>
            <a:r>
              <a:rPr lang="zh-CN" altLang="en-US" sz="2400" b="1" dirty="0" smtClean="0"/>
              <a:t>几个</a:t>
            </a:r>
            <a:r>
              <a:rPr lang="en-US" altLang="zh-CN" sz="2400" b="1" dirty="0" smtClean="0"/>
              <a:t>EM</a:t>
            </a:r>
            <a:r>
              <a:rPr lang="zh-CN" altLang="en-US" sz="2400" b="1" dirty="0" smtClean="0"/>
              <a:t>应用实例</a:t>
            </a:r>
            <a:endParaRPr lang="zh-CN" altLang="en-US" sz="2400" dirty="0"/>
          </a:p>
        </p:txBody>
      </p:sp>
      <p:sp>
        <p:nvSpPr>
          <p:cNvPr id="3" name="内容占位符 2"/>
          <p:cNvSpPr>
            <a:spLocks noGrp="1"/>
          </p:cNvSpPr>
          <p:nvPr>
            <p:ph idx="1"/>
          </p:nvPr>
        </p:nvSpPr>
        <p:spPr>
          <a:xfrm>
            <a:off x="838200" y="1046602"/>
            <a:ext cx="10515600" cy="5130361"/>
          </a:xfrm>
        </p:spPr>
        <p:txBody>
          <a:bodyPr/>
          <a:lstStyle/>
          <a:p>
            <a:r>
              <a:rPr lang="en-US" altLang="zh-CN" dirty="0" smtClean="0"/>
              <a:t>Gaussian Mixture Model</a:t>
            </a:r>
          </a:p>
          <a:p>
            <a:r>
              <a:rPr lang="en-US" altLang="zh-CN" dirty="0"/>
              <a:t>P</a:t>
            </a:r>
            <a:r>
              <a:rPr lang="en-US" altLang="zh-CN" dirty="0" smtClean="0"/>
              <a:t>robabilistic </a:t>
            </a:r>
            <a:r>
              <a:rPr lang="en-US" altLang="zh-CN" dirty="0"/>
              <a:t>L</a:t>
            </a:r>
            <a:r>
              <a:rPr lang="en-US" altLang="zh-CN" dirty="0" smtClean="0"/>
              <a:t>atent Semantic Analysis Model</a:t>
            </a:r>
          </a:p>
          <a:p>
            <a:r>
              <a:rPr lang="en-US" altLang="zh-CN" dirty="0"/>
              <a:t>Latent </a:t>
            </a:r>
            <a:r>
              <a:rPr lang="en-US" altLang="zh-CN" dirty="0" err="1"/>
              <a:t>Dirichlet</a:t>
            </a:r>
            <a:r>
              <a:rPr lang="en-US" altLang="zh-CN" dirty="0"/>
              <a:t> </a:t>
            </a:r>
            <a:r>
              <a:rPr lang="en-US" altLang="zh-CN" dirty="0" smtClean="0"/>
              <a:t> Allocation Model</a:t>
            </a:r>
            <a:endParaRPr lang="zh-CN" altLang="en-US" dirty="0"/>
          </a:p>
        </p:txBody>
      </p:sp>
    </p:spTree>
    <p:extLst>
      <p:ext uri="{BB962C8B-B14F-4D97-AF65-F5344CB8AC3E}">
        <p14:creationId xmlns:p14="http://schemas.microsoft.com/office/powerpoint/2010/main" val="15480134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81477"/>
          </a:xfrm>
        </p:spPr>
        <p:txBody>
          <a:bodyPr>
            <a:normAutofit/>
          </a:bodyPr>
          <a:lstStyle/>
          <a:p>
            <a:r>
              <a:rPr lang="en-US" altLang="zh-CN" sz="2400" b="1" dirty="0" smtClean="0"/>
              <a:t>Gaussian </a:t>
            </a:r>
            <a:r>
              <a:rPr lang="en-US" altLang="zh-CN" sz="2400" b="1" dirty="0"/>
              <a:t>Mixture </a:t>
            </a:r>
            <a:r>
              <a:rPr lang="en-US" altLang="zh-CN" sz="2400" b="1" dirty="0" smtClean="0"/>
              <a:t>Model-Generative Model</a:t>
            </a:r>
            <a:endParaRPr lang="zh-CN" altLang="en-US" sz="24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046602"/>
                <a:ext cx="10515600" cy="5130361"/>
              </a:xfrm>
            </p:spPr>
            <p:txBody>
              <a:bodyPr/>
              <a:lstStyle/>
              <a:p>
                <a:r>
                  <a:rPr lang="zh-CN" altLang="en-US" dirty="0" smtClean="0">
                    <a:latin typeface="Cambria Math" panose="02040503050406030204" pitchFamily="18" charset="0"/>
                  </a:rPr>
                  <a:t>高斯模型描述：</a:t>
                </a:r>
                <a:endParaRPr lang="en-US" altLang="zh-CN" dirty="0" smtClean="0">
                  <a:latin typeface="Cambria Math" panose="02040503050406030204" pitchFamily="18" charset="0"/>
                </a:endParaRPr>
              </a:p>
              <a:p>
                <a:pPr lvl="1"/>
                <a14:m>
                  <m:oMath xmlns:m="http://schemas.openxmlformats.org/officeDocument/2006/math">
                    <m:r>
                      <m:rPr>
                        <m:sty m:val="p"/>
                      </m:rPr>
                      <a:rPr lang="en-US" altLang="zh-CN" i="1" smtClean="0">
                        <a:latin typeface="Cambria Math" panose="02040503050406030204" pitchFamily="18" charset="0"/>
                      </a:rPr>
                      <m:t>P</m:t>
                    </m:r>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r>
                      <a:rPr lang="en-US" altLang="zh-CN" b="0" i="1" smtClean="0">
                        <a:latin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Θ</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nary>
                      <m:naryPr>
                        <m:chr m:val="∑"/>
                        <m:limLoc m:val="subSup"/>
                        <m:ctrlPr>
                          <a:rPr lang="en-US" altLang="zh-CN" b="0" i="1" smtClean="0">
                            <a:latin typeface="Cambria Math" panose="02040503050406030204" pitchFamily="18" charset="0"/>
                            <a:ea typeface="Cambria Math" panose="02040503050406030204" pitchFamily="18" charset="0"/>
                          </a:rPr>
                        </m:ctrlPr>
                      </m:naryPr>
                      <m:sub>
                        <m:r>
                          <m:rPr>
                            <m:brk m:alnAt="25"/>
                          </m:rP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=1</m:t>
                        </m:r>
                      </m:sub>
                      <m:sup>
                        <m:r>
                          <a:rPr lang="en-US" altLang="zh-CN" b="0" i="1" smtClean="0">
                            <a:latin typeface="Cambria Math" panose="02040503050406030204" pitchFamily="18" charset="0"/>
                            <a:ea typeface="Cambria Math" panose="02040503050406030204" pitchFamily="18" charset="0"/>
                          </a:rPr>
                          <m:t>𝐾</m:t>
                        </m:r>
                      </m:sup>
                      <m:e>
                        <m:sSub>
                          <m:sSubPr>
                            <m:ctrlPr>
                              <a:rPr lang="en-US" altLang="zh-CN" b="0" i="1" smtClean="0">
                                <a:latin typeface="Cambria Math" panose="02040503050406030204" pitchFamily="18" charset="0"/>
                                <a:ea typeface="Cambria Math" panose="02040503050406030204" pitchFamily="18" charset="0"/>
                              </a:rPr>
                            </m:ctrlPr>
                          </m:sSubPr>
                          <m:e>
                            <m:r>
                              <a:rPr lang="zh-CN" altLang="en-US" b="0" i="1" smtClean="0">
                                <a:latin typeface="Cambria Math" panose="02040503050406030204" pitchFamily="18" charset="0"/>
                                <a:ea typeface="Cambria Math" panose="02040503050406030204" pitchFamily="18" charset="0"/>
                              </a:rPr>
                              <m:t>𝛼</m:t>
                            </m:r>
                          </m:e>
                          <m:sub>
                            <m:r>
                              <a:rPr lang="en-US" altLang="zh-CN" b="0" i="1" smtClean="0">
                                <a:latin typeface="Cambria Math" panose="02040503050406030204" pitchFamily="18" charset="0"/>
                                <a:ea typeface="Cambria Math" panose="02040503050406030204" pitchFamily="18" charset="0"/>
                              </a:rPr>
                              <m:t>𝑘</m:t>
                            </m:r>
                          </m:sub>
                        </m:sSub>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acc>
                          <m:accPr>
                            <m:chr m:val="⃑"/>
                            <m:ctrlPr>
                              <a:rPr lang="en-US" altLang="zh-CN" b="0" i="1" smtClean="0">
                                <a:latin typeface="Cambria Math" panose="02040503050406030204" pitchFamily="18" charset="0"/>
                                <a:ea typeface="Cambria Math" panose="02040503050406030204" pitchFamily="18" charset="0"/>
                              </a:rPr>
                            </m:ctrlPr>
                          </m:accPr>
                          <m:e>
                            <m:r>
                              <a:rPr lang="en-US" altLang="zh-CN" b="0" i="1" smtClean="0">
                                <a:latin typeface="Cambria Math" panose="02040503050406030204" pitchFamily="18" charset="0"/>
                                <a:ea typeface="Cambria Math" panose="02040503050406030204" pitchFamily="18" charset="0"/>
                              </a:rPr>
                              <m:t>𝑥</m:t>
                            </m:r>
                          </m:e>
                        </m:acc>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𝜇</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l-GR" altLang="zh-CN" b="0" i="1" smtClean="0">
                                <a:latin typeface="Cambria Math" panose="02040503050406030204" pitchFamily="18" charset="0"/>
                                <a:ea typeface="Cambria Math" panose="02040503050406030204" pitchFamily="18" charset="0"/>
                              </a:rPr>
                              <m:t>Σ</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ea typeface="Cambria Math" panose="02040503050406030204" pitchFamily="18" charset="0"/>
                          </a:rPr>
                          <m:t>)</m:t>
                        </m:r>
                      </m:e>
                    </m:nary>
                  </m:oMath>
                </a14:m>
                <a:endParaRPr lang="en-US" altLang="zh-CN" dirty="0" smtClean="0"/>
              </a:p>
              <a:p>
                <a:pPr lvl="1"/>
                <a:r>
                  <a:rPr lang="zh-CN" altLang="en-US" dirty="0" smtClean="0"/>
                  <a:t>其中</a:t>
                </a:r>
                <a14:m>
                  <m:oMath xmlns:m="http://schemas.openxmlformats.org/officeDocument/2006/math">
                    <m:r>
                      <a:rPr lang="en-US" altLang="zh-CN" i="1">
                        <a:latin typeface="Cambria Math" panose="02040503050406030204" pitchFamily="18" charset="0"/>
                        <a:ea typeface="Cambria Math" panose="02040503050406030204" pitchFamily="18" charset="0"/>
                      </a:rPr>
                      <m:t>𝑁</m:t>
                    </m:r>
                    <m:d>
                      <m:dPr>
                        <m:ctrlPr>
                          <a:rPr lang="en-US" altLang="zh-CN" i="1">
                            <a:latin typeface="Cambria Math" panose="02040503050406030204" pitchFamily="18" charset="0"/>
                            <a:ea typeface="Cambria Math" panose="02040503050406030204" pitchFamily="18" charset="0"/>
                          </a:rPr>
                        </m:ctrlPr>
                      </m:dPr>
                      <m:e>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𝑥</m:t>
                            </m:r>
                          </m:e>
                        </m:ac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𝑘</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l-GR" altLang="zh-CN" i="1">
                                <a:latin typeface="Cambria Math" panose="02040503050406030204" pitchFamily="18" charset="0"/>
                                <a:ea typeface="Cambria Math" panose="02040503050406030204" pitchFamily="18" charset="0"/>
                              </a:rPr>
                              <m:t>Σ</m:t>
                            </m:r>
                          </m:e>
                          <m:sub>
                            <m:r>
                              <a:rPr lang="en-US" altLang="zh-CN" i="1">
                                <a:latin typeface="Cambria Math" panose="02040503050406030204" pitchFamily="18" charset="0"/>
                              </a:rPr>
                              <m:t>𝑘</m:t>
                            </m:r>
                          </m:sub>
                        </m:sSub>
                      </m:e>
                    </m:d>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(2</m:t>
                            </m:r>
                            <m:r>
                              <a:rPr lang="zh-CN" altLang="en-US" b="0" i="1" smtClean="0">
                                <a:latin typeface="Cambria Math" panose="02040503050406030204" pitchFamily="18" charset="0"/>
                                <a:ea typeface="Cambria Math" panose="02040503050406030204" pitchFamily="18" charset="0"/>
                              </a:rPr>
                              <m:t>𝜋</m:t>
                            </m:r>
                            <m:r>
                              <a:rPr lang="en-US" altLang="zh-CN" b="0" i="1" smtClean="0">
                                <a:latin typeface="Cambria Math" panose="02040503050406030204" pitchFamily="18" charset="0"/>
                                <a:ea typeface="Cambria Math" panose="02040503050406030204" pitchFamily="18" charset="0"/>
                              </a:rPr>
                              <m:t>)</m:t>
                            </m:r>
                          </m:e>
                          <m:sup>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𝑝</m:t>
                                </m:r>
                              </m:num>
                              <m:den>
                                <m:r>
                                  <a:rPr lang="en-US" altLang="zh-CN" b="0" i="1" smtClean="0">
                                    <a:latin typeface="Cambria Math" panose="02040503050406030204" pitchFamily="18" charset="0"/>
                                    <a:ea typeface="Cambria Math" panose="02040503050406030204" pitchFamily="18" charset="0"/>
                                  </a:rPr>
                                  <m:t>2</m:t>
                                </m:r>
                              </m:den>
                            </m:f>
                          </m:sup>
                        </m:sSup>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Σ</m:t>
                            </m:r>
                            <m:r>
                              <a:rPr lang="en-US" altLang="zh-CN" b="0" i="1" smtClean="0">
                                <a:latin typeface="Cambria Math" panose="02040503050406030204" pitchFamily="18" charset="0"/>
                                <a:ea typeface="Cambria Math" panose="02040503050406030204" pitchFamily="18" charset="0"/>
                              </a:rPr>
                              <m:t>|</m:t>
                            </m:r>
                          </m:e>
                          <m:sup>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2</m:t>
                                </m:r>
                              </m:den>
                            </m:f>
                          </m:sup>
                        </m:sSup>
                      </m:den>
                    </m:f>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𝑒</m:t>
                        </m:r>
                      </m:e>
                      <m:sup>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2</m:t>
                            </m:r>
                          </m:den>
                        </m:f>
                        <m:sSup>
                          <m:sSupPr>
                            <m:ctrlPr>
                              <a:rPr lang="en-US" altLang="zh-CN" b="0" i="1" smtClean="0">
                                <a:latin typeface="Cambria Math" panose="02040503050406030204" pitchFamily="18" charset="0"/>
                                <a:ea typeface="Cambria Math" panose="02040503050406030204" pitchFamily="18" charset="0"/>
                              </a:rPr>
                            </m:ctrlPr>
                          </m:sSupPr>
                          <m:e>
                            <m:d>
                              <m:dPr>
                                <m:ctrlPr>
                                  <a:rPr lang="en-US" altLang="zh-CN" b="0" i="1" smtClean="0">
                                    <a:latin typeface="Cambria Math" panose="02040503050406030204" pitchFamily="18" charset="0"/>
                                    <a:ea typeface="Cambria Math" panose="02040503050406030204" pitchFamily="18" charset="0"/>
                                  </a:rPr>
                                </m:ctrlPr>
                              </m:dPr>
                              <m:e>
                                <m:acc>
                                  <m:accPr>
                                    <m:chr m:val="⃑"/>
                                    <m:ctrlPr>
                                      <a:rPr lang="en-US" altLang="zh-CN" b="0" i="1" smtClean="0">
                                        <a:latin typeface="Cambria Math" panose="02040503050406030204" pitchFamily="18" charset="0"/>
                                        <a:ea typeface="Cambria Math" panose="02040503050406030204" pitchFamily="18" charset="0"/>
                                      </a:rPr>
                                    </m:ctrlPr>
                                  </m:accPr>
                                  <m:e>
                                    <m:r>
                                      <a:rPr lang="en-US" altLang="zh-CN" b="0" i="1" smtClean="0">
                                        <a:latin typeface="Cambria Math" panose="02040503050406030204" pitchFamily="18" charset="0"/>
                                        <a:ea typeface="Cambria Math" panose="02040503050406030204" pitchFamily="18" charset="0"/>
                                      </a:rPr>
                                      <m:t>𝑥</m:t>
                                    </m:r>
                                  </m:e>
                                </m:acc>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𝑘</m:t>
                                    </m:r>
                                  </m:sub>
                                </m:sSub>
                              </m:e>
                            </m:d>
                          </m:e>
                          <m:sup>
                            <m:r>
                              <a:rPr lang="en-US" altLang="zh-CN" b="0" i="1" smtClean="0">
                                <a:latin typeface="Cambria Math" panose="02040503050406030204" pitchFamily="18" charset="0"/>
                                <a:ea typeface="Cambria Math" panose="02040503050406030204" pitchFamily="18" charset="0"/>
                              </a:rPr>
                              <m:t>′</m:t>
                            </m:r>
                          </m:sup>
                        </m:sSup>
                        <m:sSup>
                          <m:sSupPr>
                            <m:ctrlPr>
                              <a:rPr lang="en-US" altLang="zh-CN" i="1">
                                <a:latin typeface="Cambria Math" panose="02040503050406030204" pitchFamily="18" charset="0"/>
                                <a:ea typeface="Cambria Math" panose="02040503050406030204" pitchFamily="18" charset="0"/>
                              </a:rPr>
                            </m:ctrlPr>
                          </m:sSupPr>
                          <m:e>
                            <m:sSub>
                              <m:sSubPr>
                                <m:ctrlPr>
                                  <a:rPr lang="en-US" altLang="zh-CN" i="1">
                                    <a:latin typeface="Cambria Math" panose="02040503050406030204" pitchFamily="18" charset="0"/>
                                  </a:rPr>
                                </m:ctrlPr>
                              </m:sSubPr>
                              <m:e>
                                <m:r>
                                  <m:rPr>
                                    <m:sty m:val="p"/>
                                  </m:rPr>
                                  <a:rPr lang="el-GR" altLang="zh-CN" i="1">
                                    <a:latin typeface="Cambria Math" panose="02040503050406030204" pitchFamily="18" charset="0"/>
                                    <a:ea typeface="Cambria Math" panose="02040503050406030204" pitchFamily="18" charset="0"/>
                                  </a:rPr>
                                  <m:t>Σ</m:t>
                                </m:r>
                              </m:e>
                              <m:sub>
                                <m:r>
                                  <a:rPr lang="en-US" altLang="zh-CN" i="1">
                                    <a:latin typeface="Cambria Math" panose="02040503050406030204" pitchFamily="18" charset="0"/>
                                  </a:rPr>
                                  <m:t>𝑘</m:t>
                                </m:r>
                              </m:sub>
                            </m:sSub>
                          </m:e>
                          <m:sup>
                            <m:r>
                              <a:rPr lang="en-US" altLang="zh-CN" i="1">
                                <a:latin typeface="Cambria Math" panose="02040503050406030204" pitchFamily="18" charset="0"/>
                                <a:ea typeface="Cambria Math" panose="02040503050406030204" pitchFamily="18" charset="0"/>
                              </a:rPr>
                              <m:t>−1</m:t>
                            </m:r>
                          </m:sup>
                        </m:sSup>
                        <m:d>
                          <m:dPr>
                            <m:ctrlPr>
                              <a:rPr lang="en-US" altLang="zh-CN" b="0" i="1" smtClean="0">
                                <a:latin typeface="Cambria Math" panose="02040503050406030204" pitchFamily="18" charset="0"/>
                                <a:ea typeface="Cambria Math" panose="02040503050406030204" pitchFamily="18" charset="0"/>
                              </a:rPr>
                            </m:ctrlPr>
                          </m:dPr>
                          <m:e>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𝑥</m:t>
                                </m:r>
                              </m:e>
                            </m:acc>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𝑘</m:t>
                                </m:r>
                              </m:sub>
                            </m:sSub>
                          </m:e>
                        </m:d>
                        <m:r>
                          <a:rPr lang="en-US" altLang="zh-CN" b="0" i="1" smtClean="0">
                            <a:latin typeface="Cambria Math" panose="02040503050406030204" pitchFamily="18" charset="0"/>
                            <a:ea typeface="Cambria Math" panose="02040503050406030204" pitchFamily="18" charset="0"/>
                          </a:rPr>
                          <m:t>}</m:t>
                        </m:r>
                      </m:sup>
                    </m:sSup>
                  </m:oMath>
                </a14:m>
                <a:endParaRPr lang="en-US" altLang="zh-CN" dirty="0" smtClean="0"/>
              </a:p>
              <a:p>
                <a:pPr lvl="1"/>
                <a14:m>
                  <m:oMath xmlns:m="http://schemas.openxmlformats.org/officeDocument/2006/math">
                    <m:nary>
                      <m:naryPr>
                        <m:chr m:val="∑"/>
                        <m:limLoc m:val="subSup"/>
                        <m:ctrlPr>
                          <a:rPr lang="zh-CN" altLang="en-US" i="1" smtClean="0">
                            <a:latin typeface="Cambria Math" panose="02040503050406030204" pitchFamily="18" charset="0"/>
                          </a:rPr>
                        </m:ctrlPr>
                      </m:naryPr>
                      <m:sub>
                        <m:r>
                          <m:rPr>
                            <m:brk m:alnAt="25"/>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𝐾</m:t>
                        </m:r>
                      </m:sup>
                      <m:e>
                        <m:sSub>
                          <m:sSubPr>
                            <m:ctrlPr>
                              <a:rPr lang="en-US" altLang="zh-CN" i="1">
                                <a:latin typeface="Cambria Math" panose="02040503050406030204" pitchFamily="18" charset="0"/>
                                <a:ea typeface="Cambria Math" panose="02040503050406030204" pitchFamily="18" charset="0"/>
                              </a:rPr>
                            </m:ctrlPr>
                          </m:sSubPr>
                          <m:e>
                            <m:r>
                              <a:rPr lang="zh-CN" altLang="en-US" i="1">
                                <a:latin typeface="Cambria Math" panose="02040503050406030204" pitchFamily="18" charset="0"/>
                                <a:ea typeface="Cambria Math" panose="02040503050406030204" pitchFamily="18" charset="0"/>
                              </a:rPr>
                              <m:t>𝛼</m:t>
                            </m:r>
                          </m:e>
                          <m:sub>
                            <m:r>
                              <a:rPr lang="en-US" altLang="zh-CN" i="1">
                                <a:latin typeface="Cambria Math" panose="02040503050406030204" pitchFamily="18" charset="0"/>
                                <a:ea typeface="Cambria Math" panose="02040503050406030204" pitchFamily="18" charset="0"/>
                              </a:rPr>
                              <m:t>𝑘</m:t>
                            </m:r>
                          </m:sub>
                        </m:sSub>
                      </m:e>
                    </m:nary>
                    <m:r>
                      <a:rPr lang="en-US" altLang="zh-CN" b="0" i="1" smtClean="0">
                        <a:latin typeface="Cambria Math" panose="02040503050406030204" pitchFamily="18" charset="0"/>
                      </a:rPr>
                      <m:t>=1</m:t>
                    </m:r>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046602"/>
                <a:ext cx="10515600" cy="5130361"/>
              </a:xfrm>
              <a:blipFill rotWithShape="0">
                <a:blip r:embed="rId2"/>
                <a:stretch>
                  <a:fillRect l="-1043" t="-34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986230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81477"/>
          </a:xfrm>
        </p:spPr>
        <p:txBody>
          <a:bodyPr>
            <a:normAutofit/>
          </a:bodyPr>
          <a:lstStyle/>
          <a:p>
            <a:r>
              <a:rPr lang="en-US" altLang="zh-CN" sz="2400" b="1" dirty="0" smtClean="0"/>
              <a:t>Gaussian </a:t>
            </a:r>
            <a:r>
              <a:rPr lang="en-US" altLang="zh-CN" sz="2400" b="1" dirty="0"/>
              <a:t>Mixture Model </a:t>
            </a:r>
            <a:r>
              <a:rPr lang="en-US" altLang="zh-CN" sz="2400" b="1" dirty="0" smtClean="0"/>
              <a:t>-</a:t>
            </a:r>
            <a:r>
              <a:rPr lang="en-US" altLang="zh-CN" sz="2400" b="1" dirty="0"/>
              <a:t>Generative Model</a:t>
            </a:r>
            <a:endParaRPr lang="zh-CN" altLang="en-US" sz="24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046602"/>
                <a:ext cx="10515600" cy="5130361"/>
              </a:xfrm>
            </p:spPr>
            <p:txBody>
              <a:bodyPr/>
              <a:lstStyle/>
              <a:p>
                <a:r>
                  <a:rPr lang="zh-CN" altLang="en-US" dirty="0" smtClean="0">
                    <a:latin typeface="Cambria Math" panose="02040503050406030204" pitchFamily="18" charset="0"/>
                  </a:rPr>
                  <a:t>参数估计：</a:t>
                </a:r>
                <a:endParaRPr lang="en-US" altLang="zh-CN" dirty="0" smtClean="0">
                  <a:latin typeface="Cambria Math" panose="02040503050406030204" pitchFamily="18" charset="0"/>
                </a:endParaRPr>
              </a:p>
              <a:p>
                <a:r>
                  <a:rPr lang="zh-CN" altLang="en-US" dirty="0" smtClean="0">
                    <a:latin typeface="Cambria Math" panose="02040503050406030204" pitchFamily="18" charset="0"/>
                  </a:rPr>
                  <a:t>设</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𝑍</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𝑖</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𝑖</m:t>
                        </m:r>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oMath>
                </a14:m>
                <a:r>
                  <a:rPr lang="zh-CN" altLang="en-US" dirty="0" smtClean="0">
                    <a:latin typeface="Cambria Math" panose="02040503050406030204" pitchFamily="18" charset="0"/>
                  </a:rPr>
                  <a:t>对应于</a:t>
                </a:r>
                <a14:m>
                  <m:oMath xmlns:m="http://schemas.openxmlformats.org/officeDocument/2006/math">
                    <m:acc>
                      <m:accPr>
                        <m:chr m:val="⃑"/>
                        <m:ctrlPr>
                          <a:rPr lang="zh-CN" altLang="en-US"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acc>
                  </m:oMath>
                </a14:m>
                <a:r>
                  <a:rPr lang="zh-CN" altLang="en-US" dirty="0" smtClean="0">
                    <a:latin typeface="Cambria Math" panose="02040503050406030204" pitchFamily="18" charset="0"/>
                  </a:rPr>
                  <a:t>的隐藏信息，其中若</a:t>
                </a:r>
                <a:endParaRPr lang="en-US" altLang="zh-CN" dirty="0" smtClean="0">
                  <a:latin typeface="Cambria Math" panose="02040503050406030204" pitchFamily="18" charset="0"/>
                </a:endParaRPr>
              </a:p>
              <a:p>
                <a:pPr marL="0" indent="0">
                  <a:buNone/>
                </a:pP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𝑖𝑘</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1,</m:t>
                            </m:r>
                            <m:r>
                              <a:rPr lang="zh-CN" altLang="en-US" i="1">
                                <a:latin typeface="Cambria Math" panose="02040503050406030204" pitchFamily="18" charset="0"/>
                              </a:rPr>
                              <m:t>表示</m:t>
                            </m:r>
                            <m:acc>
                              <m:accPr>
                                <m:chr m:val="⃑"/>
                                <m:ctrlPr>
                                  <a:rPr lang="zh-CN" altLang="en-US"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acc>
                            <m:r>
                              <a:rPr lang="zh-CN" altLang="en-US" i="1">
                                <a:latin typeface="Cambria Math" panose="02040503050406030204" pitchFamily="18" charset="0"/>
                              </a:rPr>
                              <m:t>属于</m:t>
                            </m:r>
                            <m:r>
                              <a:rPr lang="zh-CN" altLang="en-US" b="0" i="1" smtClean="0">
                                <a:latin typeface="Cambria Math" panose="02040503050406030204" pitchFamily="18" charset="0"/>
                              </a:rPr>
                              <m:t>第</m:t>
                            </m:r>
                            <m:r>
                              <a:rPr lang="en-US" altLang="zh-CN" b="0" i="1" smtClean="0">
                                <a:latin typeface="Cambria Math" panose="02040503050406030204" pitchFamily="18" charset="0"/>
                              </a:rPr>
                              <m:t>𝑘</m:t>
                            </m:r>
                            <m:r>
                              <a:rPr lang="zh-CN" altLang="en-US" b="0" i="1" smtClean="0">
                                <a:latin typeface="Cambria Math" panose="02040503050406030204" pitchFamily="18" charset="0"/>
                              </a:rPr>
                              <m:t>类</m:t>
                            </m:r>
                          </m:e>
                          <m:e>
                            <m:r>
                              <a:rPr lang="en-US" altLang="zh-CN" b="0" i="1" smtClean="0">
                                <a:latin typeface="Cambria Math" panose="02040503050406030204" pitchFamily="18" charset="0"/>
                              </a:rPr>
                              <m:t>0,</m:t>
                            </m:r>
                            <m:r>
                              <a:rPr lang="zh-CN" altLang="en-US" i="1">
                                <a:latin typeface="Cambria Math" panose="02040503050406030204" pitchFamily="18" charset="0"/>
                              </a:rPr>
                              <m:t>否则</m:t>
                            </m:r>
                            <m:r>
                              <a:rPr lang="zh-CN" altLang="en-US" i="1" smtClean="0">
                                <a:latin typeface="Cambria Math" panose="02040503050406030204" pitchFamily="18" charset="0"/>
                              </a:rPr>
                              <m:t>不属于</m:t>
                            </m:r>
                            <m:r>
                              <a:rPr lang="en-US" altLang="zh-CN" b="0" i="1" smtClean="0">
                                <a:latin typeface="Cambria Math" panose="02040503050406030204" pitchFamily="18" charset="0"/>
                              </a:rPr>
                              <m:t>𝑘</m:t>
                            </m:r>
                            <m:r>
                              <a:rPr lang="zh-CN" altLang="en-US" b="0" i="1" smtClean="0">
                                <a:latin typeface="Cambria Math" panose="02040503050406030204" pitchFamily="18" charset="0"/>
                              </a:rPr>
                              <m:t>类</m:t>
                            </m:r>
                            <m:r>
                              <a:rPr lang="en-US" altLang="zh-CN" b="0" i="1" smtClean="0">
                                <a:latin typeface="Cambria Math" panose="02040503050406030204" pitchFamily="18" charset="0"/>
                              </a:rPr>
                              <m:t>  </m:t>
                            </m:r>
                          </m:e>
                        </m:eqArr>
                      </m:e>
                    </m:d>
                  </m:oMath>
                </a14:m>
                <a:r>
                  <a:rPr lang="en-US" altLang="zh-CN" dirty="0" smtClean="0">
                    <a:latin typeface="Cambria Math" panose="02040503050406030204" pitchFamily="18" charset="0"/>
                  </a:rPr>
                  <a:t> </a:t>
                </a:r>
              </a:p>
              <a:p>
                <a:pPr marL="0" indent="0">
                  <a:buNone/>
                </a:pPr>
                <a:r>
                  <a:rPr lang="zh-CN" altLang="en-US" dirty="0" smtClean="0">
                    <a:latin typeface="Cambria Math" panose="02040503050406030204" pitchFamily="18" charset="0"/>
                  </a:rPr>
                  <a:t>   那么</a:t>
                </a:r>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𝑍</m:t>
                            </m:r>
                          </m:e>
                          <m:sub>
                            <m:r>
                              <a:rPr lang="en-US" altLang="zh-CN" i="1">
                                <a:latin typeface="Cambria Math" panose="02040503050406030204" pitchFamily="18" charset="0"/>
                              </a:rPr>
                              <m:t>𝑖</m:t>
                            </m:r>
                          </m:sub>
                        </m:sSub>
                      </m:e>
                    </m:d>
                  </m:oMath>
                </a14:m>
                <a:r>
                  <a:rPr lang="zh-CN" altLang="en-US" dirty="0" smtClean="0">
                    <a:latin typeface="Cambria Math" panose="02040503050406030204" pitchFamily="18" charset="0"/>
                  </a:rPr>
                  <a:t>的分布为 </a:t>
                </a:r>
                <a:r>
                  <a:rPr lang="zh-CN" altLang="en-US" dirty="0">
                    <a:latin typeface="Cambria Math" panose="02040503050406030204" pitchFamily="18" charset="0"/>
                  </a:rPr>
                  <a:t>：</a:t>
                </a:r>
                <a:endParaRPr lang="en-US" altLang="zh-CN" dirty="0" smtClean="0">
                  <a:latin typeface="Cambria Math" panose="02040503050406030204" pitchFamily="18" charset="0"/>
                </a:endParaRPr>
              </a:p>
              <a:p>
                <a:pPr marL="0" indent="0">
                  <a:buNone/>
                </a:pPr>
                <a:r>
                  <a:rPr lang="en-US" altLang="zh-CN" dirty="0" smtClean="0"/>
                  <a:t>   </a:t>
                </a:r>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𝑍</m:t>
                            </m:r>
                          </m:e>
                          <m:sub>
                            <m:r>
                              <a:rPr lang="en-US" altLang="zh-CN" i="1">
                                <a:latin typeface="Cambria Math" panose="02040503050406030204" pitchFamily="18" charset="0"/>
                              </a:rPr>
                              <m:t>𝑖</m:t>
                            </m:r>
                          </m:sub>
                        </m:sSub>
                      </m:e>
                    </m:d>
                    <m:r>
                      <a:rPr lang="en-US" altLang="zh-CN" b="0" i="1" smtClean="0">
                        <a:latin typeface="Cambria Math" panose="02040503050406030204" pitchFamily="18" charset="0"/>
                      </a:rPr>
                      <m:t>=</m:t>
                    </m:r>
                    <m:nary>
                      <m:naryPr>
                        <m:chr m:val="∏"/>
                        <m:limLoc m:val="subSup"/>
                        <m:ctrlPr>
                          <a:rPr lang="en-US" altLang="zh-CN" i="1" smtClean="0">
                            <a:latin typeface="Cambria Math" panose="02040503050406030204" pitchFamily="18" charset="0"/>
                          </a:rPr>
                        </m:ctrlPr>
                      </m:naryPr>
                      <m:sub>
                        <m:r>
                          <m:rPr>
                            <m:brk m:alnAt="25"/>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𝐾</m:t>
                        </m:r>
                      </m:sup>
                      <m:e>
                        <m:sSup>
                          <m:sSupPr>
                            <m:ctrlPr>
                              <a:rPr lang="en-US" altLang="zh-CN" i="1" smtClean="0">
                                <a:latin typeface="Cambria Math" panose="02040503050406030204" pitchFamily="18" charset="0"/>
                              </a:rPr>
                            </m:ctrlPr>
                          </m:sSupPr>
                          <m:e>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𝛼</m:t>
                                </m:r>
                              </m:e>
                              <m:sub>
                                <m:r>
                                  <a:rPr lang="en-US" altLang="zh-CN" b="0" i="1" smtClean="0">
                                    <a:latin typeface="Cambria Math" panose="02040503050406030204" pitchFamily="18" charset="0"/>
                                  </a:rPr>
                                  <m:t>𝑘</m:t>
                                </m:r>
                              </m:sub>
                            </m:sSub>
                          </m:e>
                          <m:sup>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𝑖𝑘</m:t>
                                </m:r>
                              </m:sub>
                            </m:sSub>
                          </m:sup>
                        </m:sSup>
                      </m:e>
                    </m:nary>
                  </m:oMath>
                </a14:m>
                <a:r>
                  <a:rPr lang="en-US" altLang="zh-CN" dirty="0" smtClean="0">
                    <a:latin typeface="Cambria Math" panose="02040503050406030204" pitchFamily="18" charset="0"/>
                  </a:rPr>
                  <a:t> </a:t>
                </a:r>
              </a:p>
              <a:p>
                <a:pPr marL="0" indent="0">
                  <a:buNone/>
                </a:pPr>
                <a:r>
                  <a:rPr lang="zh-CN" altLang="en-US" dirty="0" smtClean="0">
                    <a:latin typeface="Cambria Math" panose="02040503050406030204" pitchFamily="18" charset="0"/>
                  </a:rPr>
                  <a:t>且：</a:t>
                </a:r>
                <a:endParaRPr lang="en-US" altLang="zh-CN"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e>
                          </m:acc>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𝑖𝑘</m:t>
                              </m:r>
                            </m:sub>
                          </m:sSub>
                          <m:r>
                            <a:rPr lang="en-US" altLang="zh-CN" b="0" i="1" smtClean="0">
                              <a:latin typeface="Cambria Math" panose="02040503050406030204" pitchFamily="18" charset="0"/>
                            </a:rPr>
                            <m:t>=1;</m:t>
                          </m:r>
                          <m:r>
                            <m:rPr>
                              <m:sty m:val="p"/>
                            </m:rPr>
                            <a:rPr lang="el-GR" altLang="zh-CN" b="0" i="1" smtClean="0">
                              <a:latin typeface="Cambria Math" panose="02040503050406030204" pitchFamily="18" charset="0"/>
                              <a:ea typeface="Cambria Math" panose="02040503050406030204" pitchFamily="18" charset="0"/>
                            </a:rPr>
                            <m:t>Θ</m:t>
                          </m:r>
                        </m:e>
                      </m:d>
                      <m:r>
                        <a:rPr lang="en-US" altLang="zh-CN" b="0" i="1" smtClean="0">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𝑁</m:t>
                      </m:r>
                      <m:r>
                        <a:rPr lang="en-US" altLang="zh-CN" i="1">
                          <a:latin typeface="Cambria Math" panose="02040503050406030204" pitchFamily="18" charset="0"/>
                          <a:ea typeface="Cambria Math" panose="02040503050406030204" pitchFamily="18" charset="0"/>
                        </a:rPr>
                        <m:t>(</m:t>
                      </m:r>
                      <m:acc>
                        <m:accPr>
                          <m:chr m:val="⃑"/>
                          <m:ctrlPr>
                            <a:rPr lang="en-US" altLang="zh-CN" b="0" i="1" smtClean="0">
                              <a:latin typeface="Cambria Math" panose="02040503050406030204" pitchFamily="18" charset="0"/>
                              <a:ea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ac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𝑘</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l-GR" altLang="zh-CN" i="1">
                              <a:latin typeface="Cambria Math" panose="02040503050406030204" pitchFamily="18" charset="0"/>
                              <a:ea typeface="Cambria Math" panose="02040503050406030204" pitchFamily="18" charset="0"/>
                            </a:rPr>
                            <m:t>Σ</m:t>
                          </m:r>
                        </m:e>
                        <m:sub>
                          <m:r>
                            <a:rPr lang="en-US" altLang="zh-CN" i="1">
                              <a:latin typeface="Cambria Math" panose="02040503050406030204" pitchFamily="18" charset="0"/>
                            </a:rPr>
                            <m:t>𝑘</m:t>
                          </m:r>
                        </m:sub>
                      </m:sSub>
                      <m:r>
                        <a:rPr lang="en-US" altLang="zh-CN" i="1">
                          <a:latin typeface="Cambria Math" panose="02040503050406030204" pitchFamily="18" charset="0"/>
                          <a:ea typeface="Cambria Math" panose="02040503050406030204" pitchFamily="18" charset="0"/>
                        </a:rPr>
                        <m:t>)</m:t>
                      </m:r>
                    </m:oMath>
                  </m:oMathPara>
                </a14:m>
                <a:endParaRPr lang="en-US" altLang="zh-CN" dirty="0" smtClean="0">
                  <a:latin typeface="Cambria Math" panose="02040503050406030204" pitchFamily="18" charset="0"/>
                </a:endParaRPr>
              </a:p>
              <a:p>
                <a:pPr marL="0" indent="0">
                  <a:buNone/>
                </a:pPr>
                <a:r>
                  <a:rPr lang="zh-CN" altLang="en-US" dirty="0" smtClean="0">
                    <a:latin typeface="Cambria Math" panose="02040503050406030204" pitchFamily="18" charset="0"/>
                  </a:rPr>
                  <a:t>进而有：</a:t>
                </a:r>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acc>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𝑍</m:t>
                            </m:r>
                          </m:e>
                          <m:sub>
                            <m:r>
                              <a:rPr lang="en-US" altLang="zh-CN" i="1">
                                <a:latin typeface="Cambria Math" panose="02040503050406030204" pitchFamily="18" charset="0"/>
                              </a:rPr>
                              <m:t>𝑖</m:t>
                            </m:r>
                          </m:sub>
                        </m:sSub>
                        <m:r>
                          <a:rPr lang="en-US" altLang="zh-CN" i="1">
                            <a:latin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Θ</m:t>
                        </m:r>
                      </m:e>
                    </m:d>
                    <m:r>
                      <a:rPr lang="en-US" altLang="zh-CN" i="1">
                        <a:latin typeface="Cambria Math" panose="02040503050406030204" pitchFamily="18" charset="0"/>
                      </a:rPr>
                      <m:t>=</m:t>
                    </m:r>
                    <m:nary>
                      <m:naryPr>
                        <m:chr m:val="∏"/>
                        <m:limLoc m:val="subSup"/>
                        <m:ctrlPr>
                          <a:rPr lang="en-US" altLang="zh-CN" i="1" smtClean="0">
                            <a:latin typeface="Cambria Math" panose="02040503050406030204" pitchFamily="18" charset="0"/>
                          </a:rPr>
                        </m:ctrlPr>
                      </m:naryPr>
                      <m:sub>
                        <m:r>
                          <m:rPr>
                            <m:brk m:alnAt="25"/>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𝐾</m:t>
                        </m:r>
                      </m:sup>
                      <m:e>
                        <m:sSup>
                          <m:sSupPr>
                            <m:ctrlPr>
                              <a:rPr lang="en-US" altLang="zh-CN" i="1" smtClean="0">
                                <a:latin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𝑁</m:t>
                            </m:r>
                            <m:r>
                              <a:rPr lang="en-US" altLang="zh-CN" i="1">
                                <a:latin typeface="Cambria Math" panose="02040503050406030204" pitchFamily="18" charset="0"/>
                                <a:ea typeface="Cambria Math" panose="02040503050406030204" pitchFamily="18" charset="0"/>
                              </a:rPr>
                              <m:t>(</m:t>
                            </m:r>
                            <m:acc>
                              <m:accPr>
                                <m:chr m:val="⃑"/>
                                <m:ctrlPr>
                                  <a:rPr lang="en-US" altLang="zh-CN" i="1">
                                    <a:latin typeface="Cambria Math" panose="02040503050406030204" pitchFamily="18" charset="0"/>
                                    <a:ea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ac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𝑘</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l-GR" altLang="zh-CN" i="1">
                                    <a:latin typeface="Cambria Math" panose="02040503050406030204" pitchFamily="18" charset="0"/>
                                    <a:ea typeface="Cambria Math" panose="02040503050406030204" pitchFamily="18" charset="0"/>
                                  </a:rPr>
                                  <m:t>Σ</m:t>
                                </m:r>
                              </m:e>
                              <m:sub>
                                <m:r>
                                  <a:rPr lang="en-US" altLang="zh-CN" i="1">
                                    <a:latin typeface="Cambria Math" panose="02040503050406030204" pitchFamily="18" charset="0"/>
                                  </a:rPr>
                                  <m:t>𝑘</m:t>
                                </m:r>
                              </m:sub>
                            </m:sSub>
                            <m:r>
                              <a:rPr lang="en-US" altLang="zh-CN" i="1">
                                <a:latin typeface="Cambria Math" panose="02040503050406030204" pitchFamily="18" charset="0"/>
                                <a:ea typeface="Cambria Math" panose="02040503050406030204" pitchFamily="18" charset="0"/>
                              </a:rPr>
                              <m:t>)</m:t>
                            </m:r>
                          </m:e>
                          <m:sup>
                            <m:sSub>
                              <m:sSubPr>
                                <m:ctrlPr>
                                  <a:rPr lang="en-US" altLang="zh-CN" i="1">
                                    <a:latin typeface="Cambria Math" panose="02040503050406030204" pitchFamily="18" charset="0"/>
                                  </a:rPr>
                                </m:ctrlPr>
                              </m:sSubPr>
                              <m:e>
                                <m:r>
                                  <a:rPr lang="en-US" altLang="zh-CN" i="1">
                                    <a:latin typeface="Cambria Math" panose="02040503050406030204" pitchFamily="18" charset="0"/>
                                  </a:rPr>
                                  <m:t>𝑧</m:t>
                                </m:r>
                              </m:e>
                              <m:sub>
                                <m:r>
                                  <a:rPr lang="en-US" altLang="zh-CN" i="1">
                                    <a:latin typeface="Cambria Math" panose="02040503050406030204" pitchFamily="18" charset="0"/>
                                  </a:rPr>
                                  <m:t>𝑖𝑘</m:t>
                                </m:r>
                              </m:sub>
                            </m:sSub>
                          </m:sup>
                        </m:sSup>
                      </m:e>
                    </m:nary>
                  </m:oMath>
                </a14:m>
                <a:endParaRPr lang="en-US" altLang="zh-CN" dirty="0">
                  <a:latin typeface="Cambria Math" panose="02040503050406030204" pitchFamily="18" charset="0"/>
                </a:endParaRPr>
              </a:p>
              <a:p>
                <a:pPr marL="0" indent="0">
                  <a:buNone/>
                </a:pPr>
                <a:endParaRPr lang="en-US" altLang="zh-CN" dirty="0" smtClean="0">
                  <a:latin typeface="Cambria Math" panose="02040503050406030204" pitchFamily="18" charset="0"/>
                </a:endParaRPr>
              </a:p>
              <a:p>
                <a:pPr marL="0" indent="0">
                  <a:buNone/>
                </a:pPr>
                <a:endParaRPr lang="en-US" altLang="zh-CN" dirty="0" smtClean="0">
                  <a:latin typeface="Cambria Math" panose="020405030504060302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046602"/>
                <a:ext cx="10515600" cy="5130361"/>
              </a:xfrm>
              <a:blipFill rotWithShape="0">
                <a:blip r:embed="rId2"/>
                <a:stretch>
                  <a:fillRect l="-1217" t="-24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303975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81477"/>
          </a:xfrm>
        </p:spPr>
        <p:txBody>
          <a:bodyPr>
            <a:normAutofit/>
          </a:bodyPr>
          <a:lstStyle/>
          <a:p>
            <a:r>
              <a:rPr lang="en-US" altLang="zh-CN" sz="2400" b="1" dirty="0" smtClean="0">
                <a:latin typeface="+mn-ea"/>
                <a:ea typeface="+mn-ea"/>
              </a:rPr>
              <a:t>Gaussian </a:t>
            </a:r>
            <a:r>
              <a:rPr lang="en-US" altLang="zh-CN" sz="2400" b="1" dirty="0">
                <a:latin typeface="+mn-ea"/>
                <a:ea typeface="+mn-ea"/>
              </a:rPr>
              <a:t>Mixture </a:t>
            </a:r>
            <a:r>
              <a:rPr lang="en-US" altLang="zh-CN" sz="2400" b="1" dirty="0" smtClean="0">
                <a:latin typeface="+mn-ea"/>
                <a:ea typeface="+mn-ea"/>
              </a:rPr>
              <a:t>Model</a:t>
            </a:r>
            <a:r>
              <a:rPr lang="en-US" altLang="zh-CN" sz="2400" b="1" dirty="0" smtClean="0"/>
              <a:t>-Generative </a:t>
            </a:r>
            <a:r>
              <a:rPr lang="en-US" altLang="zh-CN" sz="2400" b="1" dirty="0"/>
              <a:t>Model</a:t>
            </a:r>
            <a:endParaRPr lang="zh-CN" altLang="en-US" sz="2400" dirty="0">
              <a:latin typeface="+mn-ea"/>
              <a:ea typeface="+mn-ea"/>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046602"/>
                <a:ext cx="10515600" cy="5130361"/>
              </a:xfrm>
            </p:spPr>
            <p:txBody>
              <a:bodyPr/>
              <a:lstStyle/>
              <a:p>
                <a:r>
                  <a:rPr lang="zh-CN" altLang="en-US" sz="2400" dirty="0" smtClean="0">
                    <a:latin typeface="+mn-ea"/>
                  </a:rPr>
                  <a:t>最大似然函数</a:t>
                </a:r>
                <a:endParaRPr lang="en-US" altLang="zh-CN" sz="2400" dirty="0" smtClean="0">
                  <a:latin typeface="+mn-ea"/>
                </a:endParaRPr>
              </a:p>
              <a:p>
                <a14:m>
                  <m:oMath xmlns:m="http://schemas.openxmlformats.org/officeDocument/2006/math">
                    <m:r>
                      <a:rPr lang="en-US" altLang="zh-CN" sz="2400" b="0" i="1" smtClean="0">
                        <a:latin typeface="Cambria Math" panose="02040503050406030204" pitchFamily="18" charset="0"/>
                      </a:rPr>
                      <m:t>𝐿</m:t>
                    </m:r>
                    <m:d>
                      <m:dPr>
                        <m:ctrlPr>
                          <a:rPr lang="en-US" altLang="zh-CN" sz="2400" b="0" i="1" smtClean="0">
                            <a:latin typeface="Cambria Math" panose="02040503050406030204" pitchFamily="18" charset="0"/>
                          </a:rPr>
                        </m:ctrlPr>
                      </m:dPr>
                      <m:e>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𝑥</m:t>
                            </m:r>
                          </m:e>
                        </m:acc>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𝑍</m:t>
                        </m:r>
                        <m:r>
                          <a:rPr lang="en-US" altLang="zh-CN" sz="2400" b="0" i="1" smtClean="0">
                            <a:latin typeface="Cambria Math" panose="02040503050406030204" pitchFamily="18" charset="0"/>
                          </a:rPr>
                          <m:t>;</m:t>
                        </m:r>
                        <m:r>
                          <m:rPr>
                            <m:sty m:val="p"/>
                          </m:rPr>
                          <a:rPr lang="el-GR" altLang="zh-CN" sz="2400" b="0" i="1" smtClean="0">
                            <a:latin typeface="Cambria Math" panose="02040503050406030204" pitchFamily="18" charset="0"/>
                            <a:ea typeface="Cambria Math" panose="02040503050406030204" pitchFamily="18" charset="0"/>
                          </a:rPr>
                          <m:t>Θ</m:t>
                        </m:r>
                      </m:e>
                    </m:d>
                    <m:r>
                      <a:rPr lang="en-US" altLang="zh-CN" sz="2400" b="0" i="1" smtClean="0">
                        <a:latin typeface="Cambria Math" panose="02040503050406030204" pitchFamily="18" charset="0"/>
                      </a:rPr>
                      <m:t>=</m:t>
                    </m:r>
                    <m:nary>
                      <m:naryPr>
                        <m:chr m:val="∏"/>
                        <m:limLoc m:val="subSup"/>
                        <m:ctrlPr>
                          <a:rPr lang="en-US" altLang="zh-CN" sz="2400" b="0" i="1" smtClean="0">
                            <a:latin typeface="Cambria Math" panose="02040503050406030204" pitchFamily="18" charset="0"/>
                          </a:rPr>
                        </m:ctrlPr>
                      </m:naryPr>
                      <m:sub>
                        <m:r>
                          <m:rPr>
                            <m:brk m:alnAt="25"/>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nary>
                          <m:naryPr>
                            <m:chr m:val="∏"/>
                            <m:limLoc m:val="subSup"/>
                            <m:ctrlPr>
                              <a:rPr lang="en-US" altLang="zh-CN" sz="2400" i="1">
                                <a:latin typeface="Cambria Math" panose="02040503050406030204" pitchFamily="18" charset="0"/>
                              </a:rPr>
                            </m:ctrlPr>
                          </m:naryPr>
                          <m:sub>
                            <m:r>
                              <m:rPr>
                                <m:brk m:alnAt="25"/>
                              </m:rP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𝐾</m:t>
                            </m:r>
                          </m:sup>
                          <m:e>
                            <m:sSup>
                              <m:sSupPr>
                                <m:ctrlPr>
                                  <a:rPr lang="en-US" altLang="zh-CN" sz="2400" i="1">
                                    <a:latin typeface="Cambria Math" panose="02040503050406030204" pitchFamily="18" charset="0"/>
                                  </a:rPr>
                                </m:ctrlPr>
                              </m:sSupPr>
                              <m:e>
                                <m:sSup>
                                  <m:sSupPr>
                                    <m:ctrlPr>
                                      <a:rPr lang="en-US" altLang="zh-CN" sz="2400" i="1" smtClean="0">
                                        <a:latin typeface="Cambria Math" panose="02040503050406030204" pitchFamily="18" charset="0"/>
                                      </a:rPr>
                                    </m:ctrlPr>
                                  </m:sSupPr>
                                  <m:e>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𝛼</m:t>
                                        </m:r>
                                      </m:e>
                                      <m:sub>
                                        <m:r>
                                          <a:rPr lang="en-US" altLang="zh-CN" sz="2400" b="0" i="1" smtClean="0">
                                            <a:latin typeface="Cambria Math" panose="02040503050406030204" pitchFamily="18" charset="0"/>
                                          </a:rPr>
                                          <m:t>𝑘</m:t>
                                        </m:r>
                                      </m:sub>
                                    </m:sSub>
                                  </m:e>
                                  <m:sup>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𝑖𝑘</m:t>
                                        </m:r>
                                      </m:sub>
                                    </m:sSub>
                                  </m:sup>
                                </m:sSup>
                                <m:r>
                                  <a:rPr lang="en-US" altLang="zh-CN" sz="2400" i="1">
                                    <a:latin typeface="Cambria Math" panose="02040503050406030204" pitchFamily="18" charset="0"/>
                                    <a:ea typeface="Cambria Math" panose="02040503050406030204" pitchFamily="18" charset="0"/>
                                  </a:rPr>
                                  <m:t>𝑁</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acc>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sty m:val="p"/>
                                      </m:rPr>
                                      <a:rPr lang="el-GR" altLang="zh-CN" sz="2400" i="1">
                                        <a:latin typeface="Cambria Math" panose="02040503050406030204" pitchFamily="18" charset="0"/>
                                        <a:ea typeface="Cambria Math" panose="02040503050406030204" pitchFamily="18" charset="0"/>
                                      </a:rPr>
                                      <m:t>Σ</m:t>
                                    </m:r>
                                  </m:e>
                                  <m:sub>
                                    <m:r>
                                      <a:rPr lang="en-US" altLang="zh-CN" sz="2400" i="1">
                                        <a:latin typeface="Cambria Math" panose="02040503050406030204" pitchFamily="18" charset="0"/>
                                      </a:rPr>
                                      <m:t>𝑘</m:t>
                                    </m:r>
                                  </m:sub>
                                </m:sSub>
                                <m:r>
                                  <a:rPr lang="en-US" altLang="zh-CN" sz="2400" i="1">
                                    <a:latin typeface="Cambria Math" panose="02040503050406030204" pitchFamily="18" charset="0"/>
                                    <a:ea typeface="Cambria Math" panose="02040503050406030204" pitchFamily="18" charset="0"/>
                                  </a:rPr>
                                  <m:t>)</m:t>
                                </m:r>
                              </m:e>
                              <m: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𝑖𝑘</m:t>
                                    </m:r>
                                  </m:sub>
                                </m:sSub>
                              </m:sup>
                            </m:sSup>
                          </m:e>
                        </m:nary>
                      </m:e>
                    </m:nary>
                  </m:oMath>
                </a14:m>
                <a:endParaRPr lang="en-US" altLang="zh-CN" sz="2400" dirty="0" smtClean="0">
                  <a:latin typeface="+mn-ea"/>
                </a:endParaRPr>
              </a:p>
              <a:p>
                <a:r>
                  <a:rPr lang="zh-CN" altLang="en-US" sz="2400" dirty="0" smtClean="0">
                    <a:latin typeface="+mn-ea"/>
                  </a:rPr>
                  <a:t>最大似然函数对数化</a:t>
                </a:r>
                <a:endParaRPr lang="en-US" altLang="zh-CN" sz="2400" dirty="0" smtClean="0">
                  <a:latin typeface="+mn-ea"/>
                </a:endParaRPr>
              </a:p>
              <a:p>
                <a14:m>
                  <m:oMath xmlns:m="http://schemas.openxmlformats.org/officeDocument/2006/math">
                    <m:r>
                      <m:rPr>
                        <m:sty m:val="p"/>
                      </m:rPr>
                      <a:rPr lang="en-US" altLang="zh-CN" sz="2400" dirty="0">
                        <a:latin typeface="Cambria Math" panose="02040503050406030204" pitchFamily="18" charset="0"/>
                      </a:rPr>
                      <m:t>l</m:t>
                    </m:r>
                    <m:d>
                      <m:dPr>
                        <m:ctrlPr>
                          <a:rPr lang="en-US" altLang="zh-CN" sz="2400" b="0" i="1" dirty="0" smtClean="0">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r>
                          <a:rPr lang="en-US" altLang="zh-CN" sz="2400" i="1">
                            <a:latin typeface="Cambria Math" panose="02040503050406030204" pitchFamily="18" charset="0"/>
                          </a:rPr>
                          <m:t>,</m:t>
                        </m:r>
                        <m:r>
                          <a:rPr lang="en-US" altLang="zh-CN" sz="2400" i="1">
                            <a:latin typeface="Cambria Math" panose="02040503050406030204" pitchFamily="18" charset="0"/>
                          </a:rPr>
                          <m:t>𝑍</m:t>
                        </m:r>
                        <m:r>
                          <a:rPr lang="en-US" altLang="zh-CN" sz="2400" i="1">
                            <a:latin typeface="Cambria Math" panose="02040503050406030204" pitchFamily="18" charset="0"/>
                          </a:rPr>
                          <m:t>;</m:t>
                        </m:r>
                        <m:r>
                          <m:rPr>
                            <m:sty m:val="p"/>
                          </m:rPr>
                          <a:rPr lang="el-GR" altLang="zh-CN" sz="2400" i="1">
                            <a:latin typeface="Cambria Math" panose="02040503050406030204" pitchFamily="18" charset="0"/>
                            <a:ea typeface="Cambria Math" panose="02040503050406030204" pitchFamily="18" charset="0"/>
                          </a:rPr>
                          <m:t>Θ</m:t>
                        </m:r>
                      </m:e>
                    </m:d>
                    <m:r>
                      <a:rPr lang="en-US" altLang="zh-CN" sz="2400" b="0" i="0" dirty="0" smtClean="0">
                        <a:latin typeface="Cambria Math" panose="02040503050406030204" pitchFamily="18" charset="0"/>
                      </a:rPr>
                      <m:t>=</m:t>
                    </m:r>
                    <m:nary>
                      <m:naryPr>
                        <m:chr m:val="∑"/>
                        <m:limLoc m:val="subSup"/>
                        <m:ctrlPr>
                          <a:rPr lang="en-US" altLang="zh-CN" sz="2400" b="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𝑛</m:t>
                        </m:r>
                      </m:sup>
                      <m:e>
                        <m:nary>
                          <m:naryPr>
                            <m:chr m:val="∑"/>
                            <m:limLoc m:val="subSup"/>
                            <m:ctrlPr>
                              <a:rPr lang="en-US" altLang="zh-CN" sz="2400" b="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𝑘</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𝐾</m:t>
                            </m:r>
                          </m:sup>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𝑖𝑘</m:t>
                                </m:r>
                              </m:sub>
                            </m:sSub>
                            <m:r>
                              <a:rPr lang="en-US" altLang="zh-CN" sz="2400" b="0" i="1" smtClean="0">
                                <a:latin typeface="Cambria Math" panose="02040503050406030204" pitchFamily="18" charset="0"/>
                              </a:rPr>
                              <m:t>{</m:t>
                            </m:r>
                            <m:r>
                              <m:rPr>
                                <m:sty m:val="p"/>
                              </m:rPr>
                              <a:rPr lang="en-US" altLang="zh-CN" sz="2400" b="0" i="0" smtClean="0">
                                <a:latin typeface="Cambria Math" panose="02040503050406030204" pitchFamily="18" charset="0"/>
                              </a:rPr>
                              <m:t>log</m:t>
                            </m:r>
                            <m:r>
                              <a:rPr lang="en-US" altLang="zh-CN" sz="2400" b="0" i="1" smtClean="0">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𝑁</m:t>
                            </m:r>
                            <m:r>
                              <a:rPr lang="en-US" altLang="zh-CN" sz="2400" i="1">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e>
                            </m:acc>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m:rPr>
                                    <m:sty m:val="p"/>
                                  </m:rPr>
                                  <a:rPr lang="el-GR" altLang="zh-CN" sz="2400" i="1">
                                    <a:latin typeface="Cambria Math" panose="02040503050406030204" pitchFamily="18" charset="0"/>
                                    <a:ea typeface="Cambria Math" panose="02040503050406030204" pitchFamily="18" charset="0"/>
                                  </a:rPr>
                                  <m:t>Σ</m:t>
                                </m:r>
                              </m:e>
                              <m:sub>
                                <m:r>
                                  <a:rPr lang="en-US" altLang="zh-CN" sz="2400" i="1">
                                    <a:latin typeface="Cambria Math" panose="02040503050406030204" pitchFamily="18" charset="0"/>
                                  </a:rPr>
                                  <m:t>𝑘</m:t>
                                </m:r>
                              </m:sub>
                            </m:sSub>
                            <m:r>
                              <a:rPr lang="en-US" altLang="zh-CN" sz="2400" b="0" i="1" smtClean="0">
                                <a:latin typeface="Cambria Math" panose="02040503050406030204" pitchFamily="18" charset="0"/>
                              </a:rPr>
                              <m:t>)</m:t>
                            </m:r>
                          </m:e>
                        </m:nary>
                      </m:e>
                    </m:nary>
                    <m:r>
                      <a:rPr lang="en-US" altLang="zh-CN" sz="2400" b="0" i="0" smtClean="0">
                        <a:latin typeface="Cambria Math" panose="02040503050406030204" pitchFamily="18" charset="0"/>
                      </a:rPr>
                      <m:t>)+</m:t>
                    </m:r>
                    <m:sSub>
                      <m:sSubPr>
                        <m:ctrlPr>
                          <a:rPr lang="en-US" altLang="zh-CN" sz="2400" i="1">
                            <a:latin typeface="Cambria Math" panose="02040503050406030204" pitchFamily="18" charset="0"/>
                          </a:rPr>
                        </m:ctrlPr>
                      </m:sSubPr>
                      <m:e>
                        <m:r>
                          <m:rPr>
                            <m:sty m:val="p"/>
                          </m:rPr>
                          <a:rPr lang="en-US" altLang="zh-CN" sz="2400" b="0" i="0" smtClean="0">
                            <a:latin typeface="Cambria Math" panose="02040503050406030204" pitchFamily="18" charset="0"/>
                          </a:rPr>
                          <m:t>log</m:t>
                        </m:r>
                        <m:r>
                          <a:rPr lang="en-US" altLang="zh-CN" sz="2400" b="0" i="1" smtClean="0">
                            <a:latin typeface="Cambria Math" panose="02040503050406030204" pitchFamily="18" charset="0"/>
                          </a:rPr>
                          <m:t>⁡</m:t>
                        </m:r>
                        <m:r>
                          <a:rPr lang="zh-CN" altLang="en-US" sz="2400" i="1">
                            <a:latin typeface="Cambria Math" panose="02040503050406030204" pitchFamily="18" charset="0"/>
                          </a:rPr>
                          <m:t>𝛼</m:t>
                        </m:r>
                      </m:e>
                      <m:sub>
                        <m:r>
                          <a:rPr lang="en-US" altLang="zh-CN" sz="2400" i="1">
                            <a:latin typeface="Cambria Math" panose="02040503050406030204" pitchFamily="18" charset="0"/>
                          </a:rPr>
                          <m:t>𝑘</m:t>
                        </m:r>
                      </m:sub>
                    </m:sSub>
                    <m:r>
                      <a:rPr lang="en-US" altLang="zh-CN" sz="2400" b="0" i="1" smtClean="0">
                        <a:latin typeface="Cambria Math" panose="02040503050406030204" pitchFamily="18" charset="0"/>
                      </a:rPr>
                      <m:t>}</m:t>
                    </m:r>
                  </m:oMath>
                </a14:m>
                <a:endParaRPr lang="en-US" altLang="zh-CN" sz="2400" b="0" dirty="0" smtClean="0">
                  <a:latin typeface="+mn-ea"/>
                </a:endParaRPr>
              </a:p>
              <a:p>
                <a:pPr marL="0" indent="0">
                  <a:buNone/>
                </a:pPr>
                <a:r>
                  <a:rPr lang="en-US" altLang="zh-CN" sz="1800" b="0" dirty="0" smtClean="0"/>
                  <a:t>                            </a:t>
                </a:r>
                <a14:m>
                  <m:oMath xmlns:m="http://schemas.openxmlformats.org/officeDocument/2006/math">
                    <m:r>
                      <a:rPr lang="en-US" altLang="zh-CN" sz="2000" b="0" i="1" smtClean="0">
                        <a:latin typeface="Cambria Math" panose="02040503050406030204" pitchFamily="18" charset="0"/>
                      </a:rPr>
                      <m:t>=</m:t>
                    </m:r>
                    <m:nary>
                      <m:naryPr>
                        <m:chr m:val="∑"/>
                        <m:limLoc m:val="subSup"/>
                        <m:ctrlPr>
                          <a:rPr lang="en-US" altLang="zh-CN" sz="2000" b="0" i="1" smtClean="0">
                            <a:latin typeface="Cambria Math" panose="02040503050406030204" pitchFamily="18" charset="0"/>
                          </a:rPr>
                        </m:ctrlPr>
                      </m:naryPr>
                      <m:sub>
                        <m:r>
                          <m:rPr>
                            <m:brk m:alnAt="25"/>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nary>
                          <m:naryPr>
                            <m:chr m:val="∑"/>
                            <m:limLoc m:val="subSup"/>
                            <m:ctrlPr>
                              <a:rPr lang="en-US" altLang="zh-CN" sz="2000" b="0" i="1" smtClean="0">
                                <a:latin typeface="Cambria Math" panose="02040503050406030204" pitchFamily="18" charset="0"/>
                              </a:rPr>
                            </m:ctrlPr>
                          </m:naryPr>
                          <m:sub>
                            <m:r>
                              <m:rPr>
                                <m:brk m:alnAt="25"/>
                              </m:rP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𝐾</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𝑝</m:t>
                                </m:r>
                              </m:num>
                              <m:den>
                                <m:r>
                                  <a:rPr lang="en-US" altLang="zh-CN" sz="2000" b="0" i="1" smtClean="0">
                                    <a:latin typeface="Cambria Math" panose="02040503050406030204" pitchFamily="18" charset="0"/>
                                  </a:rPr>
                                  <m:t>2</m:t>
                                </m:r>
                              </m:den>
                            </m:f>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log</m:t>
                                </m:r>
                              </m:fName>
                              <m:e>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2</m:t>
                                    </m:r>
                                    <m:r>
                                      <a:rPr lang="zh-CN" altLang="en-US" sz="2000" b="0" i="1" smtClean="0">
                                        <a:latin typeface="Cambria Math" panose="02040503050406030204" pitchFamily="18" charset="0"/>
                                      </a:rPr>
                                      <m:t>𝜋</m:t>
                                    </m:r>
                                  </m:e>
                                </m:d>
                              </m:e>
                            </m:func>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2</m:t>
                                </m:r>
                              </m:den>
                            </m:f>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log</m:t>
                                </m:r>
                              </m:fName>
                              <m:e>
                                <m:d>
                                  <m:dPr>
                                    <m:begChr m:val="|"/>
                                    <m:endChr m:val="|"/>
                                    <m:ctrlPr>
                                      <a:rPr lang="en-US" altLang="zh-CN" sz="2000" b="0" i="1" smtClean="0">
                                        <a:latin typeface="Cambria Math" panose="02040503050406030204" pitchFamily="18" charset="0"/>
                                      </a:rPr>
                                    </m:ctrlPr>
                                  </m:dPr>
                                  <m:e>
                                    <m:sSub>
                                      <m:sSubPr>
                                        <m:ctrlPr>
                                          <a:rPr lang="el-GR" altLang="zh-CN" sz="2000" b="0" i="1" smtClean="0">
                                            <a:latin typeface="Cambria Math" panose="02040503050406030204" pitchFamily="18" charset="0"/>
                                            <a:ea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b="0" i="1" smtClean="0">
                                            <a:latin typeface="Cambria Math" panose="02040503050406030204" pitchFamily="18" charset="0"/>
                                            <a:ea typeface="Cambria Math" panose="02040503050406030204" pitchFamily="18" charset="0"/>
                                          </a:rPr>
                                          <m:t>𝑘</m:t>
                                        </m:r>
                                      </m:sub>
                                    </m:sSub>
                                  </m:e>
                                </m:d>
                              </m:e>
                            </m:func>
                            <m:r>
                              <a:rPr lang="en-US" altLang="zh-CN" sz="2000" b="0" i="1" smtClean="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1</m:t>
                                </m:r>
                              </m:num>
                              <m:den>
                                <m:r>
                                  <a:rPr lang="en-US" altLang="zh-CN" sz="2000" i="1">
                                    <a:latin typeface="Cambria Math" panose="02040503050406030204" pitchFamily="18" charset="0"/>
                                    <a:ea typeface="Cambria Math" panose="02040503050406030204" pitchFamily="18" charset="0"/>
                                  </a:rPr>
                                  <m:t>2</m:t>
                                </m:r>
                              </m:den>
                            </m:f>
                            <m:sSup>
                              <m:sSupPr>
                                <m:ctrlPr>
                                  <a:rPr lang="en-US" altLang="zh-CN" sz="2000" i="1">
                                    <a:latin typeface="Cambria Math" panose="02040503050406030204" pitchFamily="18" charset="0"/>
                                    <a:ea typeface="Cambria Math" panose="02040503050406030204" pitchFamily="18" charset="0"/>
                                  </a:rPr>
                                </m:ctrlPr>
                              </m:sSupPr>
                              <m:e>
                                <m:d>
                                  <m:dPr>
                                    <m:ctrlPr>
                                      <a:rPr lang="en-US" altLang="zh-CN" sz="2000" i="1">
                                        <a:latin typeface="Cambria Math" panose="02040503050406030204" pitchFamily="18" charset="0"/>
                                        <a:ea typeface="Cambria Math" panose="02040503050406030204" pitchFamily="18" charset="0"/>
                                      </a:rPr>
                                    </m:ctrlPr>
                                  </m:dPr>
                                  <m:e>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𝑖</m:t>
                                            </m:r>
                                          </m:sub>
                                        </m:sSub>
                                      </m:e>
                                    </m:acc>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e>
                                </m:d>
                              </m:e>
                              <m:sup>
                                <m:r>
                                  <a:rPr lang="en-US" altLang="zh-CN" sz="2000" i="1">
                                    <a:latin typeface="Cambria Math" panose="02040503050406030204" pitchFamily="18" charset="0"/>
                                    <a:ea typeface="Cambria Math" panose="02040503050406030204" pitchFamily="18" charset="0"/>
                                  </a:rPr>
                                  <m:t>′</m:t>
                                </m:r>
                              </m:sup>
                            </m:sSup>
                            <m:sSup>
                              <m:sSupPr>
                                <m:ctrlPr>
                                  <a:rPr lang="en-US" altLang="zh-CN" sz="2000" i="1">
                                    <a:latin typeface="Cambria Math" panose="02040503050406030204" pitchFamily="18" charset="0"/>
                                    <a:ea typeface="Cambria Math" panose="02040503050406030204" pitchFamily="18" charset="0"/>
                                  </a:rPr>
                                </m:ctrlPr>
                              </m:sSupPr>
                              <m:e>
                                <m:sSub>
                                  <m:sSubPr>
                                    <m:ctrlPr>
                                      <a:rPr lang="en-US" altLang="zh-CN" sz="2000" i="1">
                                        <a:latin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i="1">
                                        <a:latin typeface="Cambria Math" panose="02040503050406030204" pitchFamily="18" charset="0"/>
                                      </a:rPr>
                                      <m:t>𝑘</m:t>
                                    </m:r>
                                  </m:sub>
                                </m:sSub>
                              </m:e>
                              <m:sup>
                                <m:r>
                                  <a:rPr lang="en-US" altLang="zh-CN" sz="2000" i="1">
                                    <a:latin typeface="Cambria Math" panose="02040503050406030204" pitchFamily="18" charset="0"/>
                                    <a:ea typeface="Cambria Math" panose="02040503050406030204" pitchFamily="18" charset="0"/>
                                  </a:rPr>
                                  <m:t>−1</m:t>
                                </m:r>
                              </m:sup>
                            </m:sSup>
                            <m:d>
                              <m:dPr>
                                <m:ctrlPr>
                                  <a:rPr lang="en-US" altLang="zh-CN" sz="2000" i="1">
                                    <a:latin typeface="Cambria Math" panose="02040503050406030204" pitchFamily="18" charset="0"/>
                                    <a:ea typeface="Cambria Math" panose="02040503050406030204" pitchFamily="18" charset="0"/>
                                  </a:rPr>
                                </m:ctrlPr>
                              </m:dPr>
                              <m:e>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𝑖</m:t>
                                        </m:r>
                                      </m:sub>
                                    </m:sSub>
                                  </m:e>
                                </m:acc>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e>
                            </m:d>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𝑙𝑜𝑔</m:t>
                                </m:r>
                                <m:r>
                                  <a:rPr lang="zh-CN" altLang="en-US" sz="2000" i="1">
                                    <a:latin typeface="Cambria Math" panose="02040503050406030204" pitchFamily="18" charset="0"/>
                                  </a:rPr>
                                  <m:t>𝛼</m:t>
                                </m:r>
                              </m:e>
                              <m:sub>
                                <m:r>
                                  <a:rPr lang="en-US" altLang="zh-CN" sz="2000" i="1">
                                    <a:latin typeface="Cambria Math" panose="02040503050406030204" pitchFamily="18" charset="0"/>
                                  </a:rPr>
                                  <m:t>𝑘</m:t>
                                </m:r>
                              </m:sub>
                            </m:sSub>
                            <m:r>
                              <a:rPr lang="en-US" altLang="zh-CN" sz="2000" b="0" i="1" smtClean="0">
                                <a:latin typeface="Cambria Math" panose="02040503050406030204" pitchFamily="18" charset="0"/>
                              </a:rPr>
                              <m:t>}</m:t>
                            </m:r>
                          </m:e>
                        </m:nary>
                      </m:e>
                    </m:nary>
                  </m:oMath>
                </a14:m>
                <a:r>
                  <a:rPr lang="en-US" altLang="zh-CN" sz="2000" dirty="0" smtClean="0">
                    <a:latin typeface="+mn-ea"/>
                  </a:rPr>
                  <a:t> </a:t>
                </a:r>
              </a:p>
              <a:p>
                <a:r>
                  <a:rPr lang="zh-CN" altLang="en-US" sz="2400" dirty="0" smtClean="0">
                    <a:latin typeface="+mn-ea"/>
                  </a:rPr>
                  <a:t>用</a:t>
                </a:r>
                <a:r>
                  <a:rPr lang="en-US" altLang="zh-CN" sz="2400" dirty="0" smtClean="0">
                    <a:latin typeface="+mn-ea"/>
                  </a:rPr>
                  <a:t>EM</a:t>
                </a:r>
                <a:r>
                  <a:rPr lang="zh-CN" altLang="en-US" sz="2400" dirty="0" smtClean="0">
                    <a:latin typeface="+mn-ea"/>
                  </a:rPr>
                  <a:t>算法来求参数</a:t>
                </a:r>
                <a:endParaRPr lang="en-US" altLang="zh-CN" sz="2400" dirty="0" smtClean="0">
                  <a:latin typeface="+mn-ea"/>
                </a:endParaRPr>
              </a:p>
              <a:p>
                <a:r>
                  <a:rPr lang="en-US" altLang="zh-CN" sz="2400" dirty="0" smtClean="0">
                    <a:latin typeface="+mn-ea"/>
                  </a:rPr>
                  <a:t>E-Step</a:t>
                </a:r>
                <a:r>
                  <a:rPr lang="zh-CN" altLang="en-US" sz="2400" dirty="0" smtClean="0">
                    <a:latin typeface="+mn-ea"/>
                  </a:rPr>
                  <a:t>：</a:t>
                </a:r>
                <a:endParaRPr lang="en-US" altLang="zh-CN" sz="2400" dirty="0" smtClean="0">
                  <a:latin typeface="+mn-ea"/>
                </a:endParaRPr>
              </a:p>
              <a:p>
                <a14:m>
                  <m:oMath xmlns:m="http://schemas.openxmlformats.org/officeDocument/2006/math">
                    <m:r>
                      <a:rPr lang="en-US" altLang="zh-CN" sz="2400" b="0" i="1" smtClean="0">
                        <a:latin typeface="Cambria Math" panose="02040503050406030204" pitchFamily="18" charset="0"/>
                      </a:rPr>
                      <m:t>𝑝</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𝑧</m:t>
                            </m:r>
                          </m:e>
                          <m:sub>
                            <m:r>
                              <a:rPr lang="en-US" altLang="zh-CN" sz="2400" b="0" i="1" smtClean="0">
                                <a:latin typeface="Cambria Math" panose="02040503050406030204" pitchFamily="18" charset="0"/>
                              </a:rPr>
                              <m:t>𝑖𝑘</m:t>
                            </m:r>
                          </m:sub>
                        </m:sSub>
                        <m:r>
                          <a:rPr lang="en-US" altLang="zh-CN" sz="2400" b="0" i="1" smtClean="0">
                            <a:latin typeface="Cambria Math" panose="02040503050406030204" pitchFamily="18" charset="0"/>
                          </a:rPr>
                          <m:t>=1</m:t>
                        </m:r>
                      </m:e>
                      <m:e>
                        <m:acc>
                          <m:accPr>
                            <m:chr m:val="⃑"/>
                            <m:ctrlPr>
                              <a:rPr lang="en-US" altLang="zh-CN" sz="2400" i="1">
                                <a:latin typeface="Cambria Math" panose="02040503050406030204" pitchFamily="18" charset="0"/>
                                <a:ea typeface="Cambria Math" panose="02040503050406030204" pitchFamily="18" charset="0"/>
                              </a:rPr>
                            </m:ctrlPr>
                          </m:accPr>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i="1">
                                    <a:latin typeface="Cambria Math" panose="02040503050406030204" pitchFamily="18" charset="0"/>
                                    <a:ea typeface="Cambria Math" panose="02040503050406030204" pitchFamily="18" charset="0"/>
                                  </a:rPr>
                                  <m:t>𝑖</m:t>
                                </m:r>
                              </m:sub>
                            </m:sSub>
                          </m:e>
                        </m:acc>
                        <m:r>
                          <a:rPr lang="en-US" altLang="zh-CN" sz="2400" b="0" i="1" smtClean="0">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a:rPr lang="en-US" altLang="zh-CN" sz="2400" i="1">
                                <a:latin typeface="Cambria Math" panose="02040503050406030204" pitchFamily="18" charset="0"/>
                              </a:rPr>
                              <m:t>𝑘</m:t>
                            </m:r>
                          </m:sub>
                        </m:sSub>
                        <m:r>
                          <a:rPr lang="en-US" altLang="zh-CN" sz="2400" b="0" i="1" smtClean="0">
                            <a:latin typeface="Cambria Math" panose="02040503050406030204" pitchFamily="18" charset="0"/>
                          </a:rPr>
                          <m:t>,</m:t>
                        </m:r>
                        <m:sSub>
                          <m:sSubPr>
                            <m:ctrlPr>
                              <a:rPr lang="el-GR" altLang="zh-CN" sz="2400" i="1">
                                <a:latin typeface="Cambria Math" panose="02040503050406030204" pitchFamily="18" charset="0"/>
                                <a:ea typeface="Cambria Math" panose="02040503050406030204" pitchFamily="18" charset="0"/>
                              </a:rPr>
                            </m:ctrlPr>
                          </m:sSubPr>
                          <m:e>
                            <m:r>
                              <m:rPr>
                                <m:sty m:val="p"/>
                              </m:rPr>
                              <a:rPr lang="el-GR" altLang="zh-CN" sz="2400" i="1">
                                <a:latin typeface="Cambria Math" panose="02040503050406030204" pitchFamily="18" charset="0"/>
                                <a:ea typeface="Cambria Math" panose="02040503050406030204" pitchFamily="18" charset="0"/>
                              </a:rPr>
                              <m:t>Σ</m:t>
                            </m:r>
                          </m:e>
                          <m:sub>
                            <m:r>
                              <a:rPr lang="en-US" altLang="zh-CN" sz="2400" i="1">
                                <a:latin typeface="Cambria Math" panose="02040503050406030204" pitchFamily="18" charset="0"/>
                                <a:ea typeface="Cambria Math" panose="02040503050406030204" pitchFamily="18" charset="0"/>
                              </a:rPr>
                              <m:t>𝑘</m:t>
                            </m:r>
                          </m:sub>
                        </m:sSub>
                      </m:e>
                    </m:d>
                    <m:r>
                      <a:rPr lang="en-US" altLang="zh-CN" sz="2400" b="0" i="1" smtClean="0">
                        <a:latin typeface="Cambria Math" panose="02040503050406030204" pitchFamily="18" charset="0"/>
                        <a:ea typeface="Cambria Math" panose="02040503050406030204" pitchFamily="18" charset="0"/>
                      </a:rPr>
                      <m:t>=</m:t>
                    </m:r>
                    <m:sSup>
                      <m:sSupPr>
                        <m:ctrlPr>
                          <a:rPr lang="en-US" altLang="zh-CN" sz="2400" b="0" i="1" smtClean="0">
                            <a:latin typeface="Cambria Math" panose="02040503050406030204" pitchFamily="18" charset="0"/>
                            <a:ea typeface="Cambria Math" panose="02040503050406030204" pitchFamily="18" charset="0"/>
                          </a:rPr>
                        </m:ctrlPr>
                      </m:sSupPr>
                      <m:e>
                        <m:r>
                          <a:rPr lang="en-US" altLang="zh-CN" sz="2400" b="0" i="1" smtClean="0">
                            <a:latin typeface="Cambria Math" panose="02040503050406030204" pitchFamily="18" charset="0"/>
                            <a:ea typeface="Cambria Math" panose="02040503050406030204" pitchFamily="18" charset="0"/>
                          </a:rPr>
                          <m:t>𝐸</m:t>
                        </m:r>
                      </m:e>
                      <m:sup>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𝑧</m:t>
                            </m:r>
                          </m:e>
                          <m:sub>
                            <m:r>
                              <a:rPr lang="en-US" altLang="zh-CN" sz="2400" b="0" i="1" smtClean="0">
                                <a:latin typeface="Cambria Math" panose="02040503050406030204" pitchFamily="18" charset="0"/>
                                <a:ea typeface="Cambria Math" panose="02040503050406030204" pitchFamily="18" charset="0"/>
                              </a:rPr>
                              <m:t>𝑖𝑘</m:t>
                            </m:r>
                          </m:sub>
                        </m:sSub>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b="0" i="1" smtClean="0">
                                <a:latin typeface="Cambria Math" panose="02040503050406030204" pitchFamily="18" charset="0"/>
                                <a:ea typeface="Cambria Math" panose="02040503050406030204" pitchFamily="18" charset="0"/>
                              </a:rPr>
                            </m:ctrlPr>
                          </m:accPr>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i="1">
                                    <a:latin typeface="Cambria Math" panose="02040503050406030204" pitchFamily="18" charset="0"/>
                                    <a:ea typeface="Cambria Math" panose="02040503050406030204" pitchFamily="18" charset="0"/>
                                  </a:rPr>
                                  <m:t>𝑖</m:t>
                                </m:r>
                              </m:sub>
                            </m:sSub>
                          </m:e>
                        </m:acc>
                      </m:sup>
                    </m:sSup>
                    <m:d>
                      <m:dPr>
                        <m:ctrlPr>
                          <a:rPr lang="en-US" altLang="zh-CN" sz="2400" b="0" i="1" smtClean="0">
                            <a:latin typeface="Cambria Math" panose="02040503050406030204" pitchFamily="18" charset="0"/>
                            <a:ea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𝑖𝑘</m:t>
                            </m:r>
                          </m:sub>
                        </m:sSub>
                      </m:e>
                    </m:d>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rPr>
                          <m:t>𝑝</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i="1">
                                <a:latin typeface="Cambria Math" panose="02040503050406030204" pitchFamily="18" charset="0"/>
                              </a:rPr>
                              <m:t>𝑧</m:t>
                            </m:r>
                          </m:e>
                          <m:sub>
                            <m:r>
                              <a:rPr lang="en-US" altLang="zh-CN" sz="2400" i="1">
                                <a:latin typeface="Cambria Math" panose="02040503050406030204" pitchFamily="18" charset="0"/>
                              </a:rPr>
                              <m:t>𝑖𝑘</m:t>
                            </m:r>
                          </m:sub>
                        </m:sSub>
                        <m:r>
                          <a:rPr lang="en-US" altLang="zh-CN" sz="2400" i="1">
                            <a:latin typeface="Cambria Math" panose="02040503050406030204" pitchFamily="18" charset="0"/>
                          </a:rPr>
                          <m:t>=1</m:t>
                        </m:r>
                        <m:r>
                          <a:rPr lang="en-US" altLang="zh-CN" sz="2400" b="0" i="1" smtClean="0">
                            <a:latin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i="1">
                                    <a:latin typeface="Cambria Math" panose="02040503050406030204" pitchFamily="18" charset="0"/>
                                    <a:ea typeface="Cambria Math" panose="02040503050406030204" pitchFamily="18" charset="0"/>
                                  </a:rPr>
                                  <m:t>𝑖</m:t>
                                </m:r>
                              </m:sub>
                            </m:sSub>
                          </m:e>
                        </m:acc>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m:t>
                        </m:r>
                        <m:sSub>
                          <m:sSubPr>
                            <m:ctrlPr>
                              <a:rPr lang="el-GR" altLang="zh-CN" sz="2400" i="1">
                                <a:latin typeface="Cambria Math" panose="02040503050406030204" pitchFamily="18" charset="0"/>
                                <a:ea typeface="Cambria Math" panose="02040503050406030204" pitchFamily="18" charset="0"/>
                              </a:rPr>
                            </m:ctrlPr>
                          </m:sSubPr>
                          <m:e>
                            <m:r>
                              <m:rPr>
                                <m:sty m:val="p"/>
                              </m:rPr>
                              <a:rPr lang="el-GR" altLang="zh-CN" sz="2400" i="1">
                                <a:latin typeface="Cambria Math" panose="02040503050406030204" pitchFamily="18" charset="0"/>
                                <a:ea typeface="Cambria Math" panose="02040503050406030204" pitchFamily="18" charset="0"/>
                              </a:rPr>
                              <m:t>Σ</m:t>
                            </m:r>
                          </m:e>
                          <m:sub>
                            <m:r>
                              <a:rPr lang="en-US" altLang="zh-CN" sz="2400" i="1">
                                <a:latin typeface="Cambria Math" panose="02040503050406030204" pitchFamily="18" charset="0"/>
                                <a:ea typeface="Cambria Math" panose="02040503050406030204" pitchFamily="18" charset="0"/>
                              </a:rPr>
                              <m:t>𝑘</m:t>
                            </m:r>
                          </m:sub>
                        </m:sSub>
                        <m:r>
                          <a:rPr lang="en-US" altLang="zh-CN" sz="2400" b="0" i="1" smtClean="0">
                            <a:latin typeface="Cambria Math" panose="02040503050406030204" pitchFamily="18" charset="0"/>
                          </a:rPr>
                          <m:t>)</m:t>
                        </m:r>
                      </m:num>
                      <m:den>
                        <m:r>
                          <a:rPr lang="en-US" altLang="zh-CN" sz="2400" b="0" i="1" smtClean="0">
                            <a:latin typeface="Cambria Math" panose="02040503050406030204" pitchFamily="18" charset="0"/>
                            <a:ea typeface="Cambria Math" panose="02040503050406030204" pitchFamily="18" charset="0"/>
                          </a:rPr>
                          <m:t>𝑝</m:t>
                        </m:r>
                        <m:r>
                          <a:rPr lang="en-US" altLang="zh-CN" sz="2400" b="0" i="1" smtClean="0">
                            <a:latin typeface="Cambria Math" panose="02040503050406030204" pitchFamily="18" charset="0"/>
                            <a:ea typeface="Cambria Math" panose="02040503050406030204" pitchFamily="18" charset="0"/>
                          </a:rPr>
                          <m:t>(</m:t>
                        </m:r>
                        <m:acc>
                          <m:accPr>
                            <m:chr m:val="⃑"/>
                            <m:ctrlPr>
                              <a:rPr lang="en-US" altLang="zh-CN" sz="2400" i="1">
                                <a:latin typeface="Cambria Math" panose="02040503050406030204" pitchFamily="18" charset="0"/>
                                <a:ea typeface="Cambria Math" panose="02040503050406030204" pitchFamily="18" charset="0"/>
                              </a:rPr>
                            </m:ctrlPr>
                          </m:accPr>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i="1">
                                    <a:latin typeface="Cambria Math" panose="02040503050406030204" pitchFamily="18" charset="0"/>
                                    <a:ea typeface="Cambria Math" panose="02040503050406030204" pitchFamily="18" charset="0"/>
                                  </a:rPr>
                                  <m:t>𝑖</m:t>
                                </m:r>
                              </m:sub>
                            </m:sSub>
                          </m:e>
                        </m:acc>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m:t>
                        </m:r>
                        <m:sSub>
                          <m:sSubPr>
                            <m:ctrlPr>
                              <a:rPr lang="el-GR" altLang="zh-CN" sz="2400" i="1">
                                <a:latin typeface="Cambria Math" panose="02040503050406030204" pitchFamily="18" charset="0"/>
                                <a:ea typeface="Cambria Math" panose="02040503050406030204" pitchFamily="18" charset="0"/>
                              </a:rPr>
                            </m:ctrlPr>
                          </m:sSubPr>
                          <m:e>
                            <m:r>
                              <m:rPr>
                                <m:sty m:val="p"/>
                              </m:rPr>
                              <a:rPr lang="el-GR" altLang="zh-CN" sz="2400" i="1">
                                <a:latin typeface="Cambria Math" panose="02040503050406030204" pitchFamily="18" charset="0"/>
                                <a:ea typeface="Cambria Math" panose="02040503050406030204" pitchFamily="18" charset="0"/>
                              </a:rPr>
                              <m:t>Σ</m:t>
                            </m:r>
                          </m:e>
                          <m:sub>
                            <m:r>
                              <a:rPr lang="en-US" altLang="zh-CN" sz="2400" i="1">
                                <a:latin typeface="Cambria Math" panose="02040503050406030204" pitchFamily="18" charset="0"/>
                                <a:ea typeface="Cambria Math" panose="02040503050406030204" pitchFamily="18" charset="0"/>
                              </a:rPr>
                              <m:t>𝑘</m:t>
                            </m:r>
                          </m:sub>
                        </m:sSub>
                        <m:r>
                          <a:rPr lang="en-US" altLang="zh-CN" sz="2400" b="0" i="1" smtClean="0">
                            <a:latin typeface="Cambria Math" panose="02040503050406030204" pitchFamily="18" charset="0"/>
                            <a:ea typeface="Cambria Math" panose="02040503050406030204" pitchFamily="18" charset="0"/>
                          </a:rPr>
                          <m:t>)</m:t>
                        </m:r>
                      </m:den>
                    </m:f>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rPr>
                          <m:t>𝑝</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m:t>
                            </m:r>
                            <m:r>
                              <a:rPr lang="en-US" altLang="zh-CN" sz="2400" i="1">
                                <a:latin typeface="Cambria Math" panose="02040503050406030204" pitchFamily="18" charset="0"/>
                              </a:rPr>
                              <m:t>𝑧</m:t>
                            </m:r>
                          </m:e>
                          <m:sub>
                            <m:r>
                              <a:rPr lang="en-US" altLang="zh-CN" sz="2400" i="1">
                                <a:latin typeface="Cambria Math" panose="02040503050406030204" pitchFamily="18" charset="0"/>
                              </a:rPr>
                              <m:t>𝑖𝑘</m:t>
                            </m:r>
                          </m:sub>
                        </m:sSub>
                        <m:r>
                          <a:rPr lang="en-US" altLang="zh-CN" sz="2400" i="1">
                            <a:latin typeface="Cambria Math" panose="02040503050406030204" pitchFamily="18" charset="0"/>
                          </a:rPr>
                          <m:t>=1,</m:t>
                        </m:r>
                        <m:acc>
                          <m:accPr>
                            <m:chr m:val="⃑"/>
                            <m:ctrlPr>
                              <a:rPr lang="en-US" altLang="zh-CN" sz="2400" i="1">
                                <a:latin typeface="Cambria Math" panose="02040503050406030204" pitchFamily="18" charset="0"/>
                                <a:ea typeface="Cambria Math" panose="02040503050406030204" pitchFamily="18" charset="0"/>
                              </a:rPr>
                            </m:ctrlPr>
                          </m:accPr>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i="1">
                                    <a:latin typeface="Cambria Math" panose="02040503050406030204" pitchFamily="18" charset="0"/>
                                    <a:ea typeface="Cambria Math" panose="02040503050406030204" pitchFamily="18" charset="0"/>
                                  </a:rPr>
                                  <m:t>𝑖</m:t>
                                </m:r>
                              </m:sub>
                            </m:sSub>
                          </m:e>
                        </m:acc>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m:t>
                        </m:r>
                        <m:sSub>
                          <m:sSubPr>
                            <m:ctrlPr>
                              <a:rPr lang="el-GR" altLang="zh-CN" sz="2400" i="1">
                                <a:latin typeface="Cambria Math" panose="02040503050406030204" pitchFamily="18" charset="0"/>
                                <a:ea typeface="Cambria Math" panose="02040503050406030204" pitchFamily="18" charset="0"/>
                              </a:rPr>
                            </m:ctrlPr>
                          </m:sSubPr>
                          <m:e>
                            <m:r>
                              <m:rPr>
                                <m:sty m:val="p"/>
                              </m:rPr>
                              <a:rPr lang="el-GR" altLang="zh-CN" sz="2400" i="1">
                                <a:latin typeface="Cambria Math" panose="02040503050406030204" pitchFamily="18" charset="0"/>
                                <a:ea typeface="Cambria Math" panose="02040503050406030204" pitchFamily="18" charset="0"/>
                              </a:rPr>
                              <m:t>Σ</m:t>
                            </m:r>
                          </m:e>
                          <m:sub>
                            <m:r>
                              <a:rPr lang="en-US" altLang="zh-CN" sz="2400" i="1">
                                <a:latin typeface="Cambria Math" panose="02040503050406030204" pitchFamily="18" charset="0"/>
                                <a:ea typeface="Cambria Math" panose="02040503050406030204" pitchFamily="18" charset="0"/>
                              </a:rPr>
                              <m:t>𝑘</m:t>
                            </m:r>
                          </m:sub>
                        </m:sSub>
                        <m:r>
                          <a:rPr lang="en-US" altLang="zh-CN" sz="2400" i="1">
                            <a:latin typeface="Cambria Math" panose="02040503050406030204" pitchFamily="18" charset="0"/>
                          </a:rPr>
                          <m:t>)</m:t>
                        </m:r>
                      </m:num>
                      <m:den>
                        <m:nary>
                          <m:naryPr>
                            <m:chr m:val="∑"/>
                            <m:limLoc m:val="subSup"/>
                            <m:ctrlPr>
                              <a:rPr lang="en-US" altLang="zh-CN" sz="2400" b="0" i="1" smtClean="0">
                                <a:latin typeface="Cambria Math" panose="02040503050406030204" pitchFamily="18" charset="0"/>
                                <a:ea typeface="Cambria Math" panose="02040503050406030204" pitchFamily="18" charset="0"/>
                              </a:rPr>
                            </m:ctrlPr>
                          </m:naryPr>
                          <m:sub>
                            <m:r>
                              <m:rPr>
                                <m:brk m:alnAt="25"/>
                              </m:rPr>
                              <a:rPr lang="en-US" altLang="zh-CN" sz="2400" b="0" i="1" smtClean="0">
                                <a:latin typeface="Cambria Math" panose="02040503050406030204" pitchFamily="18" charset="0"/>
                                <a:ea typeface="Cambria Math" panose="02040503050406030204" pitchFamily="18" charset="0"/>
                              </a:rPr>
                              <m:t>𝑗</m:t>
                            </m:r>
                            <m:r>
                              <a:rPr lang="en-US" altLang="zh-CN" sz="2400" b="0" i="1" smtClean="0">
                                <a:latin typeface="Cambria Math" panose="02040503050406030204" pitchFamily="18" charset="0"/>
                                <a:ea typeface="Cambria Math" panose="02040503050406030204" pitchFamily="18" charset="0"/>
                              </a:rPr>
                              <m:t>=1</m:t>
                            </m:r>
                          </m:sub>
                          <m:sup>
                            <m:r>
                              <a:rPr lang="en-US" altLang="zh-CN" sz="2400" b="0" i="1" smtClean="0">
                                <a:latin typeface="Cambria Math" panose="02040503050406030204" pitchFamily="18" charset="0"/>
                                <a:ea typeface="Cambria Math" panose="02040503050406030204" pitchFamily="18" charset="0"/>
                              </a:rPr>
                              <m:t>𝐾</m:t>
                            </m:r>
                          </m:sup>
                          <m:e>
                            <m:r>
                              <a:rPr lang="en-US" altLang="zh-CN" sz="2400" i="1">
                                <a:latin typeface="Cambria Math" panose="02040503050406030204" pitchFamily="18" charset="0"/>
                              </a:rPr>
                              <m:t>𝑝</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m:t>
                                </m:r>
                                <m:r>
                                  <a:rPr lang="en-US" altLang="zh-CN" sz="2400" i="1">
                                    <a:latin typeface="Cambria Math" panose="02040503050406030204" pitchFamily="18" charset="0"/>
                                  </a:rPr>
                                  <m:t>𝑧</m:t>
                                </m:r>
                              </m:e>
                              <m:sub>
                                <m:r>
                                  <a:rPr lang="en-US" altLang="zh-CN" sz="2400" i="1">
                                    <a:latin typeface="Cambria Math" panose="02040503050406030204" pitchFamily="18" charset="0"/>
                                  </a:rPr>
                                  <m:t>𝑖</m:t>
                                </m:r>
                                <m:r>
                                  <a:rPr lang="en-US" altLang="zh-CN" sz="2400" b="0" i="1" smtClean="0">
                                    <a:latin typeface="Cambria Math" panose="02040503050406030204" pitchFamily="18" charset="0"/>
                                  </a:rPr>
                                  <m:t>𝑗</m:t>
                                </m:r>
                              </m:sub>
                            </m:sSub>
                            <m:r>
                              <a:rPr lang="en-US" altLang="zh-CN" sz="2400" i="1">
                                <a:latin typeface="Cambria Math" panose="02040503050406030204" pitchFamily="18" charset="0"/>
                              </a:rPr>
                              <m:t>=1,</m:t>
                            </m:r>
                            <m:acc>
                              <m:accPr>
                                <m:chr m:val="⃑"/>
                                <m:ctrlPr>
                                  <a:rPr lang="en-US" altLang="zh-CN" sz="2400" i="1">
                                    <a:latin typeface="Cambria Math" panose="02040503050406030204" pitchFamily="18" charset="0"/>
                                    <a:ea typeface="Cambria Math" panose="02040503050406030204" pitchFamily="18" charset="0"/>
                                  </a:rPr>
                                </m:ctrlPr>
                              </m:accPr>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𝑥</m:t>
                                    </m:r>
                                  </m:e>
                                  <m:sub>
                                    <m:r>
                                      <a:rPr lang="en-US" altLang="zh-CN" sz="2400" i="1">
                                        <a:latin typeface="Cambria Math" panose="02040503050406030204" pitchFamily="18" charset="0"/>
                                        <a:ea typeface="Cambria Math" panose="02040503050406030204" pitchFamily="18" charset="0"/>
                                      </a:rPr>
                                      <m:t>𝑖</m:t>
                                    </m:r>
                                  </m:sub>
                                </m:sSub>
                              </m:e>
                            </m:acc>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a:rPr lang="en-US" altLang="zh-CN" sz="2400" b="0" i="1" smtClean="0">
                                    <a:latin typeface="Cambria Math" panose="02040503050406030204" pitchFamily="18" charset="0"/>
                                  </a:rPr>
                                  <m:t>𝑗</m:t>
                                </m:r>
                              </m:sub>
                            </m:sSub>
                            <m:r>
                              <a:rPr lang="en-US" altLang="zh-CN" sz="2400" i="1">
                                <a:latin typeface="Cambria Math" panose="02040503050406030204" pitchFamily="18" charset="0"/>
                              </a:rPr>
                              <m:t>,</m:t>
                            </m:r>
                            <m:sSub>
                              <m:sSubPr>
                                <m:ctrlPr>
                                  <a:rPr lang="el-GR" altLang="zh-CN" sz="2400" i="1">
                                    <a:latin typeface="Cambria Math" panose="02040503050406030204" pitchFamily="18" charset="0"/>
                                    <a:ea typeface="Cambria Math" panose="02040503050406030204" pitchFamily="18" charset="0"/>
                                  </a:rPr>
                                </m:ctrlPr>
                              </m:sSubPr>
                              <m:e>
                                <m:r>
                                  <m:rPr>
                                    <m:sty m:val="p"/>
                                  </m:rPr>
                                  <a:rPr lang="el-GR" altLang="zh-CN" sz="2400" i="1">
                                    <a:latin typeface="Cambria Math" panose="02040503050406030204" pitchFamily="18" charset="0"/>
                                    <a:ea typeface="Cambria Math" panose="02040503050406030204" pitchFamily="18" charset="0"/>
                                  </a:rPr>
                                  <m:t>Σ</m:t>
                                </m:r>
                              </m:e>
                              <m:sub>
                                <m:r>
                                  <a:rPr lang="en-US" altLang="zh-CN" sz="2400" b="0" i="1" smtClean="0">
                                    <a:latin typeface="Cambria Math" panose="02040503050406030204" pitchFamily="18" charset="0"/>
                                    <a:ea typeface="Cambria Math" panose="02040503050406030204" pitchFamily="18" charset="0"/>
                                  </a:rPr>
                                  <m:t>𝑗</m:t>
                                </m:r>
                              </m:sub>
                            </m:sSub>
                            <m:r>
                              <a:rPr lang="en-US" altLang="zh-CN" sz="2400" i="1">
                                <a:latin typeface="Cambria Math" panose="02040503050406030204" pitchFamily="18" charset="0"/>
                              </a:rPr>
                              <m:t>)</m:t>
                            </m:r>
                          </m:e>
                        </m:nary>
                      </m:den>
                    </m:f>
                  </m:oMath>
                </a14:m>
                <a:endParaRPr lang="en-US" altLang="zh-CN" sz="2400" dirty="0" smtClean="0">
                  <a:latin typeface="+mn-ea"/>
                </a:endParaRPr>
              </a:p>
              <a:p>
                <a:pPr marL="0" indent="0">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                              =</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𝛼</m:t>
                              </m:r>
                            </m:e>
                            <m:sub>
                              <m:r>
                                <a:rPr lang="en-US" altLang="zh-CN" sz="2000" b="0" i="1" smtClean="0">
                                  <a:latin typeface="Cambria Math" panose="02040503050406030204" pitchFamily="18" charset="0"/>
                                </a:rPr>
                                <m:t>𝑘</m:t>
                              </m:r>
                            </m:sub>
                          </m:sSub>
                          <m:r>
                            <a:rPr lang="en-US" altLang="zh-CN" sz="2000" i="1">
                              <a:latin typeface="Cambria Math" panose="02040503050406030204" pitchFamily="18" charset="0"/>
                              <a:ea typeface="Cambria Math" panose="02040503050406030204" pitchFamily="18" charset="0"/>
                            </a:rPr>
                            <m:t>𝑁</m:t>
                          </m:r>
                          <m:r>
                            <a:rPr lang="en-US" altLang="zh-CN" sz="2000" i="1">
                              <a:latin typeface="Cambria Math" panose="02040503050406030204" pitchFamily="18" charset="0"/>
                              <a:ea typeface="Cambria Math" panose="02040503050406030204" pitchFamily="18" charset="0"/>
                            </a:rPr>
                            <m:t>(</m:t>
                          </m:r>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acc>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i="1">
                                  <a:latin typeface="Cambria Math" panose="02040503050406030204" pitchFamily="18" charset="0"/>
                                </a:rPr>
                                <m:t>𝑘</m:t>
                              </m:r>
                            </m:sub>
                          </m:sSub>
                          <m:r>
                            <a:rPr lang="en-US" altLang="zh-CN" sz="2000" i="1">
                              <a:latin typeface="Cambria Math" panose="02040503050406030204" pitchFamily="18" charset="0"/>
                              <a:ea typeface="Cambria Math" panose="02040503050406030204" pitchFamily="18" charset="0"/>
                            </a:rPr>
                            <m:t>)</m:t>
                          </m:r>
                        </m:num>
                        <m:den>
                          <m:nary>
                            <m:naryPr>
                              <m:chr m:val="∑"/>
                              <m:limLoc m:val="subSup"/>
                              <m:ctrlPr>
                                <a:rPr lang="en-US" altLang="zh-CN" sz="2000" b="0" i="1" smtClean="0">
                                  <a:latin typeface="Cambria Math" panose="02040503050406030204" pitchFamily="18" charset="0"/>
                                </a:rPr>
                              </m:ctrlPr>
                            </m:naryPr>
                            <m:sub>
                              <m:r>
                                <m:rPr>
                                  <m:brk m:alnAt="25"/>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𝐾</m:t>
                              </m:r>
                            </m:sup>
                            <m:e>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𝛼</m:t>
                                  </m:r>
                                </m:e>
                                <m:sub>
                                  <m:r>
                                    <a:rPr lang="en-US" altLang="zh-CN" sz="2000" b="0" i="1" smtClean="0">
                                      <a:latin typeface="Cambria Math" panose="02040503050406030204" pitchFamily="18" charset="0"/>
                                    </a:rPr>
                                    <m:t>𝑙</m:t>
                                  </m:r>
                                </m:sub>
                              </m:sSub>
                              <m:r>
                                <a:rPr lang="en-US" altLang="zh-CN" sz="2000" i="1">
                                  <a:latin typeface="Cambria Math" panose="02040503050406030204" pitchFamily="18" charset="0"/>
                                  <a:ea typeface="Cambria Math" panose="02040503050406030204" pitchFamily="18" charset="0"/>
                                </a:rPr>
                                <m:t>𝑁</m:t>
                              </m:r>
                              <m:r>
                                <a:rPr lang="en-US" altLang="zh-CN" sz="2000" i="1">
                                  <a:latin typeface="Cambria Math" panose="02040503050406030204" pitchFamily="18" charset="0"/>
                                  <a:ea typeface="Cambria Math" panose="02040503050406030204" pitchFamily="18" charset="0"/>
                                </a:rPr>
                                <m:t>(</m:t>
                              </m:r>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e>
                              </m:acc>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b="0" i="1" smtClean="0">
                                      <a:latin typeface="Cambria Math" panose="02040503050406030204" pitchFamily="18" charset="0"/>
                                    </a:rPr>
                                    <m:t>𝑙</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b="0" i="1" smtClean="0">
                                      <a:latin typeface="Cambria Math" panose="02040503050406030204" pitchFamily="18" charset="0"/>
                                      <a:ea typeface="Cambria Math" panose="02040503050406030204" pitchFamily="18" charset="0"/>
                                    </a:rPr>
                                    <m:t>𝑙</m:t>
                                  </m:r>
                                </m:sub>
                              </m:sSub>
                              <m:r>
                                <a:rPr lang="en-US" altLang="zh-CN" sz="2000" i="1">
                                  <a:latin typeface="Cambria Math" panose="02040503050406030204" pitchFamily="18" charset="0"/>
                                  <a:ea typeface="Cambria Math" panose="02040503050406030204" pitchFamily="18" charset="0"/>
                                </a:rPr>
                                <m:t>)</m:t>
                              </m:r>
                            </m:e>
                          </m:nary>
                        </m:den>
                      </m:f>
                    </m:oMath>
                  </m:oMathPara>
                </a14:m>
                <a:endParaRPr lang="en-US" altLang="zh-CN" sz="2000" dirty="0">
                  <a:latin typeface="+mn-ea"/>
                </a:endParaRPr>
              </a:p>
              <a:p>
                <a:pPr marL="0" indent="0">
                  <a:buNone/>
                </a:pPr>
                <a:endParaRPr lang="en-US" altLang="zh-CN" dirty="0" smtClean="0">
                  <a:latin typeface="Cambria Math" panose="02040503050406030204" pitchFamily="18" charset="0"/>
                </a:endParaRPr>
              </a:p>
              <a:p>
                <a:pPr marL="0" indent="0">
                  <a:buNone/>
                </a:pPr>
                <a:endParaRPr lang="en-US" altLang="zh-CN" dirty="0" smtClean="0">
                  <a:latin typeface="Cambria Math" panose="020405030504060302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046602"/>
                <a:ext cx="10515600" cy="5130361"/>
              </a:xfrm>
              <a:blipFill rotWithShape="0">
                <a:blip r:embed="rId2"/>
                <a:stretch>
                  <a:fillRect l="-812" t="-1665"/>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5476875" y="1936172"/>
            <a:ext cx="4667250" cy="533400"/>
          </a:xfrm>
          <a:prstGeom prst="rect">
            <a:avLst/>
          </a:prstGeom>
        </p:spPr>
      </p:pic>
    </p:spTree>
    <p:extLst>
      <p:ext uri="{BB962C8B-B14F-4D97-AF65-F5344CB8AC3E}">
        <p14:creationId xmlns:p14="http://schemas.microsoft.com/office/powerpoint/2010/main" val="19971449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81477"/>
          </a:xfrm>
        </p:spPr>
        <p:txBody>
          <a:bodyPr>
            <a:normAutofit/>
          </a:bodyPr>
          <a:lstStyle/>
          <a:p>
            <a:r>
              <a:rPr lang="en-US" altLang="zh-CN" sz="2400" b="1" dirty="0" smtClean="0">
                <a:latin typeface="+mn-ea"/>
                <a:ea typeface="+mn-ea"/>
              </a:rPr>
              <a:t>Gaussian </a:t>
            </a:r>
            <a:r>
              <a:rPr lang="en-US" altLang="zh-CN" sz="2400" b="1" dirty="0">
                <a:latin typeface="+mn-ea"/>
                <a:ea typeface="+mn-ea"/>
              </a:rPr>
              <a:t>Mixture </a:t>
            </a:r>
            <a:r>
              <a:rPr lang="en-US" altLang="zh-CN" sz="2400" b="1" dirty="0" smtClean="0">
                <a:latin typeface="+mn-ea"/>
                <a:ea typeface="+mn-ea"/>
              </a:rPr>
              <a:t>Model</a:t>
            </a:r>
            <a:r>
              <a:rPr lang="en-US" altLang="zh-CN" sz="2400" b="1" dirty="0" smtClean="0"/>
              <a:t>-Generative </a:t>
            </a:r>
            <a:r>
              <a:rPr lang="en-US" altLang="zh-CN" sz="2400" b="1" dirty="0"/>
              <a:t>Model</a:t>
            </a:r>
            <a:endParaRPr lang="zh-CN" altLang="en-US" sz="2400" dirty="0">
              <a:latin typeface="+mn-ea"/>
              <a:ea typeface="+mn-ea"/>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046602"/>
                <a:ext cx="10515600" cy="5130361"/>
              </a:xfrm>
            </p:spPr>
            <p:txBody>
              <a:bodyPr>
                <a:normAutofit/>
              </a:bodyPr>
              <a:lstStyle/>
              <a:p>
                <a:r>
                  <a:rPr lang="en-US" altLang="zh-CN" sz="2400" dirty="0" smtClean="0">
                    <a:latin typeface="+mn-ea"/>
                  </a:rPr>
                  <a:t>M-Step:</a:t>
                </a:r>
              </a:p>
              <a:p>
                <a14:m>
                  <m:oMath xmlns:m="http://schemas.openxmlformats.org/officeDocument/2006/math">
                    <m:r>
                      <m:rPr>
                        <m:nor/>
                      </m:rPr>
                      <a:rPr lang="en-US" altLang="zh-CN" sz="2400" dirty="0"/>
                      <m:t>B</m:t>
                    </m:r>
                    <m:r>
                      <m:rPr>
                        <m:nor/>
                      </m:rPr>
                      <a:rPr lang="en-US" altLang="zh-CN" sz="2400" dirty="0"/>
                      <m:t>(</m:t>
                    </m:r>
                    <m:r>
                      <m:rPr>
                        <m:sty m:val="p"/>
                      </m:rPr>
                      <a:rPr lang="el-GR" altLang="zh-CN" sz="2400" i="1" dirty="0">
                        <a:latin typeface="Cambria Math" panose="02040503050406030204" pitchFamily="18" charset="0"/>
                        <a:ea typeface="Cambria Math" panose="02040503050406030204" pitchFamily="18" charset="0"/>
                      </a:rPr>
                      <m:t>Θ</m:t>
                    </m:r>
                    <m:r>
                      <m:rPr>
                        <m:nor/>
                      </m:rPr>
                      <a:rPr lang="en-US" altLang="zh-CN" sz="2400" dirty="0"/>
                      <m:t>)</m:t>
                    </m:r>
                    <m:r>
                      <a:rPr lang="en-US" altLang="zh-CN" sz="2400" i="1" dirty="0">
                        <a:latin typeface="Cambria Math" panose="02040503050406030204" pitchFamily="18" charset="0"/>
                      </a:rPr>
                      <m:t>=</m:t>
                    </m:r>
                    <m:sSup>
                      <m:sSupPr>
                        <m:ctrlPr>
                          <a:rPr lang="en-US" altLang="zh-CN" sz="2000" i="1" dirty="0">
                            <a:latin typeface="Cambria Math" panose="02040503050406030204" pitchFamily="18" charset="0"/>
                          </a:rPr>
                        </m:ctrlPr>
                      </m:sSupPr>
                      <m:e>
                        <m:r>
                          <a:rPr lang="en-US" altLang="zh-CN" sz="2000" i="1" dirty="0">
                            <a:latin typeface="Cambria Math" panose="02040503050406030204" pitchFamily="18" charset="0"/>
                          </a:rPr>
                          <m:t>𝐸</m:t>
                        </m:r>
                      </m:e>
                      <m:sup>
                        <m:r>
                          <a:rPr lang="en-US" altLang="zh-CN" sz="2000" i="1" dirty="0">
                            <a:latin typeface="Cambria Math" panose="02040503050406030204" pitchFamily="18" charset="0"/>
                          </a:rPr>
                          <m:t>𝑍</m:t>
                        </m:r>
                        <m:r>
                          <a:rPr lang="en-US" altLang="zh-CN" sz="2000" i="1" dirty="0">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r>
                          <a:rPr lang="en-US" altLang="zh-CN" sz="2000" i="1">
                            <a:latin typeface="Cambria Math" panose="02040503050406030204" pitchFamily="18" charset="0"/>
                          </a:rPr>
                          <m:t>;</m:t>
                        </m:r>
                        <m:r>
                          <m:rPr>
                            <m:sty m:val="p"/>
                          </m:rPr>
                          <a:rPr lang="el-GR" altLang="zh-CN" sz="2000">
                            <a:latin typeface="Cambria Math" panose="02040503050406030204" pitchFamily="18" charset="0"/>
                            <a:ea typeface="Cambria Math" panose="02040503050406030204" pitchFamily="18" charset="0"/>
                          </a:rPr>
                          <m:t>Θ</m:t>
                        </m:r>
                      </m:sup>
                    </m:sSup>
                    <m:r>
                      <a:rPr lang="en-US" altLang="zh-CN" sz="2000" i="1" dirty="0">
                        <a:latin typeface="Cambria Math" panose="02040503050406030204" pitchFamily="18" charset="0"/>
                      </a:rPr>
                      <m:t>(</m:t>
                    </m:r>
                    <m:r>
                      <m:rPr>
                        <m:sty m:val="p"/>
                      </m:rPr>
                      <a:rPr lang="en-US" altLang="zh-CN" sz="2000" dirty="0">
                        <a:latin typeface="Cambria Math" panose="02040503050406030204" pitchFamily="18" charset="0"/>
                      </a:rPr>
                      <m:t>l</m:t>
                    </m:r>
                    <m:d>
                      <m:dPr>
                        <m:ctrlPr>
                          <a:rPr lang="en-US" altLang="zh-CN" sz="2000" i="1" dirty="0">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r>
                          <a:rPr lang="en-US" altLang="zh-CN" sz="2000" i="1">
                            <a:latin typeface="Cambria Math" panose="02040503050406030204" pitchFamily="18" charset="0"/>
                          </a:rPr>
                          <m:t>,</m:t>
                        </m:r>
                        <m:r>
                          <a:rPr lang="en-US" altLang="zh-CN" sz="2000" i="1">
                            <a:latin typeface="Cambria Math" panose="02040503050406030204" pitchFamily="18" charset="0"/>
                          </a:rPr>
                          <m:t>𝑍</m:t>
                        </m:r>
                        <m:r>
                          <a:rPr lang="en-US" altLang="zh-CN" sz="2000" i="1">
                            <a:latin typeface="Cambria Math" panose="02040503050406030204" pitchFamily="18" charset="0"/>
                          </a:rPr>
                          <m:t>;</m:t>
                        </m:r>
                        <m:r>
                          <m:rPr>
                            <m:sty m:val="p"/>
                          </m:rPr>
                          <a:rPr lang="el-GR" altLang="zh-CN" sz="2000" i="1">
                            <a:latin typeface="Cambria Math" panose="02040503050406030204" pitchFamily="18" charset="0"/>
                            <a:ea typeface="Cambria Math" panose="02040503050406030204" pitchFamily="18" charset="0"/>
                          </a:rPr>
                          <m:t>Θ</m:t>
                        </m:r>
                      </m:e>
                    </m:d>
                    <m:r>
                      <a:rPr lang="en-US" altLang="zh-CN" sz="2000" i="1">
                        <a:latin typeface="Cambria Math" panose="02040503050406030204" pitchFamily="18" charset="0"/>
                        <a:ea typeface="Cambria Math" panose="02040503050406030204" pitchFamily="18" charset="0"/>
                      </a:rPr>
                      <m:t>)</m:t>
                    </m:r>
                  </m:oMath>
                </a14:m>
                <a:endParaRPr lang="en-US" altLang="zh-CN" sz="2400" dirty="0">
                  <a:latin typeface="+mn-ea"/>
                </a:endParaRPr>
              </a:p>
              <a:p>
                <a:pPr marL="914400" lvl="2" indent="0">
                  <a:buNone/>
                </a:pPr>
                <a:r>
                  <a:rPr lang="en-US" altLang="zh-CN" dirty="0"/>
                  <a:t>=</a:t>
                </a:r>
                <a14:m>
                  <m:oMath xmlns:m="http://schemas.openxmlformats.org/officeDocument/2006/math">
                    <m:nary>
                      <m:naryPr>
                        <m:chr m:val="∑"/>
                        <m:limLoc m:val="subSup"/>
                        <m:ctrlPr>
                          <a:rPr lang="en-US" altLang="zh-CN" i="1">
                            <a:latin typeface="Cambria Math" panose="02040503050406030204" pitchFamily="18" charset="0"/>
                          </a:rPr>
                        </m:ctrlPr>
                      </m:naryPr>
                      <m:sub>
                        <m:r>
                          <m:rPr>
                            <m:brk m:alnAt="25"/>
                          </m:rP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𝑛</m:t>
                        </m:r>
                      </m:sup>
                      <m:e>
                        <m:nary>
                          <m:naryPr>
                            <m:chr m:val="∑"/>
                            <m:limLoc m:val="subSup"/>
                            <m:ctrlPr>
                              <a:rPr lang="en-US" altLang="zh-CN" i="1">
                                <a:latin typeface="Cambria Math" panose="02040503050406030204" pitchFamily="18" charset="0"/>
                              </a:rPr>
                            </m:ctrlPr>
                          </m:naryPr>
                          <m:sub>
                            <m:r>
                              <m:rPr>
                                <m:brk m:alnAt="25"/>
                              </m:rP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i="1">
                                <a:latin typeface="Cambria Math" panose="02040503050406030204" pitchFamily="18" charset="0"/>
                              </a:rPr>
                              <m:t>𝐾</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𝐸</m:t>
                                </m:r>
                                <m:r>
                                  <a:rPr lang="en-US" altLang="zh-CN" i="1">
                                    <a:latin typeface="Cambria Math" panose="02040503050406030204" pitchFamily="18" charset="0"/>
                                  </a:rPr>
                                  <m:t>(</m:t>
                                </m:r>
                                <m:r>
                                  <a:rPr lang="en-US" altLang="zh-CN" i="1">
                                    <a:latin typeface="Cambria Math" panose="02040503050406030204" pitchFamily="18" charset="0"/>
                                  </a:rPr>
                                  <m:t>𝑧</m:t>
                                </m:r>
                              </m:e>
                              <m:sub>
                                <m:r>
                                  <a:rPr lang="en-US" altLang="zh-CN" i="1">
                                    <a:latin typeface="Cambria Math" panose="02040503050406030204" pitchFamily="18" charset="0"/>
                                  </a:rPr>
                                  <m:t>𝑖𝑘</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𝑝</m:t>
                                </m:r>
                              </m:num>
                              <m:den>
                                <m:r>
                                  <a:rPr lang="en-US" altLang="zh-CN" i="1">
                                    <a:latin typeface="Cambria Math" panose="02040503050406030204" pitchFamily="18" charset="0"/>
                                  </a:rPr>
                                  <m:t>2</m:t>
                                </m:r>
                              </m:den>
                            </m:f>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zh-CN" altLang="en-US" i="1">
                                        <a:latin typeface="Cambria Math" panose="02040503050406030204" pitchFamily="18" charset="0"/>
                                      </a:rPr>
                                      <m:t>𝜋</m:t>
                                    </m:r>
                                  </m:e>
                                </m:d>
                              </m:e>
                            </m:func>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log</m:t>
                                </m:r>
                              </m:fName>
                              <m:e>
                                <m:d>
                                  <m:dPr>
                                    <m:begChr m:val="|"/>
                                    <m:endChr m:val="|"/>
                                    <m:ctrlPr>
                                      <a:rPr lang="en-US" altLang="zh-CN" i="1">
                                        <a:latin typeface="Cambria Math" panose="02040503050406030204" pitchFamily="18" charset="0"/>
                                      </a:rPr>
                                    </m:ctrlPr>
                                  </m:dPr>
                                  <m:e>
                                    <m:sSub>
                                      <m:sSubPr>
                                        <m:ctrlPr>
                                          <a:rPr lang="el-GR" altLang="zh-CN" i="1">
                                            <a:latin typeface="Cambria Math" panose="02040503050406030204" pitchFamily="18" charset="0"/>
                                            <a:ea typeface="Cambria Math" panose="02040503050406030204" pitchFamily="18" charset="0"/>
                                          </a:rPr>
                                        </m:ctrlPr>
                                      </m:sSubPr>
                                      <m:e>
                                        <m:r>
                                          <m:rPr>
                                            <m:sty m:val="p"/>
                                          </m:rPr>
                                          <a:rPr lang="el-GR" altLang="zh-CN" i="1">
                                            <a:latin typeface="Cambria Math" panose="02040503050406030204" pitchFamily="18" charset="0"/>
                                            <a:ea typeface="Cambria Math" panose="02040503050406030204" pitchFamily="18" charset="0"/>
                                          </a:rPr>
                                          <m:t>Σ</m:t>
                                        </m:r>
                                      </m:e>
                                      <m:sub>
                                        <m:r>
                                          <a:rPr lang="en-US" altLang="zh-CN" i="1">
                                            <a:latin typeface="Cambria Math" panose="02040503050406030204" pitchFamily="18" charset="0"/>
                                            <a:ea typeface="Cambria Math" panose="02040503050406030204" pitchFamily="18" charset="0"/>
                                          </a:rPr>
                                          <m:t>𝑘</m:t>
                                        </m:r>
                                      </m:sub>
                                    </m:sSub>
                                  </m:e>
                                </m:d>
                              </m:e>
                            </m:func>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r>
                                  <a:rPr lang="en-US" altLang="zh-CN" i="1">
                                    <a:latin typeface="Cambria Math" panose="02040503050406030204" pitchFamily="18" charset="0"/>
                                    <a:ea typeface="Cambria Math" panose="02040503050406030204" pitchFamily="18" charset="0"/>
                                  </a:rPr>
                                  <m:t>2</m:t>
                                </m:r>
                              </m:den>
                            </m:f>
                            <m:sSup>
                              <m:sSupPr>
                                <m:ctrlPr>
                                  <a:rPr lang="en-US" altLang="zh-CN" i="1">
                                    <a:latin typeface="Cambria Math" panose="02040503050406030204" pitchFamily="18" charset="0"/>
                                    <a:ea typeface="Cambria Math" panose="02040503050406030204" pitchFamily="18" charset="0"/>
                                  </a:rPr>
                                </m:ctrlPr>
                              </m:sSupPr>
                              <m:e>
                                <m:d>
                                  <m:dPr>
                                    <m:ctrlPr>
                                      <a:rPr lang="en-US" altLang="zh-CN" i="1">
                                        <a:latin typeface="Cambria Math" panose="02040503050406030204" pitchFamily="18" charset="0"/>
                                        <a:ea typeface="Cambria Math" panose="02040503050406030204" pitchFamily="18" charset="0"/>
                                      </a:rPr>
                                    </m:ctrlPr>
                                  </m:dPr>
                                  <m:e>
                                    <m:acc>
                                      <m:accPr>
                                        <m:chr m:val="⃑"/>
                                        <m:ctrlPr>
                                          <a:rPr lang="en-US" altLang="zh-CN" i="1">
                                            <a:latin typeface="Cambria Math" panose="02040503050406030204" pitchFamily="18" charset="0"/>
                                            <a:ea typeface="Cambria Math" panose="02040503050406030204" pitchFamily="18" charset="0"/>
                                          </a:rPr>
                                        </m:ctrlPr>
                                      </m:acc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𝑥</m:t>
                                            </m:r>
                                          </m:e>
                                          <m:sub>
                                            <m:r>
                                              <a:rPr lang="en-US" altLang="zh-CN" i="1">
                                                <a:latin typeface="Cambria Math" panose="02040503050406030204" pitchFamily="18" charset="0"/>
                                                <a:ea typeface="Cambria Math" panose="02040503050406030204" pitchFamily="18" charset="0"/>
                                              </a:rPr>
                                              <m:t>𝑖</m:t>
                                            </m:r>
                                          </m:sub>
                                        </m:sSub>
                                      </m:e>
                                    </m:acc>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𝑘</m:t>
                                        </m:r>
                                      </m:sub>
                                    </m:sSub>
                                  </m:e>
                                </m:d>
                              </m:e>
                              <m:sup>
                                <m:r>
                                  <a:rPr lang="en-US" altLang="zh-CN" i="1">
                                    <a:latin typeface="Cambria Math" panose="02040503050406030204" pitchFamily="18" charset="0"/>
                                    <a:ea typeface="Cambria Math" panose="02040503050406030204" pitchFamily="18" charset="0"/>
                                  </a:rPr>
                                  <m:t>′</m:t>
                                </m:r>
                              </m:sup>
                            </m:sSup>
                            <m:sSup>
                              <m:sSupPr>
                                <m:ctrlPr>
                                  <a:rPr lang="en-US" altLang="zh-CN" i="1">
                                    <a:latin typeface="Cambria Math" panose="02040503050406030204" pitchFamily="18" charset="0"/>
                                    <a:ea typeface="Cambria Math" panose="02040503050406030204" pitchFamily="18" charset="0"/>
                                  </a:rPr>
                                </m:ctrlPr>
                              </m:sSupPr>
                              <m:e>
                                <m:sSub>
                                  <m:sSubPr>
                                    <m:ctrlPr>
                                      <a:rPr lang="en-US" altLang="zh-CN" i="1">
                                        <a:latin typeface="Cambria Math" panose="02040503050406030204" pitchFamily="18" charset="0"/>
                                      </a:rPr>
                                    </m:ctrlPr>
                                  </m:sSubPr>
                                  <m:e>
                                    <m:r>
                                      <m:rPr>
                                        <m:sty m:val="p"/>
                                      </m:rPr>
                                      <a:rPr lang="el-GR" altLang="zh-CN" i="1">
                                        <a:latin typeface="Cambria Math" panose="02040503050406030204" pitchFamily="18" charset="0"/>
                                        <a:ea typeface="Cambria Math" panose="02040503050406030204" pitchFamily="18" charset="0"/>
                                      </a:rPr>
                                      <m:t>Σ</m:t>
                                    </m:r>
                                  </m:e>
                                  <m:sub>
                                    <m:r>
                                      <a:rPr lang="en-US" altLang="zh-CN" i="1">
                                        <a:latin typeface="Cambria Math" panose="02040503050406030204" pitchFamily="18" charset="0"/>
                                      </a:rPr>
                                      <m:t>𝑘</m:t>
                                    </m:r>
                                  </m:sub>
                                </m:sSub>
                              </m:e>
                              <m:sup>
                                <m:r>
                                  <a:rPr lang="en-US" altLang="zh-CN" i="1">
                                    <a:latin typeface="Cambria Math" panose="02040503050406030204" pitchFamily="18" charset="0"/>
                                    <a:ea typeface="Cambria Math" panose="02040503050406030204" pitchFamily="18" charset="0"/>
                                  </a:rPr>
                                  <m:t>−1</m:t>
                                </m:r>
                              </m:sup>
                            </m:sSup>
                            <m:d>
                              <m:dPr>
                                <m:ctrlPr>
                                  <a:rPr lang="en-US" altLang="zh-CN" i="1">
                                    <a:latin typeface="Cambria Math" panose="02040503050406030204" pitchFamily="18" charset="0"/>
                                    <a:ea typeface="Cambria Math" panose="02040503050406030204" pitchFamily="18" charset="0"/>
                                  </a:rPr>
                                </m:ctrlPr>
                              </m:dPr>
                              <m:e>
                                <m:acc>
                                  <m:accPr>
                                    <m:chr m:val="⃑"/>
                                    <m:ctrlPr>
                                      <a:rPr lang="en-US" altLang="zh-CN" i="1">
                                        <a:latin typeface="Cambria Math" panose="02040503050406030204" pitchFamily="18" charset="0"/>
                                        <a:ea typeface="Cambria Math" panose="02040503050406030204" pitchFamily="18" charset="0"/>
                                      </a:rPr>
                                    </m:ctrlPr>
                                  </m:acc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𝑥</m:t>
                                        </m:r>
                                      </m:e>
                                      <m:sub>
                                        <m:r>
                                          <a:rPr lang="en-US" altLang="zh-CN" i="1">
                                            <a:latin typeface="Cambria Math" panose="02040503050406030204" pitchFamily="18" charset="0"/>
                                            <a:ea typeface="Cambria Math" panose="02040503050406030204" pitchFamily="18" charset="0"/>
                                          </a:rPr>
                                          <m:t>𝑖</m:t>
                                        </m:r>
                                      </m:sub>
                                    </m:sSub>
                                  </m:e>
                                </m:acc>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a:rPr lang="en-US" altLang="zh-CN" i="1">
                                        <a:latin typeface="Cambria Math" panose="02040503050406030204" pitchFamily="18" charset="0"/>
                                      </a:rPr>
                                      <m:t>𝑘</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𝑙𝑜𝑔</m:t>
                                </m:r>
                                <m:r>
                                  <a:rPr lang="zh-CN" altLang="en-US" i="1">
                                    <a:latin typeface="Cambria Math" panose="02040503050406030204" pitchFamily="18" charset="0"/>
                                  </a:rPr>
                                  <m:t>𝛼</m:t>
                                </m:r>
                              </m:e>
                              <m:sub>
                                <m:r>
                                  <a:rPr lang="en-US" altLang="zh-CN" i="1">
                                    <a:latin typeface="Cambria Math" panose="02040503050406030204" pitchFamily="18" charset="0"/>
                                  </a:rPr>
                                  <m:t>𝑘</m:t>
                                </m:r>
                              </m:sub>
                            </m:sSub>
                            <m:r>
                              <a:rPr lang="en-US" altLang="zh-CN" i="1">
                                <a:latin typeface="Cambria Math" panose="02040503050406030204" pitchFamily="18" charset="0"/>
                              </a:rPr>
                              <m:t>}</m:t>
                            </m:r>
                          </m:e>
                        </m:nary>
                      </m:e>
                    </m:nary>
                  </m:oMath>
                </a14:m>
                <a:endParaRPr lang="en-US" altLang="zh-CN" sz="2400" dirty="0" smtClean="0">
                  <a:latin typeface="+mn-ea"/>
                </a:endParaRPr>
              </a:p>
              <a:p>
                <a:r>
                  <a:rPr lang="zh-CN" altLang="en-US" sz="2400" dirty="0" smtClean="0">
                    <a:latin typeface="+mn-ea"/>
                  </a:rPr>
                  <a:t>构造拉格朗日函数</a:t>
                </a:r>
                <a:endParaRPr lang="en-US" altLang="zh-CN" sz="2400" dirty="0" smtClean="0">
                  <a:latin typeface="+mn-ea"/>
                </a:endParaRPr>
              </a:p>
              <a:p>
                <a14:m>
                  <m:oMath xmlns:m="http://schemas.openxmlformats.org/officeDocument/2006/math">
                    <m:r>
                      <m:rPr>
                        <m:sty m:val="p"/>
                      </m:rPr>
                      <a:rPr lang="en-US" altLang="zh-CN" sz="2000" dirty="0">
                        <a:latin typeface="Cambria Math" panose="02040503050406030204" pitchFamily="18" charset="0"/>
                      </a:rPr>
                      <m:t>B</m:t>
                    </m:r>
                    <m:r>
                      <a:rPr lang="en-US" altLang="zh-CN" sz="2000" b="0" i="0" dirty="0" smtClean="0">
                        <a:latin typeface="Cambria Math" panose="02040503050406030204" pitchFamily="18" charset="0"/>
                      </a:rPr>
                      <m:t>=</m:t>
                    </m:r>
                    <m:nary>
                      <m:naryPr>
                        <m:chr m:val="∑"/>
                        <m:limLoc m:val="subSup"/>
                        <m:ctrlPr>
                          <a:rPr lang="en-US" altLang="zh-CN" sz="2000" i="1">
                            <a:latin typeface="Cambria Math" panose="02040503050406030204" pitchFamily="18" charset="0"/>
                          </a:rPr>
                        </m:ctrlPr>
                      </m:naryPr>
                      <m:sub>
                        <m:r>
                          <m:rPr>
                            <m:brk m:alnAt="25"/>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𝑛</m:t>
                        </m:r>
                      </m:sup>
                      <m:e>
                        <m:nary>
                          <m:naryPr>
                            <m:chr m:val="∑"/>
                            <m:limLoc m:val="subSup"/>
                            <m:ctrlPr>
                              <a:rPr lang="en-US" altLang="zh-CN" sz="2000" i="1">
                                <a:latin typeface="Cambria Math" panose="02040503050406030204" pitchFamily="18" charset="0"/>
                              </a:rPr>
                            </m:ctrlPr>
                          </m:naryPr>
                          <m:sub>
                            <m:r>
                              <m:rPr>
                                <m:brk m:alnAt="25"/>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𝐸</m:t>
                                </m:r>
                                <m:r>
                                  <a:rPr lang="en-US" altLang="zh-CN" sz="2000" i="1">
                                    <a:latin typeface="Cambria Math" panose="02040503050406030204" pitchFamily="18" charset="0"/>
                                  </a:rPr>
                                  <m:t>(</m:t>
                                </m:r>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m:t>
                            </m:r>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func>
                                  <m:funcPr>
                                    <m:ctrlPr>
                                      <a:rPr lang="en-US" altLang="zh-CN" sz="2000" i="1">
                                        <a:latin typeface="Cambria Math" panose="02040503050406030204" pitchFamily="18" charset="0"/>
                                      </a:rPr>
                                    </m:ctrlPr>
                                  </m:funcPr>
                                  <m:fName>
                                    <m:r>
                                      <m:rPr>
                                        <m:sty m:val="p"/>
                                      </m:rPr>
                                      <a:rPr lang="en-US" altLang="zh-CN" sz="2000">
                                        <a:latin typeface="Cambria Math" panose="02040503050406030204" pitchFamily="18" charset="0"/>
                                      </a:rPr>
                                      <m:t>log</m:t>
                                    </m:r>
                                  </m:fName>
                                  <m:e>
                                    <m:d>
                                      <m:dPr>
                                        <m:begChr m:val="|"/>
                                        <m:endChr m:val="|"/>
                                        <m:ctrlPr>
                                          <a:rPr lang="en-US" altLang="zh-CN" sz="2000" i="1">
                                            <a:latin typeface="Cambria Math" panose="02040503050406030204" pitchFamily="18" charset="0"/>
                                          </a:rPr>
                                        </m:ctrlPr>
                                      </m:dPr>
                                      <m:e>
                                        <m:sSub>
                                          <m:sSubPr>
                                            <m:ctrlPr>
                                              <a:rPr lang="el-GR" altLang="zh-CN" sz="2000" i="1">
                                                <a:latin typeface="Cambria Math" panose="02040503050406030204" pitchFamily="18" charset="0"/>
                                                <a:ea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i="1">
                                                <a:latin typeface="Cambria Math" panose="02040503050406030204" pitchFamily="18" charset="0"/>
                                                <a:ea typeface="Cambria Math" panose="02040503050406030204" pitchFamily="18" charset="0"/>
                                              </a:rPr>
                                              <m:t>𝑘</m:t>
                                            </m:r>
                                          </m:sub>
                                        </m:sSub>
                                      </m:e>
                                    </m:d>
                                  </m:e>
                                </m:func>
                                <m:r>
                                  <a:rPr lang="en-US" altLang="zh-CN" sz="2000" i="1">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1</m:t>
                                    </m:r>
                                  </m:num>
                                  <m:den>
                                    <m:r>
                                      <a:rPr lang="en-US" altLang="zh-CN" sz="2000" i="1">
                                        <a:latin typeface="Cambria Math" panose="02040503050406030204" pitchFamily="18" charset="0"/>
                                        <a:ea typeface="Cambria Math" panose="02040503050406030204" pitchFamily="18" charset="0"/>
                                      </a:rPr>
                                      <m:t>2</m:t>
                                    </m:r>
                                  </m:den>
                                </m:f>
                                <m:sSup>
                                  <m:sSupPr>
                                    <m:ctrlPr>
                                      <a:rPr lang="en-US" altLang="zh-CN" sz="2000" i="1">
                                        <a:latin typeface="Cambria Math" panose="02040503050406030204" pitchFamily="18" charset="0"/>
                                        <a:ea typeface="Cambria Math" panose="02040503050406030204" pitchFamily="18" charset="0"/>
                                      </a:rPr>
                                    </m:ctrlPr>
                                  </m:sSupPr>
                                  <m:e>
                                    <m:d>
                                      <m:dPr>
                                        <m:ctrlPr>
                                          <a:rPr lang="en-US" altLang="zh-CN" sz="2000" i="1">
                                            <a:latin typeface="Cambria Math" panose="02040503050406030204" pitchFamily="18" charset="0"/>
                                            <a:ea typeface="Cambria Math" panose="02040503050406030204" pitchFamily="18" charset="0"/>
                                          </a:rPr>
                                        </m:ctrlPr>
                                      </m:dPr>
                                      <m:e>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𝑥</m:t>
                                                </m:r>
                                              </m:e>
                                              <m:sub>
                                                <m:r>
                                                  <a:rPr lang="en-US" altLang="zh-CN" sz="2000" i="1">
                                                    <a:latin typeface="Cambria Math" panose="02040503050406030204" pitchFamily="18" charset="0"/>
                                                    <a:ea typeface="Cambria Math" panose="02040503050406030204" pitchFamily="18" charset="0"/>
                                                  </a:rPr>
                                                  <m:t>𝑖</m:t>
                                                </m:r>
                                              </m:sub>
                                            </m:sSub>
                                          </m:e>
                                        </m:acc>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e>
                                    </m:d>
                                  </m:e>
                                  <m:sup>
                                    <m:r>
                                      <a:rPr lang="en-US" altLang="zh-CN" sz="2000" i="1">
                                        <a:latin typeface="Cambria Math" panose="02040503050406030204" pitchFamily="18" charset="0"/>
                                        <a:ea typeface="Cambria Math" panose="02040503050406030204" pitchFamily="18" charset="0"/>
                                      </a:rPr>
                                      <m:t>′</m:t>
                                    </m:r>
                                  </m:sup>
                                </m:sSup>
                                <m:sSup>
                                  <m:sSupPr>
                                    <m:ctrlPr>
                                      <a:rPr lang="en-US" altLang="zh-CN" sz="2000" i="1">
                                        <a:latin typeface="Cambria Math" panose="02040503050406030204" pitchFamily="18" charset="0"/>
                                        <a:ea typeface="Cambria Math" panose="02040503050406030204" pitchFamily="18" charset="0"/>
                                      </a:rPr>
                                    </m:ctrlPr>
                                  </m:sSupPr>
                                  <m:e>
                                    <m:sSub>
                                      <m:sSubPr>
                                        <m:ctrlPr>
                                          <a:rPr lang="en-US" altLang="zh-CN" sz="2000" i="1">
                                            <a:latin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i="1">
                                            <a:latin typeface="Cambria Math" panose="02040503050406030204" pitchFamily="18" charset="0"/>
                                          </a:rPr>
                                          <m:t>𝑘</m:t>
                                        </m:r>
                                      </m:sub>
                                    </m:sSub>
                                  </m:e>
                                  <m:sup>
                                    <m:r>
                                      <a:rPr lang="en-US" altLang="zh-CN" sz="2000" i="1">
                                        <a:latin typeface="Cambria Math" panose="02040503050406030204" pitchFamily="18" charset="0"/>
                                        <a:ea typeface="Cambria Math" panose="02040503050406030204" pitchFamily="18" charset="0"/>
                                      </a:rPr>
                                      <m:t>−1</m:t>
                                    </m:r>
                                  </m:sup>
                                </m:sSup>
                                <m:d>
                                  <m:dPr>
                                    <m:ctrlPr>
                                      <a:rPr lang="en-US" altLang="zh-CN" sz="2000" i="1">
                                        <a:latin typeface="Cambria Math" panose="02040503050406030204" pitchFamily="18" charset="0"/>
                                        <a:ea typeface="Cambria Math" panose="02040503050406030204" pitchFamily="18" charset="0"/>
                                      </a:rPr>
                                    </m:ctrlPr>
                                  </m:dPr>
                                  <m:e>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𝑥</m:t>
                                            </m:r>
                                          </m:e>
                                          <m:sub>
                                            <m:r>
                                              <a:rPr lang="en-US" altLang="zh-CN" sz="2000" i="1">
                                                <a:latin typeface="Cambria Math" panose="02040503050406030204" pitchFamily="18" charset="0"/>
                                                <a:ea typeface="Cambria Math" panose="02040503050406030204" pitchFamily="18" charset="0"/>
                                              </a:rPr>
                                              <m:t>𝑖</m:t>
                                            </m:r>
                                          </m:sub>
                                        </m:sSub>
                                      </m:e>
                                    </m:acc>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e>
                                </m:d>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𝑙𝑜𝑔</m:t>
                                    </m:r>
                                    <m:r>
                                      <a:rPr lang="zh-CN" altLang="en-US" sz="2000" i="1">
                                        <a:latin typeface="Cambria Math" panose="02040503050406030204" pitchFamily="18" charset="0"/>
                                      </a:rPr>
                                      <m:t>𝛼</m:t>
                                    </m:r>
                                  </m:e>
                                  <m:sub>
                                    <m:r>
                                      <a:rPr lang="en-US" altLang="zh-CN" sz="2000" i="1">
                                        <a:latin typeface="Cambria Math" panose="02040503050406030204" pitchFamily="18" charset="0"/>
                                      </a:rPr>
                                      <m:t>𝑘</m:t>
                                    </m:r>
                                  </m:sub>
                                </m:sSub>
                              </m:e>
                            </m:d>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𝜆</m:t>
                            </m:r>
                            <m:r>
                              <a:rPr lang="en-US" altLang="zh-CN" sz="2000" b="0" i="1" smtClean="0">
                                <a:latin typeface="Cambria Math" panose="02040503050406030204" pitchFamily="18" charset="0"/>
                              </a:rPr>
                              <m:t>(</m:t>
                            </m:r>
                            <m:nary>
                              <m:naryPr>
                                <m:chr m:val="∑"/>
                                <m:limLoc m:val="subSup"/>
                                <m:ctrlPr>
                                  <a:rPr lang="zh-CN" altLang="en-US" sz="2000" b="0" i="1" smtClean="0">
                                    <a:latin typeface="Cambria Math" panose="02040503050406030204" pitchFamily="18" charset="0"/>
                                  </a:rPr>
                                </m:ctrlPr>
                              </m:naryPr>
                              <m:sub>
                                <m:r>
                                  <m:rPr>
                                    <m:brk m:alnAt="25"/>
                                  </m:rP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𝐾</m:t>
                                </m:r>
                              </m:sup>
                              <m:e>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𝛼</m:t>
                                    </m:r>
                                  </m:e>
                                  <m:sub>
                                    <m:r>
                                      <a:rPr lang="en-US" altLang="zh-CN" sz="2000" i="1">
                                        <a:latin typeface="Cambria Math" panose="02040503050406030204" pitchFamily="18" charset="0"/>
                                      </a:rPr>
                                      <m:t>𝑘</m:t>
                                    </m:r>
                                  </m:sub>
                                </m:sSub>
                                <m:r>
                                  <a:rPr lang="en-US" altLang="zh-CN" sz="2000" b="0" i="1" smtClean="0">
                                    <a:latin typeface="Cambria Math" panose="02040503050406030204" pitchFamily="18" charset="0"/>
                                  </a:rPr>
                                  <m:t>−1)</m:t>
                                </m:r>
                              </m:e>
                            </m:nary>
                          </m:e>
                        </m:nary>
                      </m:e>
                    </m:nary>
                  </m:oMath>
                </a14:m>
                <a:endParaRPr lang="en-US" altLang="zh-CN" sz="2000" dirty="0" smtClean="0">
                  <a:latin typeface="+mn-ea"/>
                </a:endParaRPr>
              </a:p>
              <a:p>
                <a:r>
                  <a:rPr lang="zh-CN" altLang="en-US" sz="2400" dirty="0">
                    <a:latin typeface="+mn-ea"/>
                  </a:rPr>
                  <a:t>对</a:t>
                </a:r>
                <a14:m>
                  <m:oMath xmlns:m="http://schemas.openxmlformats.org/officeDocument/2006/math">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𝛼</m:t>
                        </m:r>
                      </m:e>
                      <m:sub>
                        <m:r>
                          <a:rPr lang="en-US" altLang="zh-CN" sz="2400" i="1">
                            <a:latin typeface="Cambria Math" panose="02040503050406030204" pitchFamily="18" charset="0"/>
                          </a:rPr>
                          <m:t>𝑘</m:t>
                        </m:r>
                      </m:sub>
                    </m:sSub>
                  </m:oMath>
                </a14:m>
                <a:r>
                  <a:rPr lang="zh-CN" altLang="en-US" sz="2400" dirty="0" smtClean="0">
                    <a:latin typeface="+mn-ea"/>
                  </a:rPr>
                  <a:t>求导，得</a:t>
                </a:r>
                <a:endParaRPr lang="en-US" altLang="zh-CN" sz="2400" dirty="0" smtClean="0">
                  <a:latin typeface="+mn-ea"/>
                </a:endParaRPr>
              </a:p>
              <a:p>
                <a14:m>
                  <m:oMath xmlns:m="http://schemas.openxmlformats.org/officeDocument/2006/math">
                    <m:nary>
                      <m:naryPr>
                        <m:chr m:val="∑"/>
                        <m:limLoc m:val="subSup"/>
                        <m:ctrlPr>
                          <a:rPr lang="en-US" altLang="zh-CN" sz="2000" i="1" smtClean="0">
                            <a:latin typeface="Cambria Math" panose="02040503050406030204" pitchFamily="18" charset="0"/>
                          </a:rPr>
                        </m:ctrlPr>
                      </m:naryPr>
                      <m:sub>
                        <m:r>
                          <m:rPr>
                            <m:brk m:alnAt="25"/>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𝐸</m:t>
                            </m:r>
                            <m:r>
                              <a:rPr lang="en-US" altLang="zh-CN" sz="2000" i="1">
                                <a:latin typeface="Cambria Math" panose="02040503050406030204" pitchFamily="18" charset="0"/>
                              </a:rPr>
                              <m:t>(</m:t>
                            </m:r>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𝜆</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𝛼</m:t>
                            </m:r>
                          </m:e>
                          <m:sub>
                            <m:r>
                              <a:rPr lang="en-US" altLang="zh-CN" sz="2000" i="1">
                                <a:latin typeface="Cambria Math" panose="02040503050406030204" pitchFamily="18" charset="0"/>
                              </a:rPr>
                              <m:t>𝑘</m:t>
                            </m:r>
                          </m:sub>
                        </m:sSub>
                      </m:e>
                    </m:nary>
                  </m:oMath>
                </a14:m>
                <a:r>
                  <a:rPr lang="en-US" altLang="zh-CN" sz="2000" dirty="0" smtClean="0">
                    <a:latin typeface="+mn-ea"/>
                  </a:rPr>
                  <a:t>,</a:t>
                </a:r>
                <a:r>
                  <a:rPr lang="zh-CN" altLang="en-US" sz="2000" dirty="0" smtClean="0">
                    <a:latin typeface="+mn-ea"/>
                  </a:rPr>
                  <a:t>可以推导得：</a:t>
                </a:r>
                <a14:m>
                  <m:oMath xmlns:m="http://schemas.openxmlformats.org/officeDocument/2006/math">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𝛼</m:t>
                        </m:r>
                      </m:e>
                      <m:sub>
                        <m:r>
                          <a:rPr lang="en-US" altLang="zh-CN" sz="2000" i="1">
                            <a:latin typeface="Cambria Math" panose="02040503050406030204" pitchFamily="18" charset="0"/>
                          </a:rPr>
                          <m:t>𝑘</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nary>
                          <m:naryPr>
                            <m:chr m:val="∑"/>
                            <m:limLoc m:val="subSup"/>
                            <m:ctrlPr>
                              <a:rPr lang="en-US" altLang="zh-CN" sz="2000" i="1">
                                <a:latin typeface="Cambria Math" panose="02040503050406030204" pitchFamily="18" charset="0"/>
                              </a:rPr>
                            </m:ctrlPr>
                          </m:naryPr>
                          <m:sub>
                            <m:r>
                              <m:rPr>
                                <m:brk m:alnAt="25"/>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𝑛</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𝐸</m:t>
                                </m:r>
                                <m:r>
                                  <a:rPr lang="en-US" altLang="zh-CN" sz="2000" i="1">
                                    <a:latin typeface="Cambria Math" panose="02040503050406030204" pitchFamily="18" charset="0"/>
                                  </a:rPr>
                                  <m:t>(</m:t>
                                </m:r>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m:t>
                            </m:r>
                          </m:e>
                        </m:nary>
                      </m:num>
                      <m:den>
                        <m:nary>
                          <m:naryPr>
                            <m:chr m:val="∑"/>
                            <m:limLoc m:val="subSup"/>
                            <m:ctrlPr>
                              <a:rPr lang="en-US" altLang="zh-CN" sz="2000" b="0" i="1" smtClean="0">
                                <a:latin typeface="Cambria Math" panose="02040503050406030204" pitchFamily="18" charset="0"/>
                              </a:rPr>
                            </m:ctrlPr>
                          </m:naryPr>
                          <m:sub>
                            <m:r>
                              <m:rPr>
                                <m:brk m:alnAt="25"/>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nary>
                              <m:naryPr>
                                <m:chr m:val="∑"/>
                                <m:limLoc m:val="subSup"/>
                                <m:ctrlPr>
                                  <a:rPr lang="en-US" altLang="zh-CN" sz="2000" i="1">
                                    <a:latin typeface="Cambria Math" panose="02040503050406030204" pitchFamily="18" charset="0"/>
                                  </a:rPr>
                                </m:ctrlPr>
                              </m:naryPr>
                              <m:sub>
                                <m:r>
                                  <m:rPr>
                                    <m:brk m:alnAt="1"/>
                                  </m:rPr>
                                  <a:rPr lang="en-US" altLang="zh-CN" sz="2000" b="0" i="1" smtClean="0">
                                    <a:latin typeface="Cambria Math" panose="02040503050406030204" pitchFamily="18" charset="0"/>
                                  </a:rPr>
                                  <m:t>𝑘</m:t>
                                </m:r>
                                <m:r>
                                  <a:rPr lang="en-US" altLang="zh-CN" sz="2000" i="1">
                                    <a:latin typeface="Cambria Math" panose="02040503050406030204" pitchFamily="18" charset="0"/>
                                  </a:rPr>
                                  <m:t>=1</m:t>
                                </m:r>
                              </m:sub>
                              <m:sup>
                                <m:r>
                                  <a:rPr lang="en-US" altLang="zh-CN" sz="2000" b="0" i="1" smtClean="0">
                                    <a:latin typeface="Cambria Math" panose="02040503050406030204" pitchFamily="18" charset="0"/>
                                  </a:rPr>
                                  <m:t>𝐾</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𝐸</m:t>
                                    </m:r>
                                    <m:r>
                                      <a:rPr lang="en-US" altLang="zh-CN" sz="2000" i="1">
                                        <a:latin typeface="Cambria Math" panose="02040503050406030204" pitchFamily="18" charset="0"/>
                                      </a:rPr>
                                      <m:t>(</m:t>
                                    </m:r>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m:t>
                                </m:r>
                              </m:e>
                            </m:nary>
                          </m:e>
                        </m:nary>
                      </m:den>
                    </m:f>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nary>
                          <m:naryPr>
                            <m:chr m:val="∑"/>
                            <m:limLoc m:val="subSup"/>
                            <m:ctrlPr>
                              <a:rPr lang="en-US" altLang="zh-CN" sz="2000" i="1">
                                <a:latin typeface="Cambria Math" panose="02040503050406030204" pitchFamily="18" charset="0"/>
                              </a:rPr>
                            </m:ctrlPr>
                          </m:naryPr>
                          <m:sub>
                            <m:r>
                              <m:rPr>
                                <m:brk m:alnAt="25"/>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𝑛</m:t>
                            </m:r>
                          </m:sup>
                          <m:e>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=1</m:t>
                                </m:r>
                              </m:e>
                              <m:e>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𝑥</m:t>
                                        </m:r>
                                      </m:e>
                                      <m:sub>
                                        <m:r>
                                          <a:rPr lang="en-US" altLang="zh-CN" sz="2000" i="1">
                                            <a:latin typeface="Cambria Math" panose="02040503050406030204" pitchFamily="18" charset="0"/>
                                            <a:ea typeface="Cambria Math" panose="02040503050406030204" pitchFamily="18" charset="0"/>
                                          </a:rPr>
                                          <m:t>𝑖</m:t>
                                        </m:r>
                                      </m:sub>
                                    </m:sSub>
                                  </m:e>
                                </m:acc>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m:t>
                                </m:r>
                                <m:sSub>
                                  <m:sSubPr>
                                    <m:ctrlPr>
                                      <a:rPr lang="el-GR" altLang="zh-CN" sz="2000" i="1">
                                        <a:latin typeface="Cambria Math" panose="02040503050406030204" pitchFamily="18" charset="0"/>
                                        <a:ea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i="1">
                                        <a:latin typeface="Cambria Math" panose="02040503050406030204" pitchFamily="18" charset="0"/>
                                        <a:ea typeface="Cambria Math" panose="02040503050406030204" pitchFamily="18" charset="0"/>
                                      </a:rPr>
                                      <m:t>𝑘</m:t>
                                    </m:r>
                                  </m:sub>
                                </m:sSub>
                              </m:e>
                            </m:d>
                          </m:e>
                        </m:nary>
                      </m:num>
                      <m:den>
                        <m:nary>
                          <m:naryPr>
                            <m:chr m:val="∑"/>
                            <m:limLoc m:val="subSup"/>
                            <m:ctrlPr>
                              <a:rPr lang="en-US" altLang="zh-CN" sz="2000" i="1">
                                <a:latin typeface="Cambria Math" panose="02040503050406030204" pitchFamily="18" charset="0"/>
                              </a:rPr>
                            </m:ctrlPr>
                          </m:naryPr>
                          <m:sub>
                            <m:r>
                              <m:rPr>
                                <m:brk m:alnAt="25"/>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𝑛</m:t>
                            </m:r>
                          </m:sup>
                          <m:e>
                            <m:nary>
                              <m:naryPr>
                                <m:chr m:val="∑"/>
                                <m:limLoc m:val="subSup"/>
                                <m:ctrlPr>
                                  <a:rPr lang="en-US" altLang="zh-CN" sz="2000" i="1" smtClean="0">
                                    <a:latin typeface="Cambria Math" panose="02040503050406030204" pitchFamily="18" charset="0"/>
                                  </a:rPr>
                                </m:ctrlPr>
                              </m:naryPr>
                              <m:sub>
                                <m:r>
                                  <m:rPr>
                                    <m:brk m:alnAt="1"/>
                                  </m:rPr>
                                  <a:rPr lang="en-US" altLang="zh-CN" sz="2000" i="1">
                                    <a:latin typeface="Cambria Math" panose="02040503050406030204" pitchFamily="18" charset="0"/>
                                  </a:rPr>
                                  <m:t>𝑘</m:t>
                                </m:r>
                                <m:r>
                                  <a:rPr lang="en-US" altLang="zh-CN" sz="2000" i="1">
                                    <a:latin typeface="Cambria Math" panose="02040503050406030204" pitchFamily="18" charset="0"/>
                                  </a:rPr>
                                  <m:t>=1</m:t>
                                </m:r>
                              </m:sub>
                              <m:sup>
                                <m:r>
                                  <a:rPr lang="en-US" altLang="zh-CN" sz="2000" i="1">
                                    <a:latin typeface="Cambria Math" panose="02040503050406030204" pitchFamily="18" charset="0"/>
                                  </a:rPr>
                                  <m:t>𝐾</m:t>
                                </m:r>
                              </m:sup>
                              <m:e>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=1</m:t>
                                    </m:r>
                                  </m:e>
                                  <m:e>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𝑥</m:t>
                                            </m:r>
                                          </m:e>
                                          <m:sub>
                                            <m:r>
                                              <a:rPr lang="en-US" altLang="zh-CN" sz="2000" i="1">
                                                <a:latin typeface="Cambria Math" panose="02040503050406030204" pitchFamily="18" charset="0"/>
                                                <a:ea typeface="Cambria Math" panose="02040503050406030204" pitchFamily="18" charset="0"/>
                                              </a:rPr>
                                              <m:t>𝑖</m:t>
                                            </m:r>
                                          </m:sub>
                                        </m:sSub>
                                      </m:e>
                                    </m:acc>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m:t>
                                    </m:r>
                                    <m:sSub>
                                      <m:sSubPr>
                                        <m:ctrlPr>
                                          <a:rPr lang="el-GR" altLang="zh-CN" sz="2000" i="1">
                                            <a:latin typeface="Cambria Math" panose="02040503050406030204" pitchFamily="18" charset="0"/>
                                            <a:ea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i="1">
                                            <a:latin typeface="Cambria Math" panose="02040503050406030204" pitchFamily="18" charset="0"/>
                                            <a:ea typeface="Cambria Math" panose="02040503050406030204" pitchFamily="18" charset="0"/>
                                          </a:rPr>
                                          <m:t>𝑘</m:t>
                                        </m:r>
                                      </m:sub>
                                    </m:sSub>
                                  </m:e>
                                </m:d>
                              </m:e>
                            </m:nary>
                          </m:e>
                        </m:nary>
                      </m:den>
                    </m:f>
                  </m:oMath>
                </a14:m>
                <a:endParaRPr lang="en-US" altLang="zh-CN" sz="2000" dirty="0" smtClean="0">
                  <a:latin typeface="+mn-ea"/>
                </a:endParaRPr>
              </a:p>
              <a:p>
                <a:r>
                  <a:rPr lang="zh-CN" altLang="en-US" sz="2400" dirty="0">
                    <a:latin typeface="+mn-ea"/>
                  </a:rPr>
                  <a:t>对</a:t>
                </a:r>
                <a14:m>
                  <m:oMath xmlns:m="http://schemas.openxmlformats.org/officeDocument/2006/math">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a:rPr lang="en-US" altLang="zh-CN" sz="2400" i="1">
                            <a:latin typeface="Cambria Math" panose="02040503050406030204" pitchFamily="18" charset="0"/>
                          </a:rPr>
                          <m:t>𝑘</m:t>
                        </m:r>
                      </m:sub>
                    </m:sSub>
                  </m:oMath>
                </a14:m>
                <a:r>
                  <a:rPr lang="zh-CN" altLang="en-US" sz="2400" dirty="0" smtClean="0">
                    <a:latin typeface="+mn-ea"/>
                  </a:rPr>
                  <a:t>求偏导</a:t>
                </a:r>
                <a:endParaRPr lang="en-US" altLang="zh-CN" sz="2400" dirty="0" smtClean="0">
                  <a:latin typeface="+mn-ea"/>
                </a:endParaRPr>
              </a:p>
              <a:p>
                <a14:m>
                  <m:oMath xmlns:m="http://schemas.openxmlformats.org/officeDocument/2006/math">
                    <m:nary>
                      <m:naryPr>
                        <m:chr m:val="∑"/>
                        <m:limLoc m:val="subSup"/>
                        <m:ctrlPr>
                          <a:rPr lang="en-US" altLang="zh-CN" sz="2000" i="1" smtClean="0">
                            <a:latin typeface="Cambria Math" panose="02040503050406030204" pitchFamily="18" charset="0"/>
                            <a:ea typeface="Cambria Math" panose="02040503050406030204" pitchFamily="18" charset="0"/>
                          </a:rPr>
                        </m:ctrlPr>
                      </m:naryPr>
                      <m:sub>
                        <m:r>
                          <m:rPr>
                            <m:brk m:alnAt="25"/>
                          </m:rPr>
                          <a:rPr lang="en-US" altLang="zh-CN" sz="2000" b="0" i="1" smtClean="0">
                            <a:latin typeface="Cambria Math" panose="02040503050406030204" pitchFamily="18" charset="0"/>
                            <a:ea typeface="Cambria Math" panose="02040503050406030204" pitchFamily="18" charset="0"/>
                          </a:rPr>
                          <m:t>𝑖</m:t>
                        </m:r>
                        <m:r>
                          <a:rPr lang="en-US" altLang="zh-CN" sz="2000" b="0" i="1" smtClean="0">
                            <a:latin typeface="Cambria Math" panose="02040503050406030204" pitchFamily="18" charset="0"/>
                            <a:ea typeface="Cambria Math" panose="02040503050406030204" pitchFamily="18" charset="0"/>
                          </a:rPr>
                          <m:t>=1</m:t>
                        </m:r>
                      </m:sub>
                      <m:sup>
                        <m:r>
                          <a:rPr lang="en-US" altLang="zh-CN" sz="2000" b="0" i="1" smtClean="0">
                            <a:latin typeface="Cambria Math" panose="02040503050406030204" pitchFamily="18" charset="0"/>
                            <a:ea typeface="Cambria Math" panose="02040503050406030204" pitchFamily="18" charset="0"/>
                          </a:rPr>
                          <m:t>𝑛</m:t>
                        </m:r>
                      </m:sup>
                      <m:e>
                        <m:sSup>
                          <m:sSupPr>
                            <m:ctrlPr>
                              <a:rPr lang="en-US" altLang="zh-CN" sz="2000" i="1">
                                <a:latin typeface="Cambria Math" panose="02040503050406030204" pitchFamily="18" charset="0"/>
                                <a:ea typeface="Cambria Math" panose="02040503050406030204" pitchFamily="18" charset="0"/>
                              </a:rPr>
                            </m:ctrlPr>
                          </m:sSup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𝐸</m:t>
                                </m:r>
                                <m:r>
                                  <a:rPr lang="en-US" altLang="zh-CN" sz="2000" i="1">
                                    <a:latin typeface="Cambria Math" panose="02040503050406030204" pitchFamily="18" charset="0"/>
                                  </a:rPr>
                                  <m:t>(</m:t>
                                </m:r>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i="1">
                                    <a:latin typeface="Cambria Math" panose="02040503050406030204" pitchFamily="18" charset="0"/>
                                  </a:rPr>
                                  <m:t>𝑘</m:t>
                                </m:r>
                              </m:sub>
                            </m:sSub>
                          </m:e>
                          <m:sup>
                            <m:r>
                              <a:rPr lang="en-US" altLang="zh-CN" sz="2000" i="1">
                                <a:latin typeface="Cambria Math" panose="02040503050406030204" pitchFamily="18" charset="0"/>
                                <a:ea typeface="Cambria Math" panose="02040503050406030204" pitchFamily="18" charset="0"/>
                              </a:rPr>
                              <m:t>−1</m:t>
                            </m:r>
                          </m:sup>
                        </m:sSup>
                        <m:r>
                          <a:rPr lang="en-US" altLang="zh-CN" sz="2000" i="1">
                            <a:latin typeface="Cambria Math" panose="02040503050406030204" pitchFamily="18" charset="0"/>
                            <a:ea typeface="Cambria Math" panose="02040503050406030204" pitchFamily="18" charset="0"/>
                          </a:rPr>
                          <m:t>(</m:t>
                        </m:r>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𝑥</m:t>
                                </m:r>
                              </m:e>
                              <m:sub>
                                <m:r>
                                  <a:rPr lang="en-US" altLang="zh-CN" sz="2000" i="1">
                                    <a:latin typeface="Cambria Math" panose="02040503050406030204" pitchFamily="18" charset="0"/>
                                    <a:ea typeface="Cambria Math" panose="02040503050406030204" pitchFamily="18" charset="0"/>
                                  </a:rPr>
                                  <m:t>𝑖</m:t>
                                </m:r>
                              </m:sub>
                            </m:sSub>
                          </m:e>
                        </m:acc>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r>
                          <a:rPr lang="en-US" altLang="zh-CN" sz="2000" i="1">
                            <a:latin typeface="Cambria Math" panose="02040503050406030204" pitchFamily="18" charset="0"/>
                            <a:ea typeface="Cambria Math" panose="02040503050406030204" pitchFamily="18" charset="0"/>
                          </a:rPr>
                          <m:t>)</m:t>
                        </m:r>
                      </m:e>
                    </m:nary>
                    <m:r>
                      <a:rPr lang="en-US" altLang="zh-CN" sz="2000" b="0" i="1" smtClean="0">
                        <a:latin typeface="Cambria Math" panose="02040503050406030204" pitchFamily="18" charset="0"/>
                        <a:ea typeface="Cambria Math" panose="02040503050406030204" pitchFamily="18" charset="0"/>
                      </a:rPr>
                      <m:t>=0</m:t>
                    </m:r>
                  </m:oMath>
                </a14:m>
                <a:r>
                  <a:rPr lang="zh-CN" altLang="en-US" sz="2000" dirty="0" smtClean="0">
                    <a:latin typeface="+mn-ea"/>
                  </a:rPr>
                  <a:t>，可以推导得：</a:t>
                </a:r>
                <a14:m>
                  <m:oMath xmlns:m="http://schemas.openxmlformats.org/officeDocument/2006/math">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nary>
                          <m:naryPr>
                            <m:chr m:val="∑"/>
                            <m:limLoc m:val="subSup"/>
                            <m:ctrlPr>
                              <a:rPr lang="en-US" altLang="zh-CN" sz="2000" b="0" i="1" smtClean="0">
                                <a:latin typeface="Cambria Math" panose="02040503050406030204" pitchFamily="18" charset="0"/>
                              </a:rPr>
                            </m:ctrlPr>
                          </m:naryPr>
                          <m:sub>
                            <m:r>
                              <m:rPr>
                                <m:brk m:alnAt="25"/>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𝐸</m:t>
                                </m:r>
                                <m:r>
                                  <a:rPr lang="en-US" altLang="zh-CN" sz="2000" i="1">
                                    <a:latin typeface="Cambria Math" panose="02040503050406030204" pitchFamily="18" charset="0"/>
                                  </a:rPr>
                                  <m:t>(</m:t>
                                </m:r>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m:t>
                            </m:r>
                            <m:acc>
                              <m:accPr>
                                <m:chr m:val="⃑"/>
                                <m:ctrlPr>
                                  <a:rPr lang="en-US" altLang="zh-CN" sz="2000" b="0" i="1" smtClean="0">
                                    <a:latin typeface="Cambria Math" panose="02040503050406030204" pitchFamily="18" charset="0"/>
                                  </a:rPr>
                                </m:ctrlPr>
                              </m:acc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𝑥</m:t>
                                    </m:r>
                                  </m:e>
                                  <m:sub>
                                    <m:r>
                                      <a:rPr lang="en-US" altLang="zh-CN" sz="2000" i="1">
                                        <a:latin typeface="Cambria Math" panose="02040503050406030204" pitchFamily="18" charset="0"/>
                                        <a:ea typeface="Cambria Math" panose="02040503050406030204" pitchFamily="18" charset="0"/>
                                      </a:rPr>
                                      <m:t>𝑖</m:t>
                                    </m:r>
                                  </m:sub>
                                </m:sSub>
                              </m:e>
                            </m:acc>
                          </m:e>
                        </m:nary>
                      </m:num>
                      <m:den>
                        <m:nary>
                          <m:naryPr>
                            <m:chr m:val="∑"/>
                            <m:limLoc m:val="subSup"/>
                            <m:ctrlPr>
                              <a:rPr lang="en-US" altLang="zh-CN" sz="2000" b="0" i="1" smtClean="0">
                                <a:latin typeface="Cambria Math" panose="02040503050406030204" pitchFamily="18" charset="0"/>
                              </a:rPr>
                            </m:ctrlPr>
                          </m:naryPr>
                          <m:sub>
                            <m:r>
                              <m:rPr>
                                <m:brk m:alnAt="25"/>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𝐸</m:t>
                                </m:r>
                                <m:r>
                                  <a:rPr lang="en-US" altLang="zh-CN" sz="2000" i="1">
                                    <a:latin typeface="Cambria Math" panose="02040503050406030204" pitchFamily="18" charset="0"/>
                                  </a:rPr>
                                  <m:t>(</m:t>
                                </m:r>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m:t>
                            </m:r>
                          </m:e>
                        </m:nary>
                      </m:den>
                    </m:f>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nary>
                          <m:naryPr>
                            <m:chr m:val="∑"/>
                            <m:limLoc m:val="subSup"/>
                            <m:ctrlPr>
                              <a:rPr lang="en-US" altLang="zh-CN" sz="2000" i="1">
                                <a:latin typeface="Cambria Math" panose="02040503050406030204" pitchFamily="18" charset="0"/>
                              </a:rPr>
                            </m:ctrlPr>
                          </m:naryPr>
                          <m:sub>
                            <m:r>
                              <m:rPr>
                                <m:brk m:alnAt="25"/>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𝑛</m:t>
                            </m:r>
                          </m:sup>
                          <m:e>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=1</m:t>
                                </m:r>
                              </m:e>
                              <m:e>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𝑥</m:t>
                                        </m:r>
                                      </m:e>
                                      <m:sub>
                                        <m:r>
                                          <a:rPr lang="en-US" altLang="zh-CN" sz="2000" i="1">
                                            <a:latin typeface="Cambria Math" panose="02040503050406030204" pitchFamily="18" charset="0"/>
                                            <a:ea typeface="Cambria Math" panose="02040503050406030204" pitchFamily="18" charset="0"/>
                                          </a:rPr>
                                          <m:t>𝑖</m:t>
                                        </m:r>
                                      </m:sub>
                                    </m:sSub>
                                  </m:e>
                                </m:acc>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m:t>
                                </m:r>
                                <m:sSub>
                                  <m:sSubPr>
                                    <m:ctrlPr>
                                      <a:rPr lang="el-GR" altLang="zh-CN" sz="2000" i="1">
                                        <a:latin typeface="Cambria Math" panose="02040503050406030204" pitchFamily="18" charset="0"/>
                                        <a:ea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i="1">
                                        <a:latin typeface="Cambria Math" panose="02040503050406030204" pitchFamily="18" charset="0"/>
                                        <a:ea typeface="Cambria Math" panose="02040503050406030204" pitchFamily="18" charset="0"/>
                                      </a:rPr>
                                      <m:t>𝑘</m:t>
                                    </m:r>
                                  </m:sub>
                                </m:sSub>
                              </m:e>
                            </m:d>
                            <m:acc>
                              <m:accPr>
                                <m:chr m:val="⃑"/>
                                <m:ctrlPr>
                                  <a:rPr lang="en-US" altLang="zh-CN" sz="2000" i="1">
                                    <a:latin typeface="Cambria Math" panose="02040503050406030204" pitchFamily="18" charset="0"/>
                                  </a:rPr>
                                </m:ctrlPr>
                              </m:acc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𝑥</m:t>
                                    </m:r>
                                  </m:e>
                                  <m:sub>
                                    <m:r>
                                      <a:rPr lang="en-US" altLang="zh-CN" sz="2000" i="1">
                                        <a:latin typeface="Cambria Math" panose="02040503050406030204" pitchFamily="18" charset="0"/>
                                        <a:ea typeface="Cambria Math" panose="02040503050406030204" pitchFamily="18" charset="0"/>
                                      </a:rPr>
                                      <m:t>𝑖</m:t>
                                    </m:r>
                                  </m:sub>
                                </m:sSub>
                              </m:e>
                            </m:acc>
                          </m:e>
                        </m:nary>
                      </m:num>
                      <m:den>
                        <m:nary>
                          <m:naryPr>
                            <m:chr m:val="∑"/>
                            <m:limLoc m:val="subSup"/>
                            <m:ctrlPr>
                              <a:rPr lang="en-US" altLang="zh-CN" sz="2000" i="1">
                                <a:latin typeface="Cambria Math" panose="02040503050406030204" pitchFamily="18" charset="0"/>
                              </a:rPr>
                            </m:ctrlPr>
                          </m:naryPr>
                          <m:sub>
                            <m:r>
                              <m:rPr>
                                <m:brk m:alnAt="25"/>
                              </m:rPr>
                              <a:rPr lang="en-US" altLang="zh-CN" sz="2000" i="1">
                                <a:latin typeface="Cambria Math" panose="02040503050406030204" pitchFamily="18" charset="0"/>
                              </a:rPr>
                              <m:t>𝑖</m:t>
                            </m:r>
                            <m:r>
                              <a:rPr lang="en-US" altLang="zh-CN" sz="2000" i="1">
                                <a:latin typeface="Cambria Math" panose="02040503050406030204" pitchFamily="18" charset="0"/>
                              </a:rPr>
                              <m:t>=1</m:t>
                            </m:r>
                          </m:sub>
                          <m:sup>
                            <m:r>
                              <a:rPr lang="en-US" altLang="zh-CN" sz="2000" i="1">
                                <a:latin typeface="Cambria Math" panose="02040503050406030204" pitchFamily="18" charset="0"/>
                              </a:rPr>
                              <m:t>𝑛</m:t>
                            </m:r>
                          </m:sup>
                          <m:e>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𝑧</m:t>
                                    </m:r>
                                  </m:e>
                                  <m:sub>
                                    <m:r>
                                      <a:rPr lang="en-US" altLang="zh-CN" sz="2000" i="1">
                                        <a:latin typeface="Cambria Math" panose="02040503050406030204" pitchFamily="18" charset="0"/>
                                      </a:rPr>
                                      <m:t>𝑖𝑘</m:t>
                                    </m:r>
                                  </m:sub>
                                </m:sSub>
                                <m:r>
                                  <a:rPr lang="en-US" altLang="zh-CN" sz="2000" i="1">
                                    <a:latin typeface="Cambria Math" panose="02040503050406030204" pitchFamily="18" charset="0"/>
                                  </a:rPr>
                                  <m:t>=1</m:t>
                                </m:r>
                              </m:e>
                              <m:e>
                                <m:acc>
                                  <m:accPr>
                                    <m:chr m:val="⃑"/>
                                    <m:ctrlPr>
                                      <a:rPr lang="en-US" altLang="zh-CN" sz="2000" i="1">
                                        <a:latin typeface="Cambria Math" panose="02040503050406030204" pitchFamily="18" charset="0"/>
                                        <a:ea typeface="Cambria Math" panose="02040503050406030204" pitchFamily="18" charset="0"/>
                                      </a:rPr>
                                    </m:ctrlPr>
                                  </m:acc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𝑥</m:t>
                                        </m:r>
                                      </m:e>
                                      <m:sub>
                                        <m:r>
                                          <a:rPr lang="en-US" altLang="zh-CN" sz="2000" i="1">
                                            <a:latin typeface="Cambria Math" panose="02040503050406030204" pitchFamily="18" charset="0"/>
                                            <a:ea typeface="Cambria Math" panose="02040503050406030204" pitchFamily="18" charset="0"/>
                                          </a:rPr>
                                          <m:t>𝑖</m:t>
                                        </m:r>
                                      </m:sub>
                                    </m:sSub>
                                  </m:e>
                                </m:acc>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𝜇</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m:t>
                                </m:r>
                                <m:sSub>
                                  <m:sSubPr>
                                    <m:ctrlPr>
                                      <a:rPr lang="el-GR" altLang="zh-CN" sz="2000" i="1">
                                        <a:latin typeface="Cambria Math" panose="02040503050406030204" pitchFamily="18" charset="0"/>
                                        <a:ea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i="1">
                                        <a:latin typeface="Cambria Math" panose="02040503050406030204" pitchFamily="18" charset="0"/>
                                        <a:ea typeface="Cambria Math" panose="02040503050406030204" pitchFamily="18" charset="0"/>
                                      </a:rPr>
                                      <m:t>𝑘</m:t>
                                    </m:r>
                                  </m:sub>
                                </m:sSub>
                              </m:e>
                            </m:d>
                          </m:e>
                        </m:nary>
                      </m:den>
                    </m:f>
                  </m:oMath>
                </a14:m>
                <a:endParaRPr lang="en-US" altLang="zh-CN" sz="2000" dirty="0" smtClean="0">
                  <a:latin typeface="+mn-ea"/>
                </a:endParaRPr>
              </a:p>
              <a:p>
                <a:endParaRPr lang="en-US" altLang="zh-CN" dirty="0" smtClean="0">
                  <a:latin typeface="+mn-ea"/>
                </a:endParaRPr>
              </a:p>
              <a:p>
                <a:endParaRPr lang="en-US" altLang="zh-CN" sz="2000" dirty="0">
                  <a:latin typeface="+mn-ea"/>
                </a:endParaRPr>
              </a:p>
              <a:p>
                <a:pPr marL="0" indent="0">
                  <a:buNone/>
                </a:pPr>
                <a:endParaRPr lang="en-US" altLang="zh-CN" dirty="0" smtClean="0">
                  <a:latin typeface="Cambria Math" panose="02040503050406030204" pitchFamily="18" charset="0"/>
                </a:endParaRPr>
              </a:p>
              <a:p>
                <a:pPr marL="0" indent="0">
                  <a:buNone/>
                </a:pPr>
                <a:endParaRPr lang="en-US" altLang="zh-CN" dirty="0" smtClean="0">
                  <a:latin typeface="Cambria Math" panose="020405030504060302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046602"/>
                <a:ext cx="10515600" cy="5130361"/>
              </a:xfrm>
              <a:blipFill rotWithShape="0">
                <a:blip r:embed="rId2"/>
                <a:stretch>
                  <a:fillRect l="-812" t="-16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627243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81477"/>
          </a:xfrm>
        </p:spPr>
        <p:txBody>
          <a:bodyPr>
            <a:normAutofit/>
          </a:bodyPr>
          <a:lstStyle/>
          <a:p>
            <a:r>
              <a:rPr lang="en-US" altLang="zh-CN" sz="2400" b="1" dirty="0" smtClean="0">
                <a:latin typeface="+mn-ea"/>
                <a:ea typeface="+mn-ea"/>
              </a:rPr>
              <a:t>Gaussian </a:t>
            </a:r>
            <a:r>
              <a:rPr lang="en-US" altLang="zh-CN" sz="2400" b="1" dirty="0">
                <a:latin typeface="+mn-ea"/>
                <a:ea typeface="+mn-ea"/>
              </a:rPr>
              <a:t>Mixture </a:t>
            </a:r>
            <a:r>
              <a:rPr lang="en-US" altLang="zh-CN" sz="2400" b="1" dirty="0" smtClean="0">
                <a:latin typeface="+mn-ea"/>
                <a:ea typeface="+mn-ea"/>
              </a:rPr>
              <a:t>Model</a:t>
            </a:r>
            <a:r>
              <a:rPr lang="en-US" altLang="zh-CN" sz="2400" b="1" dirty="0" smtClean="0"/>
              <a:t>-Generative </a:t>
            </a:r>
            <a:r>
              <a:rPr lang="en-US" altLang="zh-CN" sz="2400" b="1" dirty="0"/>
              <a:t>Model</a:t>
            </a:r>
            <a:endParaRPr lang="zh-CN" altLang="en-US" sz="2400" dirty="0">
              <a:latin typeface="+mn-ea"/>
              <a:ea typeface="+mn-ea"/>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046602"/>
                <a:ext cx="10515600" cy="5130361"/>
              </a:xfrm>
            </p:spPr>
            <p:txBody>
              <a:bodyPr>
                <a:normAutofit/>
              </a:bodyPr>
              <a:lstStyle/>
              <a:p>
                <a:r>
                  <a:rPr lang="zh-CN" altLang="en-US" sz="2000" dirty="0" smtClean="0">
                    <a:latin typeface="+mn-ea"/>
                  </a:rPr>
                  <a:t>对</a:t>
                </a:r>
                <a14:m>
                  <m:oMath xmlns:m="http://schemas.openxmlformats.org/officeDocument/2006/math">
                    <m:sSub>
                      <m:sSubPr>
                        <m:ctrlPr>
                          <a:rPr lang="el-GR" altLang="zh-CN" sz="2000" i="1">
                            <a:latin typeface="Cambria Math" panose="02040503050406030204" pitchFamily="18" charset="0"/>
                            <a:ea typeface="Cambria Math" panose="02040503050406030204" pitchFamily="18" charset="0"/>
                          </a:rPr>
                        </m:ctrlPr>
                      </m:sSubPr>
                      <m:e>
                        <m:r>
                          <m:rPr>
                            <m:sty m:val="p"/>
                          </m:rPr>
                          <a:rPr lang="el-GR" altLang="zh-CN" sz="2000" i="1">
                            <a:latin typeface="Cambria Math" panose="02040503050406030204" pitchFamily="18" charset="0"/>
                            <a:ea typeface="Cambria Math" panose="02040503050406030204" pitchFamily="18" charset="0"/>
                          </a:rPr>
                          <m:t>Σ</m:t>
                        </m:r>
                      </m:e>
                      <m:sub>
                        <m:r>
                          <a:rPr lang="en-US" altLang="zh-CN" sz="2000" i="1">
                            <a:latin typeface="Cambria Math" panose="02040503050406030204" pitchFamily="18" charset="0"/>
                            <a:ea typeface="Cambria Math" panose="02040503050406030204" pitchFamily="18" charset="0"/>
                          </a:rPr>
                          <m:t>𝑘</m:t>
                        </m:r>
                      </m:sub>
                    </m:sSub>
                  </m:oMath>
                </a14:m>
                <a:r>
                  <a:rPr lang="zh-CN" altLang="en-US" sz="2000" dirty="0" smtClean="0">
                    <a:latin typeface="+mn-ea"/>
                  </a:rPr>
                  <a:t>求偏导</a:t>
                </a:r>
                <a:endParaRPr lang="en-US" altLang="zh-CN" sz="2000" dirty="0" smtClean="0">
                  <a:latin typeface="+mn-ea"/>
                </a:endParaRPr>
              </a:p>
              <a:p>
                <a:r>
                  <a:rPr lang="zh-CN" altLang="en-US" sz="2000" dirty="0" smtClean="0">
                    <a:latin typeface="+mn-ea"/>
                  </a:rPr>
                  <a:t>预备知识：</a:t>
                </a:r>
                <a14:m>
                  <m:oMath xmlns:m="http://schemas.openxmlformats.org/officeDocument/2006/math">
                    <m:f>
                      <m:fPr>
                        <m:ctrlPr>
                          <a:rPr lang="en-US" altLang="zh-CN" sz="2000" i="1" smtClean="0">
                            <a:latin typeface="Cambria Math" panose="02040503050406030204" pitchFamily="18" charset="0"/>
                          </a:rPr>
                        </m:ctrlPr>
                      </m:fPr>
                      <m:num>
                        <m:r>
                          <a:rPr lang="zh-CN" altLang="en-US" sz="2000" i="1" smtClean="0">
                            <a:latin typeface="Cambria Math" panose="02040503050406030204" pitchFamily="18" charset="0"/>
                          </a:rPr>
                          <m:t>𝜕</m:t>
                        </m:r>
                        <m:r>
                          <m:rPr>
                            <m:sty m:val="p"/>
                          </m:rPr>
                          <a:rPr lang="en-US" altLang="zh-CN" sz="2000" i="1">
                            <a:latin typeface="Cambria Math" panose="02040503050406030204" pitchFamily="18" charset="0"/>
                          </a:rPr>
                          <m:t>log</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𝐴</m:t>
                        </m:r>
                        <m:r>
                          <a:rPr lang="en-US" altLang="zh-CN" sz="2000" b="0" i="1" smtClean="0">
                            <a:latin typeface="Cambria Math" panose="02040503050406030204" pitchFamily="18" charset="0"/>
                          </a:rPr>
                          <m:t>|</m:t>
                        </m:r>
                      </m:num>
                      <m:den>
                        <m:r>
                          <a:rPr lang="zh-CN" altLang="en-US" sz="2000" i="1" smtClean="0">
                            <a:latin typeface="Cambria Math" panose="02040503050406030204" pitchFamily="18" charset="0"/>
                          </a:rPr>
                          <m:t>𝜕</m:t>
                        </m:r>
                        <m:r>
                          <a:rPr lang="en-US" altLang="zh-CN" sz="2000" b="0" i="1" smtClean="0">
                            <a:latin typeface="Cambria Math" panose="02040503050406030204" pitchFamily="18" charset="0"/>
                          </a:rPr>
                          <m:t>𝐴</m:t>
                        </m:r>
                      </m:den>
                    </m:f>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𝐴</m:t>
                        </m:r>
                      </m:e>
                      <m:sup>
                        <m:r>
                          <a:rPr lang="en-US" altLang="zh-CN" sz="2000" b="0" i="1" smtClean="0">
                            <a:latin typeface="Cambria Math" panose="02040503050406030204" pitchFamily="18" charset="0"/>
                          </a:rPr>
                          <m:t>−1</m:t>
                        </m:r>
                      </m:sup>
                    </m:sSup>
                  </m:oMath>
                </a14:m>
                <a:r>
                  <a:rPr lang="en-US" altLang="zh-CN" sz="2000" dirty="0" smtClean="0">
                    <a:latin typeface="+mn-ea"/>
                  </a:rPr>
                  <a:t>;</a:t>
                </a:r>
                <a14:m>
                  <m:oMath xmlns:m="http://schemas.openxmlformats.org/officeDocument/2006/math">
                    <m:f>
                      <m:fPr>
                        <m:ctrlPr>
                          <a:rPr lang="en-US" altLang="zh-CN" sz="2000" i="1" dirty="0" smtClean="0">
                            <a:latin typeface="Cambria Math" panose="02040503050406030204" pitchFamily="18" charset="0"/>
                          </a:rPr>
                        </m:ctrlPr>
                      </m:fPr>
                      <m:num>
                        <m:r>
                          <a:rPr lang="zh-CN" altLang="en-US" sz="2000" i="1" dirty="0" smtClean="0">
                            <a:latin typeface="Cambria Math" panose="02040503050406030204" pitchFamily="18" charset="0"/>
                          </a:rPr>
                          <m:t>𝜕</m:t>
                        </m:r>
                        <m:r>
                          <a:rPr lang="en-US" altLang="zh-CN" sz="2000" b="0" i="1" dirty="0" smtClean="0">
                            <a:latin typeface="Cambria Math" panose="02040503050406030204" pitchFamily="18" charset="0"/>
                          </a:rPr>
                          <m:t>𝑥</m:t>
                        </m:r>
                        <m:r>
                          <a:rPr lang="en-US" altLang="zh-CN" sz="2000" b="0" i="1" dirty="0" smtClean="0">
                            <a:latin typeface="Cambria Math" panose="02040503050406030204" pitchFamily="18" charset="0"/>
                          </a:rPr>
                          <m:t>′</m:t>
                        </m:r>
                        <m:sSup>
                          <m:sSupPr>
                            <m:ctrlPr>
                              <a:rPr lang="en-US" altLang="zh-CN" sz="2000" b="0" i="1" dirty="0" smtClean="0">
                                <a:latin typeface="Cambria Math" panose="02040503050406030204" pitchFamily="18" charset="0"/>
                              </a:rPr>
                            </m:ctrlPr>
                          </m:sSupPr>
                          <m:e>
                            <m:r>
                              <a:rPr lang="en-US" altLang="zh-CN" sz="2000" b="0" i="1" dirty="0" smtClean="0">
                                <a:latin typeface="Cambria Math" panose="02040503050406030204" pitchFamily="18" charset="0"/>
                              </a:rPr>
                              <m:t>𝐴</m:t>
                            </m:r>
                          </m:e>
                          <m:sup>
                            <m:r>
                              <a:rPr lang="en-US" altLang="zh-CN" sz="2000" b="0" i="1" dirty="0" smtClean="0">
                                <a:latin typeface="Cambria Math" panose="02040503050406030204" pitchFamily="18" charset="0"/>
                              </a:rPr>
                              <m:t>−1</m:t>
                            </m:r>
                          </m:sup>
                        </m:sSup>
                        <m:r>
                          <a:rPr lang="en-US" altLang="zh-CN" sz="2000" b="0" i="1" dirty="0" smtClean="0">
                            <a:latin typeface="Cambria Math" panose="02040503050406030204" pitchFamily="18" charset="0"/>
                          </a:rPr>
                          <m:t>𝑥</m:t>
                        </m:r>
                      </m:num>
                      <m:den>
                        <m:r>
                          <a:rPr lang="zh-CN" altLang="en-US" sz="2000" i="1" dirty="0" smtClean="0">
                            <a:latin typeface="Cambria Math" panose="02040503050406030204" pitchFamily="18" charset="0"/>
                          </a:rPr>
                          <m:t>𝜕</m:t>
                        </m:r>
                        <m:r>
                          <a:rPr lang="en-US" altLang="zh-CN" sz="2000" b="0" i="1" dirty="0" smtClean="0">
                            <a:latin typeface="Cambria Math" panose="02040503050406030204" pitchFamily="18" charset="0"/>
                          </a:rPr>
                          <m:t>𝐴</m:t>
                        </m:r>
                      </m:den>
                    </m:f>
                    <m:r>
                      <a:rPr lang="en-US" altLang="zh-CN" sz="2000" b="0" i="1" dirty="0" smtClean="0">
                        <a:latin typeface="Cambria Math" panose="02040503050406030204" pitchFamily="18" charset="0"/>
                      </a:rPr>
                      <m:t>=−</m:t>
                    </m:r>
                    <m:sSup>
                      <m:sSupPr>
                        <m:ctrlPr>
                          <a:rPr lang="en-US" altLang="zh-CN" sz="2000" i="1" dirty="0">
                            <a:latin typeface="Cambria Math" panose="02040503050406030204" pitchFamily="18" charset="0"/>
                          </a:rPr>
                        </m:ctrlPr>
                      </m:sSupPr>
                      <m:e>
                        <m:r>
                          <a:rPr lang="en-US" altLang="zh-CN" sz="2000" i="1" dirty="0">
                            <a:latin typeface="Cambria Math" panose="02040503050406030204" pitchFamily="18" charset="0"/>
                          </a:rPr>
                          <m:t>𝐴</m:t>
                        </m:r>
                      </m:e>
                      <m:sup>
                        <m:r>
                          <a:rPr lang="en-US" altLang="zh-CN" sz="2000" i="1" dirty="0">
                            <a:latin typeface="Cambria Math" panose="02040503050406030204" pitchFamily="18" charset="0"/>
                          </a:rPr>
                          <m:t>−1</m:t>
                        </m:r>
                      </m:sup>
                    </m:sSup>
                    <m:r>
                      <a:rPr lang="en-US" altLang="zh-CN" sz="2000" i="1" dirty="0">
                        <a:latin typeface="Cambria Math" panose="02040503050406030204" pitchFamily="18" charset="0"/>
                      </a:rPr>
                      <m:t>𝑥</m:t>
                    </m:r>
                    <m:r>
                      <a:rPr lang="en-US" altLang="zh-CN" sz="2000" b="0" i="1" dirty="0" smtClean="0">
                        <a:latin typeface="Cambria Math" panose="02040503050406030204" pitchFamily="18" charset="0"/>
                      </a:rPr>
                      <m:t>𝑥</m:t>
                    </m:r>
                    <m:r>
                      <a:rPr lang="en-US" altLang="zh-CN" sz="2000" b="0" i="1" dirty="0" smtClean="0">
                        <a:latin typeface="Cambria Math" panose="02040503050406030204" pitchFamily="18" charset="0"/>
                      </a:rPr>
                      <m:t>′</m:t>
                    </m:r>
                    <m:sSup>
                      <m:sSupPr>
                        <m:ctrlPr>
                          <a:rPr lang="en-US" altLang="zh-CN" sz="2000" i="1" dirty="0">
                            <a:latin typeface="Cambria Math" panose="02040503050406030204" pitchFamily="18" charset="0"/>
                          </a:rPr>
                        </m:ctrlPr>
                      </m:sSupPr>
                      <m:e>
                        <m:r>
                          <a:rPr lang="en-US" altLang="zh-CN" sz="2000" i="1" dirty="0">
                            <a:latin typeface="Cambria Math" panose="02040503050406030204" pitchFamily="18" charset="0"/>
                          </a:rPr>
                          <m:t>𝐴</m:t>
                        </m:r>
                      </m:e>
                      <m:sup>
                        <m:r>
                          <a:rPr lang="en-US" altLang="zh-CN" sz="2000" i="1" dirty="0">
                            <a:latin typeface="Cambria Math" panose="02040503050406030204" pitchFamily="18" charset="0"/>
                          </a:rPr>
                          <m:t>−1</m:t>
                        </m:r>
                      </m:sup>
                    </m:sSup>
                  </m:oMath>
                </a14:m>
                <a:endParaRPr lang="en-US" altLang="zh-CN" sz="2000" dirty="0" smtClean="0">
                  <a:latin typeface="+mn-ea"/>
                </a:endParaRPr>
              </a:p>
              <a:p>
                <a14:m>
                  <m:oMath xmlns:m="http://schemas.openxmlformats.org/officeDocument/2006/math">
                    <m:nary>
                      <m:naryPr>
                        <m:chr m:val="∑"/>
                        <m:limLoc m:val="subSup"/>
                        <m:ctrlPr>
                          <a:rPr lang="en-US" altLang="zh-CN" sz="1800" i="1" smtClean="0">
                            <a:latin typeface="Cambria Math" panose="02040503050406030204" pitchFamily="18" charset="0"/>
                          </a:rPr>
                        </m:ctrlPr>
                      </m:naryPr>
                      <m:sub>
                        <m:r>
                          <m:rPr>
                            <m:brk m:alnAt="25"/>
                          </m:rPr>
                          <a:rPr lang="en-US" altLang="zh-CN" sz="1800" b="0" i="1" smtClean="0">
                            <a:latin typeface="Cambria Math" panose="02040503050406030204" pitchFamily="18" charset="0"/>
                          </a:rPr>
                          <m:t>𝑖</m:t>
                        </m:r>
                        <m:r>
                          <a:rPr lang="en-US" altLang="zh-CN" sz="1800" b="0" i="1" smtClean="0">
                            <a:latin typeface="Cambria Math" panose="02040503050406030204" pitchFamily="18" charset="0"/>
                          </a:rPr>
                          <m:t>=1</m:t>
                        </m:r>
                      </m:sub>
                      <m:sup>
                        <m:r>
                          <a:rPr lang="en-US" altLang="zh-CN" sz="1800" b="0" i="1" smtClean="0">
                            <a:latin typeface="Cambria Math" panose="02040503050406030204" pitchFamily="18" charset="0"/>
                          </a:rPr>
                          <m:t>𝑛</m:t>
                        </m:r>
                      </m:sup>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𝐸</m:t>
                            </m:r>
                            <m:r>
                              <a:rPr lang="en-US" altLang="zh-CN" sz="1800" i="1">
                                <a:latin typeface="Cambria Math" panose="02040503050406030204" pitchFamily="18" charset="0"/>
                              </a:rPr>
                              <m:t>(</m:t>
                            </m:r>
                            <m:r>
                              <a:rPr lang="en-US" altLang="zh-CN" sz="1800" i="1">
                                <a:latin typeface="Cambria Math" panose="02040503050406030204" pitchFamily="18" charset="0"/>
                              </a:rPr>
                              <m:t>𝑧</m:t>
                            </m:r>
                          </m:e>
                          <m:sub>
                            <m:r>
                              <a:rPr lang="en-US" altLang="zh-CN" sz="1800" i="1">
                                <a:latin typeface="Cambria Math" panose="02040503050406030204" pitchFamily="18" charset="0"/>
                              </a:rPr>
                              <m:t>𝑖𝑘</m:t>
                            </m:r>
                          </m:sub>
                        </m:sSub>
                        <m:r>
                          <a:rPr lang="en-US" altLang="zh-CN" sz="1800" i="1">
                            <a:latin typeface="Cambria Math" panose="02040503050406030204" pitchFamily="18" charset="0"/>
                          </a:rPr>
                          <m:t>){</m:t>
                        </m:r>
                        <m:r>
                          <a:rPr lang="en-US" altLang="zh-CN" sz="1800" b="0" i="1" smtClean="0">
                            <a:latin typeface="Cambria Math" panose="02040503050406030204" pitchFamily="18" charset="0"/>
                          </a:rPr>
                          <m:t>−</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2</m:t>
                            </m:r>
                          </m:den>
                        </m:f>
                        <m:sSup>
                          <m:sSupPr>
                            <m:ctrlPr>
                              <a:rPr lang="en-US" altLang="zh-CN" sz="1800" i="1">
                                <a:latin typeface="Cambria Math" panose="02040503050406030204" pitchFamily="18" charset="0"/>
                                <a:ea typeface="Cambria Math" panose="02040503050406030204" pitchFamily="18" charset="0"/>
                              </a:rPr>
                            </m:ctrlPr>
                          </m:sSupPr>
                          <m:e>
                            <m:sSub>
                              <m:sSubPr>
                                <m:ctrlPr>
                                  <a:rPr lang="en-US" altLang="zh-CN" sz="1800" i="1">
                                    <a:latin typeface="Cambria Math" panose="02040503050406030204" pitchFamily="18" charset="0"/>
                                  </a:rPr>
                                </m:ctrlPr>
                              </m:sSubPr>
                              <m:e>
                                <m:r>
                                  <m:rPr>
                                    <m:sty m:val="p"/>
                                  </m:rPr>
                                  <a:rPr lang="el-GR" altLang="zh-CN" sz="1800" i="1">
                                    <a:latin typeface="Cambria Math" panose="02040503050406030204" pitchFamily="18" charset="0"/>
                                    <a:ea typeface="Cambria Math" panose="02040503050406030204" pitchFamily="18" charset="0"/>
                                  </a:rPr>
                                  <m:t>Σ</m:t>
                                </m:r>
                              </m:e>
                              <m:sub>
                                <m:r>
                                  <a:rPr lang="en-US" altLang="zh-CN" sz="1800" i="1">
                                    <a:latin typeface="Cambria Math" panose="02040503050406030204" pitchFamily="18" charset="0"/>
                                  </a:rPr>
                                  <m:t>𝑘</m:t>
                                </m:r>
                              </m:sub>
                            </m:sSub>
                          </m:e>
                          <m:sup>
                            <m:r>
                              <a:rPr lang="en-US" altLang="zh-CN" sz="1800" i="1">
                                <a:latin typeface="Cambria Math" panose="02040503050406030204" pitchFamily="18" charset="0"/>
                                <a:ea typeface="Cambria Math" panose="02040503050406030204" pitchFamily="18" charset="0"/>
                              </a:rPr>
                              <m:t>−1</m:t>
                            </m:r>
                          </m:sup>
                        </m:sSup>
                        <m:r>
                          <a:rPr lang="en-US" altLang="zh-CN" sz="1800" b="0" i="1" smtClean="0">
                            <a:latin typeface="Cambria Math" panose="02040503050406030204" pitchFamily="18" charset="0"/>
                            <a:ea typeface="Cambria Math" panose="02040503050406030204" pitchFamily="18" charset="0"/>
                          </a:rPr>
                          <m:t>+</m:t>
                        </m:r>
                        <m:f>
                          <m:fPr>
                            <m:ctrlPr>
                              <a:rPr lang="en-US" altLang="zh-CN" sz="1800" b="0" i="1" smtClean="0">
                                <a:latin typeface="Cambria Math" panose="02040503050406030204" pitchFamily="18" charset="0"/>
                                <a:ea typeface="Cambria Math" panose="02040503050406030204" pitchFamily="18" charset="0"/>
                              </a:rPr>
                            </m:ctrlPr>
                          </m:fPr>
                          <m:num>
                            <m:r>
                              <a:rPr lang="en-US" altLang="zh-CN" sz="1800" b="0" i="1" smtClean="0">
                                <a:latin typeface="Cambria Math" panose="02040503050406030204" pitchFamily="18" charset="0"/>
                                <a:ea typeface="Cambria Math" panose="02040503050406030204" pitchFamily="18" charset="0"/>
                              </a:rPr>
                              <m:t>1</m:t>
                            </m:r>
                          </m:num>
                          <m:den>
                            <m:r>
                              <a:rPr lang="en-US" altLang="zh-CN" sz="1800" b="0" i="1" smtClean="0">
                                <a:latin typeface="Cambria Math" panose="02040503050406030204" pitchFamily="18" charset="0"/>
                                <a:ea typeface="Cambria Math" panose="02040503050406030204" pitchFamily="18" charset="0"/>
                              </a:rPr>
                              <m:t>2</m:t>
                            </m:r>
                          </m:den>
                        </m:f>
                        <m:sSup>
                          <m:sSupPr>
                            <m:ctrlPr>
                              <a:rPr lang="en-US" altLang="zh-CN" sz="1800" i="1">
                                <a:latin typeface="Cambria Math" panose="02040503050406030204" pitchFamily="18" charset="0"/>
                                <a:ea typeface="Cambria Math" panose="02040503050406030204" pitchFamily="18" charset="0"/>
                              </a:rPr>
                            </m:ctrlPr>
                          </m:sSupPr>
                          <m:e>
                            <m:sSub>
                              <m:sSubPr>
                                <m:ctrlPr>
                                  <a:rPr lang="en-US" altLang="zh-CN" sz="1800" i="1">
                                    <a:latin typeface="Cambria Math" panose="02040503050406030204" pitchFamily="18" charset="0"/>
                                  </a:rPr>
                                </m:ctrlPr>
                              </m:sSubPr>
                              <m:e>
                                <m:r>
                                  <m:rPr>
                                    <m:sty m:val="p"/>
                                  </m:rPr>
                                  <a:rPr lang="el-GR" altLang="zh-CN" sz="1800" i="1">
                                    <a:latin typeface="Cambria Math" panose="02040503050406030204" pitchFamily="18" charset="0"/>
                                    <a:ea typeface="Cambria Math" panose="02040503050406030204" pitchFamily="18" charset="0"/>
                                  </a:rPr>
                                  <m:t>Σ</m:t>
                                </m:r>
                              </m:e>
                              <m:sub>
                                <m:r>
                                  <a:rPr lang="en-US" altLang="zh-CN" sz="1800" i="1">
                                    <a:latin typeface="Cambria Math" panose="02040503050406030204" pitchFamily="18" charset="0"/>
                                  </a:rPr>
                                  <m:t>𝑘</m:t>
                                </m:r>
                              </m:sub>
                            </m:sSub>
                          </m:e>
                          <m:sup>
                            <m:r>
                              <a:rPr lang="en-US" altLang="zh-CN" sz="1800" i="1">
                                <a:latin typeface="Cambria Math" panose="02040503050406030204" pitchFamily="18" charset="0"/>
                                <a:ea typeface="Cambria Math" panose="02040503050406030204" pitchFamily="18" charset="0"/>
                              </a:rPr>
                              <m:t>−1</m:t>
                            </m:r>
                          </m:sup>
                        </m:sSup>
                        <m:d>
                          <m:dPr>
                            <m:ctrlPr>
                              <a:rPr lang="en-US" altLang="zh-CN" sz="1800" b="0" i="1" smtClean="0">
                                <a:latin typeface="Cambria Math" panose="02040503050406030204" pitchFamily="18" charset="0"/>
                                <a:ea typeface="Cambria Math" panose="02040503050406030204" pitchFamily="18" charset="0"/>
                              </a:rPr>
                            </m:ctrlPr>
                          </m:dPr>
                          <m:e>
                            <m:acc>
                              <m:accPr>
                                <m:chr m:val="⃑"/>
                                <m:ctrlPr>
                                  <a:rPr lang="en-US" altLang="zh-CN" sz="1800" i="1">
                                    <a:latin typeface="Cambria Math" panose="02040503050406030204" pitchFamily="18" charset="0"/>
                                    <a:ea typeface="Cambria Math" panose="02040503050406030204" pitchFamily="18" charset="0"/>
                                  </a:rPr>
                                </m:ctrlPr>
                              </m:accPr>
                              <m:e>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𝑥</m:t>
                                    </m:r>
                                  </m:e>
                                  <m:sub>
                                    <m:r>
                                      <a:rPr lang="en-US" altLang="zh-CN" sz="1800" i="1">
                                        <a:latin typeface="Cambria Math" panose="02040503050406030204" pitchFamily="18" charset="0"/>
                                        <a:ea typeface="Cambria Math" panose="02040503050406030204" pitchFamily="18" charset="0"/>
                                      </a:rPr>
                                      <m:t>𝑖</m:t>
                                    </m:r>
                                  </m:sub>
                                </m:sSub>
                              </m:e>
                            </m:acc>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𝜇</m:t>
                                </m:r>
                              </m:e>
                              <m:sub>
                                <m:r>
                                  <a:rPr lang="en-US" altLang="zh-CN" sz="1800" i="1">
                                    <a:latin typeface="Cambria Math" panose="02040503050406030204" pitchFamily="18" charset="0"/>
                                  </a:rPr>
                                  <m:t>𝑘</m:t>
                                </m:r>
                              </m:sub>
                            </m:sSub>
                          </m:e>
                        </m:d>
                        <m:sSup>
                          <m:sSupPr>
                            <m:ctrlPr>
                              <a:rPr lang="en-US" altLang="zh-CN" sz="1800" b="0" i="1" smtClean="0">
                                <a:latin typeface="Cambria Math" panose="02040503050406030204" pitchFamily="18" charset="0"/>
                                <a:ea typeface="Cambria Math" panose="02040503050406030204" pitchFamily="18" charset="0"/>
                              </a:rPr>
                            </m:ctrlPr>
                          </m:sSupPr>
                          <m:e>
                            <m:d>
                              <m:dPr>
                                <m:ctrlPr>
                                  <a:rPr lang="en-US" altLang="zh-CN" sz="1800" b="0" i="1" smtClean="0">
                                    <a:latin typeface="Cambria Math" panose="02040503050406030204" pitchFamily="18" charset="0"/>
                                    <a:ea typeface="Cambria Math" panose="02040503050406030204" pitchFamily="18" charset="0"/>
                                  </a:rPr>
                                </m:ctrlPr>
                              </m:dPr>
                              <m:e>
                                <m:acc>
                                  <m:accPr>
                                    <m:chr m:val="⃑"/>
                                    <m:ctrlPr>
                                      <a:rPr lang="en-US" altLang="zh-CN" sz="1800" i="1">
                                        <a:latin typeface="Cambria Math" panose="02040503050406030204" pitchFamily="18" charset="0"/>
                                        <a:ea typeface="Cambria Math" panose="02040503050406030204" pitchFamily="18" charset="0"/>
                                      </a:rPr>
                                    </m:ctrlPr>
                                  </m:accPr>
                                  <m:e>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𝑥</m:t>
                                        </m:r>
                                      </m:e>
                                      <m:sub>
                                        <m:r>
                                          <a:rPr lang="en-US" altLang="zh-CN" sz="1800" i="1">
                                            <a:latin typeface="Cambria Math" panose="02040503050406030204" pitchFamily="18" charset="0"/>
                                            <a:ea typeface="Cambria Math" panose="02040503050406030204" pitchFamily="18" charset="0"/>
                                          </a:rPr>
                                          <m:t>𝑖</m:t>
                                        </m:r>
                                      </m:sub>
                                    </m:sSub>
                                  </m:e>
                                </m:acc>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𝜇</m:t>
                                    </m:r>
                                  </m:e>
                                  <m:sub>
                                    <m:r>
                                      <a:rPr lang="en-US" altLang="zh-CN" sz="1800" i="1">
                                        <a:latin typeface="Cambria Math" panose="02040503050406030204" pitchFamily="18" charset="0"/>
                                      </a:rPr>
                                      <m:t>𝑘</m:t>
                                    </m:r>
                                  </m:sub>
                                </m:sSub>
                              </m:e>
                            </m:d>
                          </m:e>
                          <m:sup>
                            <m:r>
                              <a:rPr lang="en-US" altLang="zh-CN" sz="1800" b="0" i="1" smtClean="0">
                                <a:latin typeface="Cambria Math" panose="02040503050406030204" pitchFamily="18" charset="0"/>
                                <a:ea typeface="Cambria Math" panose="02040503050406030204" pitchFamily="18" charset="0"/>
                              </a:rPr>
                              <m:t>′</m:t>
                            </m:r>
                          </m:sup>
                        </m:sSup>
                        <m:sSup>
                          <m:sSupPr>
                            <m:ctrlPr>
                              <a:rPr lang="en-US" altLang="zh-CN" sz="1800" i="1">
                                <a:latin typeface="Cambria Math" panose="02040503050406030204" pitchFamily="18" charset="0"/>
                                <a:ea typeface="Cambria Math" panose="02040503050406030204" pitchFamily="18" charset="0"/>
                              </a:rPr>
                            </m:ctrlPr>
                          </m:sSupPr>
                          <m:e>
                            <m:sSub>
                              <m:sSubPr>
                                <m:ctrlPr>
                                  <a:rPr lang="en-US" altLang="zh-CN" sz="1800" i="1">
                                    <a:latin typeface="Cambria Math" panose="02040503050406030204" pitchFamily="18" charset="0"/>
                                  </a:rPr>
                                </m:ctrlPr>
                              </m:sSubPr>
                              <m:e>
                                <m:r>
                                  <m:rPr>
                                    <m:sty m:val="p"/>
                                  </m:rPr>
                                  <a:rPr lang="el-GR" altLang="zh-CN" sz="1800" i="1">
                                    <a:latin typeface="Cambria Math" panose="02040503050406030204" pitchFamily="18" charset="0"/>
                                    <a:ea typeface="Cambria Math" panose="02040503050406030204" pitchFamily="18" charset="0"/>
                                  </a:rPr>
                                  <m:t>Σ</m:t>
                                </m:r>
                              </m:e>
                              <m:sub>
                                <m:r>
                                  <a:rPr lang="en-US" altLang="zh-CN" sz="1800" i="1">
                                    <a:latin typeface="Cambria Math" panose="02040503050406030204" pitchFamily="18" charset="0"/>
                                  </a:rPr>
                                  <m:t>𝑘</m:t>
                                </m:r>
                              </m:sub>
                            </m:sSub>
                          </m:e>
                          <m:sup>
                            <m:r>
                              <a:rPr lang="en-US" altLang="zh-CN" sz="1800" i="1">
                                <a:latin typeface="Cambria Math" panose="02040503050406030204" pitchFamily="18" charset="0"/>
                                <a:ea typeface="Cambria Math" panose="02040503050406030204" pitchFamily="18" charset="0"/>
                              </a:rPr>
                              <m:t>−1</m:t>
                            </m:r>
                          </m:sup>
                        </m:sSup>
                        <m:r>
                          <a:rPr lang="en-US" altLang="zh-CN" sz="1800" b="0" i="1" smtClean="0">
                            <a:latin typeface="Cambria Math" panose="02040503050406030204" pitchFamily="18" charset="0"/>
                            <a:ea typeface="Cambria Math" panose="02040503050406030204" pitchFamily="18" charset="0"/>
                          </a:rPr>
                          <m:t>=0</m:t>
                        </m:r>
                      </m:e>
                    </m:nary>
                  </m:oMath>
                </a14:m>
                <a:endParaRPr lang="en-US" altLang="zh-CN" sz="1800" dirty="0" smtClean="0">
                  <a:latin typeface="+mn-ea"/>
                </a:endParaRPr>
              </a:p>
              <a:p>
                <a14:m>
                  <m:oMath xmlns:m="http://schemas.openxmlformats.org/officeDocument/2006/math">
                    <m:sSub>
                      <m:sSubPr>
                        <m:ctrlPr>
                          <a:rPr lang="el-GR" altLang="zh-CN" sz="1800" i="1">
                            <a:latin typeface="Cambria Math" panose="02040503050406030204" pitchFamily="18" charset="0"/>
                            <a:ea typeface="Cambria Math" panose="02040503050406030204" pitchFamily="18" charset="0"/>
                          </a:rPr>
                        </m:ctrlPr>
                      </m:sSubPr>
                      <m:e>
                        <m:r>
                          <m:rPr>
                            <m:sty m:val="p"/>
                          </m:rPr>
                          <a:rPr lang="el-GR" altLang="zh-CN" sz="1800" i="1">
                            <a:latin typeface="Cambria Math" panose="02040503050406030204" pitchFamily="18" charset="0"/>
                            <a:ea typeface="Cambria Math" panose="02040503050406030204" pitchFamily="18" charset="0"/>
                          </a:rPr>
                          <m:t>Σ</m:t>
                        </m:r>
                      </m:e>
                      <m:sub>
                        <m:r>
                          <a:rPr lang="en-US" altLang="zh-CN" sz="1800" i="1">
                            <a:latin typeface="Cambria Math" panose="02040503050406030204" pitchFamily="18" charset="0"/>
                            <a:ea typeface="Cambria Math" panose="02040503050406030204" pitchFamily="18" charset="0"/>
                          </a:rPr>
                          <m:t>𝑘</m:t>
                        </m:r>
                      </m:sub>
                    </m:sSub>
                    <m:r>
                      <a:rPr lang="en-US" altLang="zh-CN" sz="1800" b="0" i="1" smtClean="0">
                        <a:latin typeface="Cambria Math" panose="02040503050406030204" pitchFamily="18" charset="0"/>
                        <a:ea typeface="Cambria Math" panose="02040503050406030204" pitchFamily="18" charset="0"/>
                      </a:rPr>
                      <m:t>=</m:t>
                    </m:r>
                    <m:f>
                      <m:fPr>
                        <m:ctrlPr>
                          <a:rPr lang="en-US" altLang="zh-CN" sz="1800" b="0" i="1" smtClean="0">
                            <a:latin typeface="Cambria Math" panose="02040503050406030204" pitchFamily="18" charset="0"/>
                            <a:ea typeface="Cambria Math" panose="02040503050406030204" pitchFamily="18" charset="0"/>
                          </a:rPr>
                        </m:ctrlPr>
                      </m:fPr>
                      <m:num>
                        <m:nary>
                          <m:naryPr>
                            <m:chr m:val="∑"/>
                            <m:limLoc m:val="subSup"/>
                            <m:ctrlPr>
                              <a:rPr lang="en-US" altLang="zh-CN" sz="1800" b="0" i="1" smtClean="0">
                                <a:latin typeface="Cambria Math" panose="02040503050406030204" pitchFamily="18" charset="0"/>
                                <a:ea typeface="Cambria Math" panose="02040503050406030204" pitchFamily="18" charset="0"/>
                              </a:rPr>
                            </m:ctrlPr>
                          </m:naryPr>
                          <m:sub>
                            <m:r>
                              <m:rPr>
                                <m:brk m:alnAt="25"/>
                              </m:rPr>
                              <a:rPr lang="en-US" altLang="zh-CN" sz="1800" b="0" i="1" smtClean="0">
                                <a:latin typeface="Cambria Math" panose="02040503050406030204" pitchFamily="18" charset="0"/>
                                <a:ea typeface="Cambria Math" panose="02040503050406030204" pitchFamily="18" charset="0"/>
                              </a:rPr>
                              <m:t>𝑖</m:t>
                            </m:r>
                            <m:r>
                              <a:rPr lang="en-US" altLang="zh-CN" sz="1800" b="0" i="1" smtClean="0">
                                <a:latin typeface="Cambria Math" panose="02040503050406030204" pitchFamily="18" charset="0"/>
                                <a:ea typeface="Cambria Math" panose="02040503050406030204" pitchFamily="18" charset="0"/>
                              </a:rPr>
                              <m:t>=1</m:t>
                            </m:r>
                          </m:sub>
                          <m:sup>
                            <m:r>
                              <a:rPr lang="en-US" altLang="zh-CN" sz="1800" b="0" i="1" smtClean="0">
                                <a:latin typeface="Cambria Math" panose="02040503050406030204" pitchFamily="18" charset="0"/>
                                <a:ea typeface="Cambria Math" panose="02040503050406030204" pitchFamily="18" charset="0"/>
                              </a:rPr>
                              <m:t>𝑛</m:t>
                            </m:r>
                          </m:sup>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𝐸</m:t>
                                </m:r>
                                <m:r>
                                  <a:rPr lang="en-US" altLang="zh-CN" sz="1800" i="1">
                                    <a:latin typeface="Cambria Math" panose="02040503050406030204" pitchFamily="18" charset="0"/>
                                  </a:rPr>
                                  <m:t>(</m:t>
                                </m:r>
                                <m:r>
                                  <a:rPr lang="en-US" altLang="zh-CN" sz="1800" i="1">
                                    <a:latin typeface="Cambria Math" panose="02040503050406030204" pitchFamily="18" charset="0"/>
                                  </a:rPr>
                                  <m:t>𝑧</m:t>
                                </m:r>
                              </m:e>
                              <m:sub>
                                <m:r>
                                  <a:rPr lang="en-US" altLang="zh-CN" sz="1800" i="1">
                                    <a:latin typeface="Cambria Math" panose="02040503050406030204" pitchFamily="18" charset="0"/>
                                  </a:rPr>
                                  <m:t>𝑖𝑘</m:t>
                                </m:r>
                              </m:sub>
                            </m:sSub>
                            <m:r>
                              <a:rPr lang="en-US" altLang="zh-CN" sz="1800" i="1">
                                <a:latin typeface="Cambria Math" panose="02040503050406030204" pitchFamily="18" charset="0"/>
                              </a:rPr>
                              <m:t>)</m:t>
                            </m:r>
                            <m:d>
                              <m:dPr>
                                <m:ctrlPr>
                                  <a:rPr lang="en-US" altLang="zh-CN" sz="1800" i="1">
                                    <a:latin typeface="Cambria Math" panose="02040503050406030204" pitchFamily="18" charset="0"/>
                                    <a:ea typeface="Cambria Math" panose="02040503050406030204" pitchFamily="18" charset="0"/>
                                  </a:rPr>
                                </m:ctrlPr>
                              </m:dPr>
                              <m:e>
                                <m:acc>
                                  <m:accPr>
                                    <m:chr m:val="⃑"/>
                                    <m:ctrlPr>
                                      <a:rPr lang="en-US" altLang="zh-CN" sz="1800" i="1">
                                        <a:latin typeface="Cambria Math" panose="02040503050406030204" pitchFamily="18" charset="0"/>
                                        <a:ea typeface="Cambria Math" panose="02040503050406030204" pitchFamily="18" charset="0"/>
                                      </a:rPr>
                                    </m:ctrlPr>
                                  </m:accPr>
                                  <m:e>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𝑥</m:t>
                                        </m:r>
                                      </m:e>
                                      <m:sub>
                                        <m:r>
                                          <a:rPr lang="en-US" altLang="zh-CN" sz="1800" i="1">
                                            <a:latin typeface="Cambria Math" panose="02040503050406030204" pitchFamily="18" charset="0"/>
                                            <a:ea typeface="Cambria Math" panose="02040503050406030204" pitchFamily="18" charset="0"/>
                                          </a:rPr>
                                          <m:t>𝑖</m:t>
                                        </m:r>
                                      </m:sub>
                                    </m:sSub>
                                  </m:e>
                                </m:acc>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𝜇</m:t>
                                    </m:r>
                                  </m:e>
                                  <m:sub>
                                    <m:r>
                                      <a:rPr lang="en-US" altLang="zh-CN" sz="1800" i="1">
                                        <a:latin typeface="Cambria Math" panose="02040503050406030204" pitchFamily="18" charset="0"/>
                                      </a:rPr>
                                      <m:t>𝑘</m:t>
                                    </m:r>
                                  </m:sub>
                                </m:sSub>
                              </m:e>
                            </m:d>
                            <m:sSup>
                              <m:sSupPr>
                                <m:ctrlPr>
                                  <a:rPr lang="en-US" altLang="zh-CN" sz="1800" i="1">
                                    <a:latin typeface="Cambria Math" panose="02040503050406030204" pitchFamily="18" charset="0"/>
                                    <a:ea typeface="Cambria Math" panose="02040503050406030204" pitchFamily="18" charset="0"/>
                                  </a:rPr>
                                </m:ctrlPr>
                              </m:sSupPr>
                              <m:e>
                                <m:d>
                                  <m:dPr>
                                    <m:ctrlPr>
                                      <a:rPr lang="en-US" altLang="zh-CN" sz="1800" i="1">
                                        <a:latin typeface="Cambria Math" panose="02040503050406030204" pitchFamily="18" charset="0"/>
                                        <a:ea typeface="Cambria Math" panose="02040503050406030204" pitchFamily="18" charset="0"/>
                                      </a:rPr>
                                    </m:ctrlPr>
                                  </m:dPr>
                                  <m:e>
                                    <m:acc>
                                      <m:accPr>
                                        <m:chr m:val="⃑"/>
                                        <m:ctrlPr>
                                          <a:rPr lang="en-US" altLang="zh-CN" sz="1800" i="1">
                                            <a:latin typeface="Cambria Math" panose="02040503050406030204" pitchFamily="18" charset="0"/>
                                            <a:ea typeface="Cambria Math" panose="02040503050406030204" pitchFamily="18" charset="0"/>
                                          </a:rPr>
                                        </m:ctrlPr>
                                      </m:accPr>
                                      <m:e>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𝑥</m:t>
                                            </m:r>
                                          </m:e>
                                          <m:sub>
                                            <m:r>
                                              <a:rPr lang="en-US" altLang="zh-CN" sz="1800" i="1">
                                                <a:latin typeface="Cambria Math" panose="02040503050406030204" pitchFamily="18" charset="0"/>
                                                <a:ea typeface="Cambria Math" panose="02040503050406030204" pitchFamily="18" charset="0"/>
                                              </a:rPr>
                                              <m:t>𝑖</m:t>
                                            </m:r>
                                          </m:sub>
                                        </m:sSub>
                                      </m:e>
                                    </m:acc>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𝜇</m:t>
                                        </m:r>
                                      </m:e>
                                      <m:sub>
                                        <m:r>
                                          <a:rPr lang="en-US" altLang="zh-CN" sz="1800" i="1">
                                            <a:latin typeface="Cambria Math" panose="02040503050406030204" pitchFamily="18" charset="0"/>
                                          </a:rPr>
                                          <m:t>𝑘</m:t>
                                        </m:r>
                                      </m:sub>
                                    </m:sSub>
                                  </m:e>
                                </m:d>
                              </m:e>
                              <m:sup>
                                <m:r>
                                  <a:rPr lang="en-US" altLang="zh-CN" sz="1800" i="1">
                                    <a:latin typeface="Cambria Math" panose="02040503050406030204" pitchFamily="18" charset="0"/>
                                    <a:ea typeface="Cambria Math" panose="02040503050406030204" pitchFamily="18" charset="0"/>
                                  </a:rPr>
                                  <m:t>′</m:t>
                                </m:r>
                              </m:sup>
                            </m:sSup>
                          </m:e>
                        </m:nary>
                      </m:num>
                      <m:den>
                        <m:nary>
                          <m:naryPr>
                            <m:chr m:val="∑"/>
                            <m:limLoc m:val="subSup"/>
                            <m:ctrlPr>
                              <a:rPr lang="en-US" altLang="zh-CN" sz="1800" b="0" i="1" smtClean="0">
                                <a:latin typeface="Cambria Math" panose="02040503050406030204" pitchFamily="18" charset="0"/>
                                <a:ea typeface="Cambria Math" panose="02040503050406030204" pitchFamily="18" charset="0"/>
                              </a:rPr>
                            </m:ctrlPr>
                          </m:naryPr>
                          <m:sub>
                            <m:r>
                              <m:rPr>
                                <m:brk m:alnAt="25"/>
                              </m:rPr>
                              <a:rPr lang="en-US" altLang="zh-CN" sz="1800" b="0" i="1" smtClean="0">
                                <a:latin typeface="Cambria Math" panose="02040503050406030204" pitchFamily="18" charset="0"/>
                                <a:ea typeface="Cambria Math" panose="02040503050406030204" pitchFamily="18" charset="0"/>
                              </a:rPr>
                              <m:t>𝑖</m:t>
                            </m:r>
                            <m:r>
                              <a:rPr lang="en-US" altLang="zh-CN" sz="1800" b="0" i="1" smtClean="0">
                                <a:latin typeface="Cambria Math" panose="02040503050406030204" pitchFamily="18" charset="0"/>
                                <a:ea typeface="Cambria Math" panose="02040503050406030204" pitchFamily="18" charset="0"/>
                              </a:rPr>
                              <m:t>=1</m:t>
                            </m:r>
                          </m:sub>
                          <m:sup>
                            <m:r>
                              <a:rPr lang="en-US" altLang="zh-CN" sz="1800" b="0" i="1" smtClean="0">
                                <a:latin typeface="Cambria Math" panose="02040503050406030204" pitchFamily="18" charset="0"/>
                                <a:ea typeface="Cambria Math" panose="02040503050406030204" pitchFamily="18" charset="0"/>
                              </a:rPr>
                              <m:t>𝑛</m:t>
                            </m:r>
                          </m:sup>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𝐸</m:t>
                                </m:r>
                                <m:r>
                                  <a:rPr lang="en-US" altLang="zh-CN" sz="1800" i="1">
                                    <a:latin typeface="Cambria Math" panose="02040503050406030204" pitchFamily="18" charset="0"/>
                                  </a:rPr>
                                  <m:t>(</m:t>
                                </m:r>
                                <m:r>
                                  <a:rPr lang="en-US" altLang="zh-CN" sz="1800" i="1">
                                    <a:latin typeface="Cambria Math" panose="02040503050406030204" pitchFamily="18" charset="0"/>
                                  </a:rPr>
                                  <m:t>𝑧</m:t>
                                </m:r>
                              </m:e>
                              <m:sub>
                                <m:r>
                                  <a:rPr lang="en-US" altLang="zh-CN" sz="1800" i="1">
                                    <a:latin typeface="Cambria Math" panose="02040503050406030204" pitchFamily="18" charset="0"/>
                                  </a:rPr>
                                  <m:t>𝑖𝑘</m:t>
                                </m:r>
                              </m:sub>
                            </m:sSub>
                            <m:r>
                              <a:rPr lang="en-US" altLang="zh-CN" sz="1800" i="1">
                                <a:latin typeface="Cambria Math" panose="02040503050406030204" pitchFamily="18" charset="0"/>
                              </a:rPr>
                              <m:t>)</m:t>
                            </m:r>
                          </m:e>
                        </m:nary>
                      </m:den>
                    </m:f>
                    <m:r>
                      <a:rPr lang="en-US" altLang="zh-CN" sz="1800" b="0" i="1" smtClean="0">
                        <a:latin typeface="Cambria Math" panose="02040503050406030204" pitchFamily="18" charset="0"/>
                        <a:ea typeface="Cambria Math" panose="02040503050406030204" pitchFamily="18" charset="0"/>
                      </a:rPr>
                      <m:t>=</m:t>
                    </m:r>
                    <m:f>
                      <m:fPr>
                        <m:ctrlPr>
                          <a:rPr lang="en-US" altLang="zh-CN" sz="1800" i="1">
                            <a:latin typeface="Cambria Math" panose="02040503050406030204" pitchFamily="18" charset="0"/>
                            <a:ea typeface="Cambria Math" panose="02040503050406030204" pitchFamily="18" charset="0"/>
                          </a:rPr>
                        </m:ctrlPr>
                      </m:fPr>
                      <m:num>
                        <m:nary>
                          <m:naryPr>
                            <m:chr m:val="∑"/>
                            <m:limLoc m:val="subSup"/>
                            <m:ctrlPr>
                              <a:rPr lang="en-US" altLang="zh-CN" sz="1800" i="1">
                                <a:latin typeface="Cambria Math" panose="02040503050406030204" pitchFamily="18" charset="0"/>
                                <a:ea typeface="Cambria Math" panose="02040503050406030204" pitchFamily="18" charset="0"/>
                              </a:rPr>
                            </m:ctrlPr>
                          </m:naryPr>
                          <m:sub>
                            <m:r>
                              <m:rPr>
                                <m:brk m:alnAt="25"/>
                              </m:rPr>
                              <a:rPr lang="en-US" altLang="zh-CN" sz="1800" i="1">
                                <a:latin typeface="Cambria Math" panose="02040503050406030204" pitchFamily="18" charset="0"/>
                                <a:ea typeface="Cambria Math" panose="02040503050406030204" pitchFamily="18" charset="0"/>
                              </a:rPr>
                              <m:t>𝑖</m:t>
                            </m:r>
                            <m:r>
                              <a:rPr lang="en-US" altLang="zh-CN" sz="1800" i="1">
                                <a:latin typeface="Cambria Math" panose="02040503050406030204" pitchFamily="18" charset="0"/>
                                <a:ea typeface="Cambria Math" panose="02040503050406030204" pitchFamily="18" charset="0"/>
                              </a:rPr>
                              <m:t>=1</m:t>
                            </m:r>
                          </m:sub>
                          <m:sup>
                            <m:r>
                              <a:rPr lang="en-US" altLang="zh-CN" sz="1800" i="1">
                                <a:latin typeface="Cambria Math" panose="02040503050406030204" pitchFamily="18" charset="0"/>
                                <a:ea typeface="Cambria Math" panose="02040503050406030204" pitchFamily="18" charset="0"/>
                              </a:rPr>
                              <m:t>𝑛</m:t>
                            </m:r>
                          </m:sup>
                          <m:e>
                            <m:r>
                              <a:rPr lang="en-US" altLang="zh-CN" sz="1800" b="0" i="1" smtClean="0">
                                <a:latin typeface="Cambria Math" panose="02040503050406030204" pitchFamily="18" charset="0"/>
                                <a:ea typeface="Cambria Math" panose="02040503050406030204" pitchFamily="18" charset="0"/>
                              </a:rPr>
                              <m:t>𝑝</m:t>
                            </m:r>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𝑧</m:t>
                                    </m:r>
                                  </m:e>
                                  <m:sub>
                                    <m:r>
                                      <a:rPr lang="en-US" altLang="zh-CN" sz="1800" i="1">
                                        <a:latin typeface="Cambria Math" panose="02040503050406030204" pitchFamily="18" charset="0"/>
                                      </a:rPr>
                                      <m:t>𝑖𝑘</m:t>
                                    </m:r>
                                  </m:sub>
                                </m:sSub>
                                <m:r>
                                  <a:rPr lang="en-US" altLang="zh-CN" sz="1800" i="1">
                                    <a:latin typeface="Cambria Math" panose="02040503050406030204" pitchFamily="18" charset="0"/>
                                  </a:rPr>
                                  <m:t>=1</m:t>
                                </m:r>
                              </m:e>
                              <m:e>
                                <m:acc>
                                  <m:accPr>
                                    <m:chr m:val="⃑"/>
                                    <m:ctrlPr>
                                      <a:rPr lang="en-US" altLang="zh-CN" sz="1800" i="1">
                                        <a:latin typeface="Cambria Math" panose="02040503050406030204" pitchFamily="18" charset="0"/>
                                        <a:ea typeface="Cambria Math" panose="02040503050406030204" pitchFamily="18" charset="0"/>
                                      </a:rPr>
                                    </m:ctrlPr>
                                  </m:accPr>
                                  <m:e>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𝑥</m:t>
                                        </m:r>
                                      </m:e>
                                      <m:sub>
                                        <m:r>
                                          <a:rPr lang="en-US" altLang="zh-CN" sz="1800" i="1">
                                            <a:latin typeface="Cambria Math" panose="02040503050406030204" pitchFamily="18" charset="0"/>
                                            <a:ea typeface="Cambria Math" panose="02040503050406030204" pitchFamily="18" charset="0"/>
                                          </a:rPr>
                                          <m:t>𝑖</m:t>
                                        </m:r>
                                      </m:sub>
                                    </m:sSub>
                                  </m:e>
                                </m:acc>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𝜇</m:t>
                                    </m:r>
                                  </m:e>
                                  <m:sub>
                                    <m:r>
                                      <a:rPr lang="en-US" altLang="zh-CN" sz="1800" i="1">
                                        <a:latin typeface="Cambria Math" panose="02040503050406030204" pitchFamily="18" charset="0"/>
                                      </a:rPr>
                                      <m:t>𝑘</m:t>
                                    </m:r>
                                  </m:sub>
                                </m:sSub>
                                <m:r>
                                  <a:rPr lang="en-US" altLang="zh-CN" sz="1800" i="1">
                                    <a:latin typeface="Cambria Math" panose="02040503050406030204" pitchFamily="18" charset="0"/>
                                  </a:rPr>
                                  <m:t>,</m:t>
                                </m:r>
                                <m:sSub>
                                  <m:sSubPr>
                                    <m:ctrlPr>
                                      <a:rPr lang="el-GR" altLang="zh-CN" sz="1800" i="1">
                                        <a:latin typeface="Cambria Math" panose="02040503050406030204" pitchFamily="18" charset="0"/>
                                        <a:ea typeface="Cambria Math" panose="02040503050406030204" pitchFamily="18" charset="0"/>
                                      </a:rPr>
                                    </m:ctrlPr>
                                  </m:sSubPr>
                                  <m:e>
                                    <m:r>
                                      <m:rPr>
                                        <m:sty m:val="p"/>
                                      </m:rPr>
                                      <a:rPr lang="el-GR" altLang="zh-CN" sz="1800" i="1">
                                        <a:latin typeface="Cambria Math" panose="02040503050406030204" pitchFamily="18" charset="0"/>
                                        <a:ea typeface="Cambria Math" panose="02040503050406030204" pitchFamily="18" charset="0"/>
                                      </a:rPr>
                                      <m:t>Σ</m:t>
                                    </m:r>
                                  </m:e>
                                  <m:sub>
                                    <m:r>
                                      <a:rPr lang="en-US" altLang="zh-CN" sz="1800" i="1">
                                        <a:latin typeface="Cambria Math" panose="02040503050406030204" pitchFamily="18" charset="0"/>
                                        <a:ea typeface="Cambria Math" panose="02040503050406030204" pitchFamily="18" charset="0"/>
                                      </a:rPr>
                                      <m:t>𝑘</m:t>
                                    </m:r>
                                  </m:sub>
                                </m:sSub>
                              </m:e>
                            </m:d>
                            <m:d>
                              <m:dPr>
                                <m:ctrlPr>
                                  <a:rPr lang="en-US" altLang="zh-CN" sz="1800" i="1">
                                    <a:latin typeface="Cambria Math" panose="02040503050406030204" pitchFamily="18" charset="0"/>
                                    <a:ea typeface="Cambria Math" panose="02040503050406030204" pitchFamily="18" charset="0"/>
                                  </a:rPr>
                                </m:ctrlPr>
                              </m:dPr>
                              <m:e>
                                <m:acc>
                                  <m:accPr>
                                    <m:chr m:val="⃑"/>
                                    <m:ctrlPr>
                                      <a:rPr lang="en-US" altLang="zh-CN" sz="1800" i="1">
                                        <a:latin typeface="Cambria Math" panose="02040503050406030204" pitchFamily="18" charset="0"/>
                                        <a:ea typeface="Cambria Math" panose="02040503050406030204" pitchFamily="18" charset="0"/>
                                      </a:rPr>
                                    </m:ctrlPr>
                                  </m:accPr>
                                  <m:e>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𝑥</m:t>
                                        </m:r>
                                      </m:e>
                                      <m:sub>
                                        <m:r>
                                          <a:rPr lang="en-US" altLang="zh-CN" sz="1800" i="1">
                                            <a:latin typeface="Cambria Math" panose="02040503050406030204" pitchFamily="18" charset="0"/>
                                            <a:ea typeface="Cambria Math" panose="02040503050406030204" pitchFamily="18" charset="0"/>
                                          </a:rPr>
                                          <m:t>𝑖</m:t>
                                        </m:r>
                                      </m:sub>
                                    </m:sSub>
                                  </m:e>
                                </m:acc>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𝜇</m:t>
                                    </m:r>
                                  </m:e>
                                  <m:sub>
                                    <m:r>
                                      <a:rPr lang="en-US" altLang="zh-CN" sz="1800" i="1">
                                        <a:latin typeface="Cambria Math" panose="02040503050406030204" pitchFamily="18" charset="0"/>
                                      </a:rPr>
                                      <m:t>𝑘</m:t>
                                    </m:r>
                                  </m:sub>
                                </m:sSub>
                              </m:e>
                            </m:d>
                            <m:sSup>
                              <m:sSupPr>
                                <m:ctrlPr>
                                  <a:rPr lang="en-US" altLang="zh-CN" sz="1800" i="1">
                                    <a:latin typeface="Cambria Math" panose="02040503050406030204" pitchFamily="18" charset="0"/>
                                    <a:ea typeface="Cambria Math" panose="02040503050406030204" pitchFamily="18" charset="0"/>
                                  </a:rPr>
                                </m:ctrlPr>
                              </m:sSupPr>
                              <m:e>
                                <m:d>
                                  <m:dPr>
                                    <m:ctrlPr>
                                      <a:rPr lang="en-US" altLang="zh-CN" sz="1800" i="1">
                                        <a:latin typeface="Cambria Math" panose="02040503050406030204" pitchFamily="18" charset="0"/>
                                        <a:ea typeface="Cambria Math" panose="02040503050406030204" pitchFamily="18" charset="0"/>
                                      </a:rPr>
                                    </m:ctrlPr>
                                  </m:dPr>
                                  <m:e>
                                    <m:acc>
                                      <m:accPr>
                                        <m:chr m:val="⃑"/>
                                        <m:ctrlPr>
                                          <a:rPr lang="en-US" altLang="zh-CN" sz="1800" i="1">
                                            <a:latin typeface="Cambria Math" panose="02040503050406030204" pitchFamily="18" charset="0"/>
                                            <a:ea typeface="Cambria Math" panose="02040503050406030204" pitchFamily="18" charset="0"/>
                                          </a:rPr>
                                        </m:ctrlPr>
                                      </m:accPr>
                                      <m:e>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𝑥</m:t>
                                            </m:r>
                                          </m:e>
                                          <m:sub>
                                            <m:r>
                                              <a:rPr lang="en-US" altLang="zh-CN" sz="1800" i="1">
                                                <a:latin typeface="Cambria Math" panose="02040503050406030204" pitchFamily="18" charset="0"/>
                                                <a:ea typeface="Cambria Math" panose="02040503050406030204" pitchFamily="18" charset="0"/>
                                              </a:rPr>
                                              <m:t>𝑖</m:t>
                                            </m:r>
                                          </m:sub>
                                        </m:sSub>
                                      </m:e>
                                    </m:acc>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𝜇</m:t>
                                        </m:r>
                                      </m:e>
                                      <m:sub>
                                        <m:r>
                                          <a:rPr lang="en-US" altLang="zh-CN" sz="1800" i="1">
                                            <a:latin typeface="Cambria Math" panose="02040503050406030204" pitchFamily="18" charset="0"/>
                                          </a:rPr>
                                          <m:t>𝑘</m:t>
                                        </m:r>
                                      </m:sub>
                                    </m:sSub>
                                  </m:e>
                                </m:d>
                              </m:e>
                              <m:sup>
                                <m:r>
                                  <a:rPr lang="en-US" altLang="zh-CN" sz="1800" i="1">
                                    <a:latin typeface="Cambria Math" panose="02040503050406030204" pitchFamily="18" charset="0"/>
                                    <a:ea typeface="Cambria Math" panose="02040503050406030204" pitchFamily="18" charset="0"/>
                                  </a:rPr>
                                  <m:t>′</m:t>
                                </m:r>
                              </m:sup>
                            </m:sSup>
                          </m:e>
                        </m:nary>
                      </m:num>
                      <m:den>
                        <m:nary>
                          <m:naryPr>
                            <m:chr m:val="∑"/>
                            <m:limLoc m:val="subSup"/>
                            <m:ctrlPr>
                              <a:rPr lang="en-US" altLang="zh-CN" sz="1800" i="1">
                                <a:latin typeface="Cambria Math" panose="02040503050406030204" pitchFamily="18" charset="0"/>
                                <a:ea typeface="Cambria Math" panose="02040503050406030204" pitchFamily="18" charset="0"/>
                              </a:rPr>
                            </m:ctrlPr>
                          </m:naryPr>
                          <m:sub>
                            <m:r>
                              <m:rPr>
                                <m:brk m:alnAt="25"/>
                              </m:rPr>
                              <a:rPr lang="en-US" altLang="zh-CN" sz="1800" i="1">
                                <a:latin typeface="Cambria Math" panose="02040503050406030204" pitchFamily="18" charset="0"/>
                                <a:ea typeface="Cambria Math" panose="02040503050406030204" pitchFamily="18" charset="0"/>
                              </a:rPr>
                              <m:t>𝑖</m:t>
                            </m:r>
                            <m:r>
                              <a:rPr lang="en-US" altLang="zh-CN" sz="1800" i="1">
                                <a:latin typeface="Cambria Math" panose="02040503050406030204" pitchFamily="18" charset="0"/>
                                <a:ea typeface="Cambria Math" panose="02040503050406030204" pitchFamily="18" charset="0"/>
                              </a:rPr>
                              <m:t>=1</m:t>
                            </m:r>
                          </m:sub>
                          <m:sup>
                            <m:r>
                              <a:rPr lang="en-US" altLang="zh-CN" sz="1800" i="1">
                                <a:latin typeface="Cambria Math" panose="02040503050406030204" pitchFamily="18" charset="0"/>
                                <a:ea typeface="Cambria Math" panose="02040503050406030204" pitchFamily="18" charset="0"/>
                              </a:rPr>
                              <m:t>𝑛</m:t>
                            </m:r>
                          </m:sup>
                          <m:e>
                            <m:r>
                              <a:rPr lang="en-US" altLang="zh-CN" sz="1800" b="0" i="1" smtClean="0">
                                <a:latin typeface="Cambria Math" panose="02040503050406030204" pitchFamily="18" charset="0"/>
                                <a:ea typeface="Cambria Math" panose="02040503050406030204" pitchFamily="18" charset="0"/>
                              </a:rPr>
                              <m:t>𝑝</m:t>
                            </m:r>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𝑧</m:t>
                                    </m:r>
                                  </m:e>
                                  <m:sub>
                                    <m:r>
                                      <a:rPr lang="en-US" altLang="zh-CN" sz="1800" i="1">
                                        <a:latin typeface="Cambria Math" panose="02040503050406030204" pitchFamily="18" charset="0"/>
                                      </a:rPr>
                                      <m:t>𝑖𝑘</m:t>
                                    </m:r>
                                  </m:sub>
                                </m:sSub>
                                <m:r>
                                  <a:rPr lang="en-US" altLang="zh-CN" sz="1800" i="1">
                                    <a:latin typeface="Cambria Math" panose="02040503050406030204" pitchFamily="18" charset="0"/>
                                  </a:rPr>
                                  <m:t>=1</m:t>
                                </m:r>
                              </m:e>
                              <m:e>
                                <m:acc>
                                  <m:accPr>
                                    <m:chr m:val="⃑"/>
                                    <m:ctrlPr>
                                      <a:rPr lang="en-US" altLang="zh-CN" sz="1800" i="1">
                                        <a:latin typeface="Cambria Math" panose="02040503050406030204" pitchFamily="18" charset="0"/>
                                        <a:ea typeface="Cambria Math" panose="02040503050406030204" pitchFamily="18" charset="0"/>
                                      </a:rPr>
                                    </m:ctrlPr>
                                  </m:accPr>
                                  <m:e>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𝑥</m:t>
                                        </m:r>
                                      </m:e>
                                      <m:sub>
                                        <m:r>
                                          <a:rPr lang="en-US" altLang="zh-CN" sz="1800" i="1">
                                            <a:latin typeface="Cambria Math" panose="02040503050406030204" pitchFamily="18" charset="0"/>
                                            <a:ea typeface="Cambria Math" panose="02040503050406030204" pitchFamily="18" charset="0"/>
                                          </a:rPr>
                                          <m:t>𝑖</m:t>
                                        </m:r>
                                      </m:sub>
                                    </m:sSub>
                                  </m:e>
                                </m:acc>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𝜇</m:t>
                                    </m:r>
                                  </m:e>
                                  <m:sub>
                                    <m:r>
                                      <a:rPr lang="en-US" altLang="zh-CN" sz="1800" i="1">
                                        <a:latin typeface="Cambria Math" panose="02040503050406030204" pitchFamily="18" charset="0"/>
                                      </a:rPr>
                                      <m:t>𝑘</m:t>
                                    </m:r>
                                  </m:sub>
                                </m:sSub>
                                <m:r>
                                  <a:rPr lang="en-US" altLang="zh-CN" sz="1800" i="1">
                                    <a:latin typeface="Cambria Math" panose="02040503050406030204" pitchFamily="18" charset="0"/>
                                  </a:rPr>
                                  <m:t>,</m:t>
                                </m:r>
                                <m:sSub>
                                  <m:sSubPr>
                                    <m:ctrlPr>
                                      <a:rPr lang="el-GR" altLang="zh-CN" sz="1800" i="1">
                                        <a:latin typeface="Cambria Math" panose="02040503050406030204" pitchFamily="18" charset="0"/>
                                        <a:ea typeface="Cambria Math" panose="02040503050406030204" pitchFamily="18" charset="0"/>
                                      </a:rPr>
                                    </m:ctrlPr>
                                  </m:sSubPr>
                                  <m:e>
                                    <m:r>
                                      <m:rPr>
                                        <m:sty m:val="p"/>
                                      </m:rPr>
                                      <a:rPr lang="el-GR" altLang="zh-CN" sz="1800" i="1">
                                        <a:latin typeface="Cambria Math" panose="02040503050406030204" pitchFamily="18" charset="0"/>
                                        <a:ea typeface="Cambria Math" panose="02040503050406030204" pitchFamily="18" charset="0"/>
                                      </a:rPr>
                                      <m:t>Σ</m:t>
                                    </m:r>
                                  </m:e>
                                  <m:sub>
                                    <m:r>
                                      <a:rPr lang="en-US" altLang="zh-CN" sz="1800" i="1">
                                        <a:latin typeface="Cambria Math" panose="02040503050406030204" pitchFamily="18" charset="0"/>
                                        <a:ea typeface="Cambria Math" panose="02040503050406030204" pitchFamily="18" charset="0"/>
                                      </a:rPr>
                                      <m:t>𝑘</m:t>
                                    </m:r>
                                  </m:sub>
                                </m:sSub>
                              </m:e>
                            </m:d>
                          </m:e>
                        </m:nary>
                      </m:den>
                    </m:f>
                  </m:oMath>
                </a14:m>
                <a:endParaRPr lang="en-US" altLang="zh-CN" sz="1800" dirty="0" smtClean="0">
                  <a:latin typeface="+mn-ea"/>
                </a:endParaRPr>
              </a:p>
              <a:p>
                <a:endParaRPr lang="en-US" altLang="zh-CN" dirty="0" smtClean="0">
                  <a:latin typeface="+mn-ea"/>
                </a:endParaRPr>
              </a:p>
              <a:p>
                <a:endParaRPr lang="en-US" altLang="zh-CN" sz="2000" dirty="0">
                  <a:latin typeface="+mn-ea"/>
                </a:endParaRPr>
              </a:p>
              <a:p>
                <a:pPr marL="0" indent="0">
                  <a:buNone/>
                </a:pPr>
                <a:endParaRPr lang="en-US" altLang="zh-CN" dirty="0" smtClean="0">
                  <a:latin typeface="Cambria Math" panose="02040503050406030204" pitchFamily="18" charset="0"/>
                </a:endParaRPr>
              </a:p>
              <a:p>
                <a:pPr marL="0" indent="0">
                  <a:buNone/>
                </a:pPr>
                <a:endParaRPr lang="en-US" altLang="zh-CN" dirty="0" smtClean="0">
                  <a:latin typeface="Cambria Math" panose="020405030504060302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38200" y="1046602"/>
                <a:ext cx="10515600" cy="5130361"/>
              </a:xfrm>
              <a:blipFill rotWithShape="0">
                <a:blip r:embed="rId2"/>
                <a:stretch>
                  <a:fillRect l="-1043" t="-15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68678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780629"/>
          </a:xfrm>
        </p:spPr>
        <p:txBody>
          <a:bodyPr>
            <a:normAutofit/>
          </a:bodyPr>
          <a:lstStyle/>
          <a:p>
            <a:r>
              <a:rPr lang="en-US" altLang="zh-CN" sz="2400" b="1" dirty="0"/>
              <a:t>Probabilistic Latent Semantic Analysis </a:t>
            </a:r>
            <a:r>
              <a:rPr lang="en-US" altLang="zh-CN" sz="2400" b="1" dirty="0" smtClean="0"/>
              <a:t>Model -Generative </a:t>
            </a:r>
            <a:r>
              <a:rPr lang="en-US" altLang="zh-CN" sz="2400" b="1" dirty="0"/>
              <a:t>Model</a:t>
            </a:r>
            <a:endParaRPr lang="zh-CN" altLang="en-US" sz="2400" b="1" dirty="0"/>
          </a:p>
        </p:txBody>
      </p:sp>
      <p:sp>
        <p:nvSpPr>
          <p:cNvPr id="3" name="内容占位符 2"/>
          <p:cNvSpPr>
            <a:spLocks noGrp="1"/>
          </p:cNvSpPr>
          <p:nvPr>
            <p:ph idx="1"/>
          </p:nvPr>
        </p:nvSpPr>
        <p:spPr>
          <a:xfrm>
            <a:off x="838200" y="1487277"/>
            <a:ext cx="10515600" cy="4689686"/>
          </a:xfrm>
        </p:spPr>
        <p:txBody>
          <a:bodyPr/>
          <a:lstStyle/>
          <a:p>
            <a:r>
              <a:rPr lang="zh-CN" altLang="en-US" sz="2400" dirty="0" smtClean="0"/>
              <a:t>问题提出</a:t>
            </a:r>
            <a:endParaRPr lang="en-US" altLang="zh-CN" sz="2400" dirty="0" smtClean="0"/>
          </a:p>
          <a:p>
            <a:r>
              <a:rPr lang="zh-CN" altLang="en-US" sz="2400" dirty="0" smtClean="0"/>
              <a:t>如果</a:t>
            </a:r>
            <a:r>
              <a:rPr lang="zh-CN" altLang="en-US" sz="2400" dirty="0"/>
              <a:t>时间回到</a:t>
            </a:r>
            <a:r>
              <a:rPr lang="en-US" altLang="zh-CN" sz="2400" dirty="0"/>
              <a:t>2006</a:t>
            </a:r>
            <a:r>
              <a:rPr lang="zh-CN" altLang="en-US" sz="2400" dirty="0"/>
              <a:t>年，马云和杨致远的手还会握在一起</a:t>
            </a:r>
            <a:r>
              <a:rPr lang="zh-CN" altLang="en-US" sz="2400" dirty="0" smtClean="0"/>
              <a:t>吗</a:t>
            </a:r>
            <a:r>
              <a:rPr lang="en-US" altLang="zh-CN" sz="2400" dirty="0" smtClean="0"/>
              <a:t>/</a:t>
            </a:r>
            <a:r>
              <a:rPr lang="zh-CN" altLang="en-US" sz="2400" dirty="0" smtClean="0"/>
              <a:t>阿里巴巴</a:t>
            </a:r>
            <a:r>
              <a:rPr lang="zh-CN" altLang="en-US" sz="2400" dirty="0"/>
              <a:t>集团和雅虎就股权回购一事签署了最终</a:t>
            </a:r>
            <a:r>
              <a:rPr lang="zh-CN" altLang="en-US" sz="2400" dirty="0" smtClean="0"/>
              <a:t>协议</a:t>
            </a:r>
            <a:endParaRPr lang="en-US" altLang="zh-CN" sz="2400" dirty="0" smtClean="0"/>
          </a:p>
          <a:p>
            <a:r>
              <a:rPr lang="zh-CN" altLang="en-US" sz="2000" dirty="0" smtClean="0">
                <a:solidFill>
                  <a:srgbClr val="FF0000"/>
                </a:solidFill>
              </a:rPr>
              <a:t>讲解：两</a:t>
            </a:r>
            <a:r>
              <a:rPr lang="zh-CN" altLang="en-US" sz="2000" dirty="0">
                <a:solidFill>
                  <a:srgbClr val="FF0000"/>
                </a:solidFill>
              </a:rPr>
              <a:t>个文本的完全不相关，但是事实上，马云和阿里巴巴集团，杨致远和雅虎有着密切的联系，从语义上看，两者都和“阿里巴巴</a:t>
            </a:r>
            <a:r>
              <a:rPr lang="en-US" altLang="zh-CN" sz="2000" dirty="0">
                <a:solidFill>
                  <a:srgbClr val="FF0000"/>
                </a:solidFill>
              </a:rPr>
              <a:t>"</a:t>
            </a:r>
            <a:r>
              <a:rPr lang="zh-CN" altLang="en-US" sz="2000" dirty="0">
                <a:solidFill>
                  <a:srgbClr val="FF0000"/>
                </a:solidFill>
              </a:rPr>
              <a:t>有关系。</a:t>
            </a:r>
            <a:endParaRPr lang="en-US" altLang="zh-CN" sz="2000" dirty="0" smtClean="0">
              <a:solidFill>
                <a:srgbClr val="FF0000"/>
              </a:solidFill>
            </a:endParaRPr>
          </a:p>
          <a:p>
            <a:r>
              <a:rPr lang="zh-CN" altLang="en-US" sz="2400" dirty="0" smtClean="0"/>
              <a:t>富士苹果</a:t>
            </a:r>
            <a:r>
              <a:rPr lang="zh-CN" altLang="en-US" sz="2400" dirty="0"/>
              <a:t>真好，赶快</a:t>
            </a:r>
            <a:r>
              <a:rPr lang="zh-CN" altLang="en-US" sz="2400" dirty="0" smtClean="0"/>
              <a:t>买</a:t>
            </a:r>
            <a:r>
              <a:rPr lang="en-US" altLang="zh-CN" sz="2400" dirty="0" smtClean="0"/>
              <a:t>/</a:t>
            </a:r>
            <a:r>
              <a:rPr lang="zh-CN" altLang="en-US" sz="2400" dirty="0" smtClean="0"/>
              <a:t>苹果</a:t>
            </a:r>
            <a:r>
              <a:rPr lang="zh-CN" altLang="en-US" sz="2400" dirty="0"/>
              <a:t>四代真好，赶快</a:t>
            </a:r>
            <a:r>
              <a:rPr lang="zh-CN" altLang="en-US" sz="2400" dirty="0" smtClean="0"/>
              <a:t>买</a:t>
            </a:r>
            <a:endParaRPr lang="en-US" altLang="zh-CN" sz="2400" dirty="0" smtClean="0"/>
          </a:p>
          <a:p>
            <a:r>
              <a:rPr lang="zh-CN" altLang="en-US" sz="2000" dirty="0">
                <a:solidFill>
                  <a:srgbClr val="FF0000"/>
                </a:solidFill>
              </a:rPr>
              <a:t>两者非常相似，但是事实上，</a:t>
            </a:r>
            <a:r>
              <a:rPr lang="en-US" altLang="zh-CN" sz="2000" dirty="0">
                <a:solidFill>
                  <a:srgbClr val="FF0000"/>
                </a:solidFill>
              </a:rPr>
              <a:t>2</a:t>
            </a:r>
            <a:r>
              <a:rPr lang="zh-CN" altLang="en-US" sz="2000" dirty="0">
                <a:solidFill>
                  <a:srgbClr val="FF0000"/>
                </a:solidFill>
              </a:rPr>
              <a:t>个句子从语义上来讲，没有任何关系，一个是”水果“另一个是”手机</a:t>
            </a:r>
            <a:r>
              <a:rPr lang="en-US" altLang="zh-CN" sz="2000" dirty="0">
                <a:solidFill>
                  <a:srgbClr val="FF0000"/>
                </a:solidFill>
              </a:rPr>
              <a:t>"</a:t>
            </a:r>
            <a:r>
              <a:rPr lang="zh-CN" altLang="en-US" sz="2000" dirty="0">
                <a:solidFill>
                  <a:srgbClr val="FF0000"/>
                </a:solidFill>
              </a:rPr>
              <a:t>。</a:t>
            </a:r>
          </a:p>
        </p:txBody>
      </p:sp>
    </p:spTree>
    <p:extLst>
      <p:ext uri="{BB962C8B-B14F-4D97-AF65-F5344CB8AC3E}">
        <p14:creationId xmlns:p14="http://schemas.microsoft.com/office/powerpoint/2010/main" val="24225946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725545"/>
          </a:xfrm>
        </p:spPr>
        <p:txBody>
          <a:bodyPr>
            <a:normAutofit/>
          </a:bodyPr>
          <a:lstStyle/>
          <a:p>
            <a:r>
              <a:rPr lang="en-US" altLang="zh-CN" sz="2400" b="1" dirty="0">
                <a:latin typeface="Times New Roman" panose="02020603050405020304" pitchFamily="18" charset="0"/>
                <a:cs typeface="Times New Roman" panose="02020603050405020304" pitchFamily="18" charset="0"/>
              </a:rPr>
              <a:t>Probabilistic Latent Semantic Analysis </a:t>
            </a:r>
            <a:r>
              <a:rPr lang="en-US" altLang="zh-CN" sz="2400" b="1" dirty="0" smtClean="0">
                <a:latin typeface="Times New Roman" panose="02020603050405020304" pitchFamily="18" charset="0"/>
                <a:cs typeface="Times New Roman" panose="02020603050405020304" pitchFamily="18" charset="0"/>
              </a:rPr>
              <a:t>Model</a:t>
            </a:r>
            <a:r>
              <a:rPr lang="en-US" altLang="zh-CN" sz="2400" b="1" dirty="0"/>
              <a:t> </a:t>
            </a:r>
            <a:r>
              <a:rPr lang="en-US" altLang="zh-CN" sz="2400" b="1" dirty="0" smtClean="0"/>
              <a:t>-Generative </a:t>
            </a:r>
            <a:r>
              <a:rPr lang="en-US" altLang="zh-CN" sz="2400" b="1" dirty="0"/>
              <a:t>Model</a:t>
            </a:r>
            <a:endParaRPr lang="zh-CN" altLang="en-US" sz="2400" dirty="0">
              <a:latin typeface="Times New Roman" panose="02020603050405020304" pitchFamily="18" charset="0"/>
              <a:cs typeface="Times New Roman" panose="02020603050405020304" pitchFamily="18" charset="0"/>
            </a:endParaRPr>
          </a:p>
        </p:txBody>
      </p:sp>
      <p:pic>
        <p:nvPicPr>
          <p:cNvPr id="4" name="内容占位符 3"/>
          <p:cNvPicPr>
            <a:picLocks noGrp="1" noChangeAspect="1"/>
          </p:cNvPicPr>
          <p:nvPr>
            <p:ph idx="1"/>
          </p:nvPr>
        </p:nvPicPr>
        <p:blipFill>
          <a:blip r:embed="rId2"/>
          <a:stretch>
            <a:fillRect/>
          </a:stretch>
        </p:blipFill>
        <p:spPr>
          <a:xfrm>
            <a:off x="6441136" y="1700175"/>
            <a:ext cx="4707991" cy="2200560"/>
          </a:xfrm>
          <a:prstGeom prst="rect">
            <a:avLst/>
          </a:prstGeom>
        </p:spPr>
      </p:pic>
      <mc:AlternateContent xmlns:mc="http://schemas.openxmlformats.org/markup-compatibility/2006" xmlns:a14="http://schemas.microsoft.com/office/drawing/2010/main">
        <mc:Choice Requires="a14">
          <p:sp>
            <p:nvSpPr>
              <p:cNvPr id="6" name="文本框 5"/>
              <p:cNvSpPr txBox="1"/>
              <p:nvPr/>
            </p:nvSpPr>
            <p:spPr>
              <a:xfrm>
                <a:off x="969483" y="1421176"/>
                <a:ext cx="5067759" cy="1963679"/>
              </a:xfrm>
              <a:prstGeom prst="rect">
                <a:avLst/>
              </a:prstGeom>
              <a:noFill/>
            </p:spPr>
            <p:txBody>
              <a:bodyPr wrap="square" rtlCol="0">
                <a:spAutoFit/>
              </a:bodyPr>
              <a:lstStyle/>
              <a:p>
                <a:r>
                  <a:rPr lang="en-US" altLang="zh-CN" sz="2000" dirty="0" smtClean="0"/>
                  <a:t>D</a:t>
                </a:r>
                <a:r>
                  <a:rPr lang="zh-CN" altLang="en-US" sz="2000" dirty="0" smtClean="0"/>
                  <a:t>代表文档，</a:t>
                </a:r>
                <a:r>
                  <a:rPr lang="en-US" altLang="zh-CN" sz="2000" dirty="0" smtClean="0"/>
                  <a:t>Z</a:t>
                </a:r>
                <a:r>
                  <a:rPr lang="zh-CN" altLang="en-US" sz="2000" dirty="0" smtClean="0"/>
                  <a:t>代表隐含类别，</a:t>
                </a:r>
                <a:r>
                  <a:rPr lang="en-US" altLang="zh-CN" sz="2000" dirty="0" smtClean="0"/>
                  <a:t>W</a:t>
                </a:r>
                <a:r>
                  <a:rPr lang="zh-CN" altLang="en-US" sz="2000" dirty="0" smtClean="0"/>
                  <a:t>代表单词；</a:t>
                </a:r>
                <a:endParaRPr lang="en-US" altLang="zh-CN" sz="2000" dirty="0" smtClean="0"/>
              </a:p>
              <a:p>
                <a14:m>
                  <m:oMath xmlns:m="http://schemas.openxmlformats.org/officeDocument/2006/math">
                    <m:r>
                      <m:rPr>
                        <m:sty m:val="p"/>
                      </m:rPr>
                      <a:rPr lang="en-US" altLang="zh-CN" sz="2000" dirty="0">
                        <a:latin typeface="Cambria Math" panose="02040503050406030204" pitchFamily="18" charset="0"/>
                      </a:rPr>
                      <m:t>P</m:t>
                    </m:r>
                    <m:r>
                      <a:rPr lang="en-US" altLang="zh-CN" sz="2000" b="0" i="0" dirty="0" smtClean="0">
                        <a:latin typeface="Cambria Math" panose="02040503050406030204" pitchFamily="18" charset="0"/>
                      </a:rPr>
                      <m:t>(</m:t>
                    </m:r>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𝑑</m:t>
                        </m:r>
                      </m:e>
                      <m:sub>
                        <m:r>
                          <a:rPr lang="en-US" altLang="zh-CN" sz="2000" b="0" i="1" dirty="0" smtClean="0">
                            <a:latin typeface="Cambria Math" panose="02040503050406030204" pitchFamily="18" charset="0"/>
                          </a:rPr>
                          <m:t>𝑖</m:t>
                        </m:r>
                      </m:sub>
                    </m:sSub>
                    <m:r>
                      <a:rPr lang="en-US" altLang="zh-CN" sz="2000" b="0" i="1" dirty="0" smtClean="0">
                        <a:latin typeface="Cambria Math" panose="02040503050406030204" pitchFamily="18" charset="0"/>
                      </a:rPr>
                      <m:t>)</m:t>
                    </m:r>
                  </m:oMath>
                </a14:m>
                <a:r>
                  <a:rPr lang="zh-CN" altLang="en-US" sz="2000" dirty="0" smtClean="0"/>
                  <a:t>表示文档</a:t>
                </a:r>
                <a14:m>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𝑑</m:t>
                        </m:r>
                      </m:e>
                      <m:sub>
                        <m:r>
                          <a:rPr lang="en-US" altLang="zh-CN" sz="2000" b="0" i="1" dirty="0" smtClean="0">
                            <a:latin typeface="Cambria Math" panose="02040503050406030204" pitchFamily="18" charset="0"/>
                          </a:rPr>
                          <m:t>𝑖</m:t>
                        </m:r>
                      </m:sub>
                    </m:sSub>
                  </m:oMath>
                </a14:m>
                <a:r>
                  <a:rPr lang="zh-CN" altLang="en-US" sz="2000" dirty="0" smtClean="0"/>
                  <a:t>的出现概率；</a:t>
                </a:r>
                <a:endParaRPr lang="en-US" altLang="zh-CN" sz="2000" dirty="0" smtClean="0"/>
              </a:p>
              <a:p>
                <a14:m>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𝑃</m:t>
                        </m:r>
                        <m:r>
                          <a:rPr lang="en-US" altLang="zh-CN" sz="2000" b="0" i="1" dirty="0" smtClean="0">
                            <a:latin typeface="Cambria Math" panose="02040503050406030204" pitchFamily="18" charset="0"/>
                          </a:rPr>
                          <m:t>(</m:t>
                        </m:r>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𝑧</m:t>
                            </m:r>
                          </m:e>
                          <m:sub>
                            <m:r>
                              <a:rPr lang="en-US" altLang="zh-CN" sz="2000" b="0" i="1" dirty="0" smtClean="0">
                                <a:latin typeface="Cambria Math" panose="02040503050406030204" pitchFamily="18" charset="0"/>
                              </a:rPr>
                              <m:t>𝑘</m:t>
                            </m:r>
                          </m:sub>
                        </m:sSub>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𝑑</m:t>
                        </m:r>
                      </m:e>
                      <m:sub>
                        <m:r>
                          <a:rPr lang="en-US" altLang="zh-CN" sz="2000" b="0" i="1" dirty="0" smtClean="0">
                            <a:latin typeface="Cambria Math" panose="02040503050406030204" pitchFamily="18" charset="0"/>
                          </a:rPr>
                          <m:t>𝑖</m:t>
                        </m:r>
                      </m:sub>
                    </m:sSub>
                    <m:r>
                      <a:rPr lang="en-US" altLang="zh-CN" sz="2000" b="0" i="1" dirty="0" smtClean="0">
                        <a:latin typeface="Cambria Math" panose="02040503050406030204" pitchFamily="18" charset="0"/>
                      </a:rPr>
                      <m:t>)</m:t>
                    </m:r>
                  </m:oMath>
                </a14:m>
                <a:r>
                  <a:rPr lang="zh-CN" altLang="en-US" sz="2000" dirty="0" smtClean="0"/>
                  <a:t>表示文档</a:t>
                </a:r>
                <a14:m>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𝑑</m:t>
                        </m:r>
                      </m:e>
                      <m:sub>
                        <m:r>
                          <a:rPr lang="en-US" altLang="zh-CN" sz="2000" b="0" i="1" dirty="0" smtClean="0">
                            <a:latin typeface="Cambria Math" panose="02040503050406030204" pitchFamily="18" charset="0"/>
                          </a:rPr>
                          <m:t>𝑖</m:t>
                        </m:r>
                      </m:sub>
                    </m:sSub>
                  </m:oMath>
                </a14:m>
                <a:r>
                  <a:rPr lang="zh-CN" altLang="en-US" sz="2000" dirty="0" smtClean="0"/>
                  <a:t>中</a:t>
                </a:r>
                <a14:m>
                  <m:oMath xmlns:m="http://schemas.openxmlformats.org/officeDocument/2006/math">
                    <m:r>
                      <a:rPr lang="zh-CN" altLang="en-US" sz="2000" b="0" i="1" dirty="0" smtClean="0">
                        <a:latin typeface="Cambria Math" panose="02040503050406030204" pitchFamily="18" charset="0"/>
                      </a:rPr>
                      <m:t>类别</m:t>
                    </m:r>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𝑧</m:t>
                        </m:r>
                      </m:e>
                      <m:sub>
                        <m:r>
                          <a:rPr lang="en-US" altLang="zh-CN" sz="2000" b="0" i="1" dirty="0" smtClean="0">
                            <a:latin typeface="Cambria Math" panose="02040503050406030204" pitchFamily="18" charset="0"/>
                          </a:rPr>
                          <m:t>𝑘</m:t>
                        </m:r>
                      </m:sub>
                    </m:sSub>
                  </m:oMath>
                </a14:m>
                <a:r>
                  <a:rPr lang="zh-CN" altLang="en-US" sz="2000" dirty="0" smtClean="0"/>
                  <a:t>的出现概率；</a:t>
                </a:r>
                <a:endParaRPr lang="en-US" altLang="zh-CN" sz="2000" dirty="0" smtClean="0"/>
              </a:p>
              <a:p>
                <a14:m>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𝑃</m:t>
                        </m:r>
                        <m:r>
                          <a:rPr lang="en-US" altLang="zh-CN" sz="2000" b="0" i="1" dirty="0" smtClean="0">
                            <a:latin typeface="Cambria Math" panose="02040503050406030204" pitchFamily="18" charset="0"/>
                          </a:rPr>
                          <m:t>(</m:t>
                        </m:r>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𝑤</m:t>
                            </m:r>
                          </m:e>
                          <m:sub>
                            <m:r>
                              <a:rPr lang="en-US" altLang="zh-CN" sz="2000" b="0" i="1" dirty="0" smtClean="0">
                                <a:latin typeface="Cambria Math" panose="02040503050406030204" pitchFamily="18" charset="0"/>
                              </a:rPr>
                              <m:t>𝑗</m:t>
                            </m:r>
                          </m:sub>
                        </m:sSub>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𝑧</m:t>
                        </m:r>
                      </m:e>
                      <m:sub>
                        <m:r>
                          <a:rPr lang="en-US" altLang="zh-CN" sz="2000" b="0" i="1" dirty="0" smtClean="0">
                            <a:latin typeface="Cambria Math" panose="02040503050406030204" pitchFamily="18" charset="0"/>
                          </a:rPr>
                          <m:t>𝑘</m:t>
                        </m:r>
                      </m:sub>
                    </m:sSub>
                    <m:r>
                      <a:rPr lang="en-US" altLang="zh-CN" sz="2000" b="0" i="1" dirty="0" smtClean="0">
                        <a:latin typeface="Cambria Math" panose="02040503050406030204" pitchFamily="18" charset="0"/>
                      </a:rPr>
                      <m:t>)</m:t>
                    </m:r>
                  </m:oMath>
                </a14:m>
                <a:r>
                  <a:rPr lang="zh-CN" altLang="en-US" sz="2000" dirty="0" smtClean="0"/>
                  <a:t>表示文档</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oMath>
                </a14:m>
                <a:r>
                  <a:rPr lang="zh-CN" altLang="en-US" sz="2000" dirty="0" smtClean="0"/>
                  <a:t>中</a:t>
                </a:r>
                <a14:m>
                  <m:oMath xmlns:m="http://schemas.openxmlformats.org/officeDocument/2006/math">
                    <m:r>
                      <a:rPr lang="zh-CN" altLang="en-US" sz="2000" b="0" i="1" dirty="0" smtClean="0">
                        <a:latin typeface="Cambria Math" panose="02040503050406030204" pitchFamily="18" charset="0"/>
                      </a:rPr>
                      <m:t>类别</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oMath>
                </a14:m>
                <a:r>
                  <a:rPr lang="zh-CN" altLang="en-US" sz="2000" dirty="0" smtClean="0"/>
                  <a:t>的出现概率；</a:t>
                </a:r>
                <a:endParaRPr lang="en-US" altLang="zh-CN" sz="2000" dirty="0" smtClean="0"/>
              </a:p>
              <a:p>
                <a:r>
                  <a:rPr lang="zh-CN" altLang="en-US" sz="2000" dirty="0" smtClean="0"/>
                  <a:t>每个类别在所有词项上服从多项式分布，每个文档在所有类别上服从多项式分布。</a:t>
                </a:r>
                <a:endParaRPr lang="zh-CN" altLang="en-US" sz="2000" dirty="0"/>
              </a:p>
            </p:txBody>
          </p:sp>
        </mc:Choice>
        <mc:Fallback xmlns="">
          <p:sp>
            <p:nvSpPr>
              <p:cNvPr id="6" name="文本框 5"/>
              <p:cNvSpPr txBox="1">
                <a:spLocks noRot="1" noChangeAspect="1" noMove="1" noResize="1" noEditPoints="1" noAdjustHandles="1" noChangeArrowheads="1" noChangeShapeType="1" noTextEdit="1"/>
              </p:cNvSpPr>
              <p:nvPr/>
            </p:nvSpPr>
            <p:spPr>
              <a:xfrm>
                <a:off x="969483" y="1421176"/>
                <a:ext cx="5067759" cy="1963679"/>
              </a:xfrm>
              <a:prstGeom prst="rect">
                <a:avLst/>
              </a:prstGeom>
              <a:blipFill rotWithShape="0">
                <a:blip r:embed="rId3"/>
                <a:stretch>
                  <a:fillRect l="-1203" t="-2484" r="-602" b="-3727"/>
                </a:stretch>
              </a:blipFill>
            </p:spPr>
            <p:txBody>
              <a:bodyPr/>
              <a:lstStyle/>
              <a:p>
                <a:r>
                  <a:rPr lang="zh-CN" altLang="en-US">
                    <a:noFill/>
                  </a:rPr>
                  <a:t> </a:t>
                </a:r>
              </a:p>
            </p:txBody>
          </p:sp>
        </mc:Fallback>
      </mc:AlternateContent>
      <p:sp>
        <p:nvSpPr>
          <p:cNvPr id="8" name="文本框 7"/>
          <p:cNvSpPr txBox="1"/>
          <p:nvPr/>
        </p:nvSpPr>
        <p:spPr>
          <a:xfrm>
            <a:off x="6566053" y="4142342"/>
            <a:ext cx="4219460" cy="461665"/>
          </a:xfrm>
          <a:prstGeom prst="rect">
            <a:avLst/>
          </a:prstGeom>
          <a:noFill/>
        </p:spPr>
        <p:txBody>
          <a:bodyPr wrap="square" rtlCol="0">
            <a:spAutoFit/>
          </a:bodyPr>
          <a:lstStyle/>
          <a:p>
            <a:r>
              <a:rPr lang="en-US" altLang="zh-CN" sz="2400" dirty="0" smtClean="0"/>
              <a:t>N</a:t>
            </a:r>
            <a:r>
              <a:rPr lang="zh-CN" altLang="en-US" sz="2400" dirty="0" smtClean="0"/>
              <a:t>篇文档；</a:t>
            </a:r>
            <a:r>
              <a:rPr lang="en-US" altLang="zh-CN" sz="2400" dirty="0" smtClean="0"/>
              <a:t>M</a:t>
            </a:r>
            <a:r>
              <a:rPr lang="zh-CN" altLang="en-US" sz="2400" dirty="0" smtClean="0"/>
              <a:t>个单词；</a:t>
            </a:r>
            <a:r>
              <a:rPr lang="en-US" altLang="zh-CN" sz="2400" dirty="0" smtClean="0"/>
              <a:t>K</a:t>
            </a:r>
            <a:r>
              <a:rPr lang="zh-CN" altLang="en-US" sz="2400" dirty="0" smtClean="0"/>
              <a:t>个类别</a:t>
            </a:r>
            <a:endParaRPr lang="zh-CN" altLang="en-US" sz="2400" dirty="0"/>
          </a:p>
        </p:txBody>
      </p:sp>
      <mc:AlternateContent xmlns:mc="http://schemas.openxmlformats.org/markup-compatibility/2006" xmlns:a14="http://schemas.microsoft.com/office/drawing/2010/main">
        <mc:Choice Requires="a14">
          <p:sp>
            <p:nvSpPr>
              <p:cNvPr id="10" name="文本框 9"/>
              <p:cNvSpPr txBox="1"/>
              <p:nvPr/>
            </p:nvSpPr>
            <p:spPr>
              <a:xfrm>
                <a:off x="1046602" y="3547431"/>
                <a:ext cx="4693186" cy="400110"/>
              </a:xfrm>
              <a:prstGeom prst="rect">
                <a:avLst/>
              </a:prstGeom>
              <a:noFill/>
            </p:spPr>
            <p:txBody>
              <a:bodyPr wrap="square" rtlCol="0">
                <a:spAutoFit/>
              </a:bodyPr>
              <a:lstStyle/>
              <a:p>
                <a:r>
                  <a:rPr lang="zh-CN" altLang="en-US" dirty="0" smtClean="0"/>
                  <a:t>观测数据为（</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𝑑</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oMath>
                </a14:m>
                <a:r>
                  <a:rPr lang="en-US" altLang="zh-CN" b="0" dirty="0" smtClean="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𝑗</m:t>
                        </m:r>
                      </m:sub>
                    </m:sSub>
                  </m:oMath>
                </a14:m>
                <a:r>
                  <a:rPr lang="zh-CN" altLang="en-US" dirty="0" smtClean="0"/>
                  <a:t>），隐含类别为</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𝑧</m:t>
                        </m:r>
                      </m:e>
                      <m:sub>
                        <m:r>
                          <a:rPr lang="en-US" altLang="zh-CN" b="0" i="1" dirty="0" smtClean="0">
                            <a:latin typeface="Cambria Math" panose="02040503050406030204" pitchFamily="18" charset="0"/>
                          </a:rPr>
                          <m:t>𝑘</m:t>
                        </m:r>
                      </m:sub>
                    </m:sSub>
                  </m:oMath>
                </a14:m>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1046602" y="3547431"/>
                <a:ext cx="4693186" cy="400110"/>
              </a:xfrm>
              <a:prstGeom prst="rect">
                <a:avLst/>
              </a:prstGeom>
              <a:blipFill rotWithShape="0">
                <a:blip r:embed="rId5"/>
                <a:stretch>
                  <a:fillRect l="-1169" t="-13636"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1134737" y="4142342"/>
                <a:ext cx="4439798" cy="1020664"/>
              </a:xfrm>
              <a:prstGeom prst="rect">
                <a:avLst/>
              </a:prstGeom>
              <a:noFill/>
            </p:spPr>
            <p:txBody>
              <a:bodyPr wrap="square" rtlCol="0">
                <a:spAutoFit/>
              </a:bodyPr>
              <a:lstStyle/>
              <a:p>
                <a14:m>
                  <m:oMath xmlns:m="http://schemas.openxmlformats.org/officeDocument/2006/math">
                    <m:r>
                      <m:rPr>
                        <m:nor/>
                      </m:rPr>
                      <a:rPr lang="zh-CN" altLang="en-US" dirty="0" smtClean="0"/>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𝑑</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r>
                      <m:rPr>
                        <m:nor/>
                      </m:rPr>
                      <a:rPr lang="en-US" altLang="zh-CN" b="0" dirty="0" smtClean="0"/>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𝑗</m:t>
                        </m:r>
                      </m:sub>
                    </m:sSub>
                    <m:r>
                      <m:rPr>
                        <m:nor/>
                      </m:rPr>
                      <a:rPr lang="zh-CN" altLang="en-US" dirty="0" smtClean="0"/>
                      <m:t>）</m:t>
                    </m:r>
                  </m:oMath>
                </a14:m>
                <a:r>
                  <a:rPr lang="zh-CN" altLang="en-US" dirty="0" smtClean="0"/>
                  <a:t>的联合分布</a:t>
                </a:r>
                <a:r>
                  <a:rPr lang="en-US" altLang="zh-CN" dirty="0" smtClean="0"/>
                  <a:t>(Joint Distribution</a:t>
                </a:r>
                <a:r>
                  <a:rPr lang="en-US" altLang="zh-CN" dirty="0"/>
                  <a:t>)</a:t>
                </a:r>
                <a:r>
                  <a:rPr lang="zh-CN" altLang="en-US" dirty="0" smtClean="0"/>
                  <a:t>为：</a:t>
                </a:r>
                <a:endParaRPr lang="en-US" altLang="zh-CN" dirty="0" smtClean="0"/>
              </a:p>
              <a:p>
                <a14:m>
                  <m:oMath xmlns:m="http://schemas.openxmlformats.org/officeDocument/2006/math">
                    <m:r>
                      <m:rPr>
                        <m:sty m:val="p"/>
                      </m:rPr>
                      <a:rPr lang="en-US" altLang="zh-CN" b="0" i="0" dirty="0" smtClean="0">
                        <a:latin typeface="Cambria Math" panose="02040503050406030204" pitchFamily="18" charset="0"/>
                      </a:rPr>
                      <m:t>P</m:t>
                    </m:r>
                    <m:r>
                      <a:rPr lang="en-US" altLang="zh-CN" b="0" i="0"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𝑑</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oMath>
                </a14:m>
                <a:r>
                  <a:rPr lang="en-US" altLang="zh-CN" b="0" dirty="0" smtClean="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𝑗</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𝑃</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𝑗</m:t>
                        </m:r>
                      </m:sub>
                    </m:sSub>
                  </m:oMath>
                </a14:m>
                <a:r>
                  <a:rPr lang="en-US" altLang="zh-CN" dirty="0" smtClean="0"/>
                  <a:t>|</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𝑑</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𝑃</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𝑑</m:t>
                        </m:r>
                      </m:e>
                      <m:sub>
                        <m:r>
                          <a:rPr lang="en-US" altLang="zh-CN" b="0" i="1" dirty="0" smtClean="0">
                            <a:latin typeface="Cambria Math" panose="02040503050406030204" pitchFamily="18" charset="0"/>
                          </a:rPr>
                          <m:t>𝑖</m:t>
                        </m:r>
                      </m:sub>
                    </m:sSub>
                  </m:oMath>
                </a14:m>
                <a:r>
                  <a:rPr lang="en-US" altLang="zh-CN" dirty="0" smtClean="0"/>
                  <a:t>)</a:t>
                </a:r>
              </a:p>
              <a:p>
                <a14:m>
                  <m:oMath xmlns:m="http://schemas.openxmlformats.org/officeDocument/2006/math">
                    <m:r>
                      <a:rPr lang="en-US" altLang="zh-CN" b="0" i="1" dirty="0" smtClean="0">
                        <a:latin typeface="Cambria Math" panose="02040503050406030204" pitchFamily="18" charset="0"/>
                      </a:rPr>
                      <m:t>𝑃</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𝑗</m:t>
                        </m:r>
                      </m:sub>
                    </m:sSub>
                  </m:oMath>
                </a14:m>
                <a:r>
                  <a:rPr lang="en-US" altLang="zh-CN" dirty="0" smtClean="0"/>
                  <a:t>|</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𝑑</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0" i="0" dirty="0" smtClean="0">
                        <a:latin typeface="Cambria Math" panose="02040503050406030204" pitchFamily="18" charset="0"/>
                      </a:rPr>
                      <m:t>=</m:t>
                    </m:r>
                    <m:nary>
                      <m:naryPr>
                        <m:chr m:val="∑"/>
                        <m:limLoc m:val="subSup"/>
                        <m:ctrlPr>
                          <a:rPr lang="en-US" altLang="zh-CN" b="0" i="1" dirty="0" smtClean="0">
                            <a:latin typeface="Cambria Math" panose="02040503050406030204" pitchFamily="18" charset="0"/>
                          </a:rPr>
                        </m:ctrlPr>
                      </m:naryPr>
                      <m:sub>
                        <m:r>
                          <m:rPr>
                            <m:brk m:alnAt="25"/>
                          </m:rPr>
                          <a:rPr lang="en-US" altLang="zh-CN" b="0" i="1" dirty="0" smtClean="0">
                            <a:latin typeface="Cambria Math" panose="02040503050406030204" pitchFamily="18" charset="0"/>
                          </a:rPr>
                          <m:t>𝑘</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𝐾</m:t>
                        </m:r>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𝑃</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𝑗</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𝑧</m:t>
                            </m:r>
                          </m:e>
                          <m:sub>
                            <m:r>
                              <a:rPr lang="en-US" altLang="zh-CN" b="0" i="1" dirty="0" smtClean="0">
                                <a:latin typeface="Cambria Math" panose="02040503050406030204" pitchFamily="18" charset="0"/>
                              </a:rPr>
                              <m:t>𝑘</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𝑃</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𝑧</m:t>
                                </m:r>
                              </m:e>
                              <m:sub>
                                <m:r>
                                  <a:rPr lang="en-US" altLang="zh-CN" b="0" i="1" dirty="0" smtClean="0">
                                    <a:latin typeface="Cambria Math" panose="02040503050406030204" pitchFamily="18" charset="0"/>
                                  </a:rPr>
                                  <m:t>𝑘</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𝑑</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e>
                    </m:nary>
                  </m:oMath>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1134737" y="4142342"/>
                <a:ext cx="4439798" cy="1020664"/>
              </a:xfrm>
              <a:prstGeom prst="rect">
                <a:avLst/>
              </a:prstGeom>
              <a:blipFill rotWithShape="0">
                <a:blip r:embed="rId6"/>
                <a:stretch>
                  <a:fillRect l="-137" t="-5389" r="-6319" b="-63473"/>
                </a:stretch>
              </a:blipFill>
            </p:spPr>
            <p:txBody>
              <a:bodyPr/>
              <a:lstStyle/>
              <a:p>
                <a:r>
                  <a:rPr lang="zh-CN" altLang="en-US">
                    <a:noFill/>
                  </a:rPr>
                  <a:t> </a:t>
                </a:r>
              </a:p>
            </p:txBody>
          </p:sp>
        </mc:Fallback>
      </mc:AlternateContent>
      <p:sp>
        <p:nvSpPr>
          <p:cNvPr id="3" name="文本框 2"/>
          <p:cNvSpPr txBox="1"/>
          <p:nvPr/>
        </p:nvSpPr>
        <p:spPr>
          <a:xfrm>
            <a:off x="11425535" y="1953491"/>
            <a:ext cx="461665" cy="862445"/>
          </a:xfrm>
          <a:prstGeom prst="rect">
            <a:avLst/>
          </a:prstGeom>
          <a:noFill/>
        </p:spPr>
        <p:txBody>
          <a:bodyPr vert="eaVert" wrap="square" rtlCol="0">
            <a:spAutoFit/>
          </a:bodyPr>
          <a:lstStyle/>
          <a:p>
            <a:r>
              <a:rPr lang="zh-CN" altLang="en-US" dirty="0" smtClean="0"/>
              <a:t>概率图</a:t>
            </a:r>
            <a:endParaRPr lang="zh-CN" altLang="en-US" dirty="0"/>
          </a:p>
        </p:txBody>
      </p:sp>
    </p:spTree>
    <p:extLst>
      <p:ext uri="{BB962C8B-B14F-4D97-AF65-F5344CB8AC3E}">
        <p14:creationId xmlns:p14="http://schemas.microsoft.com/office/powerpoint/2010/main" val="17794165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373147" y="422112"/>
            <a:ext cx="6178166" cy="461665"/>
          </a:xfrm>
          <a:prstGeom prst="rect">
            <a:avLst/>
          </a:prstGeom>
        </p:spPr>
        <p:txBody>
          <a:bodyPr wrap="none">
            <a:spAutoFit/>
          </a:bodyPr>
          <a:lstStyle/>
          <a:p>
            <a:r>
              <a:rPr lang="en-US" altLang="zh-CN" sz="2400" b="1" dirty="0" smtClean="0">
                <a:latin typeface="Times New Roman" panose="02020603050405020304" pitchFamily="18" charset="0"/>
                <a:cs typeface="Times New Roman" panose="02020603050405020304" pitchFamily="18" charset="0"/>
              </a:rPr>
              <a:t>Probabilistic Latent Semantic Analysis Model</a:t>
            </a:r>
            <a:endParaRPr lang="zh-CN" altLang="en-US" sz="2400" dirty="0"/>
          </a:p>
        </p:txBody>
      </p:sp>
      <mc:AlternateContent xmlns:mc="http://schemas.openxmlformats.org/markup-compatibility/2006" xmlns:a14="http://schemas.microsoft.com/office/drawing/2010/main">
        <mc:Choice Requires="a14">
          <p:sp>
            <p:nvSpPr>
              <p:cNvPr id="6" name="文本框 5"/>
              <p:cNvSpPr txBox="1"/>
              <p:nvPr/>
            </p:nvSpPr>
            <p:spPr>
              <a:xfrm>
                <a:off x="1444978" y="1332089"/>
                <a:ext cx="5455678" cy="491417"/>
              </a:xfrm>
              <a:prstGeom prst="rect">
                <a:avLst/>
              </a:prstGeom>
              <a:noFill/>
            </p:spPr>
            <p:txBody>
              <a:bodyPr wrap="square" rtlCol="0">
                <a:spAutoFit/>
              </a:bodyPr>
              <a:lstStyle/>
              <a:p>
                <a:r>
                  <a:rPr lang="zh-CN" altLang="en-US" sz="2400" dirty="0" smtClean="0"/>
                  <a:t>单词</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𝑤</m:t>
                        </m:r>
                      </m:e>
                      <m:sub>
                        <m:r>
                          <a:rPr lang="en-US" altLang="zh-CN" sz="2400" b="0" i="1" dirty="0" smtClean="0">
                            <a:latin typeface="Cambria Math" panose="02040503050406030204" pitchFamily="18" charset="0"/>
                          </a:rPr>
                          <m:t>𝑗</m:t>
                        </m:r>
                      </m:sub>
                    </m:sSub>
                  </m:oMath>
                </a14:m>
                <a:r>
                  <a:rPr lang="zh-CN" altLang="en-US" sz="2400" dirty="0" smtClean="0"/>
                  <a:t>在</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𝑑</m:t>
                        </m:r>
                      </m:e>
                      <m:sub>
                        <m:r>
                          <a:rPr lang="en-US" altLang="zh-CN" sz="2400" b="0" i="1" dirty="0" smtClean="0">
                            <a:latin typeface="Cambria Math" panose="02040503050406030204" pitchFamily="18" charset="0"/>
                          </a:rPr>
                          <m:t>𝑖</m:t>
                        </m:r>
                      </m:sub>
                    </m:sSub>
                  </m:oMath>
                </a14:m>
                <a:r>
                  <a:rPr lang="zh-CN" altLang="en-US" sz="2400" dirty="0" smtClean="0"/>
                  <a:t>出现的次数用</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𝑛</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𝑑</m:t>
                        </m:r>
                      </m:e>
                      <m:sub>
                        <m:r>
                          <a:rPr lang="en-US" altLang="zh-CN" sz="2400" b="0" i="1" dirty="0" smtClean="0">
                            <a:latin typeface="Cambria Math" panose="02040503050406030204" pitchFamily="18" charset="0"/>
                          </a:rPr>
                          <m:t>𝑖</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𝑤</m:t>
                        </m:r>
                      </m:e>
                      <m:sub>
                        <m:r>
                          <a:rPr lang="en-US" altLang="zh-CN" sz="2400" b="0" i="1" dirty="0" smtClean="0">
                            <a:latin typeface="Cambria Math" panose="02040503050406030204" pitchFamily="18" charset="0"/>
                          </a:rPr>
                          <m:t>𝑗</m:t>
                        </m:r>
                      </m:sub>
                    </m:sSub>
                    <m:r>
                      <a:rPr lang="en-US" altLang="zh-CN" sz="2400" b="0" i="1" dirty="0" smtClean="0">
                        <a:latin typeface="Cambria Math" panose="02040503050406030204" pitchFamily="18" charset="0"/>
                      </a:rPr>
                      <m:t>)</m:t>
                    </m:r>
                  </m:oMath>
                </a14:m>
                <a:endParaRPr lang="zh-CN" altLang="en-US" sz="2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1444978" y="1332089"/>
                <a:ext cx="5455678" cy="491417"/>
              </a:xfrm>
              <a:prstGeom prst="rect">
                <a:avLst/>
              </a:prstGeom>
              <a:blipFill rotWithShape="0">
                <a:blip r:embed="rId3"/>
                <a:stretch>
                  <a:fillRect l="-1676" t="-13750" b="-18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1444977" y="1954294"/>
                <a:ext cx="6933479" cy="1789592"/>
              </a:xfrm>
              <a:prstGeom prst="rect">
                <a:avLst/>
              </a:prstGeom>
              <a:noFill/>
            </p:spPr>
            <p:txBody>
              <a:bodyPr wrap="square" rtlCol="0">
                <a:spAutoFit/>
              </a:bodyPr>
              <a:lstStyle/>
              <a:p>
                <a14:m>
                  <m:oMath xmlns:m="http://schemas.openxmlformats.org/officeDocument/2006/math">
                    <m:r>
                      <a:rPr lang="en-US" altLang="zh-CN" sz="2400" b="0" i="1" smtClean="0">
                        <a:latin typeface="Cambria Math" panose="02040503050406030204" pitchFamily="18" charset="0"/>
                      </a:rPr>
                      <m:t>𝐿</m:t>
                    </m:r>
                    <m:r>
                      <a:rPr lang="en-US" altLang="zh-CN" sz="2400" b="0" i="1" smtClean="0">
                        <a:latin typeface="Cambria Math" panose="02040503050406030204" pitchFamily="18" charset="0"/>
                      </a:rPr>
                      <m:t>=</m:t>
                    </m:r>
                    <m:nary>
                      <m:naryPr>
                        <m:chr m:val="∏"/>
                        <m:limLoc m:val="subSup"/>
                        <m:ctrlPr>
                          <a:rPr lang="en-US" altLang="zh-CN" sz="2400" b="0" i="1" smtClean="0">
                            <a:latin typeface="Cambria Math" panose="02040503050406030204" pitchFamily="18" charset="0"/>
                          </a:rPr>
                        </m:ctrlPr>
                      </m:naryPr>
                      <m:sub>
                        <m:r>
                          <m:rPr>
                            <m:brk m:alnAt="25"/>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𝑁</m:t>
                        </m:r>
                      </m:sup>
                      <m:e>
                        <m:nary>
                          <m:naryPr>
                            <m:chr m:val="∏"/>
                            <m:limLoc m:val="subSup"/>
                            <m:ctrlPr>
                              <a:rPr lang="en-US" altLang="zh-CN" sz="2400" b="0" i="1" smtClean="0">
                                <a:latin typeface="Cambria Math" panose="02040503050406030204" pitchFamily="18" charset="0"/>
                              </a:rPr>
                            </m:ctrlPr>
                          </m:naryPr>
                          <m:sub>
                            <m:r>
                              <m:rPr>
                                <m:brk m:alnAt="25"/>
                              </m:rP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𝑀</m:t>
                            </m:r>
                          </m:sup>
                          <m:e>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𝑃</m:t>
                                </m:r>
                                <m:r>
                                  <a:rPr lang="en-US" altLang="zh-CN" sz="2400" b="0" i="1"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𝑑</m:t>
                                    </m:r>
                                  </m:e>
                                  <m:sub>
                                    <m:r>
                                      <a:rPr lang="en-US" altLang="zh-CN" sz="2400" b="0" i="1" dirty="0" smtClean="0">
                                        <a:latin typeface="Cambria Math" panose="02040503050406030204" pitchFamily="18" charset="0"/>
                                      </a:rPr>
                                      <m:t>𝑖</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𝑤</m:t>
                                    </m:r>
                                  </m:e>
                                  <m:sub>
                                    <m:r>
                                      <a:rPr lang="en-US" altLang="zh-CN" sz="2400" b="0" i="1" dirty="0" smtClean="0">
                                        <a:latin typeface="Cambria Math" panose="02040503050406030204" pitchFamily="18" charset="0"/>
                                      </a:rPr>
                                      <m:t>𝑗</m:t>
                                    </m:r>
                                  </m:sub>
                                </m:sSub>
                                <m:r>
                                  <m:rPr>
                                    <m:nor/>
                                  </m:rPr>
                                  <a:rPr lang="zh-CN" altLang="en-US" sz="2400" dirty="0"/>
                                  <m:t> </m:t>
                                </m:r>
                                <m:r>
                                  <a:rPr lang="en-US" altLang="zh-CN" sz="2400" b="0" i="1" smtClean="0">
                                    <a:latin typeface="Cambria Math" panose="02040503050406030204" pitchFamily="18" charset="0"/>
                                  </a:rPr>
                                  <m:t>)</m:t>
                                </m:r>
                              </m:e>
                              <m:sup>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𝑛</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𝑑</m:t>
                                    </m:r>
                                  </m:e>
                                  <m:sub>
                                    <m:r>
                                      <a:rPr lang="en-US" altLang="zh-CN" sz="2400" b="0" i="1" dirty="0" smtClean="0">
                                        <a:latin typeface="Cambria Math" panose="02040503050406030204" pitchFamily="18" charset="0"/>
                                      </a:rPr>
                                      <m:t>𝑖</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𝑤</m:t>
                                    </m:r>
                                  </m:e>
                                  <m:sub>
                                    <m:r>
                                      <a:rPr lang="en-US" altLang="zh-CN" sz="2400" b="0" i="1" dirty="0" smtClean="0">
                                        <a:latin typeface="Cambria Math" panose="02040503050406030204" pitchFamily="18" charset="0"/>
                                      </a:rPr>
                                      <m:t>𝑗</m:t>
                                    </m:r>
                                  </m:sub>
                                </m:sSub>
                                <m:r>
                                  <a:rPr lang="en-US" altLang="zh-CN" sz="2400" b="0" i="1" dirty="0" smtClean="0">
                                    <a:latin typeface="Cambria Math" panose="02040503050406030204" pitchFamily="18" charset="0"/>
                                  </a:rPr>
                                  <m:t>)</m:t>
                                </m:r>
                                <m:r>
                                  <m:rPr>
                                    <m:nor/>
                                  </m:rPr>
                                  <a:rPr lang="zh-CN" altLang="en-US" sz="2400" dirty="0"/>
                                  <m:t> </m:t>
                                </m:r>
                              </m:sup>
                            </m:sSup>
                          </m:e>
                        </m:nary>
                      </m:e>
                    </m:nary>
                  </m:oMath>
                </a14:m>
                <a:r>
                  <a:rPr lang="zh-CN" altLang="en-US" sz="2800" dirty="0" smtClean="0"/>
                  <a:t> </a:t>
                </a:r>
                <a:endParaRPr lang="en-US" altLang="zh-CN" sz="2800" dirty="0" smtClean="0"/>
              </a:p>
              <a:p>
                <a14:m>
                  <m:oMath xmlns:m="http://schemas.openxmlformats.org/officeDocument/2006/math">
                    <m:r>
                      <a:rPr lang="en-US" altLang="zh-CN" sz="2400" b="0" i="1" smtClean="0">
                        <a:latin typeface="Cambria Math" panose="02040503050406030204" pitchFamily="18" charset="0"/>
                      </a:rPr>
                      <m:t>𝑙</m:t>
                    </m:r>
                    <m:r>
                      <a:rPr lang="en-US" altLang="zh-CN" sz="2400" b="0" i="1" smtClean="0">
                        <a:latin typeface="Cambria Math" panose="02040503050406030204" pitchFamily="18" charset="0"/>
                      </a:rPr>
                      <m:t>=</m:t>
                    </m:r>
                    <m:nary>
                      <m:naryPr>
                        <m:chr m:val="∑"/>
                        <m:limLoc m:val="subSup"/>
                        <m:supHide m:val="on"/>
                        <m:ctrlPr>
                          <a:rPr lang="en-US" altLang="zh-CN" sz="2400" b="0" i="1" smtClean="0">
                            <a:latin typeface="Cambria Math" panose="02040503050406030204" pitchFamily="18" charset="0"/>
                          </a:rPr>
                        </m:ctrlPr>
                      </m:naryPr>
                      <m:sub>
                        <m:r>
                          <m:rPr>
                            <m:brk m:alnAt="9"/>
                          </m:rPr>
                          <a:rPr lang="en-US" altLang="zh-CN" sz="2400" b="0" i="1" smtClean="0">
                            <a:latin typeface="Cambria Math" panose="02040503050406030204" pitchFamily="18" charset="0"/>
                          </a:rPr>
                          <m:t>𝑖</m:t>
                        </m:r>
                      </m:sub>
                      <m:sup/>
                      <m:e>
                        <m:nary>
                          <m:naryPr>
                            <m:chr m:val="∑"/>
                            <m:limLoc m:val="subSup"/>
                            <m:supHide m:val="on"/>
                            <m:ctrlPr>
                              <a:rPr lang="en-US" altLang="zh-CN" sz="2400" b="0" i="1" smtClean="0">
                                <a:latin typeface="Cambria Math" panose="02040503050406030204" pitchFamily="18" charset="0"/>
                              </a:rPr>
                            </m:ctrlPr>
                          </m:naryPr>
                          <m:sub>
                            <m:r>
                              <m:rPr>
                                <m:brk m:alnAt="9"/>
                              </m:rPr>
                              <a:rPr lang="en-US" altLang="zh-CN" sz="2400" b="0" i="1" smtClean="0">
                                <a:latin typeface="Cambria Math" panose="02040503050406030204" pitchFamily="18" charset="0"/>
                              </a:rPr>
                              <m:t>𝑗</m:t>
                            </m:r>
                          </m:sub>
                          <m:sup/>
                          <m:e>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𝑛</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𝑑</m:t>
                                </m:r>
                              </m:e>
                              <m:sub>
                                <m:r>
                                  <a:rPr lang="en-US" altLang="zh-CN" sz="2400" b="0" i="1" dirty="0" smtClean="0">
                                    <a:latin typeface="Cambria Math" panose="02040503050406030204" pitchFamily="18" charset="0"/>
                                  </a:rPr>
                                  <m:t>𝑖</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𝑤</m:t>
                                </m:r>
                              </m:e>
                              <m:sub>
                                <m:r>
                                  <a:rPr lang="en-US" altLang="zh-CN" sz="2400" b="0" i="1" dirty="0" smtClean="0">
                                    <a:latin typeface="Cambria Math" panose="02040503050406030204" pitchFamily="18" charset="0"/>
                                  </a:rPr>
                                  <m:t>𝑗</m:t>
                                </m:r>
                              </m:sub>
                            </m:sSub>
                            <m:r>
                              <a:rPr lang="en-US" altLang="zh-CN" sz="2400" b="0" i="1" dirty="0" smtClean="0">
                                <a:latin typeface="Cambria Math" panose="02040503050406030204" pitchFamily="18" charset="0"/>
                              </a:rPr>
                              <m:t>)</m:t>
                            </m:r>
                            <m:r>
                              <m:rPr>
                                <m:sty m:val="p"/>
                              </m:rPr>
                              <a:rPr lang="en-US" altLang="zh-CN" sz="2400" b="0" i="0" dirty="0" smtClean="0">
                                <a:latin typeface="Cambria Math" panose="02040503050406030204" pitchFamily="18" charset="0"/>
                              </a:rPr>
                              <m:t>log</m:t>
                            </m:r>
                            <m:r>
                              <a:rPr lang="en-US" altLang="zh-CN" sz="2400" b="0" i="1" smtClean="0">
                                <a:latin typeface="Cambria Math" panose="02040503050406030204" pitchFamily="18" charset="0"/>
                              </a:rPr>
                              <m:t>𝑃</m:t>
                            </m:r>
                            <m:r>
                              <a:rPr lang="en-US" altLang="zh-CN" sz="2400" b="0" i="1"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𝑑</m:t>
                                </m:r>
                              </m:e>
                              <m:sub>
                                <m:r>
                                  <a:rPr lang="en-US" altLang="zh-CN" sz="2400" b="0" i="1" dirty="0" smtClean="0">
                                    <a:latin typeface="Cambria Math" panose="02040503050406030204" pitchFamily="18" charset="0"/>
                                  </a:rPr>
                                  <m:t>𝑖</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𝑤</m:t>
                                </m:r>
                              </m:e>
                              <m:sub>
                                <m:r>
                                  <a:rPr lang="en-US" altLang="zh-CN" sz="2400" b="0" i="1" dirty="0" smtClean="0">
                                    <a:latin typeface="Cambria Math" panose="02040503050406030204" pitchFamily="18" charset="0"/>
                                  </a:rPr>
                                  <m:t>𝑗</m:t>
                                </m:r>
                              </m:sub>
                            </m:sSub>
                            <m:r>
                              <m:rPr>
                                <m:nor/>
                              </m:rPr>
                              <a:rPr lang="zh-CN" altLang="en-US" sz="2400" dirty="0"/>
                              <m:t> </m:t>
                            </m:r>
                            <m:r>
                              <a:rPr lang="en-US" altLang="zh-CN" sz="2400" b="0" i="1" smtClean="0">
                                <a:latin typeface="Cambria Math" panose="02040503050406030204" pitchFamily="18" charset="0"/>
                              </a:rPr>
                              <m:t>)</m:t>
                            </m:r>
                            <m:r>
                              <a:rPr lang="en-US" altLang="zh-CN" sz="2400" b="0" i="1" dirty="0" smtClean="0">
                                <a:latin typeface="Cambria Math" panose="02040503050406030204" pitchFamily="18" charset="0"/>
                              </a:rPr>
                              <m:t>⁡</m:t>
                            </m:r>
                          </m:e>
                        </m:nary>
                      </m:e>
                    </m:nary>
                  </m:oMath>
                </a14:m>
                <a:r>
                  <a:rPr lang="zh-CN" altLang="en-US" sz="2400" dirty="0" smtClean="0"/>
                  <a:t> </a:t>
                </a:r>
                <a:endParaRPr lang="en-US" altLang="zh-CN" sz="2400" dirty="0" smtClean="0"/>
              </a:p>
              <a:p>
                <a:r>
                  <a:rPr lang="en-US" altLang="zh-CN" sz="2400" dirty="0"/>
                  <a:t> </a:t>
                </a:r>
                <a:r>
                  <a:rPr lang="en-US" altLang="zh-CN" sz="2400" dirty="0" smtClean="0"/>
                  <a:t> </a:t>
                </a:r>
                <a14:m>
                  <m:oMath xmlns:m="http://schemas.openxmlformats.org/officeDocument/2006/math">
                    <m:r>
                      <a:rPr lang="en-US" altLang="zh-CN" sz="2400" i="1">
                        <a:latin typeface="Cambria Math" panose="02040503050406030204" pitchFamily="18" charset="0"/>
                      </a:rPr>
                      <m:t>=</m:t>
                    </m:r>
                    <m:nary>
                      <m:naryPr>
                        <m:chr m:val="∑"/>
                        <m:limLoc m:val="subSup"/>
                        <m:supHide m:val="on"/>
                        <m:ctrlPr>
                          <a:rPr lang="en-US" altLang="zh-CN" sz="2400" i="1">
                            <a:latin typeface="Cambria Math" panose="02040503050406030204" pitchFamily="18" charset="0"/>
                          </a:rPr>
                        </m:ctrlPr>
                      </m:naryPr>
                      <m:sub>
                        <m:r>
                          <m:rPr>
                            <m:brk m:alnAt="9"/>
                          </m:rPr>
                          <a:rPr lang="en-US" altLang="zh-CN" sz="2400" i="1">
                            <a:latin typeface="Cambria Math" panose="02040503050406030204" pitchFamily="18" charset="0"/>
                          </a:rPr>
                          <m:t>𝑖</m:t>
                        </m:r>
                      </m:sub>
                      <m:sup/>
                      <m:e>
                        <m:nary>
                          <m:naryPr>
                            <m:chr m:val="∑"/>
                            <m:limLoc m:val="subSup"/>
                            <m:supHide m:val="on"/>
                            <m:ctrlPr>
                              <a:rPr lang="en-US" altLang="zh-CN" sz="2400" i="1">
                                <a:latin typeface="Cambria Math" panose="02040503050406030204" pitchFamily="18" charset="0"/>
                              </a:rPr>
                            </m:ctrlPr>
                          </m:naryPr>
                          <m:sub>
                            <m:r>
                              <m:rPr>
                                <m:brk m:alnAt="9"/>
                              </m:rPr>
                              <a:rPr lang="en-US" altLang="zh-CN" sz="2400" i="1">
                                <a:latin typeface="Cambria Math" panose="02040503050406030204" pitchFamily="18" charset="0"/>
                              </a:rPr>
                              <m:t>𝑗</m:t>
                            </m:r>
                          </m:sub>
                          <m:sup/>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𝑛</m:t>
                                </m:r>
                                <m:r>
                                  <a:rPr lang="en-US" altLang="zh-CN" sz="2400" i="1" dirty="0">
                                    <a:latin typeface="Cambria Math" panose="02040503050406030204" pitchFamily="18" charset="0"/>
                                  </a:rPr>
                                  <m:t>(</m:t>
                                </m:r>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a:rPr lang="en-US" altLang="zh-CN" sz="2400" i="1" dirty="0">
                                <a:latin typeface="Cambria Math" panose="02040503050406030204" pitchFamily="18" charset="0"/>
                              </a:rPr>
                              <m:t>)</m:t>
                            </m:r>
                            <m:r>
                              <m:rPr>
                                <m:sty m:val="p"/>
                              </m:rPr>
                              <a:rPr lang="en-US" altLang="zh-CN" sz="2400" dirty="0">
                                <a:latin typeface="Cambria Math" panose="02040503050406030204" pitchFamily="18" charset="0"/>
                              </a:rPr>
                              <m:t>log</m:t>
                            </m:r>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m:rPr>
                                <m:nor/>
                              </m:rPr>
                              <a:rPr lang="en-US" altLang="zh-CN" sz="2400" dirty="0"/>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m:rPr>
                                <m:nor/>
                              </m:rPr>
                              <a:rPr lang="en-US" altLang="zh-CN" sz="2400" dirty="0"/>
                              <m:t>)</m:t>
                            </m:r>
                            <m:r>
                              <a:rPr lang="en-US" altLang="zh-CN" sz="2400" i="1" dirty="0">
                                <a:latin typeface="Cambria Math" panose="02040503050406030204" pitchFamily="18" charset="0"/>
                              </a:rPr>
                              <m:t>⁡</m:t>
                            </m:r>
                          </m:e>
                        </m:nary>
                      </m:e>
                    </m:nary>
                  </m:oMath>
                </a14:m>
                <a:endParaRPr lang="en-US" altLang="zh-CN" sz="2400" dirty="0" smtClean="0"/>
              </a:p>
              <a:p>
                <a14:m>
                  <m:oMath xmlns:m="http://schemas.openxmlformats.org/officeDocument/2006/math">
                    <m:r>
                      <a:rPr lang="en-US" altLang="zh-CN" sz="2400" i="1">
                        <a:latin typeface="Cambria Math" panose="02040503050406030204" pitchFamily="18" charset="0"/>
                      </a:rPr>
                      <m:t>=</m:t>
                    </m:r>
                    <m:nary>
                      <m:naryPr>
                        <m:chr m:val="∑"/>
                        <m:limLoc m:val="subSup"/>
                        <m:supHide m:val="on"/>
                        <m:ctrlPr>
                          <a:rPr lang="en-US" altLang="zh-CN" sz="2400" i="1">
                            <a:latin typeface="Cambria Math" panose="02040503050406030204" pitchFamily="18" charset="0"/>
                          </a:rPr>
                        </m:ctrlPr>
                      </m:naryPr>
                      <m:sub>
                        <m:r>
                          <m:rPr>
                            <m:brk m:alnAt="9"/>
                          </m:rPr>
                          <a:rPr lang="en-US" altLang="zh-CN" sz="2400" i="1">
                            <a:latin typeface="Cambria Math" panose="02040503050406030204" pitchFamily="18" charset="0"/>
                          </a:rPr>
                          <m:t>𝑖</m:t>
                        </m:r>
                      </m:sub>
                      <m:sup/>
                      <m:e>
                        <m:nary>
                          <m:naryPr>
                            <m:chr m:val="∑"/>
                            <m:limLoc m:val="subSup"/>
                            <m:supHide m:val="on"/>
                            <m:ctrlPr>
                              <a:rPr lang="en-US" altLang="zh-CN" sz="2400" i="1">
                                <a:latin typeface="Cambria Math" panose="02040503050406030204" pitchFamily="18" charset="0"/>
                              </a:rPr>
                            </m:ctrlPr>
                          </m:naryPr>
                          <m:sub>
                            <m:r>
                              <m:rPr>
                                <m:brk m:alnAt="9"/>
                              </m:rPr>
                              <a:rPr lang="en-US" altLang="zh-CN" sz="2400" i="1">
                                <a:latin typeface="Cambria Math" panose="02040503050406030204" pitchFamily="18" charset="0"/>
                              </a:rPr>
                              <m:t>𝑗</m:t>
                            </m:r>
                          </m:sub>
                          <m:sup/>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𝑛</m:t>
                                </m:r>
                                <m:r>
                                  <a:rPr lang="en-US" altLang="zh-CN" sz="2400" i="1" dirty="0">
                                    <a:latin typeface="Cambria Math" panose="02040503050406030204" pitchFamily="18" charset="0"/>
                                  </a:rPr>
                                  <m:t>(</m:t>
                                </m:r>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a:rPr lang="en-US" altLang="zh-CN" sz="2400" i="1" dirty="0">
                                <a:latin typeface="Cambria Math" panose="02040503050406030204" pitchFamily="18" charset="0"/>
                              </a:rPr>
                              <m:t>)</m:t>
                            </m:r>
                            <m:r>
                              <m:rPr>
                                <m:sty m:val="p"/>
                              </m:rPr>
                              <a:rPr lang="en-US" altLang="zh-CN" sz="2400" dirty="0">
                                <a:latin typeface="Cambria Math" panose="02040503050406030204" pitchFamily="18" charset="0"/>
                              </a:rPr>
                              <m:t>log</m:t>
                            </m:r>
                            <m:nary>
                              <m:naryPr>
                                <m:chr m:val="∑"/>
                                <m:limLoc m:val="subSup"/>
                                <m:ctrlPr>
                                  <a:rPr lang="en-US" altLang="zh-CN" sz="2400" i="1" dirty="0">
                                    <a:latin typeface="Cambria Math" panose="02040503050406030204" pitchFamily="18" charset="0"/>
                                  </a:rPr>
                                </m:ctrlPr>
                              </m:naryPr>
                              <m:sub>
                                <m:r>
                                  <m:rPr>
                                    <m:brk m:alnAt="25"/>
                                  </m:rPr>
                                  <a:rPr lang="en-US" altLang="zh-CN" sz="2400" i="1" dirty="0">
                                    <a:latin typeface="Cambria Math" panose="02040503050406030204" pitchFamily="18" charset="0"/>
                                  </a:rPr>
                                  <m:t>𝑘</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𝐾</m:t>
                                </m:r>
                              </m:sup>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e>
                            </m:nary>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m:rPr>
                                <m:nor/>
                              </m:rPr>
                              <a:rPr lang="en-US" altLang="zh-CN" sz="2400" dirty="0"/>
                              <m:t>)</m:t>
                            </m:r>
                            <m:r>
                              <a:rPr lang="en-US" altLang="zh-CN" sz="2400" i="1" dirty="0">
                                <a:latin typeface="Cambria Math" panose="02040503050406030204" pitchFamily="18" charset="0"/>
                              </a:rPr>
                              <m:t>⁡</m:t>
                            </m:r>
                          </m:e>
                        </m:nary>
                      </m:e>
                    </m:nary>
                  </m:oMath>
                </a14:m>
                <a:r>
                  <a:rPr lang="zh-CN" altLang="en-US" sz="2400" dirty="0" smtClean="0"/>
                  <a:t> </a:t>
                </a:r>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1444977" y="1954294"/>
                <a:ext cx="6933479" cy="1789592"/>
              </a:xfrm>
              <a:prstGeom prst="rect">
                <a:avLst/>
              </a:prstGeom>
              <a:blipFill rotWithShape="0">
                <a:blip r:embed="rId4"/>
                <a:stretch>
                  <a:fillRect l="-264" t="-8874" b="-242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1444977" y="3917373"/>
                <a:ext cx="6836578" cy="491417"/>
              </a:xfrm>
              <a:prstGeom prst="rect">
                <a:avLst/>
              </a:prstGeom>
              <a:noFill/>
            </p:spPr>
            <p:txBody>
              <a:bodyPr wrap="square" rtlCol="0">
                <a:spAutoFit/>
              </a:bodyPr>
              <a:lstStyle/>
              <a:p>
                <a:r>
                  <a:rPr lang="zh-CN" altLang="en-US" sz="2400" dirty="0" smtClean="0"/>
                  <a:t>未知变量：</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r>
                      <a:rPr lang="en-US" altLang="zh-CN" sz="2400" b="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oMath>
                </a14:m>
                <a:endParaRPr lang="zh-CN" altLang="en-US" sz="2400" dirty="0"/>
              </a:p>
            </p:txBody>
          </p:sp>
        </mc:Choice>
        <mc:Fallback xmlns="">
          <p:sp>
            <p:nvSpPr>
              <p:cNvPr id="3" name="文本框 2"/>
              <p:cNvSpPr txBox="1">
                <a:spLocks noRot="1" noChangeAspect="1" noMove="1" noResize="1" noEditPoints="1" noAdjustHandles="1" noChangeArrowheads="1" noChangeShapeType="1" noTextEdit="1"/>
              </p:cNvSpPr>
              <p:nvPr/>
            </p:nvSpPr>
            <p:spPr>
              <a:xfrm>
                <a:off x="1444977" y="3917373"/>
                <a:ext cx="6836578" cy="491417"/>
              </a:xfrm>
              <a:prstGeom prst="rect">
                <a:avLst/>
              </a:prstGeom>
              <a:blipFill rotWithShape="0">
                <a:blip r:embed="rId5"/>
                <a:stretch>
                  <a:fillRect l="-1337" t="-13750" b="-18750"/>
                </a:stretch>
              </a:blipFill>
            </p:spPr>
            <p:txBody>
              <a:bodyPr/>
              <a:lstStyle/>
              <a:p>
                <a:r>
                  <a:rPr lang="zh-CN" altLang="en-US">
                    <a:noFill/>
                  </a:rPr>
                  <a:t> </a:t>
                </a:r>
              </a:p>
            </p:txBody>
          </p:sp>
        </mc:Fallback>
      </mc:AlternateContent>
      <p:sp>
        <p:nvSpPr>
          <p:cNvPr id="8" name="文本框 7"/>
          <p:cNvSpPr txBox="1"/>
          <p:nvPr/>
        </p:nvSpPr>
        <p:spPr>
          <a:xfrm>
            <a:off x="1444977" y="4793621"/>
            <a:ext cx="6836578" cy="461665"/>
          </a:xfrm>
          <a:prstGeom prst="rect">
            <a:avLst/>
          </a:prstGeom>
          <a:noFill/>
        </p:spPr>
        <p:txBody>
          <a:bodyPr wrap="square" rtlCol="0">
            <a:spAutoFit/>
          </a:bodyPr>
          <a:lstStyle/>
          <a:p>
            <a:r>
              <a:rPr lang="zh-CN" altLang="en-US" sz="2400" dirty="0" smtClean="0"/>
              <a:t>可以用</a:t>
            </a:r>
            <a:r>
              <a:rPr lang="en-US" altLang="zh-CN" sz="2400" dirty="0" smtClean="0"/>
              <a:t>EM</a:t>
            </a:r>
            <a:r>
              <a:rPr lang="zh-CN" altLang="en-US" sz="2400" dirty="0" smtClean="0"/>
              <a:t>算法来求这两类未知变量</a:t>
            </a:r>
            <a:endParaRPr lang="zh-CN" altLang="en-US" sz="2400" dirty="0"/>
          </a:p>
        </p:txBody>
      </p:sp>
    </p:spTree>
    <p:extLst>
      <p:ext uri="{BB962C8B-B14F-4D97-AF65-F5344CB8AC3E}">
        <p14:creationId xmlns:p14="http://schemas.microsoft.com/office/powerpoint/2010/main" val="31572625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42793"/>
          </a:xfrm>
        </p:spPr>
        <p:txBody>
          <a:bodyPr>
            <a:normAutofit/>
          </a:bodyPr>
          <a:lstStyle/>
          <a:p>
            <a:r>
              <a:rPr lang="en-US" altLang="zh-CN" sz="2400" b="1" dirty="0">
                <a:latin typeface="Times New Roman" panose="02020603050405020304" pitchFamily="18" charset="0"/>
                <a:cs typeface="Times New Roman" panose="02020603050405020304" pitchFamily="18" charset="0"/>
              </a:rPr>
              <a:t>Probabilistic Latent Semantic Analysis </a:t>
            </a:r>
            <a:r>
              <a:rPr lang="en-US" altLang="zh-CN" sz="2400" b="1" dirty="0" smtClean="0">
                <a:latin typeface="Times New Roman" panose="02020603050405020304" pitchFamily="18" charset="0"/>
                <a:cs typeface="Times New Roman" panose="02020603050405020304" pitchFamily="18" charset="0"/>
              </a:rPr>
              <a:t>Model</a:t>
            </a:r>
            <a:endParaRPr lang="zh-CN" altLang="en-US" sz="24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330036"/>
                <a:ext cx="10515600" cy="4846927"/>
              </a:xfrm>
            </p:spPr>
            <p:txBody>
              <a:bodyPr>
                <a:normAutofit/>
              </a:bodyPr>
              <a:lstStyle/>
              <a:p>
                <a:r>
                  <a:rPr lang="en-US" altLang="zh-CN" sz="2400" dirty="0" smtClean="0"/>
                  <a:t>E-Step:</a:t>
                </a:r>
              </a:p>
              <a:p>
                <a:pPr marL="0" indent="0">
                  <a:buNone/>
                </a:pPr>
                <a:r>
                  <a:rPr lang="zh-CN" altLang="en-US" sz="2400" dirty="0" smtClean="0"/>
                  <a:t>   </a:t>
                </a:r>
                <a:r>
                  <a:rPr lang="en-US" altLang="zh-CN" sz="2400" dirty="0" smtClean="0"/>
                  <a:t>1.</a:t>
                </a:r>
                <a:r>
                  <a:rPr lang="zh-CN" altLang="en-US" sz="2400" dirty="0" smtClean="0"/>
                  <a:t>隐含类别的后验概率（</a:t>
                </a:r>
                <a:r>
                  <a:rPr lang="en-US" altLang="zh-CN" sz="2400" dirty="0"/>
                  <a:t>posterior probability</a:t>
                </a:r>
                <a:r>
                  <a:rPr lang="zh-CN" altLang="en-US" sz="2400" dirty="0" smtClean="0"/>
                  <a:t>）</a:t>
                </a:r>
                <a:endParaRPr lang="en-US" altLang="zh-CN" sz="2400" dirty="0" smtClean="0"/>
              </a:p>
              <a:p>
                <a:pPr marL="0" indent="0">
                  <a:buNone/>
                </a:pPr>
                <a14:m>
                  <m:oMath xmlns:m="http://schemas.openxmlformats.org/officeDocument/2006/math">
                    <m:r>
                      <a:rPr lang="en-US" altLang="zh-CN" sz="2400" b="0" i="1" smtClean="0">
                        <a:latin typeface="Cambria Math" panose="02040503050406030204" pitchFamily="18" charset="0"/>
                      </a:rPr>
                      <m:t>       </m:t>
                    </m:r>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𝑧</m:t>
                            </m:r>
                          </m:e>
                          <m:sub>
                            <m:r>
                              <a:rPr lang="en-US" altLang="zh-CN" sz="2400" b="0" i="1" dirty="0" smtClean="0">
                                <a:latin typeface="Cambria Math" panose="02040503050406030204" pitchFamily="18" charset="0"/>
                              </a:rPr>
                              <m:t>𝑘</m:t>
                            </m:r>
                          </m:sub>
                        </m:sSub>
                      </m:e>
                      <m:e>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𝑑</m:t>
                            </m:r>
                          </m:e>
                          <m:sub>
                            <m:r>
                              <a:rPr lang="en-US" altLang="zh-CN" sz="2400" b="0" i="1" dirty="0" smtClean="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smtClean="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m:rPr>
                            <m:nor/>
                          </m:rPr>
                          <a:rPr lang="zh-CN" altLang="en-US" sz="2400" dirty="0"/>
                          <m:t> </m:t>
                        </m:r>
                      </m:e>
                    </m:d>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𝑃</m:t>
                        </m:r>
                        <m:d>
                          <m:dPr>
                            <m:ctrlPr>
                              <a:rPr lang="en-US" altLang="zh-CN" sz="2400" b="0" i="1" smtClean="0">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d>
                        <m:r>
                          <a:rPr lang="en-US" altLang="zh-CN" sz="2400" b="0" i="1" dirty="0" smtClean="0">
                            <a:latin typeface="Cambria Math" panose="02040503050406030204" pitchFamily="18" charset="0"/>
                          </a:rPr>
                          <m:t>𝑃</m:t>
                        </m:r>
                        <m:r>
                          <a:rPr lang="en-US" altLang="zh-CN" sz="2400" b="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b="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b="0" i="1" dirty="0" smtClean="0">
                            <a:latin typeface="Cambria Math" panose="02040503050406030204" pitchFamily="18" charset="0"/>
                          </a:rPr>
                          <m:t>)</m:t>
                        </m:r>
                      </m:num>
                      <m:den>
                        <m:nary>
                          <m:naryPr>
                            <m:chr m:val="∑"/>
                            <m:limLoc m:val="subSup"/>
                            <m:ctrlPr>
                              <a:rPr lang="en-US" altLang="zh-CN" sz="2400" b="0" i="1" smtClean="0">
                                <a:latin typeface="Cambria Math" panose="02040503050406030204" pitchFamily="18" charset="0"/>
                              </a:rPr>
                            </m:ctrlPr>
                          </m:naryPr>
                          <m:sub>
                            <m:r>
                              <m:rPr>
                                <m:brk m:alnAt="25"/>
                              </m:rPr>
                              <a:rPr lang="en-US" altLang="zh-CN" sz="2400" b="0" i="1" smtClean="0">
                                <a:latin typeface="Cambria Math" panose="02040503050406030204" pitchFamily="18" charset="0"/>
                              </a:rPr>
                              <m:t>𝑙</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𝐾</m:t>
                            </m:r>
                          </m:sup>
                          <m:e>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b="0" i="1" dirty="0" smtClean="0">
                                        <a:latin typeface="Cambria Math" panose="02040503050406030204" pitchFamily="18" charset="0"/>
                                      </a:rPr>
                                      <m:t>𝑙</m:t>
                                    </m:r>
                                  </m:sub>
                                </m:sSub>
                              </m:e>
                            </m:d>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b="0" i="1" dirty="0" smtClean="0">
                                    <a:latin typeface="Cambria Math" panose="02040503050406030204" pitchFamily="18" charset="0"/>
                                  </a:rPr>
                                  <m:t>𝑙</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e>
                        </m:nary>
                      </m:den>
                    </m:f>
                  </m:oMath>
                </a14:m>
                <a:r>
                  <a:rPr lang="en-US" altLang="zh-CN" sz="2400" dirty="0" smtClean="0"/>
                  <a:t>  </a:t>
                </a:r>
              </a:p>
              <a:p>
                <a:r>
                  <a:rPr lang="en-US" altLang="zh-CN" sz="2400" dirty="0" smtClean="0"/>
                  <a:t>M-Step:</a:t>
                </a:r>
              </a:p>
              <a:p>
                <a:pPr marL="0" indent="0">
                  <a:buNone/>
                </a:pPr>
                <a:r>
                  <a:rPr lang="en-US" altLang="zh-CN" sz="2400" dirty="0" smtClean="0">
                    <a:ea typeface="Cambria Math" panose="02040503050406030204" pitchFamily="18" charset="0"/>
                  </a:rPr>
                  <a:t>    </a:t>
                </a:r>
                <a14:m>
                  <m:oMath xmlns:m="http://schemas.openxmlformats.org/officeDocument/2006/math">
                    <m:r>
                      <m:rPr>
                        <m:sty m:val="p"/>
                      </m:rPr>
                      <a:rPr lang="el-GR" altLang="zh-CN" sz="2400" i="1" dirty="0">
                        <a:latin typeface="Cambria Math" panose="02040503050406030204" pitchFamily="18" charset="0"/>
                        <a:ea typeface="Cambria Math" panose="02040503050406030204" pitchFamily="18" charset="0"/>
                      </a:rPr>
                      <m:t>Θ</m:t>
                    </m:r>
                  </m:oMath>
                </a14:m>
                <a:r>
                  <a:rPr lang="en-US" altLang="zh-CN" sz="2400" dirty="0">
                    <a:latin typeface="Times New Roman" panose="02020603050405020304" pitchFamily="18" charset="0"/>
                    <a:cs typeface="Times New Roman" panose="02020603050405020304" pitchFamily="18" charset="0"/>
                  </a:rPr>
                  <a:t>=argmax</a:t>
                </a:r>
                <a14:m>
                  <m:oMath xmlns:m="http://schemas.openxmlformats.org/officeDocument/2006/math">
                    <m:r>
                      <a:rPr lang="en-US" altLang="zh-CN" sz="2400" dirty="0">
                        <a:latin typeface="Cambria Math" panose="02040503050406030204" pitchFamily="18" charset="0"/>
                      </a:rPr>
                      <m:t> </m:t>
                    </m:r>
                    <m:r>
                      <m:rPr>
                        <m:nor/>
                      </m:rPr>
                      <a:rPr lang="en-US" altLang="zh-CN" sz="2400" dirty="0">
                        <a:latin typeface="Times New Roman" panose="02020603050405020304" pitchFamily="18" charset="0"/>
                        <a:cs typeface="Times New Roman" panose="02020603050405020304" pitchFamily="18" charset="0"/>
                      </a:rPr>
                      <m:t>B</m:t>
                    </m:r>
                    <m:r>
                      <m:rPr>
                        <m:nor/>
                      </m:rPr>
                      <a:rPr lang="en-US" altLang="zh-CN" sz="2400" dirty="0">
                        <a:latin typeface="Times New Roman" panose="02020603050405020304" pitchFamily="18" charset="0"/>
                        <a:cs typeface="Times New Roman" panose="02020603050405020304" pitchFamily="18" charset="0"/>
                      </a:rPr>
                      <m:t>(</m:t>
                    </m:r>
                    <m:r>
                      <m:rPr>
                        <m:sty m:val="p"/>
                      </m:rPr>
                      <a:rPr lang="el-GR" altLang="zh-CN" sz="2400" i="1" dirty="0">
                        <a:latin typeface="Cambria Math" panose="02040503050406030204" pitchFamily="18" charset="0"/>
                        <a:ea typeface="Cambria Math" panose="02040503050406030204" pitchFamily="18" charset="0"/>
                      </a:rPr>
                      <m:t>Θ</m:t>
                    </m:r>
                    <m:r>
                      <m:rPr>
                        <m:nor/>
                      </m:rPr>
                      <a:rPr lang="en-US" altLang="zh-CN" sz="2400" dirty="0">
                        <a:latin typeface="Times New Roman" panose="02020603050405020304" pitchFamily="18" charset="0"/>
                        <a:cs typeface="Times New Roman" panose="02020603050405020304" pitchFamily="18" charset="0"/>
                      </a:rPr>
                      <m:t>)</m:t>
                    </m:r>
                    <m:r>
                      <m:rPr>
                        <m:nor/>
                      </m:rPr>
                      <a:rPr lang="en-US" altLang="zh-CN" sz="2400" b="0" i="0" dirty="0" smtClean="0">
                        <a:latin typeface="Times New Roman" panose="02020603050405020304" pitchFamily="18" charset="0"/>
                        <a:cs typeface="Times New Roman" panose="02020603050405020304" pitchFamily="18" charset="0"/>
                      </a:rPr>
                      <m:t>=</m:t>
                    </m:r>
                    <m:r>
                      <m:rPr>
                        <m:nor/>
                      </m:rPr>
                      <a:rPr lang="en-US" altLang="zh-CN" sz="2400" b="0" i="0" dirty="0" smtClean="0">
                        <a:latin typeface="Times New Roman" panose="02020603050405020304" pitchFamily="18" charset="0"/>
                        <a:cs typeface="Times New Roman" panose="02020603050405020304" pitchFamily="18" charset="0"/>
                      </a:rPr>
                      <m:t>argmax</m:t>
                    </m:r>
                    <m:nary>
                      <m:naryPr>
                        <m:chr m:val="∑"/>
                        <m:supHide m:val="on"/>
                        <m:ctrlPr>
                          <a:rPr lang="en-US" altLang="zh-CN" sz="2400" b="0" i="1" dirty="0" smtClean="0">
                            <a:latin typeface="Cambria Math" panose="02040503050406030204" pitchFamily="18" charset="0"/>
                          </a:rPr>
                        </m:ctrlPr>
                      </m:naryPr>
                      <m:sub>
                        <m:r>
                          <m:rPr>
                            <m:brk m:alnAt="7"/>
                          </m:rPr>
                          <a:rPr lang="en-US" altLang="zh-CN" sz="2400" b="0" i="1" dirty="0" smtClean="0">
                            <a:latin typeface="Cambria Math" panose="02040503050406030204" pitchFamily="18" charset="0"/>
                          </a:rPr>
                          <m:t>𝑖</m:t>
                        </m:r>
                      </m:sub>
                      <m:sup/>
                      <m:e>
                        <m:nary>
                          <m:naryPr>
                            <m:chr m:val="∑"/>
                            <m:supHide m:val="on"/>
                            <m:ctrlPr>
                              <a:rPr lang="en-US" altLang="zh-CN" sz="2400" b="0" i="1" dirty="0" smtClean="0">
                                <a:latin typeface="Cambria Math" panose="02040503050406030204" pitchFamily="18" charset="0"/>
                              </a:rPr>
                            </m:ctrlPr>
                          </m:naryPr>
                          <m:sub>
                            <m:r>
                              <m:rPr>
                                <m:brk m:alnAt="7"/>
                              </m:rPr>
                              <a:rPr lang="en-US" altLang="zh-CN" sz="2400" b="0" i="1" dirty="0" smtClean="0">
                                <a:latin typeface="Cambria Math" panose="02040503050406030204" pitchFamily="18" charset="0"/>
                              </a:rPr>
                              <m:t>𝑗</m:t>
                            </m:r>
                          </m:sub>
                          <m:sup/>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𝑛</m:t>
                                </m:r>
                                <m:r>
                                  <a:rPr lang="en-US" altLang="zh-CN" sz="2400" i="1" dirty="0">
                                    <a:latin typeface="Cambria Math" panose="02040503050406030204" pitchFamily="18" charset="0"/>
                                  </a:rPr>
                                  <m:t>(</m:t>
                                </m:r>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a:rPr lang="en-US" altLang="zh-CN" sz="2400" i="1" dirty="0">
                                <a:latin typeface="Cambria Math" panose="02040503050406030204" pitchFamily="18" charset="0"/>
                              </a:rPr>
                              <m:t>)</m:t>
                            </m:r>
                            <m:nary>
                              <m:naryPr>
                                <m:chr m:val="∑"/>
                                <m:limLoc m:val="subSup"/>
                                <m:ctrlPr>
                                  <a:rPr lang="en-US" altLang="zh-CN" sz="240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𝑘</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𝐾</m:t>
                                </m:r>
                              </m:sup>
                              <m:e>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m:rPr>
                                        <m:nor/>
                                      </m:rPr>
                                      <a:rPr lang="zh-CN" altLang="en-US" sz="2400" dirty="0">
                                        <a:latin typeface="Times New Roman" panose="02020603050405020304" pitchFamily="18" charset="0"/>
                                        <a:cs typeface="Times New Roman" panose="02020603050405020304" pitchFamily="18" charset="0"/>
                                      </a:rPr>
                                      <m:t> </m:t>
                                    </m:r>
                                  </m:e>
                                </m:d>
                                <m:r>
                                  <a:rPr lang="en-US" altLang="zh-CN" sz="2400" b="0" i="1" dirty="0" smtClean="0">
                                    <a:latin typeface="Cambria Math" panose="02040503050406030204" pitchFamily="18" charset="0"/>
                                  </a:rPr>
                                  <m:t>𝑙𝑜𝑔</m:t>
                                </m:r>
                                <m:f>
                                  <m:fPr>
                                    <m:ctrlPr>
                                      <a:rPr lang="en-US" altLang="zh-CN" sz="2400" b="0" i="1" dirty="0" smtClean="0">
                                        <a:latin typeface="Cambria Math" panose="02040503050406030204" pitchFamily="18" charset="0"/>
                                      </a:rPr>
                                    </m:ctrlPr>
                                  </m:fPr>
                                  <m:num>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d>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num>
                                  <m:den>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m:rPr>
                                            <m:nor/>
                                          </m:rPr>
                                          <a:rPr lang="zh-CN" altLang="en-US" sz="2400" dirty="0">
                                            <a:latin typeface="Times New Roman" panose="02020603050405020304" pitchFamily="18" charset="0"/>
                                            <a:cs typeface="Times New Roman" panose="02020603050405020304" pitchFamily="18" charset="0"/>
                                          </a:rPr>
                                          <m:t> </m:t>
                                        </m:r>
                                      </m:e>
                                    </m:d>
                                  </m:den>
                                </m:f>
                              </m:e>
                            </m:nary>
                          </m:e>
                        </m:nary>
                      </m:e>
                    </m:nary>
                  </m:oMath>
                </a14:m>
                <a:endParaRPr lang="en-US" altLang="zh-CN" sz="2400" dirty="0" smtClean="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CN" sz="2400" dirty="0">
                        <a:latin typeface="Times New Roman" panose="02020603050405020304" pitchFamily="18" charset="0"/>
                        <a:cs typeface="Times New Roman" panose="02020603050405020304" pitchFamily="18" charset="0"/>
                      </a:rPr>
                      <m:t>argmax</m:t>
                    </m:r>
                    <m:nary>
                      <m:naryPr>
                        <m:chr m:val="∑"/>
                        <m:supHide m:val="on"/>
                        <m:ctrlPr>
                          <a:rPr lang="en-US" altLang="zh-CN" sz="2400" i="1" dirty="0">
                            <a:latin typeface="Cambria Math" panose="02040503050406030204" pitchFamily="18" charset="0"/>
                          </a:rPr>
                        </m:ctrlPr>
                      </m:naryPr>
                      <m:sub>
                        <m:r>
                          <m:rPr>
                            <m:brk m:alnAt="7"/>
                          </m:rPr>
                          <a:rPr lang="en-US" altLang="zh-CN" sz="2400" i="1" dirty="0">
                            <a:latin typeface="Cambria Math" panose="02040503050406030204" pitchFamily="18" charset="0"/>
                          </a:rPr>
                          <m:t>𝑖</m:t>
                        </m:r>
                      </m:sub>
                      <m:sup/>
                      <m:e>
                        <m:nary>
                          <m:naryPr>
                            <m:chr m:val="∑"/>
                            <m:supHide m:val="on"/>
                            <m:ctrlPr>
                              <a:rPr lang="en-US" altLang="zh-CN" sz="2400" i="1" dirty="0">
                                <a:latin typeface="Cambria Math" panose="02040503050406030204" pitchFamily="18" charset="0"/>
                              </a:rPr>
                            </m:ctrlPr>
                          </m:naryPr>
                          <m:sub>
                            <m:r>
                              <m:rPr>
                                <m:brk m:alnAt="7"/>
                              </m:rPr>
                              <a:rPr lang="en-US" altLang="zh-CN" sz="2400" i="1" dirty="0">
                                <a:latin typeface="Cambria Math" panose="02040503050406030204" pitchFamily="18" charset="0"/>
                              </a:rPr>
                              <m:t>𝑗</m:t>
                            </m:r>
                          </m:sub>
                          <m:sup/>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𝑛</m:t>
                                </m:r>
                                <m:r>
                                  <a:rPr lang="en-US" altLang="zh-CN" sz="2400" i="1" dirty="0">
                                    <a:latin typeface="Cambria Math" panose="02040503050406030204" pitchFamily="18" charset="0"/>
                                  </a:rPr>
                                  <m:t>(</m:t>
                                </m:r>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a:rPr lang="en-US" altLang="zh-CN" sz="2400" i="1" dirty="0">
                                <a:latin typeface="Cambria Math" panose="02040503050406030204" pitchFamily="18" charset="0"/>
                              </a:rPr>
                              <m:t>)</m:t>
                            </m:r>
                            <m:nary>
                              <m:naryPr>
                                <m:chr m:val="∑"/>
                                <m:limLoc m:val="subSup"/>
                                <m:ctrlPr>
                                  <a:rPr lang="en-US" altLang="zh-CN" sz="2400" i="1" dirty="0">
                                    <a:latin typeface="Cambria Math" panose="02040503050406030204" pitchFamily="18" charset="0"/>
                                  </a:rPr>
                                </m:ctrlPr>
                              </m:naryPr>
                              <m:sub>
                                <m:r>
                                  <m:rPr>
                                    <m:brk m:alnAt="25"/>
                                  </m:rPr>
                                  <a:rPr lang="en-US" altLang="zh-CN" sz="2400" i="1" dirty="0">
                                    <a:latin typeface="Cambria Math" panose="02040503050406030204" pitchFamily="18" charset="0"/>
                                  </a:rPr>
                                  <m:t>𝑘</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𝐾</m:t>
                                </m:r>
                              </m:sup>
                              <m:e>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m:rPr>
                                        <m:nor/>
                                      </m:rPr>
                                      <a:rPr lang="zh-CN" altLang="en-US" sz="2400" dirty="0">
                                        <a:latin typeface="Times New Roman" panose="02020603050405020304" pitchFamily="18" charset="0"/>
                                        <a:cs typeface="Times New Roman" panose="02020603050405020304" pitchFamily="18" charset="0"/>
                                      </a:rPr>
                                      <m:t> </m:t>
                                    </m:r>
                                  </m:e>
                                </m:d>
                                <m:r>
                                  <a:rPr lang="en-US" altLang="zh-CN" sz="2400" i="1" dirty="0">
                                    <a:latin typeface="Cambria Math" panose="02040503050406030204" pitchFamily="18" charset="0"/>
                                  </a:rPr>
                                  <m:t>𝑙𝑜𝑔</m:t>
                                </m:r>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d>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r>
                                  <a:rPr lang="en-US" altLang="zh-CN" sz="2400" i="1" dirty="0" smtClean="0">
                                    <a:latin typeface="Cambria Math" panose="02040503050406030204" pitchFamily="18" charset="0"/>
                                  </a:rPr>
                                  <m:t> </m:t>
                                </m:r>
                              </m:e>
                            </m:nary>
                          </m:e>
                        </m:nary>
                      </m:e>
                    </m:nary>
                  </m:oMath>
                </a14:m>
                <a:r>
                  <a:rPr lang="en-US" altLang="zh-CN" sz="2400" dirty="0" smtClean="0">
                    <a:latin typeface="Times New Roman" panose="02020603050405020304" pitchFamily="18" charset="0"/>
                    <a:cs typeface="Times New Roman" panose="02020603050405020304" pitchFamily="18" charset="0"/>
                  </a:rPr>
                  <a:t> </a:t>
                </a:r>
              </a:p>
              <a:p>
                <a:pPr marL="0" indent="0">
                  <a:buNone/>
                </a:pPr>
                <a:r>
                  <a:rPr lang="en-US" altLang="zh-CN" sz="2400" dirty="0"/>
                  <a:t> </a:t>
                </a:r>
                <a:r>
                  <a:rPr lang="en-US" altLang="zh-CN" sz="2400" dirty="0" smtClean="0"/>
                  <a:t>    </a:t>
                </a:r>
              </a:p>
              <a:p>
                <a:pPr marL="0" indent="0">
                  <a:buNone/>
                </a:pPr>
                <a:endParaRPr lang="en-US" altLang="zh-CN" sz="2400" dirty="0" smtClean="0"/>
              </a:p>
              <a:p>
                <a:endParaRPr lang="en-US" altLang="zh-CN" sz="2400" dirty="0" smtClean="0"/>
              </a:p>
              <a:p>
                <a:pPr marL="0" indent="0">
                  <a:buNone/>
                </a:pPr>
                <a:endParaRPr lang="en-US" altLang="zh-CN" sz="2400" dirty="0" smtClean="0"/>
              </a:p>
              <a:p>
                <a:pPr marL="0" indent="0">
                  <a:buNone/>
                </a:pPr>
                <a:endParaRPr lang="en-US" altLang="zh-CN" sz="2400" dirty="0" smtClean="0"/>
              </a:p>
              <a:p>
                <a:pPr marL="0" indent="0">
                  <a:buNone/>
                </a:pPr>
                <a:endParaRPr lang="en-US" altLang="zh-CN" sz="2400" dirty="0" smtClean="0"/>
              </a:p>
              <a:p>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330036"/>
                <a:ext cx="10515600" cy="4846927"/>
              </a:xfrm>
              <a:blipFill rotWithShape="0">
                <a:blip r:embed="rId2"/>
                <a:stretch>
                  <a:fillRect l="-812" t="-17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951739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798657"/>
          </a:xfrm>
        </p:spPr>
        <p:txBody>
          <a:bodyPr>
            <a:normAutofit/>
          </a:bodyPr>
          <a:lstStyle/>
          <a:p>
            <a:r>
              <a:rPr lang="en-US" altLang="zh-CN" sz="2400" b="1" dirty="0">
                <a:latin typeface="Times New Roman" panose="02020603050405020304" pitchFamily="18" charset="0"/>
                <a:cs typeface="Times New Roman" panose="02020603050405020304" pitchFamily="18" charset="0"/>
              </a:rPr>
              <a:t>Probabilistic Latent Semantic Analysis Model</a:t>
            </a:r>
            <a:endParaRPr lang="zh-CN" altLang="en-US" sz="24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smtClean="0"/>
                  <a:t>所以，可以进一步等价于</a:t>
                </a:r>
                <a:endParaRPr lang="en-US" altLang="zh-CN" sz="2400" dirty="0" smtClean="0"/>
              </a:p>
              <a:p>
                <a:pPr marL="0" indent="0">
                  <a:buNone/>
                </a:pPr>
                <a:r>
                  <a:rPr lang="en-US" altLang="zh-CN" sz="2400" dirty="0" smtClean="0"/>
                  <a:t>Maximization </a:t>
                </a:r>
                <a14:m>
                  <m:oMath xmlns:m="http://schemas.openxmlformats.org/officeDocument/2006/math">
                    <m:nary>
                      <m:naryPr>
                        <m:chr m:val="∑"/>
                        <m:supHide m:val="on"/>
                        <m:ctrlPr>
                          <a:rPr lang="en-US" altLang="zh-CN" sz="2400" i="1" dirty="0">
                            <a:latin typeface="Cambria Math" panose="02040503050406030204" pitchFamily="18" charset="0"/>
                          </a:rPr>
                        </m:ctrlPr>
                      </m:naryPr>
                      <m:sub>
                        <m:r>
                          <m:rPr>
                            <m:brk m:alnAt="7"/>
                          </m:rPr>
                          <a:rPr lang="en-US" altLang="zh-CN" sz="2400" i="1" dirty="0">
                            <a:latin typeface="Cambria Math" panose="02040503050406030204" pitchFamily="18" charset="0"/>
                          </a:rPr>
                          <m:t>𝑖</m:t>
                        </m:r>
                      </m:sub>
                      <m:sup/>
                      <m:e>
                        <m:nary>
                          <m:naryPr>
                            <m:chr m:val="∑"/>
                            <m:supHide m:val="on"/>
                            <m:ctrlPr>
                              <a:rPr lang="en-US" altLang="zh-CN" sz="2400" i="1" dirty="0">
                                <a:latin typeface="Cambria Math" panose="02040503050406030204" pitchFamily="18" charset="0"/>
                              </a:rPr>
                            </m:ctrlPr>
                          </m:naryPr>
                          <m:sub>
                            <m:r>
                              <m:rPr>
                                <m:brk m:alnAt="7"/>
                              </m:rPr>
                              <a:rPr lang="en-US" altLang="zh-CN" sz="2400" i="1" dirty="0">
                                <a:latin typeface="Cambria Math" panose="02040503050406030204" pitchFamily="18" charset="0"/>
                              </a:rPr>
                              <m:t>𝑗</m:t>
                            </m:r>
                          </m:sub>
                          <m:sup/>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𝑛</m:t>
                                </m:r>
                                <m:r>
                                  <a:rPr lang="en-US" altLang="zh-CN" sz="2400" i="1" dirty="0">
                                    <a:latin typeface="Cambria Math" panose="02040503050406030204" pitchFamily="18" charset="0"/>
                                  </a:rPr>
                                  <m:t>(</m:t>
                                </m:r>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a:rPr lang="en-US" altLang="zh-CN" sz="2400" i="1" dirty="0">
                                <a:latin typeface="Cambria Math" panose="02040503050406030204" pitchFamily="18" charset="0"/>
                              </a:rPr>
                              <m:t>)</m:t>
                            </m:r>
                            <m:nary>
                              <m:naryPr>
                                <m:chr m:val="∑"/>
                                <m:limLoc m:val="subSup"/>
                                <m:ctrlPr>
                                  <a:rPr lang="en-US" altLang="zh-CN" sz="2400" i="1" dirty="0">
                                    <a:latin typeface="Cambria Math" panose="02040503050406030204" pitchFamily="18" charset="0"/>
                                  </a:rPr>
                                </m:ctrlPr>
                              </m:naryPr>
                              <m:sub>
                                <m:r>
                                  <m:rPr>
                                    <m:brk m:alnAt="25"/>
                                  </m:rPr>
                                  <a:rPr lang="en-US" altLang="zh-CN" sz="2400" i="1" dirty="0">
                                    <a:latin typeface="Cambria Math" panose="02040503050406030204" pitchFamily="18" charset="0"/>
                                  </a:rPr>
                                  <m:t>𝑘</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𝐾</m:t>
                                </m:r>
                              </m:sup>
                              <m:e>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m:rPr>
                                        <m:nor/>
                                      </m:rPr>
                                      <a:rPr lang="zh-CN" altLang="en-US" sz="2400" dirty="0">
                                        <a:latin typeface="Times New Roman" panose="02020603050405020304" pitchFamily="18" charset="0"/>
                                        <a:cs typeface="Times New Roman" panose="02020603050405020304" pitchFamily="18" charset="0"/>
                                      </a:rPr>
                                      <m:t> </m:t>
                                    </m:r>
                                  </m:e>
                                </m:d>
                                <m:r>
                                  <a:rPr lang="en-US" altLang="zh-CN" sz="2400" i="1" dirty="0">
                                    <a:latin typeface="Cambria Math" panose="02040503050406030204" pitchFamily="18" charset="0"/>
                                  </a:rPr>
                                  <m:t>𝑙𝑜𝑔</m:t>
                                </m:r>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d>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 </m:t>
                                </m:r>
                              </m:e>
                            </m:nary>
                          </m:e>
                        </m:nary>
                      </m:e>
                    </m:nary>
                  </m:oMath>
                </a14:m>
                <a:r>
                  <a:rPr lang="en-US" altLang="zh-CN" sz="2400" dirty="0" smtClean="0"/>
                  <a:t> </a:t>
                </a:r>
              </a:p>
              <a:p>
                <a:pPr marL="0" indent="0">
                  <a:buNone/>
                </a:pPr>
                <a:r>
                  <a:rPr lang="en-US" altLang="zh-CN" sz="2400" dirty="0" smtClean="0"/>
                  <a:t>Subject to:</a:t>
                </a:r>
              </a:p>
              <a:p>
                <a:pPr marL="0" indent="0">
                  <a:buNone/>
                </a:pPr>
                <a:r>
                  <a:rPr lang="en-US" altLang="zh-CN" sz="2400" dirty="0" smtClean="0"/>
                  <a:t>                  </a:t>
                </a:r>
                <a14:m>
                  <m:oMath xmlns:m="http://schemas.openxmlformats.org/officeDocument/2006/math">
                    <m:nary>
                      <m:naryPr>
                        <m:chr m:val="∑"/>
                        <m:limLoc m:val="subSup"/>
                        <m:ctrlPr>
                          <a:rPr lang="en-US" altLang="zh-CN" sz="2400" i="1" smtClean="0">
                            <a:latin typeface="Cambria Math" panose="02040503050406030204" pitchFamily="18" charset="0"/>
                          </a:rPr>
                        </m:ctrlPr>
                      </m:naryPr>
                      <m:sub>
                        <m:r>
                          <m:rPr>
                            <m:brk m:alnAt="25"/>
                          </m:rP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𝑀</m:t>
                        </m:r>
                      </m:sup>
                      <m:e>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d>
                        <m:r>
                          <a:rPr lang="en-US" altLang="zh-CN" sz="2400" b="0" i="1" dirty="0" smtClean="0">
                            <a:latin typeface="Cambria Math" panose="02040503050406030204" pitchFamily="18" charset="0"/>
                          </a:rPr>
                          <m:t>=1</m:t>
                        </m:r>
                      </m:e>
                    </m:nary>
                  </m:oMath>
                </a14:m>
                <a:r>
                  <a:rPr lang="en-US" altLang="zh-CN" sz="2400" dirty="0" smtClean="0"/>
                  <a:t> </a:t>
                </a:r>
              </a:p>
              <a:p>
                <a:pPr marL="0" indent="0">
                  <a:buNone/>
                </a:pPr>
                <a:r>
                  <a:rPr lang="en-US" altLang="zh-CN" sz="2400" dirty="0" smtClean="0"/>
                  <a:t>                  </a:t>
                </a:r>
                <a14:m>
                  <m:oMath xmlns:m="http://schemas.openxmlformats.org/officeDocument/2006/math">
                    <m:nary>
                      <m:naryPr>
                        <m:chr m:val="∑"/>
                        <m:limLoc m:val="subSup"/>
                        <m:ctrlPr>
                          <a:rPr lang="en-US" altLang="zh-CN" sz="2400" i="1" smtClean="0">
                            <a:latin typeface="Cambria Math" panose="02040503050406030204" pitchFamily="18" charset="0"/>
                          </a:rPr>
                        </m:ctrlPr>
                      </m:naryPr>
                      <m:sub>
                        <m:r>
                          <m:rPr>
                            <m:brk m:alnAt="25"/>
                          </m:rP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𝐾</m:t>
                        </m:r>
                      </m:sup>
                      <m:e>
                        <m:r>
                          <a:rPr lang="en-US" altLang="zh-CN" sz="2400" i="1">
                            <a:latin typeface="Cambria Math" panose="02040503050406030204" pitchFamily="18" charset="0"/>
                          </a:rPr>
                          <m:t>𝑃</m:t>
                        </m:r>
                        <m:r>
                          <a:rPr lang="en-US" altLang="zh-CN" sz="2400" i="1">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a:latin typeface="Cambria Math" panose="02040503050406030204" pitchFamily="18" charset="0"/>
                          </a:rPr>
                          <m:t>)</m:t>
                        </m:r>
                      </m:e>
                    </m:nary>
                    <m:r>
                      <a:rPr lang="en-US" altLang="zh-CN" sz="2400" b="0" i="1" smtClean="0">
                        <a:latin typeface="Cambria Math" panose="02040503050406030204" pitchFamily="18" charset="0"/>
                      </a:rPr>
                      <m:t>=1</m:t>
                    </m:r>
                  </m:oMath>
                </a14:m>
                <a:endParaRPr lang="en-US" altLang="zh-CN" sz="2400" dirty="0" smtClean="0"/>
              </a:p>
              <a:p>
                <a:r>
                  <a:rPr lang="zh-CN" altLang="en-US" sz="2400" dirty="0" smtClean="0"/>
                  <a:t>构造拉格朗日函数（</a:t>
                </a:r>
                <a:r>
                  <a:rPr lang="en-US" altLang="zh-CN" sz="2400" dirty="0" smtClean="0"/>
                  <a:t>Lagrange</a:t>
                </a:r>
                <a:r>
                  <a:rPr lang="en-US" altLang="zh-CN" sz="2400" dirty="0"/>
                  <a:t> </a:t>
                </a:r>
                <a:r>
                  <a:rPr lang="en-US" altLang="zh-CN" sz="2400" dirty="0" smtClean="0"/>
                  <a:t>Function</a:t>
                </a:r>
                <a:r>
                  <a:rPr lang="zh-CN" altLang="en-US" sz="2400" dirty="0" smtClean="0"/>
                  <a:t>）</a:t>
                </a:r>
                <a:endParaRPr lang="en-US" altLang="zh-CN" sz="2400" dirty="0" smtClean="0">
                  <a:latin typeface="Cambria Math" panose="02040503050406030204" pitchFamily="18" charset="0"/>
                </a:endParaRPr>
              </a:p>
              <a:p>
                <a14:m>
                  <m:oMath xmlns:m="http://schemas.openxmlformats.org/officeDocument/2006/math">
                    <m:r>
                      <m:rPr>
                        <m:sty m:val="p"/>
                      </m:rPr>
                      <a:rPr lang="en-US" altLang="zh-CN" sz="2400" dirty="0">
                        <a:latin typeface="Cambria Math" panose="02040503050406030204" pitchFamily="18" charset="0"/>
                      </a:rPr>
                      <m:t>B</m:t>
                    </m:r>
                    <m:r>
                      <a:rPr lang="en-US" altLang="zh-CN" sz="2400" b="0" i="0" dirty="0" smtClean="0">
                        <a:latin typeface="Cambria Math" panose="02040503050406030204" pitchFamily="18" charset="0"/>
                      </a:rPr>
                      <m:t>=</m:t>
                    </m:r>
                    <m:nary>
                      <m:naryPr>
                        <m:chr m:val="∑"/>
                        <m:supHide m:val="on"/>
                        <m:ctrlPr>
                          <a:rPr lang="en-US" altLang="zh-CN" sz="2400" i="1" dirty="0">
                            <a:latin typeface="Cambria Math" panose="02040503050406030204" pitchFamily="18" charset="0"/>
                          </a:rPr>
                        </m:ctrlPr>
                      </m:naryPr>
                      <m:sub>
                        <m:r>
                          <m:rPr>
                            <m:brk m:alnAt="7"/>
                          </m:rPr>
                          <a:rPr lang="en-US" altLang="zh-CN" sz="2400" i="1" dirty="0">
                            <a:latin typeface="Cambria Math" panose="02040503050406030204" pitchFamily="18" charset="0"/>
                          </a:rPr>
                          <m:t>𝑖</m:t>
                        </m:r>
                      </m:sub>
                      <m:sup/>
                      <m:e>
                        <m:nary>
                          <m:naryPr>
                            <m:chr m:val="∑"/>
                            <m:supHide m:val="on"/>
                            <m:ctrlPr>
                              <a:rPr lang="en-US" altLang="zh-CN" sz="2400" i="1" dirty="0">
                                <a:latin typeface="Cambria Math" panose="02040503050406030204" pitchFamily="18" charset="0"/>
                              </a:rPr>
                            </m:ctrlPr>
                          </m:naryPr>
                          <m:sub>
                            <m:r>
                              <m:rPr>
                                <m:brk m:alnAt="7"/>
                              </m:rPr>
                              <a:rPr lang="en-US" altLang="zh-CN" sz="2400" i="1" dirty="0">
                                <a:latin typeface="Cambria Math" panose="02040503050406030204" pitchFamily="18" charset="0"/>
                              </a:rPr>
                              <m:t>𝑗</m:t>
                            </m:r>
                          </m:sub>
                          <m:sup/>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𝑛</m:t>
                                </m:r>
                                <m:r>
                                  <a:rPr lang="en-US" altLang="zh-CN" sz="2400" i="1" dirty="0">
                                    <a:latin typeface="Cambria Math" panose="02040503050406030204" pitchFamily="18" charset="0"/>
                                  </a:rPr>
                                  <m:t>(</m:t>
                                </m:r>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a:rPr lang="en-US" altLang="zh-CN" sz="2400" i="1" dirty="0">
                                <a:latin typeface="Cambria Math" panose="02040503050406030204" pitchFamily="18" charset="0"/>
                              </a:rPr>
                              <m:t>)</m:t>
                            </m:r>
                            <m:nary>
                              <m:naryPr>
                                <m:chr m:val="∑"/>
                                <m:limLoc m:val="subSup"/>
                                <m:ctrlPr>
                                  <a:rPr lang="en-US" altLang="zh-CN" sz="2400" i="1" dirty="0">
                                    <a:latin typeface="Cambria Math" panose="02040503050406030204" pitchFamily="18" charset="0"/>
                                  </a:rPr>
                                </m:ctrlPr>
                              </m:naryPr>
                              <m:sub>
                                <m:r>
                                  <m:rPr>
                                    <m:brk m:alnAt="25"/>
                                  </m:rPr>
                                  <a:rPr lang="en-US" altLang="zh-CN" sz="2400" i="1" dirty="0">
                                    <a:latin typeface="Cambria Math" panose="02040503050406030204" pitchFamily="18" charset="0"/>
                                  </a:rPr>
                                  <m:t>𝑘</m:t>
                                </m:r>
                                <m:r>
                                  <a:rPr lang="en-US" altLang="zh-CN" sz="2400" i="1" dirty="0">
                                    <a:latin typeface="Cambria Math" panose="02040503050406030204" pitchFamily="18" charset="0"/>
                                  </a:rPr>
                                  <m:t>=1</m:t>
                                </m:r>
                              </m:sub>
                              <m:sup>
                                <m:r>
                                  <a:rPr lang="en-US" altLang="zh-CN" sz="2400" i="1" dirty="0">
                                    <a:latin typeface="Cambria Math" panose="02040503050406030204" pitchFamily="18" charset="0"/>
                                  </a:rPr>
                                  <m:t>𝐾</m:t>
                                </m:r>
                              </m:sup>
                              <m:e>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m:rPr>
                                        <m:nor/>
                                      </m:rPr>
                                      <a:rPr lang="zh-CN" altLang="en-US" sz="2400" dirty="0">
                                        <a:latin typeface="Times New Roman" panose="02020603050405020304" pitchFamily="18" charset="0"/>
                                        <a:cs typeface="Times New Roman" panose="02020603050405020304" pitchFamily="18" charset="0"/>
                                      </a:rPr>
                                      <m:t> </m:t>
                                    </m:r>
                                  </m:e>
                                </m:d>
                                <m:r>
                                  <a:rPr lang="en-US" altLang="zh-CN" sz="2400" i="1" dirty="0">
                                    <a:latin typeface="Cambria Math" panose="02040503050406030204" pitchFamily="18" charset="0"/>
                                  </a:rPr>
                                  <m:t>𝑙𝑜𝑔</m:t>
                                </m:r>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d>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 </m:t>
                                </m:r>
                              </m:e>
                            </m:nary>
                          </m:e>
                        </m:nary>
                      </m:e>
                    </m:nary>
                    <m:r>
                      <a:rPr lang="en-US" altLang="zh-CN" sz="2400" b="0" i="1" dirty="0" smtClean="0">
                        <a:latin typeface="Cambria Math" panose="02040503050406030204" pitchFamily="18" charset="0"/>
                      </a:rPr>
                      <m:t>−</m:t>
                    </m:r>
                    <m:nary>
                      <m:naryPr>
                        <m:chr m:val="∑"/>
                        <m:limLoc m:val="subSup"/>
                        <m:ctrlPr>
                          <a:rPr lang="en-US" altLang="zh-CN" sz="2400" b="0" i="1" dirty="0" smtClean="0">
                            <a:latin typeface="Cambria Math" panose="02040503050406030204" pitchFamily="18" charset="0"/>
                          </a:rPr>
                        </m:ctrlPr>
                      </m:naryPr>
                      <m:sub>
                        <m:r>
                          <m:rPr>
                            <m:brk m:alnAt="25"/>
                          </m:rPr>
                          <a:rPr lang="en-US" altLang="zh-CN" sz="2400" b="0" i="1" dirty="0" smtClean="0">
                            <a:latin typeface="Cambria Math" panose="02040503050406030204" pitchFamily="18" charset="0"/>
                          </a:rPr>
                          <m:t>𝑘</m:t>
                        </m:r>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𝐾</m:t>
                        </m:r>
                      </m:sup>
                      <m:e>
                        <m:sSub>
                          <m:sSubPr>
                            <m:ctrlPr>
                              <a:rPr lang="en-US" altLang="zh-CN" sz="2400" b="0" i="1" dirty="0" smtClean="0">
                                <a:latin typeface="Cambria Math" panose="02040503050406030204" pitchFamily="18" charset="0"/>
                              </a:rPr>
                            </m:ctrlPr>
                          </m:sSubPr>
                          <m:e>
                            <m:r>
                              <a:rPr lang="zh-CN" altLang="en-US" sz="2400" b="0" i="1" dirty="0" smtClean="0">
                                <a:latin typeface="Cambria Math" panose="02040503050406030204" pitchFamily="18" charset="0"/>
                              </a:rPr>
                              <m:t>𝜌</m:t>
                            </m:r>
                          </m:e>
                          <m:sub>
                            <m:r>
                              <a:rPr lang="en-US" altLang="zh-CN" sz="2400" b="0" i="1" dirty="0" smtClean="0">
                                <a:latin typeface="Cambria Math" panose="02040503050406030204" pitchFamily="18" charset="0"/>
                              </a:rPr>
                              <m:t>𝑘</m:t>
                            </m:r>
                          </m:sub>
                        </m:sSub>
                        <m:d>
                          <m:dPr>
                            <m:ctrlPr>
                              <a:rPr lang="en-US" altLang="zh-CN" sz="2400" b="0" i="1" dirty="0" smtClean="0">
                                <a:latin typeface="Cambria Math" panose="02040503050406030204" pitchFamily="18" charset="0"/>
                              </a:rPr>
                            </m:ctrlPr>
                          </m:dPr>
                          <m:e>
                            <m:nary>
                              <m:naryPr>
                                <m:chr m:val="∑"/>
                                <m:limLoc m:val="subSup"/>
                                <m:ctrlPr>
                                  <a:rPr lang="en-US" altLang="zh-CN" sz="2400" i="1">
                                    <a:latin typeface="Cambria Math" panose="02040503050406030204" pitchFamily="18" charset="0"/>
                                  </a:rPr>
                                </m:ctrlPr>
                              </m:naryPr>
                              <m:sub>
                                <m:r>
                                  <m:rPr>
                                    <m:brk m:alnAt="25"/>
                                  </m:rPr>
                                  <a:rPr lang="en-US" altLang="zh-CN" sz="2400" i="1">
                                    <a:latin typeface="Cambria Math" panose="02040503050406030204" pitchFamily="18" charset="0"/>
                                  </a:rPr>
                                  <m:t>𝑗</m:t>
                                </m:r>
                                <m:r>
                                  <a:rPr lang="en-US" altLang="zh-CN" sz="2400" i="1">
                                    <a:latin typeface="Cambria Math" panose="02040503050406030204" pitchFamily="18" charset="0"/>
                                  </a:rPr>
                                  <m:t>=1</m:t>
                                </m:r>
                              </m:sub>
                              <m:sup>
                                <m:r>
                                  <a:rPr lang="en-US" altLang="zh-CN" sz="2400" i="1">
                                    <a:latin typeface="Cambria Math" panose="02040503050406030204" pitchFamily="18" charset="0"/>
                                  </a:rPr>
                                  <m:t>𝑀</m:t>
                                </m:r>
                              </m:sup>
                              <m:e>
                                <m:d>
                                  <m:dPr>
                                    <m:ctrlPr>
                                      <a:rPr lang="en-US" altLang="zh-CN" sz="2400" i="1">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e>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e>
                                </m:d>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1</m:t>
                                </m:r>
                              </m:e>
                            </m:nary>
                          </m:e>
                        </m:d>
                      </m:e>
                    </m:nary>
                    <m:r>
                      <a:rPr lang="en-US" altLang="zh-CN" sz="2400" b="0" i="1" dirty="0" smtClean="0">
                        <a:latin typeface="Cambria Math" panose="02040503050406030204" pitchFamily="18" charset="0"/>
                      </a:rPr>
                      <m:t>−</m:t>
                    </m:r>
                    <m:nary>
                      <m:naryPr>
                        <m:chr m:val="∑"/>
                        <m:limLoc m:val="subSup"/>
                        <m:ctrlPr>
                          <a:rPr lang="en-US" altLang="zh-CN" sz="2400" i="1" dirty="0">
                            <a:latin typeface="Cambria Math" panose="02040503050406030204" pitchFamily="18" charset="0"/>
                          </a:rPr>
                        </m:ctrlPr>
                      </m:naryPr>
                      <m:sub>
                        <m:r>
                          <m:rPr>
                            <m:brk m:alnAt="1"/>
                          </m:rPr>
                          <a:rPr lang="en-US" altLang="zh-CN" sz="2400" b="0" i="1" dirty="0" smtClean="0">
                            <a:latin typeface="Cambria Math" panose="02040503050406030204" pitchFamily="18" charset="0"/>
                          </a:rPr>
                          <m:t>𝑖</m:t>
                        </m:r>
                        <m:r>
                          <a:rPr lang="en-US" altLang="zh-CN" sz="2400" i="1" dirty="0">
                            <a:latin typeface="Cambria Math" panose="02040503050406030204" pitchFamily="18" charset="0"/>
                          </a:rPr>
                          <m:t>=1</m:t>
                        </m:r>
                      </m:sub>
                      <m:sup>
                        <m:r>
                          <a:rPr lang="en-US" altLang="zh-CN" sz="2400" b="0" i="1" dirty="0" smtClean="0">
                            <a:latin typeface="Cambria Math" panose="02040503050406030204" pitchFamily="18" charset="0"/>
                          </a:rPr>
                          <m:t>𝑁</m:t>
                        </m:r>
                      </m:sup>
                      <m:e>
                        <m:sSub>
                          <m:sSubPr>
                            <m:ctrlPr>
                              <a:rPr lang="en-US" altLang="zh-CN" sz="2400" i="1" dirty="0">
                                <a:latin typeface="Cambria Math" panose="02040503050406030204" pitchFamily="18" charset="0"/>
                              </a:rPr>
                            </m:ctrlPr>
                          </m:sSubPr>
                          <m:e>
                            <m:r>
                              <a:rPr lang="zh-CN" altLang="en-US" sz="2400" i="1" dirty="0" smtClean="0">
                                <a:latin typeface="Cambria Math" panose="02040503050406030204" pitchFamily="18" charset="0"/>
                              </a:rPr>
                              <m:t>𝛾</m:t>
                            </m:r>
                          </m:e>
                          <m:sub>
                            <m:r>
                              <a:rPr lang="en-US" altLang="zh-CN" sz="2400" i="1" dirty="0">
                                <a:latin typeface="Cambria Math" panose="02040503050406030204" pitchFamily="18" charset="0"/>
                              </a:rPr>
                              <m:t>𝑘</m:t>
                            </m:r>
                          </m:sub>
                        </m:sSub>
                        <m:d>
                          <m:dPr>
                            <m:ctrlPr>
                              <a:rPr lang="en-US" altLang="zh-CN" sz="2400" i="1" dirty="0">
                                <a:latin typeface="Cambria Math" panose="02040503050406030204" pitchFamily="18" charset="0"/>
                              </a:rPr>
                            </m:ctrlPr>
                          </m:dPr>
                          <m:e>
                            <m:nary>
                              <m:naryPr>
                                <m:chr m:val="∑"/>
                                <m:limLoc m:val="subSup"/>
                                <m:ctrlPr>
                                  <a:rPr lang="en-US" altLang="zh-CN" sz="2400" i="1">
                                    <a:latin typeface="Cambria Math" panose="02040503050406030204" pitchFamily="18" charset="0"/>
                                  </a:rPr>
                                </m:ctrlPr>
                              </m:naryPr>
                              <m:sub>
                                <m:r>
                                  <m:rPr>
                                    <m:brk m:alnAt="25"/>
                                  </m:rPr>
                                  <a:rPr lang="en-US" altLang="zh-CN" sz="2400" i="1">
                                    <a:latin typeface="Cambria Math" panose="02040503050406030204" pitchFamily="18" charset="0"/>
                                  </a:rPr>
                                  <m:t>𝑘</m:t>
                                </m:r>
                                <m:r>
                                  <a:rPr lang="en-US" altLang="zh-CN" sz="2400" i="1">
                                    <a:latin typeface="Cambria Math" panose="02040503050406030204" pitchFamily="18" charset="0"/>
                                  </a:rPr>
                                  <m:t>=1</m:t>
                                </m:r>
                              </m:sub>
                              <m:sup>
                                <m:r>
                                  <a:rPr lang="en-US" altLang="zh-CN" sz="2400" i="1">
                                    <a:latin typeface="Cambria Math" panose="02040503050406030204" pitchFamily="18" charset="0"/>
                                  </a:rPr>
                                  <m:t>𝐾</m:t>
                                </m:r>
                              </m:sup>
                              <m:e>
                                <m:r>
                                  <a:rPr lang="en-US" altLang="zh-CN" sz="2400" i="1">
                                    <a:latin typeface="Cambria Math" panose="02040503050406030204" pitchFamily="18" charset="0"/>
                                  </a:rPr>
                                  <m:t>𝑃</m:t>
                                </m:r>
                                <m:r>
                                  <a:rPr lang="en-US" altLang="zh-CN" sz="2400" i="1">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a:latin typeface="Cambria Math" panose="02040503050406030204" pitchFamily="18" charset="0"/>
                                  </a:rPr>
                                  <m:t>)</m:t>
                                </m:r>
                              </m:e>
                            </m:nary>
                            <m:r>
                              <a:rPr lang="en-US" altLang="zh-CN" sz="2400" b="0" i="1" smtClean="0">
                                <a:latin typeface="Cambria Math" panose="02040503050406030204" pitchFamily="18" charset="0"/>
                              </a:rPr>
                              <m:t>−</m:t>
                            </m:r>
                            <m:r>
                              <a:rPr lang="en-US" altLang="zh-CN" sz="2400" i="1">
                                <a:latin typeface="Cambria Math" panose="02040503050406030204" pitchFamily="18" charset="0"/>
                              </a:rPr>
                              <m:t>1</m:t>
                            </m:r>
                          </m:e>
                        </m:d>
                      </m:e>
                    </m:nary>
                  </m:oMath>
                </a14:m>
                <a:endParaRPr lang="en-US" altLang="zh-CN" sz="2400" dirty="0" smtClean="0"/>
              </a:p>
              <a:p>
                <a:endParaRPr lang="en-US" altLang="zh-CN" sz="2400" dirty="0"/>
              </a:p>
              <a:p>
                <a:pPr marL="0" indent="0">
                  <a:buNone/>
                </a:pPr>
                <a:endParaRPr lang="en-US" altLang="zh-CN" dirty="0" smtClean="0"/>
              </a:p>
              <a:p>
                <a:pPr marL="0" indent="0">
                  <a:buNone/>
                </a:pPr>
                <a:endParaRPr lang="en-US" altLang="zh-CN" dirty="0" smtClean="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28"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816572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798657"/>
          </a:xfrm>
        </p:spPr>
        <p:txBody>
          <a:bodyPr>
            <a:normAutofit/>
          </a:bodyPr>
          <a:lstStyle/>
          <a:p>
            <a:r>
              <a:rPr lang="en-US" altLang="zh-CN" sz="2400" b="1" dirty="0">
                <a:latin typeface="Times New Roman" panose="02020603050405020304" pitchFamily="18" charset="0"/>
                <a:cs typeface="Times New Roman" panose="02020603050405020304" pitchFamily="18" charset="0"/>
              </a:rPr>
              <a:t>Probabilistic Latent Semantic Analysis Model</a:t>
            </a:r>
            <a:endParaRPr lang="zh-CN" altLang="en-US" sz="24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smtClean="0"/>
                  <a:t>对</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𝑤</m:t>
                            </m:r>
                          </m:e>
                          <m:sub>
                            <m:r>
                              <a:rPr lang="en-US" altLang="zh-CN" sz="2400" i="1" dirty="0">
                                <a:latin typeface="Cambria Math" panose="02040503050406030204" pitchFamily="18" charset="0"/>
                              </a:rPr>
                              <m:t>𝑗</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𝑃</m:t>
                        </m:r>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𝑧</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𝑑</m:t>
                        </m:r>
                      </m:e>
                      <m:sub>
                        <m:r>
                          <a:rPr lang="en-US" altLang="zh-CN" sz="2400" i="1" dirty="0">
                            <a:latin typeface="Cambria Math" panose="02040503050406030204" pitchFamily="18" charset="0"/>
                          </a:rPr>
                          <m:t>𝑖</m:t>
                        </m:r>
                      </m:sub>
                    </m:sSub>
                    <m:r>
                      <a:rPr lang="en-US" altLang="zh-CN" sz="2400" i="1" dirty="0">
                        <a:latin typeface="Cambria Math" panose="02040503050406030204" pitchFamily="18" charset="0"/>
                      </a:rPr>
                      <m:t>)</m:t>
                    </m:r>
                  </m:oMath>
                </a14:m>
                <a:r>
                  <a:rPr lang="zh-CN" altLang="en-US" sz="2400" dirty="0" smtClean="0"/>
                  <a:t>分别求偏导</a:t>
                </a:r>
                <a:endParaRPr lang="en-US" altLang="zh-CN" sz="2400" dirty="0" smtClean="0"/>
              </a:p>
              <a:p>
                <a:pPr lvl="1"/>
                <a14:m>
                  <m:oMath xmlns:m="http://schemas.openxmlformats.org/officeDocument/2006/math">
                    <m:nary>
                      <m:naryPr>
                        <m:chr m:val="∑"/>
                        <m:limLoc m:val="subSup"/>
                        <m:supHide m:val="on"/>
                        <m:ctrlPr>
                          <a:rPr lang="zh-CN" altLang="en-US" sz="2000" i="1" smtClean="0">
                            <a:latin typeface="Cambria Math" panose="02040503050406030204" pitchFamily="18" charset="0"/>
                          </a:rPr>
                        </m:ctrlPr>
                      </m:naryPr>
                      <m:sub>
                        <m:r>
                          <m:rPr>
                            <m:brk m:alnAt="9"/>
                          </m:rPr>
                          <a:rPr lang="en-US" altLang="zh-CN" sz="2000" b="0" i="1" smtClean="0">
                            <a:latin typeface="Cambria Math" panose="02040503050406030204" pitchFamily="18" charset="0"/>
                          </a:rPr>
                          <m:t>𝑖</m:t>
                        </m:r>
                      </m:sub>
                      <m:sup/>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𝑛</m:t>
                            </m:r>
                            <m:r>
                              <a:rPr lang="en-US" altLang="zh-CN" sz="2000" i="1" dirty="0">
                                <a:latin typeface="Cambria Math" panose="02040503050406030204" pitchFamily="18" charset="0"/>
                              </a:rPr>
                              <m:t>(</m:t>
                            </m:r>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a:rPr lang="en-US" altLang="zh-CN" sz="2000" i="1" dirty="0">
                            <a:latin typeface="Cambria Math" panose="02040503050406030204" pitchFamily="18" charset="0"/>
                          </a:rPr>
                          <m:t>)</m:t>
                        </m:r>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e>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m:rPr>
                                <m:nor/>
                              </m:rPr>
                              <a:rPr lang="zh-CN" altLang="en-US" sz="2000" dirty="0">
                                <a:latin typeface="Times New Roman" panose="02020603050405020304" pitchFamily="18" charset="0"/>
                                <a:cs typeface="Times New Roman" panose="02020603050405020304" pitchFamily="18" charset="0"/>
                              </a:rPr>
                              <m:t> </m:t>
                            </m:r>
                          </m:e>
                        </m:d>
                      </m:e>
                    </m:nary>
                    <m:r>
                      <a:rPr lang="en-US" altLang="zh-CN" sz="2000" b="0" i="1"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zh-CN" altLang="en-US" sz="2000" i="1" dirty="0">
                            <a:latin typeface="Cambria Math" panose="02040503050406030204" pitchFamily="18" charset="0"/>
                          </a:rPr>
                          <m:t>𝜌</m:t>
                        </m:r>
                      </m:e>
                      <m:sub>
                        <m:r>
                          <a:rPr lang="en-US" altLang="zh-CN" sz="2000" i="1" dirty="0">
                            <a:latin typeface="Cambria Math" panose="02040503050406030204" pitchFamily="18" charset="0"/>
                          </a:rPr>
                          <m:t>𝑘</m:t>
                        </m:r>
                      </m:sub>
                    </m:sSub>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e>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e>
                    </m:d>
                  </m:oMath>
                </a14:m>
                <a:endParaRPr lang="en-US" altLang="zh-CN" sz="2000" dirty="0" smtClean="0"/>
              </a:p>
              <a:p>
                <a:pPr lvl="1"/>
                <a14:m>
                  <m:oMath xmlns:m="http://schemas.openxmlformats.org/officeDocument/2006/math">
                    <m:nary>
                      <m:naryPr>
                        <m:chr m:val="∑"/>
                        <m:limLoc m:val="subSup"/>
                        <m:supHide m:val="on"/>
                        <m:ctrlPr>
                          <a:rPr lang="zh-CN" altLang="en-US" sz="2000" i="1">
                            <a:latin typeface="Cambria Math" panose="02040503050406030204" pitchFamily="18" charset="0"/>
                          </a:rPr>
                        </m:ctrlPr>
                      </m:naryPr>
                      <m:sub>
                        <m:r>
                          <m:rPr>
                            <m:brk m:alnAt="1"/>
                          </m:rPr>
                          <a:rPr lang="en-US" altLang="zh-CN" sz="2000" b="0" i="1" smtClean="0">
                            <a:latin typeface="Cambria Math" panose="02040503050406030204" pitchFamily="18" charset="0"/>
                          </a:rPr>
                          <m:t>𝑗</m:t>
                        </m:r>
                      </m:sub>
                      <m:sup/>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𝑛</m:t>
                            </m:r>
                            <m:r>
                              <a:rPr lang="en-US" altLang="zh-CN" sz="2000" i="1" dirty="0">
                                <a:latin typeface="Cambria Math" panose="02040503050406030204" pitchFamily="18" charset="0"/>
                              </a:rPr>
                              <m:t>(</m:t>
                            </m:r>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a:rPr lang="en-US" altLang="zh-CN" sz="2000" i="1" dirty="0">
                            <a:latin typeface="Cambria Math" panose="02040503050406030204" pitchFamily="18" charset="0"/>
                          </a:rPr>
                          <m:t>)</m:t>
                        </m:r>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e>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m:rPr>
                                <m:nor/>
                              </m:rPr>
                              <a:rPr lang="zh-CN" altLang="en-US" sz="2000" dirty="0">
                                <a:latin typeface="Times New Roman" panose="02020603050405020304" pitchFamily="18" charset="0"/>
                                <a:cs typeface="Times New Roman" panose="02020603050405020304" pitchFamily="18" charset="0"/>
                              </a:rPr>
                              <m:t> </m:t>
                            </m:r>
                          </m:e>
                        </m:d>
                      </m:e>
                    </m:nary>
                  </m:oMath>
                </a14:m>
                <a:r>
                  <a:rPr lang="en-US" altLang="zh-CN" sz="2000" dirty="0" smtClean="0"/>
                  <a:t>=</a:t>
                </a:r>
                <a14:m>
                  <m:oMath xmlns:m="http://schemas.openxmlformats.org/officeDocument/2006/math">
                    <m:sSub>
                      <m:sSubPr>
                        <m:ctrlPr>
                          <a:rPr lang="en-US" altLang="zh-CN" sz="2000" i="1" dirty="0">
                            <a:latin typeface="Cambria Math" panose="02040503050406030204" pitchFamily="18" charset="0"/>
                          </a:rPr>
                        </m:ctrlPr>
                      </m:sSubPr>
                      <m:e>
                        <m:r>
                          <a:rPr lang="zh-CN" altLang="en-US" sz="2000" i="1" dirty="0">
                            <a:latin typeface="Cambria Math" panose="02040503050406030204" pitchFamily="18" charset="0"/>
                          </a:rPr>
                          <m:t>𝛾</m:t>
                        </m:r>
                      </m:e>
                      <m:sub>
                        <m:r>
                          <a:rPr lang="en-US" altLang="zh-CN" sz="2000" i="1" dirty="0">
                            <a:latin typeface="Cambria Math" panose="02040503050406030204" pitchFamily="18" charset="0"/>
                          </a:rPr>
                          <m:t>𝑘</m:t>
                        </m:r>
                      </m:sub>
                    </m:sSub>
                    <m:r>
                      <a:rPr lang="en-US" altLang="zh-CN" sz="2000" i="1">
                        <a:latin typeface="Cambria Math" panose="02040503050406030204" pitchFamily="18" charset="0"/>
                      </a:rPr>
                      <m:t>𝑃</m:t>
                    </m:r>
                    <m:r>
                      <a:rPr lang="en-US" altLang="zh-CN" sz="2000" i="1">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a:latin typeface="Cambria Math" panose="02040503050406030204" pitchFamily="18" charset="0"/>
                      </a:rPr>
                      <m:t>)</m:t>
                    </m:r>
                  </m:oMath>
                </a14:m>
                <a:endParaRPr lang="en-US" altLang="zh-CN" sz="2000" dirty="0" smtClean="0"/>
              </a:p>
              <a:p>
                <a:r>
                  <a:rPr lang="zh-CN" altLang="en-US" sz="2400" dirty="0" smtClean="0"/>
                  <a:t>得出最优解为：</a:t>
                </a:r>
                <a:endParaRPr lang="en-US" altLang="zh-CN" sz="2400" dirty="0" smtClean="0"/>
              </a:p>
              <a:p>
                <a:pPr lvl="1"/>
                <a14:m>
                  <m:oMath xmlns:m="http://schemas.openxmlformats.org/officeDocument/2006/math">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e>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e>
                    </m:d>
                    <m:r>
                      <a:rPr lang="en-US" altLang="zh-CN" sz="2000" b="0" i="1" dirty="0" smtClean="0">
                        <a:latin typeface="Cambria Math" panose="02040503050406030204" pitchFamily="18" charset="0"/>
                      </a:rPr>
                      <m:t>=</m:t>
                    </m:r>
                    <m:f>
                      <m:fPr>
                        <m:ctrlPr>
                          <a:rPr lang="en-US" altLang="zh-CN" sz="2000" b="0" i="1" dirty="0" smtClean="0">
                            <a:latin typeface="Cambria Math" panose="02040503050406030204" pitchFamily="18" charset="0"/>
                          </a:rPr>
                        </m:ctrlPr>
                      </m:fPr>
                      <m:num>
                        <m:nary>
                          <m:naryPr>
                            <m:chr m:val="∑"/>
                            <m:limLoc m:val="subSup"/>
                            <m:supHide m:val="on"/>
                            <m:ctrlPr>
                              <a:rPr lang="zh-CN" altLang="en-US" sz="2000" i="1">
                                <a:latin typeface="Cambria Math" panose="02040503050406030204" pitchFamily="18" charset="0"/>
                              </a:rPr>
                            </m:ctrlPr>
                          </m:naryPr>
                          <m:sub>
                            <m:r>
                              <m:rPr>
                                <m:brk m:alnAt="9"/>
                              </m:rPr>
                              <a:rPr lang="en-US" altLang="zh-CN" sz="2000" i="1">
                                <a:latin typeface="Cambria Math" panose="02040503050406030204" pitchFamily="18" charset="0"/>
                              </a:rPr>
                              <m:t>𝑖</m:t>
                            </m:r>
                          </m:sub>
                          <m:sup/>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𝑛</m:t>
                                </m:r>
                                <m:r>
                                  <a:rPr lang="en-US" altLang="zh-CN" sz="2000" i="1" dirty="0">
                                    <a:latin typeface="Cambria Math" panose="02040503050406030204" pitchFamily="18" charset="0"/>
                                  </a:rPr>
                                  <m:t>(</m:t>
                                </m:r>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a:rPr lang="en-US" altLang="zh-CN" sz="2000" i="1" dirty="0">
                                <a:latin typeface="Cambria Math" panose="02040503050406030204" pitchFamily="18" charset="0"/>
                              </a:rPr>
                              <m:t>)</m:t>
                            </m:r>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e>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m:rPr>
                                    <m:nor/>
                                  </m:rPr>
                                  <a:rPr lang="zh-CN" altLang="en-US" sz="2000" dirty="0">
                                    <a:latin typeface="Times New Roman" panose="02020603050405020304" pitchFamily="18" charset="0"/>
                                    <a:cs typeface="Times New Roman" panose="02020603050405020304" pitchFamily="18" charset="0"/>
                                  </a:rPr>
                                  <m:t> </m:t>
                                </m:r>
                              </m:e>
                            </m:d>
                          </m:e>
                        </m:nary>
                      </m:num>
                      <m:den>
                        <m:nary>
                          <m:naryPr>
                            <m:chr m:val="∑"/>
                            <m:limLoc m:val="subSup"/>
                            <m:supHide m:val="on"/>
                            <m:ctrlPr>
                              <a:rPr lang="en-US" altLang="zh-CN" sz="2000" b="0" i="1" dirty="0" smtClean="0">
                                <a:latin typeface="Cambria Math" panose="02040503050406030204" pitchFamily="18" charset="0"/>
                              </a:rPr>
                            </m:ctrlPr>
                          </m:naryPr>
                          <m:sub>
                            <m:r>
                              <m:rPr>
                                <m:brk m:alnAt="9"/>
                              </m:rPr>
                              <a:rPr lang="en-US" altLang="zh-CN" sz="2000" b="0" i="1" dirty="0" smtClean="0">
                                <a:latin typeface="Cambria Math" panose="02040503050406030204" pitchFamily="18" charset="0"/>
                              </a:rPr>
                              <m:t>𝑗</m:t>
                            </m:r>
                          </m:sub>
                          <m:sup/>
                          <m:e>
                            <m:nary>
                              <m:naryPr>
                                <m:chr m:val="∑"/>
                                <m:limLoc m:val="subSup"/>
                                <m:supHide m:val="on"/>
                                <m:ctrlPr>
                                  <a:rPr lang="zh-CN" altLang="en-US" sz="2000" i="1">
                                    <a:latin typeface="Cambria Math" panose="02040503050406030204" pitchFamily="18" charset="0"/>
                                  </a:rPr>
                                </m:ctrlPr>
                              </m:naryPr>
                              <m:sub>
                                <m:r>
                                  <m:rPr>
                                    <m:brk m:alnAt="9"/>
                                  </m:rPr>
                                  <a:rPr lang="en-US" altLang="zh-CN" sz="2000" i="1">
                                    <a:latin typeface="Cambria Math" panose="02040503050406030204" pitchFamily="18" charset="0"/>
                                  </a:rPr>
                                  <m:t>𝑖</m:t>
                                </m:r>
                              </m:sub>
                              <m:sup/>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𝑛</m:t>
                                    </m:r>
                                    <m:r>
                                      <a:rPr lang="en-US" altLang="zh-CN" sz="2000" i="1" dirty="0">
                                        <a:latin typeface="Cambria Math" panose="02040503050406030204" pitchFamily="18" charset="0"/>
                                      </a:rPr>
                                      <m:t>(</m:t>
                                    </m:r>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a:rPr lang="en-US" altLang="zh-CN" sz="2000" i="1" dirty="0">
                                    <a:latin typeface="Cambria Math" panose="02040503050406030204" pitchFamily="18" charset="0"/>
                                  </a:rPr>
                                  <m:t>)</m:t>
                                </m:r>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e>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m:rPr>
                                        <m:nor/>
                                      </m:rPr>
                                      <a:rPr lang="zh-CN" altLang="en-US" sz="2000" dirty="0">
                                        <a:latin typeface="Times New Roman" panose="02020603050405020304" pitchFamily="18" charset="0"/>
                                        <a:cs typeface="Times New Roman" panose="02020603050405020304" pitchFamily="18" charset="0"/>
                                      </a:rPr>
                                      <m:t> </m:t>
                                    </m:r>
                                  </m:e>
                                </m:d>
                              </m:e>
                            </m:nary>
                          </m:e>
                        </m:nary>
                      </m:den>
                    </m:f>
                  </m:oMath>
                </a14:m>
                <a:endParaRPr lang="en-US" altLang="zh-CN" sz="2000" dirty="0" smtClean="0"/>
              </a:p>
              <a:p>
                <a:pPr lvl="1"/>
                <a14:m>
                  <m:oMath xmlns:m="http://schemas.openxmlformats.org/officeDocument/2006/math">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e>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e>
                    </m:d>
                    <m:r>
                      <a:rPr lang="en-US" altLang="zh-CN" sz="2000" b="0" i="0" smtClean="0">
                        <a:latin typeface="Cambria Math" panose="02040503050406030204" pitchFamily="18" charset="0"/>
                      </a:rPr>
                      <m:t>=</m:t>
                    </m:r>
                    <m:f>
                      <m:fPr>
                        <m:ctrlPr>
                          <a:rPr lang="en-US" altLang="zh-CN" sz="2000" b="0" i="1" smtClean="0">
                            <a:latin typeface="Cambria Math" panose="02040503050406030204" pitchFamily="18" charset="0"/>
                          </a:rPr>
                        </m:ctrlPr>
                      </m:fPr>
                      <m:num>
                        <m:nary>
                          <m:naryPr>
                            <m:chr m:val="∑"/>
                            <m:limLoc m:val="subSup"/>
                            <m:supHide m:val="on"/>
                            <m:ctrlPr>
                              <a:rPr lang="zh-CN" altLang="en-US" sz="2000" i="1">
                                <a:latin typeface="Cambria Math" panose="02040503050406030204" pitchFamily="18" charset="0"/>
                              </a:rPr>
                            </m:ctrlPr>
                          </m:naryPr>
                          <m:sub>
                            <m:r>
                              <m:rPr>
                                <m:brk m:alnAt="1"/>
                              </m:rPr>
                              <a:rPr lang="en-US" altLang="zh-CN" sz="2000" i="1">
                                <a:latin typeface="Cambria Math" panose="02040503050406030204" pitchFamily="18" charset="0"/>
                              </a:rPr>
                              <m:t>𝑗</m:t>
                            </m:r>
                          </m:sub>
                          <m:sup/>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𝑛</m:t>
                                </m:r>
                                <m:r>
                                  <a:rPr lang="en-US" altLang="zh-CN" sz="2000" i="1" dirty="0">
                                    <a:latin typeface="Cambria Math" panose="02040503050406030204" pitchFamily="18" charset="0"/>
                                  </a:rPr>
                                  <m:t>(</m:t>
                                </m:r>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a:rPr lang="en-US" altLang="zh-CN" sz="2000" i="1" dirty="0">
                                <a:latin typeface="Cambria Math" panose="02040503050406030204" pitchFamily="18" charset="0"/>
                              </a:rPr>
                              <m:t>)</m:t>
                            </m:r>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e>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m:rPr>
                                    <m:nor/>
                                  </m:rPr>
                                  <a:rPr lang="zh-CN" altLang="en-US" sz="2000" dirty="0">
                                    <a:latin typeface="Times New Roman" panose="02020603050405020304" pitchFamily="18" charset="0"/>
                                    <a:cs typeface="Times New Roman" panose="02020603050405020304" pitchFamily="18" charset="0"/>
                                  </a:rPr>
                                  <m:t> </m:t>
                                </m:r>
                              </m:e>
                            </m:d>
                          </m:e>
                        </m:nary>
                      </m:num>
                      <m:den>
                        <m:nary>
                          <m:naryPr>
                            <m:chr m:val="∑"/>
                            <m:limLoc m:val="subSup"/>
                            <m:supHide m:val="on"/>
                            <m:ctrlPr>
                              <a:rPr lang="en-US" altLang="zh-CN" sz="2000" b="0" i="1" smtClean="0">
                                <a:latin typeface="Cambria Math" panose="02040503050406030204" pitchFamily="18" charset="0"/>
                              </a:rPr>
                            </m:ctrlPr>
                          </m:naryPr>
                          <m:sub>
                            <m:r>
                              <m:rPr>
                                <m:brk m:alnAt="9"/>
                              </m:rPr>
                              <a:rPr lang="en-US" altLang="zh-CN" sz="2000" b="0" i="1" smtClean="0">
                                <a:latin typeface="Cambria Math" panose="02040503050406030204" pitchFamily="18" charset="0"/>
                              </a:rPr>
                              <m:t>𝑘</m:t>
                            </m:r>
                          </m:sub>
                          <m:sup/>
                          <m:e>
                            <m:nary>
                              <m:naryPr>
                                <m:chr m:val="∑"/>
                                <m:limLoc m:val="subSup"/>
                                <m:supHide m:val="on"/>
                                <m:ctrlPr>
                                  <a:rPr lang="zh-CN" altLang="en-US" sz="2000" i="1">
                                    <a:latin typeface="Cambria Math" panose="02040503050406030204" pitchFamily="18" charset="0"/>
                                  </a:rPr>
                                </m:ctrlPr>
                              </m:naryPr>
                              <m:sub>
                                <m:r>
                                  <m:rPr>
                                    <m:brk m:alnAt="1"/>
                                  </m:rPr>
                                  <a:rPr lang="en-US" altLang="zh-CN" sz="2000" i="1">
                                    <a:latin typeface="Cambria Math" panose="02040503050406030204" pitchFamily="18" charset="0"/>
                                  </a:rPr>
                                  <m:t>𝑗</m:t>
                                </m:r>
                              </m:sub>
                              <m:sup/>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𝑛</m:t>
                                    </m:r>
                                    <m:r>
                                      <a:rPr lang="en-US" altLang="zh-CN" sz="2000" i="1" dirty="0">
                                        <a:latin typeface="Cambria Math" panose="02040503050406030204" pitchFamily="18" charset="0"/>
                                      </a:rPr>
                                      <m:t>(</m:t>
                                    </m:r>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a:rPr lang="en-US" altLang="zh-CN" sz="2000" i="1" dirty="0">
                                    <a:latin typeface="Cambria Math" panose="02040503050406030204" pitchFamily="18" charset="0"/>
                                  </a:rPr>
                                  <m:t>)</m:t>
                                </m:r>
                                <m:r>
                                  <a:rPr lang="en-US" altLang="zh-CN" sz="2000" i="1">
                                    <a:latin typeface="Cambria Math" panose="02040503050406030204" pitchFamily="18" charset="0"/>
                                  </a:rPr>
                                  <m:t>𝑃</m:t>
                                </m:r>
                                <m:d>
                                  <m:dPr>
                                    <m:ctrlPr>
                                      <a:rPr lang="en-US" altLang="zh-CN" sz="2000" i="1">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𝑧</m:t>
                                        </m:r>
                                      </m:e>
                                      <m:sub>
                                        <m:r>
                                          <a:rPr lang="en-US" altLang="zh-CN" sz="2000" i="1" dirty="0">
                                            <a:latin typeface="Cambria Math" panose="02040503050406030204" pitchFamily="18" charset="0"/>
                                          </a:rPr>
                                          <m:t>𝑘</m:t>
                                        </m:r>
                                      </m:sub>
                                    </m:sSub>
                                  </m:e>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𝑑</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𝑤</m:t>
                                        </m:r>
                                      </m:e>
                                      <m:sub>
                                        <m:r>
                                          <a:rPr lang="en-US" altLang="zh-CN" sz="2000" i="1" dirty="0">
                                            <a:latin typeface="Cambria Math" panose="02040503050406030204" pitchFamily="18" charset="0"/>
                                          </a:rPr>
                                          <m:t>𝑗</m:t>
                                        </m:r>
                                      </m:sub>
                                    </m:sSub>
                                    <m:r>
                                      <m:rPr>
                                        <m:nor/>
                                      </m:rPr>
                                      <a:rPr lang="zh-CN" altLang="en-US" sz="2000" dirty="0">
                                        <a:latin typeface="Times New Roman" panose="02020603050405020304" pitchFamily="18" charset="0"/>
                                        <a:cs typeface="Times New Roman" panose="02020603050405020304" pitchFamily="18" charset="0"/>
                                      </a:rPr>
                                      <m:t> </m:t>
                                    </m:r>
                                  </m:e>
                                </m:d>
                              </m:e>
                            </m:nary>
                          </m:e>
                        </m:nary>
                      </m:den>
                    </m:f>
                  </m:oMath>
                </a14:m>
                <a:endParaRPr lang="zh-CN" altLang="en-US" sz="2000" dirty="0"/>
              </a:p>
              <a:p>
                <a:endParaRPr lang="en-US" altLang="zh-CN" sz="2400" dirty="0" smtClean="0"/>
              </a:p>
              <a:p>
                <a:pPr marL="0" indent="0">
                  <a:buNone/>
                </a:pPr>
                <a:endParaRPr lang="en-US" altLang="zh-CN" dirty="0" smtClean="0"/>
              </a:p>
              <a:p>
                <a:pPr marL="0" indent="0">
                  <a:buNone/>
                </a:pPr>
                <a:endParaRPr lang="en-US" altLang="zh-CN" dirty="0" smtClean="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812" t="-22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309730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3"/>
          <p:cNvSpPr txBox="1">
            <a:spLocks noChangeArrowheads="1"/>
          </p:cNvSpPr>
          <p:nvPr/>
        </p:nvSpPr>
        <p:spPr bwMode="auto">
          <a:xfrm>
            <a:off x="3184525" y="722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8675" name="Group 4"/>
          <p:cNvGrpSpPr>
            <a:grpSpLocks/>
          </p:cNvGrpSpPr>
          <p:nvPr/>
        </p:nvGrpSpPr>
        <p:grpSpPr bwMode="auto">
          <a:xfrm>
            <a:off x="-871538" y="1447801"/>
            <a:ext cx="9366251" cy="4824413"/>
            <a:chOff x="-1509" y="912"/>
            <a:chExt cx="5900" cy="3039"/>
          </a:xfrm>
        </p:grpSpPr>
        <p:sp>
          <p:nvSpPr>
            <p:cNvPr id="45061" name="AutoShape 5"/>
            <p:cNvSpPr>
              <a:spLocks noChangeArrowheads="1"/>
            </p:cNvSpPr>
            <p:nvPr/>
          </p:nvSpPr>
          <p:spPr bwMode="ltGray">
            <a:xfrm rot="5400000">
              <a:off x="-1526" y="929"/>
              <a:ext cx="3039" cy="3005"/>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headEnd/>
              <a:tailEnd/>
            </a:ln>
            <a:effectLst/>
          </p:spPr>
          <p:txBody>
            <a:bodyPr wrap="none" anchor="ctr"/>
            <a:lstStyle/>
            <a:p>
              <a:pPr>
                <a:defRPr/>
              </a:pPr>
              <a:endParaRPr lang="zh-CN" altLang="en-US">
                <a:latin typeface="Arial" charset="0"/>
              </a:endParaRPr>
            </a:p>
          </p:txBody>
        </p:sp>
        <p:sp>
          <p:nvSpPr>
            <p:cNvPr id="45062" name="AutoShape 6"/>
            <p:cNvSpPr>
              <a:spLocks noChangeArrowheads="1"/>
            </p:cNvSpPr>
            <p:nvPr/>
          </p:nvSpPr>
          <p:spPr bwMode="ltGray">
            <a:xfrm rot="5400000" flipH="1">
              <a:off x="-1270" y="1203"/>
              <a:ext cx="2540" cy="2475"/>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chemeClr val="hlink">
                    <a:alpha val="36000"/>
                  </a:schemeClr>
                </a:gs>
                <a:gs pos="100000">
                  <a:schemeClr val="hlink">
                    <a:gamma/>
                    <a:tint val="0"/>
                    <a:invGamma/>
                  </a:schemeClr>
                </a:gs>
              </a:gsLst>
              <a:lin ang="5400000" scaled="1"/>
            </a:gradFill>
            <a:ln w="0" algn="ctr">
              <a:noFill/>
              <a:miter lim="800000"/>
              <a:headEnd/>
              <a:tailEnd/>
            </a:ln>
            <a:effectLst/>
          </p:spPr>
          <p:txBody>
            <a:bodyPr wrap="none" anchor="ctr"/>
            <a:lstStyle/>
            <a:p>
              <a:pPr>
                <a:defRPr/>
              </a:pPr>
              <a:endParaRPr lang="zh-CN" altLang="en-US">
                <a:latin typeface="Arial" charset="0"/>
              </a:endParaRPr>
            </a:p>
          </p:txBody>
        </p:sp>
        <p:grpSp>
          <p:nvGrpSpPr>
            <p:cNvPr id="28678" name="Group 7"/>
            <p:cNvGrpSpPr>
              <a:grpSpLocks/>
            </p:cNvGrpSpPr>
            <p:nvPr/>
          </p:nvGrpSpPr>
          <p:grpSpPr bwMode="auto">
            <a:xfrm>
              <a:off x="912" y="1147"/>
              <a:ext cx="3479" cy="339"/>
              <a:chOff x="912" y="1147"/>
              <a:chExt cx="3479" cy="339"/>
            </a:xfrm>
          </p:grpSpPr>
          <p:sp>
            <p:nvSpPr>
              <p:cNvPr id="28715" name="AutoShape 8"/>
              <p:cNvSpPr>
                <a:spLocks noChangeArrowheads="1"/>
              </p:cNvSpPr>
              <p:nvPr/>
            </p:nvSpPr>
            <p:spPr bwMode="gray">
              <a:xfrm>
                <a:off x="1112" y="1147"/>
                <a:ext cx="3279"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smtClean="0"/>
                  <a:t>最大期望算法简介（</a:t>
                </a:r>
                <a:r>
                  <a:rPr lang="en-US" altLang="zh-CN" b="1" dirty="0" smtClean="0"/>
                  <a:t>Expectation Maximization</a:t>
                </a:r>
                <a:r>
                  <a:rPr lang="zh-CN" altLang="en-US" b="1" dirty="0" smtClean="0"/>
                  <a:t>）</a:t>
                </a:r>
                <a:endParaRPr lang="en-US" altLang="zh-CN" b="1" dirty="0"/>
              </a:p>
            </p:txBody>
          </p:sp>
          <p:grpSp>
            <p:nvGrpSpPr>
              <p:cNvPr id="28716" name="Group 9"/>
              <p:cNvGrpSpPr>
                <a:grpSpLocks/>
              </p:cNvGrpSpPr>
              <p:nvPr/>
            </p:nvGrpSpPr>
            <p:grpSpPr bwMode="auto">
              <a:xfrm>
                <a:off x="912" y="1159"/>
                <a:ext cx="240" cy="327"/>
                <a:chOff x="2078" y="1386"/>
                <a:chExt cx="1615" cy="2204"/>
              </a:xfrm>
            </p:grpSpPr>
            <p:sp>
              <p:nvSpPr>
                <p:cNvPr id="28717" name="Oval 10"/>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18" name="Oval 11"/>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68" name="Oval 12"/>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720" name="Oval 13"/>
                <p:cNvSpPr>
                  <a:spLocks noChangeArrowheads="1"/>
                </p:cNvSpPr>
                <p:nvPr/>
              </p:nvSpPr>
              <p:spPr bwMode="gray">
                <a:xfrm>
                  <a:off x="2254" y="1387"/>
                  <a:ext cx="1101" cy="2202"/>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70" name="Oval 14"/>
                <p:cNvSpPr>
                  <a:spLocks noChangeArrowheads="1"/>
                </p:cNvSpPr>
                <p:nvPr/>
              </p:nvSpPr>
              <p:spPr bwMode="gray">
                <a:xfrm>
                  <a:off x="2334" y="1386"/>
                  <a:ext cx="1097"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722" name="Oval 15"/>
                <p:cNvSpPr>
                  <a:spLocks noChangeArrowheads="1"/>
                </p:cNvSpPr>
                <p:nvPr/>
              </p:nvSpPr>
              <p:spPr bwMode="gray">
                <a:xfrm>
                  <a:off x="2337" y="1386"/>
                  <a:ext cx="1096" cy="2204"/>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28680" name="Group 25"/>
            <p:cNvGrpSpPr>
              <a:grpSpLocks/>
            </p:cNvGrpSpPr>
            <p:nvPr/>
          </p:nvGrpSpPr>
          <p:grpSpPr bwMode="auto">
            <a:xfrm>
              <a:off x="1344" y="2179"/>
              <a:ext cx="2976" cy="331"/>
              <a:chOff x="1344" y="2179"/>
              <a:chExt cx="2976" cy="331"/>
            </a:xfrm>
          </p:grpSpPr>
          <p:sp>
            <p:nvSpPr>
              <p:cNvPr id="28699" name="AutoShape 26"/>
              <p:cNvSpPr>
                <a:spLocks noChangeArrowheads="1"/>
              </p:cNvSpPr>
              <p:nvPr/>
            </p:nvSpPr>
            <p:spPr bwMode="gray">
              <a:xfrm>
                <a:off x="1536" y="2179"/>
                <a:ext cx="2784"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smtClean="0"/>
                  <a:t>几</a:t>
                </a:r>
                <a:r>
                  <a:rPr lang="zh-CN" altLang="en-US" b="1" dirty="0"/>
                  <a:t>个</a:t>
                </a:r>
                <a:r>
                  <a:rPr lang="en-US" altLang="zh-CN" b="1" dirty="0"/>
                  <a:t>EM</a:t>
                </a:r>
                <a:r>
                  <a:rPr lang="zh-CN" altLang="en-US" b="1" dirty="0"/>
                  <a:t>应用</a:t>
                </a:r>
                <a:r>
                  <a:rPr lang="zh-CN" altLang="en-US" b="1" dirty="0" smtClean="0"/>
                  <a:t>实例</a:t>
                </a:r>
                <a:endParaRPr lang="en-US" altLang="zh-CN" b="1" dirty="0"/>
              </a:p>
            </p:txBody>
          </p:sp>
          <p:grpSp>
            <p:nvGrpSpPr>
              <p:cNvPr id="28700" name="Group 27"/>
              <p:cNvGrpSpPr>
                <a:grpSpLocks/>
              </p:cNvGrpSpPr>
              <p:nvPr/>
            </p:nvGrpSpPr>
            <p:grpSpPr bwMode="auto">
              <a:xfrm>
                <a:off x="1344" y="2183"/>
                <a:ext cx="240" cy="327"/>
                <a:chOff x="2078" y="1386"/>
                <a:chExt cx="1615" cy="2204"/>
              </a:xfrm>
            </p:grpSpPr>
            <p:sp>
              <p:nvSpPr>
                <p:cNvPr id="28701" name="Oval 28"/>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702" name="Oval 29"/>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86" name="Oval 30"/>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704" name="Oval 31"/>
                <p:cNvSpPr>
                  <a:spLocks noChangeArrowheads="1"/>
                </p:cNvSpPr>
                <p:nvPr/>
              </p:nvSpPr>
              <p:spPr bwMode="gray">
                <a:xfrm>
                  <a:off x="2254" y="1387"/>
                  <a:ext cx="1101" cy="2202"/>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088" name="Oval 32"/>
                <p:cNvSpPr>
                  <a:spLocks noChangeArrowheads="1"/>
                </p:cNvSpPr>
                <p:nvPr/>
              </p:nvSpPr>
              <p:spPr bwMode="gray">
                <a:xfrm>
                  <a:off x="2334" y="1386"/>
                  <a:ext cx="1097"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706" name="Oval 33"/>
                <p:cNvSpPr>
                  <a:spLocks noChangeArrowheads="1"/>
                </p:cNvSpPr>
                <p:nvPr/>
              </p:nvSpPr>
              <p:spPr bwMode="gray">
                <a:xfrm>
                  <a:off x="2337" y="1386"/>
                  <a:ext cx="1096" cy="2204"/>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28682" name="Group 43"/>
            <p:cNvGrpSpPr>
              <a:grpSpLocks/>
            </p:cNvGrpSpPr>
            <p:nvPr/>
          </p:nvGrpSpPr>
          <p:grpSpPr bwMode="auto">
            <a:xfrm>
              <a:off x="960" y="3199"/>
              <a:ext cx="2972" cy="333"/>
              <a:chOff x="960" y="3199"/>
              <a:chExt cx="2972" cy="333"/>
            </a:xfrm>
          </p:grpSpPr>
          <p:sp>
            <p:nvSpPr>
              <p:cNvPr id="28683" name="AutoShape 44"/>
              <p:cNvSpPr>
                <a:spLocks noChangeArrowheads="1"/>
              </p:cNvSpPr>
              <p:nvPr/>
            </p:nvSpPr>
            <p:spPr bwMode="gray">
              <a:xfrm>
                <a:off x="1148" y="3212"/>
                <a:ext cx="2784" cy="32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a:solidFill>
                      <a:srgbClr val="FF0000"/>
                    </a:solidFill>
                  </a:rPr>
                  <a:t>潜类别分析</a:t>
                </a:r>
                <a:r>
                  <a:rPr lang="en-US" altLang="zh-CN" b="1" dirty="0">
                    <a:solidFill>
                      <a:srgbClr val="FF0000"/>
                    </a:solidFill>
                  </a:rPr>
                  <a:t>(Latent Class Analysis)</a:t>
                </a:r>
              </a:p>
            </p:txBody>
          </p:sp>
          <p:grpSp>
            <p:nvGrpSpPr>
              <p:cNvPr id="28684" name="Group 45"/>
              <p:cNvGrpSpPr>
                <a:grpSpLocks/>
              </p:cNvGrpSpPr>
              <p:nvPr/>
            </p:nvGrpSpPr>
            <p:grpSpPr bwMode="auto">
              <a:xfrm>
                <a:off x="960" y="3199"/>
                <a:ext cx="224" cy="327"/>
                <a:chOff x="2078" y="1386"/>
                <a:chExt cx="1615" cy="2204"/>
              </a:xfrm>
            </p:grpSpPr>
            <p:sp>
              <p:nvSpPr>
                <p:cNvPr id="28685" name="Oval 46"/>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6" name="Oval 47"/>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104" name="Oval 48"/>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a:defRPr/>
                  </a:pPr>
                  <a:endParaRPr lang="zh-CN" altLang="en-US">
                    <a:latin typeface="Arial" charset="0"/>
                  </a:endParaRPr>
                </a:p>
              </p:txBody>
            </p:sp>
            <p:sp>
              <p:nvSpPr>
                <p:cNvPr id="28688" name="Oval 49"/>
                <p:cNvSpPr>
                  <a:spLocks noChangeArrowheads="1"/>
                </p:cNvSpPr>
                <p:nvPr/>
              </p:nvSpPr>
              <p:spPr bwMode="gray">
                <a:xfrm>
                  <a:off x="2254" y="1387"/>
                  <a:ext cx="1180" cy="2202"/>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106" name="Oval 50"/>
                <p:cNvSpPr>
                  <a:spLocks noChangeArrowheads="1"/>
                </p:cNvSpPr>
                <p:nvPr/>
              </p:nvSpPr>
              <p:spPr bwMode="gray">
                <a:xfrm>
                  <a:off x="2338" y="1386"/>
                  <a:ext cx="1096" cy="220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a:defRPr/>
                  </a:pPr>
                  <a:endParaRPr lang="zh-CN" altLang="en-US">
                    <a:latin typeface="Arial" charset="0"/>
                  </a:endParaRPr>
                </a:p>
              </p:txBody>
            </p:sp>
            <p:sp>
              <p:nvSpPr>
                <p:cNvPr id="28690" name="Oval 51"/>
                <p:cNvSpPr>
                  <a:spLocks noChangeArrowheads="1"/>
                </p:cNvSpPr>
                <p:nvPr/>
              </p:nvSpPr>
              <p:spPr bwMode="gray">
                <a:xfrm>
                  <a:off x="2337" y="1386"/>
                  <a:ext cx="1096" cy="2204"/>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sp>
        <p:nvSpPr>
          <p:cNvPr id="2" name="文本框 1"/>
          <p:cNvSpPr txBox="1"/>
          <p:nvPr/>
        </p:nvSpPr>
        <p:spPr>
          <a:xfrm>
            <a:off x="791052" y="3782498"/>
            <a:ext cx="2137273" cy="369332"/>
          </a:xfrm>
          <a:prstGeom prst="rect">
            <a:avLst/>
          </a:prstGeom>
          <a:noFill/>
        </p:spPr>
        <p:txBody>
          <a:bodyPr wrap="square" rtlCol="0">
            <a:spAutoFit/>
          </a:bodyPr>
          <a:lstStyle/>
          <a:p>
            <a:r>
              <a:rPr lang="zh-CN" altLang="en-US" b="1" dirty="0" smtClean="0"/>
              <a:t>目录（</a:t>
            </a:r>
            <a:r>
              <a:rPr lang="en-US" altLang="zh-CN" b="1" dirty="0" smtClean="0"/>
              <a:t>content</a:t>
            </a:r>
            <a:r>
              <a:rPr lang="zh-CN" altLang="en-US" b="1" dirty="0" smtClean="0"/>
              <a:t>）</a:t>
            </a:r>
            <a:endParaRPr lang="zh-CN" altLang="en-US" b="1" dirty="0"/>
          </a:p>
        </p:txBody>
      </p:sp>
    </p:spTree>
    <p:extLst>
      <p:ext uri="{BB962C8B-B14F-4D97-AF65-F5344CB8AC3E}">
        <p14:creationId xmlns:p14="http://schemas.microsoft.com/office/powerpoint/2010/main" val="14497038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98131"/>
          </a:xfrm>
        </p:spPr>
        <p:txBody>
          <a:bodyPr>
            <a:normAutofit/>
          </a:bodyPr>
          <a:lstStyle/>
          <a:p>
            <a:r>
              <a:rPr lang="zh-CN" altLang="en-US" sz="2400" b="1" dirty="0"/>
              <a:t>潜类别分析</a:t>
            </a:r>
            <a:r>
              <a:rPr lang="en-US" altLang="zh-CN" sz="2400" b="1" dirty="0"/>
              <a:t>(Latent Class Analysis</a:t>
            </a:r>
            <a:r>
              <a:rPr lang="en-US" altLang="zh-CN" sz="2400" b="1" dirty="0" smtClean="0"/>
              <a:t>)</a:t>
            </a:r>
            <a:endParaRPr lang="zh-CN" altLang="en-US" sz="2400" dirty="0"/>
          </a:p>
        </p:txBody>
      </p:sp>
      <p:sp>
        <p:nvSpPr>
          <p:cNvPr id="3" name="内容占位符 2"/>
          <p:cNvSpPr>
            <a:spLocks noGrp="1"/>
          </p:cNvSpPr>
          <p:nvPr>
            <p:ph idx="1"/>
          </p:nvPr>
        </p:nvSpPr>
        <p:spPr>
          <a:xfrm>
            <a:off x="838200" y="1318437"/>
            <a:ext cx="10515600" cy="4858526"/>
          </a:xfrm>
        </p:spPr>
        <p:txBody>
          <a:bodyPr/>
          <a:lstStyle/>
          <a:p>
            <a:r>
              <a:rPr lang="zh-CN" altLang="en-US" dirty="0" smtClean="0"/>
              <a:t>潜变量（</a:t>
            </a:r>
            <a:r>
              <a:rPr lang="en-US" altLang="zh-CN" dirty="0" smtClean="0"/>
              <a:t>Latent Variable</a:t>
            </a:r>
            <a:r>
              <a:rPr lang="zh-CN" altLang="en-US" dirty="0" smtClean="0"/>
              <a:t>）</a:t>
            </a:r>
            <a:endParaRPr lang="en-US" altLang="zh-CN" dirty="0" smtClean="0"/>
          </a:p>
          <a:p>
            <a:pPr lvl="1"/>
            <a:r>
              <a:rPr lang="zh-CN" altLang="en-US" dirty="0" smtClean="0"/>
              <a:t>潜变量是指无法直接测量的变量，必须以统计方法来估计出变量的状态。一般我们所搜集的研究资料，都是可以直接测量观测的变量数据，因此称这类数据为外显变量</a:t>
            </a:r>
            <a:r>
              <a:rPr lang="en-US" altLang="zh-CN" dirty="0" smtClean="0"/>
              <a:t>(manifest variable)</a:t>
            </a:r>
            <a:r>
              <a:rPr lang="zh-CN" altLang="en-US" dirty="0" smtClean="0"/>
              <a:t>、观测变量（</a:t>
            </a:r>
            <a:r>
              <a:rPr lang="en-US" altLang="zh-CN" dirty="0" smtClean="0"/>
              <a:t>Observed variable</a:t>
            </a:r>
            <a:r>
              <a:rPr lang="zh-CN" altLang="en-US" dirty="0" smtClean="0"/>
              <a:t>）或可测量变量</a:t>
            </a:r>
            <a:r>
              <a:rPr lang="en-US" altLang="zh-CN" dirty="0" smtClean="0"/>
              <a:t>(measured variable)</a:t>
            </a:r>
            <a:r>
              <a:rPr lang="zh-CN" altLang="en-US" dirty="0" smtClean="0"/>
              <a:t>。</a:t>
            </a:r>
            <a:endParaRPr lang="en-US" altLang="zh-CN" dirty="0"/>
          </a:p>
          <a:p>
            <a:r>
              <a:rPr lang="zh-CN" altLang="en-US" dirty="0"/>
              <a:t>潜</a:t>
            </a:r>
            <a:r>
              <a:rPr lang="zh-CN" altLang="en-US" dirty="0" smtClean="0"/>
              <a:t>变量根据连续与否有分为类别变量（</a:t>
            </a:r>
            <a:r>
              <a:rPr lang="en-US" altLang="zh-CN" dirty="0" smtClean="0"/>
              <a:t>Categorical variable</a:t>
            </a:r>
            <a:r>
              <a:rPr lang="zh-CN" altLang="en-US" dirty="0" smtClean="0"/>
              <a:t>）和连续变量（</a:t>
            </a:r>
            <a:r>
              <a:rPr lang="en-US" altLang="zh-CN" dirty="0" smtClean="0"/>
              <a:t>Continuous variable</a:t>
            </a:r>
            <a:r>
              <a:rPr lang="zh-CN" altLang="en-US" dirty="0" smtClean="0"/>
              <a:t>）</a:t>
            </a:r>
            <a:endParaRPr lang="en-US" altLang="zh-CN" dirty="0" smtClean="0"/>
          </a:p>
          <a:p>
            <a:endParaRPr lang="en-US" altLang="zh-CN" dirty="0" smtClean="0"/>
          </a:p>
        </p:txBody>
      </p:sp>
    </p:spTree>
    <p:extLst>
      <p:ext uri="{BB962C8B-B14F-4D97-AF65-F5344CB8AC3E}">
        <p14:creationId xmlns:p14="http://schemas.microsoft.com/office/powerpoint/2010/main" val="20503565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98131"/>
          </a:xfrm>
        </p:spPr>
        <p:txBody>
          <a:bodyPr>
            <a:normAutofit/>
          </a:bodyPr>
          <a:lstStyle/>
          <a:p>
            <a:r>
              <a:rPr lang="zh-CN" altLang="en-US" sz="2400" b="1" dirty="0"/>
              <a:t>潜类别分析</a:t>
            </a:r>
            <a:r>
              <a:rPr lang="en-US" altLang="zh-CN" sz="2400" b="1" dirty="0"/>
              <a:t>(Latent Class Analysis</a:t>
            </a:r>
            <a:r>
              <a:rPr lang="en-US" altLang="zh-CN" sz="2400" b="1" dirty="0" smtClean="0"/>
              <a:t>)</a:t>
            </a:r>
            <a:endParaRPr lang="zh-CN" altLang="en-US" sz="2400" dirty="0"/>
          </a:p>
        </p:txBody>
      </p:sp>
      <p:sp>
        <p:nvSpPr>
          <p:cNvPr id="3" name="内容占位符 2"/>
          <p:cNvSpPr>
            <a:spLocks noGrp="1"/>
          </p:cNvSpPr>
          <p:nvPr>
            <p:ph idx="1"/>
          </p:nvPr>
        </p:nvSpPr>
        <p:spPr>
          <a:xfrm>
            <a:off x="838200" y="1318437"/>
            <a:ext cx="10515600" cy="4858526"/>
          </a:xfrm>
        </p:spPr>
        <p:txBody>
          <a:bodyPr/>
          <a:lstStyle/>
          <a:p>
            <a:r>
              <a:rPr lang="zh-CN" altLang="en-US" dirty="0" smtClean="0"/>
              <a:t>不同类型潜变量模型</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smtClean="0"/>
          </a:p>
          <a:p>
            <a:endParaRPr lang="en-US" altLang="zh-CN" dirty="0" smtClean="0"/>
          </a:p>
          <a:p>
            <a:r>
              <a:rPr lang="zh-CN" altLang="en-US" dirty="0" smtClean="0"/>
              <a:t>潜类别分析用来探讨类别外显变量背后的类别潜在变量的较好分析技术，从本质上来讲，仍然是统计方法。</a:t>
            </a:r>
            <a:endParaRPr lang="en-US" altLang="zh-CN" dirty="0" smtClean="0"/>
          </a:p>
          <a:p>
            <a:endParaRPr lang="en-US" altLang="zh-CN" dirty="0" smtClean="0"/>
          </a:p>
        </p:txBody>
      </p:sp>
      <p:graphicFrame>
        <p:nvGraphicFramePr>
          <p:cNvPr id="5" name="表格 4"/>
          <p:cNvGraphicFramePr>
            <a:graphicFrameLocks noGrp="1"/>
          </p:cNvGraphicFramePr>
          <p:nvPr>
            <p:extLst>
              <p:ext uri="{D42A27DB-BD31-4B8C-83A1-F6EECF244321}">
                <p14:modId xmlns:p14="http://schemas.microsoft.com/office/powerpoint/2010/main" val="4181567498"/>
              </p:ext>
            </p:extLst>
          </p:nvPr>
        </p:nvGraphicFramePr>
        <p:xfrm>
          <a:off x="1085702" y="2059369"/>
          <a:ext cx="8127999" cy="2296160"/>
        </p:xfrm>
        <a:graphic>
          <a:graphicData uri="http://schemas.openxmlformats.org/drawingml/2006/table">
            <a:tbl>
              <a:tblPr firstRow="1" bandRow="1">
                <a:tableStyleId>{5C22544A-7EE6-4342-B048-85BDC9FD1C3A}</a:tableStyleId>
              </a:tblPr>
              <a:tblGrid>
                <a:gridCol w="2709333"/>
                <a:gridCol w="2709333"/>
                <a:gridCol w="2709333"/>
              </a:tblGrid>
              <a:tr h="370840">
                <a:tc rowSpan="2">
                  <a:txBody>
                    <a:bodyPr/>
                    <a:lstStyle/>
                    <a:p>
                      <a:pPr algn="ctr"/>
                      <a:r>
                        <a:rPr lang="zh-CN" altLang="en-US" dirty="0" smtClean="0">
                          <a:solidFill>
                            <a:schemeClr val="tx1"/>
                          </a:solidFill>
                        </a:rPr>
                        <a:t>潜变量</a:t>
                      </a:r>
                      <a:endParaRPr lang="zh-CN" altLang="en-US"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zh-CN" altLang="en-US" dirty="0" smtClean="0">
                          <a:solidFill>
                            <a:schemeClr val="tx1"/>
                          </a:solidFill>
                        </a:rPr>
                        <a:t>外显变量</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vMerge="1">
                  <a:txBody>
                    <a:bodyPr/>
                    <a:lstStyle/>
                    <a:p>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smtClean="0">
                          <a:solidFill>
                            <a:schemeClr val="tx1"/>
                          </a:solidFill>
                        </a:rPr>
                        <a:t>类别</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smtClean="0">
                          <a:solidFill>
                            <a:schemeClr val="tx1"/>
                          </a:solidFill>
                        </a:rPr>
                        <a:t>连续</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zh-CN" altLang="en-US" dirty="0" smtClean="0">
                          <a:solidFill>
                            <a:schemeClr val="tx1"/>
                          </a:solidFill>
                        </a:rPr>
                        <a:t>类别</a:t>
                      </a:r>
                      <a:endParaRPr lang="zh-CN" altLang="en-US"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smtClean="0">
                          <a:solidFill>
                            <a:schemeClr val="tx1"/>
                          </a:solidFill>
                        </a:rPr>
                        <a:t>潜类别分析</a:t>
                      </a:r>
                      <a:endParaRPr lang="en-US" altLang="zh-CN" dirty="0" smtClean="0">
                        <a:solidFill>
                          <a:schemeClr val="tx1"/>
                        </a:solidFill>
                      </a:endParaRPr>
                    </a:p>
                    <a:p>
                      <a:pPr algn="ctr"/>
                      <a:r>
                        <a:rPr lang="zh-CN" altLang="en-US" dirty="0" smtClean="0">
                          <a:solidFill>
                            <a:schemeClr val="tx1"/>
                          </a:solidFill>
                        </a:rPr>
                        <a:t>（</a:t>
                      </a:r>
                      <a:r>
                        <a:rPr lang="en-US" altLang="zh-CN" dirty="0" smtClean="0">
                          <a:solidFill>
                            <a:schemeClr val="tx1"/>
                          </a:solidFill>
                        </a:rPr>
                        <a:t>Latent Class Analysis</a:t>
                      </a:r>
                      <a:r>
                        <a:rPr lang="zh-CN" altLang="en-US" dirty="0" smtClean="0">
                          <a:solidFill>
                            <a:schemeClr val="tx1"/>
                          </a:solidFill>
                        </a:rPr>
                        <a:t>）</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smtClean="0">
                          <a:solidFill>
                            <a:schemeClr val="tx1"/>
                          </a:solidFill>
                        </a:rPr>
                        <a:t>潜在剖面分析</a:t>
                      </a:r>
                      <a:endParaRPr lang="en-US" altLang="zh-CN" dirty="0" smtClean="0">
                        <a:solidFill>
                          <a:schemeClr val="tx1"/>
                        </a:solidFill>
                      </a:endParaRPr>
                    </a:p>
                    <a:p>
                      <a:pPr algn="ctr"/>
                      <a:r>
                        <a:rPr lang="zh-CN" altLang="en-US" dirty="0" smtClean="0">
                          <a:solidFill>
                            <a:schemeClr val="tx1"/>
                          </a:solidFill>
                        </a:rPr>
                        <a:t>（</a:t>
                      </a:r>
                      <a:r>
                        <a:rPr lang="en-US" altLang="zh-CN" dirty="0" smtClean="0">
                          <a:solidFill>
                            <a:schemeClr val="tx1"/>
                          </a:solidFill>
                        </a:rPr>
                        <a:t>Latent</a:t>
                      </a:r>
                      <a:r>
                        <a:rPr lang="en-US" altLang="zh-CN" baseline="0" dirty="0" smtClean="0">
                          <a:solidFill>
                            <a:schemeClr val="tx1"/>
                          </a:solidFill>
                        </a:rPr>
                        <a:t> Profile Analysis</a:t>
                      </a:r>
                      <a:r>
                        <a:rPr lang="zh-CN" altLang="en-US" dirty="0" smtClean="0">
                          <a:solidFill>
                            <a:schemeClr val="tx1"/>
                          </a:solidFill>
                        </a:rPr>
                        <a:t>）</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zh-CN" altLang="en-US" dirty="0" smtClean="0">
                          <a:solidFill>
                            <a:schemeClr val="tx1"/>
                          </a:solidFill>
                        </a:rPr>
                        <a:t>连续</a:t>
                      </a:r>
                      <a:endParaRPr lang="zh-CN" altLang="en-US"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smtClean="0">
                          <a:solidFill>
                            <a:schemeClr val="tx1"/>
                          </a:solidFill>
                        </a:rPr>
                        <a:t>潜在特质分析</a:t>
                      </a:r>
                      <a:endParaRPr lang="en-US" altLang="zh-CN" dirty="0" smtClean="0">
                        <a:solidFill>
                          <a:schemeClr val="tx1"/>
                        </a:solidFill>
                      </a:endParaRPr>
                    </a:p>
                    <a:p>
                      <a:pPr algn="ctr"/>
                      <a:r>
                        <a:rPr lang="zh-CN" altLang="en-US" dirty="0" smtClean="0">
                          <a:solidFill>
                            <a:schemeClr val="tx1"/>
                          </a:solidFill>
                        </a:rPr>
                        <a:t>（</a:t>
                      </a:r>
                      <a:r>
                        <a:rPr lang="en-US" altLang="zh-CN" dirty="0" smtClean="0">
                          <a:solidFill>
                            <a:schemeClr val="tx1"/>
                          </a:solidFill>
                        </a:rPr>
                        <a:t>Latent</a:t>
                      </a:r>
                      <a:r>
                        <a:rPr lang="en-US" altLang="zh-CN" baseline="0" dirty="0" smtClean="0">
                          <a:solidFill>
                            <a:schemeClr val="tx1"/>
                          </a:solidFill>
                        </a:rPr>
                        <a:t> Trait Analysis or Item Response Theory</a:t>
                      </a:r>
                      <a:r>
                        <a:rPr lang="zh-CN" altLang="en-US" dirty="0" smtClean="0">
                          <a:solidFill>
                            <a:schemeClr val="tx1"/>
                          </a:solidFill>
                        </a:rPr>
                        <a:t>）</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smtClean="0">
                          <a:solidFill>
                            <a:schemeClr val="tx1"/>
                          </a:solidFill>
                        </a:rPr>
                        <a:t>因素分析</a:t>
                      </a:r>
                      <a:endParaRPr lang="en-US" altLang="zh-CN" dirty="0" smtClean="0">
                        <a:solidFill>
                          <a:schemeClr val="tx1"/>
                        </a:solidFill>
                      </a:endParaRPr>
                    </a:p>
                    <a:p>
                      <a:pPr algn="ctr"/>
                      <a:r>
                        <a:rPr lang="zh-CN" altLang="en-US" dirty="0" smtClean="0">
                          <a:solidFill>
                            <a:schemeClr val="tx1"/>
                          </a:solidFill>
                        </a:rPr>
                        <a:t>（</a:t>
                      </a:r>
                      <a:r>
                        <a:rPr lang="en-US" altLang="zh-CN" dirty="0" smtClean="0">
                          <a:solidFill>
                            <a:schemeClr val="tx1"/>
                          </a:solidFill>
                        </a:rPr>
                        <a:t>Factor Analysis</a:t>
                      </a:r>
                      <a:r>
                        <a:rPr lang="zh-CN" altLang="en-US" dirty="0" smtClean="0">
                          <a:solidFill>
                            <a:schemeClr val="tx1"/>
                          </a:solidFill>
                        </a:rPr>
                        <a:t>）</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42630476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22011"/>
          </a:xfrm>
        </p:spPr>
        <p:txBody>
          <a:bodyPr>
            <a:normAutofit/>
          </a:bodyPr>
          <a:lstStyle/>
          <a:p>
            <a:r>
              <a:rPr lang="zh-CN" altLang="en-US" sz="2400" b="1" dirty="0" smtClean="0"/>
              <a:t>变量英文名称</a:t>
            </a:r>
            <a:endParaRPr lang="zh-CN" altLang="en-US" sz="2400" b="1" dirty="0"/>
          </a:p>
        </p:txBody>
      </p:sp>
      <p:sp>
        <p:nvSpPr>
          <p:cNvPr id="3" name="内容占位符 2"/>
          <p:cNvSpPr>
            <a:spLocks noGrp="1"/>
          </p:cNvSpPr>
          <p:nvPr>
            <p:ph idx="1"/>
          </p:nvPr>
        </p:nvSpPr>
        <p:spPr/>
        <p:txBody>
          <a:bodyPr>
            <a:normAutofit/>
          </a:bodyPr>
          <a:lstStyle/>
          <a:p>
            <a:r>
              <a:rPr lang="zh-CN" altLang="en-US" sz="2400" dirty="0" smtClean="0"/>
              <a:t>因变量：</a:t>
            </a:r>
            <a:r>
              <a:rPr lang="en-US" altLang="zh-CN" sz="2400" dirty="0" smtClean="0"/>
              <a:t>Dependent Variable; Explained Variable; Response Variable; Predicted Variable;  </a:t>
            </a:r>
          </a:p>
          <a:p>
            <a:r>
              <a:rPr lang="zh-CN" altLang="en-US" sz="2400" dirty="0" smtClean="0"/>
              <a:t>自变量：</a:t>
            </a:r>
            <a:r>
              <a:rPr lang="en-US" altLang="zh-CN" sz="2400" dirty="0" smtClean="0"/>
              <a:t>Independent Variable; Explanatory Variable; Control Variable; Predictor Variable; </a:t>
            </a:r>
            <a:r>
              <a:rPr lang="en-US" altLang="zh-CN" sz="2400" dirty="0" err="1" smtClean="0"/>
              <a:t>Regressor</a:t>
            </a:r>
            <a:r>
              <a:rPr lang="en-US" altLang="zh-CN" sz="2400" dirty="0" smtClean="0"/>
              <a:t>;  Covariate</a:t>
            </a:r>
          </a:p>
          <a:p>
            <a:endParaRPr lang="en-US" altLang="zh-CN" sz="2400" dirty="0" smtClean="0"/>
          </a:p>
          <a:p>
            <a:endParaRPr lang="en-US" altLang="zh-CN" sz="2400" dirty="0"/>
          </a:p>
          <a:p>
            <a:endParaRPr lang="en-US" altLang="zh-CN" sz="2400" dirty="0" smtClean="0"/>
          </a:p>
          <a:p>
            <a:endParaRPr lang="en-US" altLang="zh-CN" sz="2400" dirty="0"/>
          </a:p>
          <a:p>
            <a:endParaRPr lang="zh-CN" altLang="en-US" sz="2400" dirty="0"/>
          </a:p>
        </p:txBody>
      </p:sp>
    </p:spTree>
    <p:extLst>
      <p:ext uri="{BB962C8B-B14F-4D97-AF65-F5344CB8AC3E}">
        <p14:creationId xmlns:p14="http://schemas.microsoft.com/office/powerpoint/2010/main" val="70020436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22011"/>
          </a:xfrm>
        </p:spPr>
        <p:txBody>
          <a:bodyPr>
            <a:normAutofit/>
          </a:bodyPr>
          <a:lstStyle/>
          <a:p>
            <a:pPr>
              <a:spcBef>
                <a:spcPts val="1000"/>
              </a:spcBef>
            </a:pPr>
            <a:r>
              <a:rPr lang="en-US" altLang="zh-CN" sz="2400" dirty="0">
                <a:latin typeface="Times New Roman" panose="02020603050405020304" pitchFamily="18" charset="0"/>
                <a:ea typeface="+mn-ea"/>
                <a:cs typeface="Times New Roman" panose="02020603050405020304" pitchFamily="18" charset="0"/>
              </a:rPr>
              <a:t>Kinds of Latent Class Models</a:t>
            </a:r>
            <a:endParaRPr lang="zh-CN" altLang="en-US" sz="2400" dirty="0">
              <a:latin typeface="Times New Roman" panose="02020603050405020304" pitchFamily="18" charset="0"/>
              <a:ea typeface="+mn-ea"/>
              <a:cs typeface="Times New Roman" panose="02020603050405020304" pitchFamily="18" charset="0"/>
            </a:endParaRPr>
          </a:p>
        </p:txBody>
      </p:sp>
      <p:sp>
        <p:nvSpPr>
          <p:cNvPr id="3" name="内容占位符 2"/>
          <p:cNvSpPr>
            <a:spLocks noGrp="1"/>
          </p:cNvSpPr>
          <p:nvPr>
            <p:ph idx="1"/>
          </p:nvPr>
        </p:nvSpPr>
        <p:spPr/>
        <p:txBody>
          <a:bodyPr>
            <a:normAutofit/>
          </a:bodyPr>
          <a:lstStyle/>
          <a:p>
            <a:r>
              <a:rPr lang="en-US" altLang="zh-CN" sz="2400" dirty="0" smtClean="0">
                <a:latin typeface="Times New Roman" panose="02020603050405020304" pitchFamily="18" charset="0"/>
                <a:cs typeface="Times New Roman" panose="02020603050405020304" pitchFamily="18" charset="0"/>
              </a:rPr>
              <a:t>Latent Class Models were divided into three different model structures: LC Cluster, </a:t>
            </a:r>
            <a:r>
              <a:rPr lang="en-US" altLang="zh-CN" sz="2400" dirty="0" err="1" smtClean="0">
                <a:latin typeface="Times New Roman" panose="02020603050405020304" pitchFamily="18" charset="0"/>
                <a:cs typeface="Times New Roman" panose="02020603050405020304" pitchFamily="18" charset="0"/>
              </a:rPr>
              <a:t>DFactor</a:t>
            </a:r>
            <a:r>
              <a:rPr lang="en-US" altLang="zh-CN" sz="2400" dirty="0" smtClean="0">
                <a:latin typeface="Times New Roman" panose="02020603050405020304" pitchFamily="18" charset="0"/>
                <a:cs typeface="Times New Roman" panose="02020603050405020304" pitchFamily="18" charset="0"/>
              </a:rPr>
              <a:t> Models, LC Regression models.</a:t>
            </a:r>
          </a:p>
          <a:p>
            <a:r>
              <a:rPr lang="en-US" altLang="zh-CN" sz="2400" dirty="0" smtClean="0">
                <a:latin typeface="Times New Roman" panose="02020603050405020304" pitchFamily="18" charset="0"/>
                <a:cs typeface="Times New Roman" panose="02020603050405020304" pitchFamily="18" charset="0"/>
              </a:rPr>
              <a:t>To better distinguish the three structures: Latent Class are labeled ‘Clusters’ for LC Cluster Models; ‘Classes’ for LC Regression Models; </a:t>
            </a:r>
            <a:r>
              <a:rPr lang="en-US" altLang="zh-CN" sz="2400" dirty="0" err="1" smtClean="0">
                <a:latin typeface="Times New Roman" panose="02020603050405020304" pitchFamily="18" charset="0"/>
                <a:cs typeface="Times New Roman" panose="02020603050405020304" pitchFamily="18" charset="0"/>
              </a:rPr>
              <a:t>DFactor</a:t>
            </a:r>
            <a:r>
              <a:rPr lang="en-US" altLang="zh-CN" sz="2400" dirty="0" smtClean="0">
                <a:latin typeface="Times New Roman" panose="02020603050405020304" pitchFamily="18" charset="0"/>
                <a:cs typeface="Times New Roman" panose="02020603050405020304" pitchFamily="18" charset="0"/>
              </a:rPr>
              <a:t> or joint </a:t>
            </a:r>
            <a:r>
              <a:rPr lang="en-US" altLang="zh-CN" sz="2400" dirty="0" err="1" smtClean="0">
                <a:latin typeface="Times New Roman" panose="02020603050405020304" pitchFamily="18" charset="0"/>
                <a:cs typeface="Times New Roman" panose="02020603050405020304" pitchFamily="18" charset="0"/>
              </a:rPr>
              <a:t>Dfactor</a:t>
            </a:r>
            <a:r>
              <a:rPr lang="en-US" altLang="zh-CN" sz="2400" dirty="0" smtClean="0">
                <a:latin typeface="Times New Roman" panose="02020603050405020304" pitchFamily="18" charset="0"/>
                <a:cs typeface="Times New Roman" panose="02020603050405020304" pitchFamily="18" charset="0"/>
              </a:rPr>
              <a:t> ‘levels’ in </a:t>
            </a:r>
            <a:r>
              <a:rPr lang="en-US" altLang="zh-CN" sz="2400" dirty="0" err="1" smtClean="0">
                <a:latin typeface="Times New Roman" panose="02020603050405020304" pitchFamily="18" charset="0"/>
                <a:cs typeface="Times New Roman" panose="02020603050405020304" pitchFamily="18" charset="0"/>
              </a:rPr>
              <a:t>DFactor</a:t>
            </a:r>
            <a:r>
              <a:rPr lang="en-US" altLang="zh-CN" sz="2400" dirty="0" smtClean="0">
                <a:latin typeface="Times New Roman" panose="02020603050405020304" pitchFamily="18" charset="0"/>
                <a:cs typeface="Times New Roman" panose="02020603050405020304" pitchFamily="18" charset="0"/>
              </a:rPr>
              <a:t> Models.</a:t>
            </a:r>
          </a:p>
          <a:p>
            <a:pPr marL="0" indent="0">
              <a:buNone/>
            </a:pPr>
            <a:endParaRPr lang="en-US" altLang="zh-CN" sz="2400" dirty="0">
              <a:latin typeface="Times New Roman" panose="02020603050405020304" pitchFamily="18" charset="0"/>
              <a:cs typeface="Times New Roman" panose="02020603050405020304" pitchFamily="18" charset="0"/>
            </a:endParaRPr>
          </a:p>
          <a:p>
            <a:endParaRPr lang="en-US" altLang="zh-CN" sz="2400" dirty="0" smtClean="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18532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22011"/>
          </a:xfrm>
        </p:spPr>
        <p:txBody>
          <a:bodyPr>
            <a:normAutofit/>
          </a:bodyPr>
          <a:lstStyle/>
          <a:p>
            <a:pPr>
              <a:spcBef>
                <a:spcPts val="1000"/>
              </a:spcBef>
            </a:pPr>
            <a:r>
              <a:rPr lang="en-US" altLang="zh-CN" sz="2400" dirty="0" smtClean="0">
                <a:latin typeface="Times New Roman" panose="02020603050405020304" pitchFamily="18" charset="0"/>
                <a:cs typeface="Times New Roman" panose="02020603050405020304" pitchFamily="18" charset="0"/>
              </a:rPr>
              <a:t>The LC Cluster Models</a:t>
            </a:r>
            <a:endParaRPr lang="zh-CN" altLang="en-US" sz="2400" dirty="0">
              <a:latin typeface="Times New Roman" panose="02020603050405020304" pitchFamily="18" charset="0"/>
              <a:ea typeface="+mn-ea"/>
              <a:cs typeface="Times New Roman" panose="02020603050405020304" pitchFamily="18" charset="0"/>
            </a:endParaRPr>
          </a:p>
        </p:txBody>
      </p:sp>
      <p:sp>
        <p:nvSpPr>
          <p:cNvPr id="3" name="内容占位符 2"/>
          <p:cNvSpPr>
            <a:spLocks noGrp="1"/>
          </p:cNvSpPr>
          <p:nvPr>
            <p:ph idx="1"/>
          </p:nvPr>
        </p:nvSpPr>
        <p:spPr/>
        <p:txBody>
          <a:bodyPr>
            <a:normAutofit/>
          </a:bodyPr>
          <a:lstStyle/>
          <a:p>
            <a:r>
              <a:rPr lang="en-US" altLang="zh-CN" sz="2400" dirty="0" smtClean="0">
                <a:latin typeface="Times New Roman" panose="02020603050405020304" pitchFamily="18" charset="0"/>
                <a:cs typeface="Times New Roman" panose="02020603050405020304" pitchFamily="18" charset="0"/>
              </a:rPr>
              <a:t>Includes a K-category latent variable, each category representing a cluster.</a:t>
            </a:r>
          </a:p>
          <a:p>
            <a:r>
              <a:rPr lang="en-US" altLang="zh-CN" sz="2400" dirty="0" smtClean="0">
                <a:latin typeface="Times New Roman" panose="02020603050405020304" pitchFamily="18" charset="0"/>
                <a:cs typeface="Times New Roman" panose="02020603050405020304" pitchFamily="18" charset="0"/>
              </a:rPr>
              <a:t>Each cluster contains a homogeneous group of persons(cases) who share common interests, values, characteristics, and/or behavior(i.e. share common model parameters).</a:t>
            </a:r>
          </a:p>
          <a:p>
            <a:r>
              <a:rPr lang="en-US" altLang="zh-CN" sz="2400" dirty="0" smtClean="0">
                <a:latin typeface="Times New Roman" panose="02020603050405020304" pitchFamily="18" charset="0"/>
                <a:cs typeface="Times New Roman" panose="02020603050405020304" pitchFamily="18" charset="0"/>
              </a:rPr>
              <a:t>Note: Advantages over more traditional ad-hoc types of cluster analysis methods include selection criteria and probability-based classification. Posterior membership probabilities are estimated directly from the model parameters and used to assign cases to the modal class – the class for which the posterior probability is highest.</a:t>
            </a:r>
          </a:p>
        </p:txBody>
      </p:sp>
    </p:spTree>
    <p:extLst>
      <p:ext uri="{BB962C8B-B14F-4D97-AF65-F5344CB8AC3E}">
        <p14:creationId xmlns:p14="http://schemas.microsoft.com/office/powerpoint/2010/main" val="24685265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22011"/>
          </a:xfrm>
        </p:spPr>
        <p:txBody>
          <a:bodyPr>
            <a:normAutofit/>
          </a:bodyPr>
          <a:lstStyle/>
          <a:p>
            <a:pPr>
              <a:spcBef>
                <a:spcPts val="1000"/>
              </a:spcBef>
            </a:pPr>
            <a:r>
              <a:rPr lang="en-US" altLang="zh-CN" sz="2400" dirty="0" err="1" smtClean="0">
                <a:latin typeface="Times New Roman" panose="02020603050405020304" pitchFamily="18" charset="0"/>
                <a:cs typeface="Times New Roman" panose="02020603050405020304" pitchFamily="18" charset="0"/>
              </a:rPr>
              <a:t>DFactor</a:t>
            </a:r>
            <a:r>
              <a:rPr lang="en-US" altLang="zh-CN" sz="2400" dirty="0" smtClean="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Models</a:t>
            </a:r>
            <a:endParaRPr lang="zh-CN" altLang="en-US" sz="2400" dirty="0">
              <a:latin typeface="Times New Roman" panose="02020603050405020304" pitchFamily="18" charset="0"/>
              <a:ea typeface="+mn-ea"/>
              <a:cs typeface="Times New Roman" panose="02020603050405020304" pitchFamily="18" charset="0"/>
            </a:endParaRPr>
          </a:p>
        </p:txBody>
      </p:sp>
      <p:sp>
        <p:nvSpPr>
          <p:cNvPr id="3" name="内容占位符 2"/>
          <p:cNvSpPr>
            <a:spLocks noGrp="1"/>
          </p:cNvSpPr>
          <p:nvPr>
            <p:ph idx="1"/>
          </p:nvPr>
        </p:nvSpPr>
        <p:spPr/>
        <p:txBody>
          <a:bodyPr>
            <a:normAutofit/>
          </a:bodyPr>
          <a:lstStyle/>
          <a:p>
            <a:r>
              <a:rPr lang="en-US" altLang="zh-CN" sz="2400" dirty="0" smtClean="0">
                <a:latin typeface="Times New Roman" panose="02020603050405020304" pitchFamily="18" charset="0"/>
                <a:cs typeface="Times New Roman" panose="02020603050405020304" pitchFamily="18" charset="0"/>
              </a:rPr>
              <a:t>It is a </a:t>
            </a:r>
            <a:r>
              <a:rPr lang="en-US" altLang="zh-CN" sz="2400" smtClean="0">
                <a:latin typeface="Times New Roman" panose="02020603050405020304" pitchFamily="18" charset="0"/>
                <a:cs typeface="Times New Roman" panose="02020603050405020304" pitchFamily="18" charset="0"/>
              </a:rPr>
              <a:t>restricted </a:t>
            </a:r>
            <a:r>
              <a:rPr lang="en-US" altLang="zh-CN" sz="2400" smtClean="0">
                <a:latin typeface="Times New Roman" panose="02020603050405020304" pitchFamily="18" charset="0"/>
                <a:cs typeface="Times New Roman" panose="02020603050405020304" pitchFamily="18" charset="0"/>
              </a:rPr>
              <a:t>form </a:t>
            </a:r>
            <a:r>
              <a:rPr lang="en-US" altLang="zh-CN" sz="2400" dirty="0" smtClean="0">
                <a:latin typeface="Times New Roman" panose="02020603050405020304" pitchFamily="18" charset="0"/>
                <a:cs typeface="Times New Roman" panose="02020603050405020304" pitchFamily="18" charset="0"/>
              </a:rPr>
              <a:t>of the LC Cluster Model which is often used for variable reduction or to define ordinal attitudinal scale.</a:t>
            </a:r>
          </a:p>
          <a:p>
            <a:r>
              <a:rPr lang="en-US" altLang="zh-CN" sz="2400" dirty="0" smtClean="0">
                <a:latin typeface="Times New Roman" panose="02020603050405020304" pitchFamily="18" charset="0"/>
                <a:cs typeface="Times New Roman" panose="02020603050405020304" pitchFamily="18" charset="0"/>
              </a:rPr>
              <a:t>It contains one or more </a:t>
            </a:r>
            <a:r>
              <a:rPr lang="en-US" altLang="zh-CN" sz="2400" dirty="0" err="1" smtClean="0">
                <a:latin typeface="Times New Roman" panose="02020603050405020304" pitchFamily="18" charset="0"/>
                <a:cs typeface="Times New Roman" panose="02020603050405020304" pitchFamily="18" charset="0"/>
              </a:rPr>
              <a:t>DFactors</a:t>
            </a:r>
            <a:r>
              <a:rPr lang="en-US" altLang="zh-CN" sz="2400" dirty="0" smtClean="0">
                <a:latin typeface="Times New Roman" panose="02020603050405020304" pitchFamily="18" charset="0"/>
                <a:cs typeface="Times New Roman" panose="02020603050405020304" pitchFamily="18" charset="0"/>
              </a:rPr>
              <a:t> which group together variables sharing a common source of variation.</a:t>
            </a:r>
          </a:p>
          <a:p>
            <a:r>
              <a:rPr lang="en-US" altLang="zh-CN" sz="2400" dirty="0" smtClean="0">
                <a:latin typeface="Times New Roman" panose="02020603050405020304" pitchFamily="18" charset="0"/>
                <a:cs typeface="Times New Roman" panose="02020603050405020304" pitchFamily="18" charset="0"/>
              </a:rPr>
              <a:t>Each </a:t>
            </a:r>
            <a:r>
              <a:rPr lang="en-US" altLang="zh-CN" sz="2400" dirty="0" err="1" smtClean="0">
                <a:latin typeface="Times New Roman" panose="02020603050405020304" pitchFamily="18" charset="0"/>
                <a:cs typeface="Times New Roman" panose="02020603050405020304" pitchFamily="18" charset="0"/>
              </a:rPr>
              <a:t>DFactor</a:t>
            </a:r>
            <a:r>
              <a:rPr lang="en-US" altLang="zh-CN" sz="2400" dirty="0" smtClean="0">
                <a:latin typeface="Times New Roman" panose="02020603050405020304" pitchFamily="18" charset="0"/>
                <a:cs typeface="Times New Roman" panose="02020603050405020304" pitchFamily="18" charset="0"/>
              </a:rPr>
              <a:t> is either dichotomous or consists of 3 or more ordered levels.</a:t>
            </a:r>
          </a:p>
        </p:txBody>
      </p:sp>
    </p:spTree>
    <p:extLst>
      <p:ext uri="{BB962C8B-B14F-4D97-AF65-F5344CB8AC3E}">
        <p14:creationId xmlns:p14="http://schemas.microsoft.com/office/powerpoint/2010/main" val="236935586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22011"/>
          </a:xfrm>
        </p:spPr>
        <p:txBody>
          <a:bodyPr>
            <a:normAutofit/>
          </a:bodyPr>
          <a:lstStyle/>
          <a:p>
            <a:pPr>
              <a:spcBef>
                <a:spcPts val="1000"/>
              </a:spcBef>
            </a:pPr>
            <a:r>
              <a:rPr lang="en-US" altLang="zh-CN" sz="2400" dirty="0" smtClean="0">
                <a:latin typeface="Times New Roman" panose="02020603050405020304" pitchFamily="18" charset="0"/>
                <a:cs typeface="Times New Roman" panose="02020603050405020304" pitchFamily="18" charset="0"/>
              </a:rPr>
              <a:t>LC </a:t>
            </a:r>
            <a:r>
              <a:rPr lang="en-US" altLang="zh-CN" sz="2400" dirty="0">
                <a:latin typeface="Times New Roman" panose="02020603050405020304" pitchFamily="18" charset="0"/>
                <a:cs typeface="Times New Roman" panose="02020603050405020304" pitchFamily="18" charset="0"/>
              </a:rPr>
              <a:t>Regression </a:t>
            </a:r>
            <a:r>
              <a:rPr lang="en-US" altLang="zh-CN" sz="2400" dirty="0" smtClean="0">
                <a:latin typeface="Times New Roman" panose="02020603050405020304" pitchFamily="18" charset="0"/>
                <a:cs typeface="Times New Roman" panose="02020603050405020304" pitchFamily="18" charset="0"/>
              </a:rPr>
              <a:t>models(1)</a:t>
            </a:r>
            <a:endParaRPr lang="zh-CN" altLang="en-US" sz="2400" dirty="0">
              <a:latin typeface="Times New Roman" panose="02020603050405020304" pitchFamily="18" charset="0"/>
              <a:ea typeface="+mn-ea"/>
              <a:cs typeface="Times New Roman" panose="02020603050405020304" pitchFamily="18" charset="0"/>
            </a:endParaRPr>
          </a:p>
        </p:txBody>
      </p:sp>
      <p:sp>
        <p:nvSpPr>
          <p:cNvPr id="3" name="内容占位符 2"/>
          <p:cNvSpPr>
            <a:spLocks noGrp="1"/>
          </p:cNvSpPr>
          <p:nvPr>
            <p:ph idx="1"/>
          </p:nvPr>
        </p:nvSpPr>
        <p:spPr/>
        <p:txBody>
          <a:bodyPr>
            <a:normAutofit/>
          </a:bodyPr>
          <a:lstStyle/>
          <a:p>
            <a:r>
              <a:rPr lang="en-US" altLang="zh-CN" sz="2400" dirty="0" smtClean="0">
                <a:latin typeface="Times New Roman" panose="02020603050405020304" pitchFamily="18" charset="0"/>
                <a:cs typeface="Times New Roman" panose="02020603050405020304" pitchFamily="18" charset="0"/>
              </a:rPr>
              <a:t>It is used to predict a dependent variable as a function of predictor variables.</a:t>
            </a:r>
          </a:p>
          <a:p>
            <a:r>
              <a:rPr lang="en-US" altLang="zh-CN" sz="2400" dirty="0" smtClean="0">
                <a:latin typeface="Times New Roman" panose="02020603050405020304" pitchFamily="18" charset="0"/>
                <a:cs typeface="Times New Roman" panose="02020603050405020304" pitchFamily="18" charset="0"/>
              </a:rPr>
              <a:t>It includes a K-category latent variable, each category representing a homogeneous subpopulation(segment) having identical regression coefficients.</a:t>
            </a:r>
          </a:p>
          <a:p>
            <a:r>
              <a:rPr lang="en-US" altLang="zh-CN" sz="2400" dirty="0" smtClean="0">
                <a:latin typeface="Times New Roman" panose="02020603050405020304" pitchFamily="18" charset="0"/>
                <a:cs typeface="Times New Roman" panose="02020603050405020304" pitchFamily="18" charset="0"/>
              </a:rPr>
              <a:t>Each case may contain multiple records(regression with repeated measurements).</a:t>
            </a:r>
          </a:p>
          <a:p>
            <a:r>
              <a:rPr lang="en-US" altLang="zh-CN" sz="2400" dirty="0" smtClean="0">
                <a:latin typeface="Times New Roman" panose="02020603050405020304" pitchFamily="18" charset="0"/>
                <a:cs typeface="Times New Roman" panose="02020603050405020304" pitchFamily="18" charset="0"/>
              </a:rPr>
              <a:t>The appropriate model is estimated according to the dependent variable scale type.</a:t>
            </a:r>
          </a:p>
          <a:p>
            <a:r>
              <a:rPr lang="en-US" altLang="zh-CN" sz="2400" dirty="0" smtClean="0">
                <a:latin typeface="Times New Roman" panose="02020603050405020304" pitchFamily="18" charset="0"/>
                <a:cs typeface="Times New Roman" panose="02020603050405020304" pitchFamily="18" charset="0"/>
              </a:rPr>
              <a:t>Continuous – Linear regression(with normally distributed residuals)</a:t>
            </a:r>
          </a:p>
          <a:p>
            <a:r>
              <a:rPr lang="en-US" altLang="zh-CN" sz="2400" dirty="0" smtClean="0">
                <a:latin typeface="Times New Roman" panose="02020603050405020304" pitchFamily="18" charset="0"/>
                <a:cs typeface="Times New Roman" panose="02020603050405020304" pitchFamily="18" charset="0"/>
              </a:rPr>
              <a:t>Dichotomous(Specified as nominal, ordinal, or a binomial count) – Binary logistic regression.</a:t>
            </a:r>
          </a:p>
          <a:p>
            <a:r>
              <a:rPr lang="en-US" altLang="zh-CN" sz="2400" dirty="0" smtClean="0">
                <a:latin typeface="Times New Roman" panose="02020603050405020304" pitchFamily="18" charset="0"/>
                <a:cs typeface="Times New Roman" panose="02020603050405020304" pitchFamily="18" charset="0"/>
              </a:rPr>
              <a:t>Nominal(with more than 2 levels) – Multinomial logistic regression</a:t>
            </a:r>
          </a:p>
          <a:p>
            <a:r>
              <a:rPr lang="en-US" altLang="zh-CN" sz="2400" dirty="0" smtClean="0">
                <a:latin typeface="Times New Roman" panose="02020603050405020304" pitchFamily="18" charset="0"/>
                <a:cs typeface="Times New Roman" panose="02020603050405020304" pitchFamily="18" charset="0"/>
              </a:rPr>
              <a:t>Ordinal(with more than 2 levels) – Adjacent-category ordinal logistic regression.</a:t>
            </a:r>
          </a:p>
        </p:txBody>
      </p:sp>
    </p:spTree>
    <p:extLst>
      <p:ext uri="{BB962C8B-B14F-4D97-AF65-F5344CB8AC3E}">
        <p14:creationId xmlns:p14="http://schemas.microsoft.com/office/powerpoint/2010/main" val="28091663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22011"/>
          </a:xfrm>
        </p:spPr>
        <p:txBody>
          <a:bodyPr>
            <a:normAutofit/>
          </a:bodyPr>
          <a:lstStyle/>
          <a:p>
            <a:pPr>
              <a:spcBef>
                <a:spcPts val="1000"/>
              </a:spcBef>
            </a:pPr>
            <a:r>
              <a:rPr lang="en-US" altLang="zh-CN" sz="2400" dirty="0" smtClean="0">
                <a:latin typeface="Times New Roman" panose="02020603050405020304" pitchFamily="18" charset="0"/>
                <a:cs typeface="Times New Roman" panose="02020603050405020304" pitchFamily="18" charset="0"/>
              </a:rPr>
              <a:t>LC </a:t>
            </a:r>
            <a:r>
              <a:rPr lang="en-US" altLang="zh-CN" sz="2400" dirty="0">
                <a:latin typeface="Times New Roman" panose="02020603050405020304" pitchFamily="18" charset="0"/>
                <a:cs typeface="Times New Roman" panose="02020603050405020304" pitchFamily="18" charset="0"/>
              </a:rPr>
              <a:t>Regression </a:t>
            </a:r>
            <a:r>
              <a:rPr lang="en-US" altLang="zh-CN" sz="2400" dirty="0" smtClean="0">
                <a:latin typeface="Times New Roman" panose="02020603050405020304" pitchFamily="18" charset="0"/>
                <a:cs typeface="Times New Roman" panose="02020603050405020304" pitchFamily="18" charset="0"/>
              </a:rPr>
              <a:t>models(2)</a:t>
            </a:r>
            <a:endParaRPr lang="zh-CN" altLang="en-US" sz="2400" dirty="0">
              <a:latin typeface="Times New Roman" panose="02020603050405020304" pitchFamily="18" charset="0"/>
              <a:ea typeface="+mn-ea"/>
              <a:cs typeface="Times New Roman" panose="02020603050405020304" pitchFamily="18" charset="0"/>
            </a:endParaRPr>
          </a:p>
        </p:txBody>
      </p:sp>
      <p:sp>
        <p:nvSpPr>
          <p:cNvPr id="3" name="内容占位符 2"/>
          <p:cNvSpPr>
            <a:spLocks noGrp="1"/>
          </p:cNvSpPr>
          <p:nvPr>
            <p:ph idx="1"/>
          </p:nvPr>
        </p:nvSpPr>
        <p:spPr/>
        <p:txBody>
          <a:bodyPr>
            <a:normAutofit/>
          </a:bodyPr>
          <a:lstStyle/>
          <a:p>
            <a:r>
              <a:rPr lang="en-US" altLang="zh-CN" sz="2400" dirty="0" smtClean="0">
                <a:latin typeface="Times New Roman" panose="02020603050405020304" pitchFamily="18" charset="0"/>
                <a:cs typeface="Times New Roman" panose="02020603050405020304" pitchFamily="18" charset="0"/>
              </a:rPr>
              <a:t>Count: Log-linear </a:t>
            </a:r>
            <a:r>
              <a:rPr lang="en-US" altLang="zh-CN" sz="2400" dirty="0" err="1" smtClean="0">
                <a:latin typeface="Times New Roman" panose="02020603050405020304" pitchFamily="18" charset="0"/>
                <a:cs typeface="Times New Roman" panose="02020603050405020304" pitchFamily="18" charset="0"/>
              </a:rPr>
              <a:t>Possion</a:t>
            </a:r>
            <a:r>
              <a:rPr lang="en-US" altLang="zh-CN" sz="2400" dirty="0" smtClean="0">
                <a:latin typeface="Times New Roman" panose="02020603050405020304" pitchFamily="18" charset="0"/>
                <a:cs typeface="Times New Roman" panose="02020603050405020304" pitchFamily="18" charset="0"/>
              </a:rPr>
              <a:t> </a:t>
            </a:r>
            <a:r>
              <a:rPr lang="en-US" altLang="zh-CN" sz="2400" dirty="0" err="1" smtClean="0">
                <a:latin typeface="Times New Roman" panose="02020603050405020304" pitchFamily="18" charset="0"/>
                <a:cs typeface="Times New Roman" panose="02020603050405020304" pitchFamily="18" charset="0"/>
              </a:rPr>
              <a:t>regrssion</a:t>
            </a:r>
            <a:r>
              <a:rPr lang="en-US" altLang="zh-CN" sz="2400" dirty="0" smtClean="0">
                <a:latin typeface="Times New Roman" panose="02020603050405020304" pitchFamily="18" charset="0"/>
                <a:cs typeface="Times New Roman" panose="02020603050405020304" pitchFamily="18" charset="0"/>
              </a:rPr>
              <a:t>.</a:t>
            </a:r>
          </a:p>
          <a:p>
            <a:r>
              <a:rPr lang="en-US" altLang="zh-CN" sz="2400" dirty="0" smtClean="0">
                <a:latin typeface="Times New Roman" panose="02020603050405020304" pitchFamily="18" charset="0"/>
                <a:cs typeface="Times New Roman" panose="02020603050405020304" pitchFamily="18" charset="0"/>
              </a:rPr>
              <a:t>Binomial Count: Binomial logistic regression model.</a:t>
            </a:r>
          </a:p>
          <a:p>
            <a:r>
              <a:rPr lang="en-US" altLang="zh-CN" sz="2400" dirty="0" smtClean="0">
                <a:latin typeface="Times New Roman" panose="02020603050405020304" pitchFamily="18" charset="0"/>
                <a:cs typeface="Times New Roman" panose="02020603050405020304" pitchFamily="18" charset="0"/>
              </a:rPr>
              <a:t>Diagnostic statistics are available to help determine the number of latent classes , clusters or segments.</a:t>
            </a:r>
          </a:p>
          <a:p>
            <a:r>
              <a:rPr lang="en-US" altLang="zh-CN" sz="2400" dirty="0" smtClean="0">
                <a:latin typeface="Times New Roman" panose="02020603050405020304" pitchFamily="18" charset="0"/>
                <a:cs typeface="Times New Roman" panose="02020603050405020304" pitchFamily="18" charset="0"/>
              </a:rPr>
              <a:t>For models containing K &gt; 1 classes, covariates can be included in the model to improve classification of each case into the most likely segments</a:t>
            </a:r>
          </a:p>
          <a:p>
            <a:pPr marL="0" indent="0">
              <a:buNone/>
            </a:pPr>
            <a:endParaRPr lang="en-US" altLang="zh-CN"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0426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TM03457444[[fn=基础]]</Template>
  <TotalTime>518</TotalTime>
  <Words>1290</Words>
  <Application>Microsoft Office PowerPoint</Application>
  <PresentationFormat>宽屏</PresentationFormat>
  <Paragraphs>216</Paragraphs>
  <Slides>31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31</vt:i4>
      </vt:variant>
    </vt:vector>
  </HeadingPairs>
  <TitlesOfParts>
    <vt:vector size="38" baseType="lpstr">
      <vt:lpstr>宋体</vt:lpstr>
      <vt:lpstr>Arial</vt:lpstr>
      <vt:lpstr>Calibri</vt:lpstr>
      <vt:lpstr>Calibri Light</vt:lpstr>
      <vt:lpstr>Cambria Math</vt:lpstr>
      <vt:lpstr>Times New Roman</vt:lpstr>
      <vt:lpstr>Office Theme</vt:lpstr>
      <vt:lpstr>PowerPoint 演示文稿</vt:lpstr>
      <vt:lpstr>PowerPoint 演示文稿</vt:lpstr>
      <vt:lpstr>最大期望算法简介（Expectation Maximization）                                                              （1/7）</vt:lpstr>
      <vt:lpstr>最大期望算法简介（Expectation Maximization）                                                                              （2/7）</vt:lpstr>
      <vt:lpstr>EM算法推导过程                                                                                                         （3/7）</vt:lpstr>
      <vt:lpstr>EM算法推导过程                                                                                                          （4/7）</vt:lpstr>
      <vt:lpstr>EM算法推导过程                                                                                                          （5/7）</vt:lpstr>
      <vt:lpstr>EM算法推导过程                                                                                                          （6/7）</vt:lpstr>
      <vt:lpstr>EM算法推导过程                                                                                                          （7/7）</vt:lpstr>
      <vt:lpstr>PowerPoint 演示文稿</vt:lpstr>
      <vt:lpstr>几个EM应用实例</vt:lpstr>
      <vt:lpstr>Gaussian Mixture Model-Generative Model</vt:lpstr>
      <vt:lpstr>Gaussian Mixture Model -Generative Model</vt:lpstr>
      <vt:lpstr>Gaussian Mixture Model-Generative Model</vt:lpstr>
      <vt:lpstr>Gaussian Mixture Model-Generative Model</vt:lpstr>
      <vt:lpstr>Gaussian Mixture Model-Generative Model</vt:lpstr>
      <vt:lpstr>Probabilistic Latent Semantic Analysis Model -Generative Model</vt:lpstr>
      <vt:lpstr>Probabilistic Latent Semantic Analysis Model -Generative Model</vt:lpstr>
      <vt:lpstr>PowerPoint 演示文稿</vt:lpstr>
      <vt:lpstr>Probabilistic Latent Semantic Analysis Model</vt:lpstr>
      <vt:lpstr>Probabilistic Latent Semantic Analysis Model</vt:lpstr>
      <vt:lpstr>Probabilistic Latent Semantic Analysis Model</vt:lpstr>
      <vt:lpstr>PowerPoint 演示文稿</vt:lpstr>
      <vt:lpstr>潜类别分析(Latent Class Analysis)</vt:lpstr>
      <vt:lpstr>潜类别分析(Latent Class Analysis)</vt:lpstr>
      <vt:lpstr>变量英文名称</vt:lpstr>
      <vt:lpstr>Kinds of Latent Class Models</vt:lpstr>
      <vt:lpstr>The LC Cluster Models</vt:lpstr>
      <vt:lpstr>DFactor Models</vt:lpstr>
      <vt:lpstr>LC Regression models(1)</vt:lpstr>
      <vt:lpstr>LC Regression models(2)</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JonMMx 2000</dc:creator>
  <cp:lastModifiedBy>JonMMx 2000</cp:lastModifiedBy>
  <cp:revision>54</cp:revision>
  <dcterms:created xsi:type="dcterms:W3CDTF">2015-09-27T02:06:59Z</dcterms:created>
  <dcterms:modified xsi:type="dcterms:W3CDTF">2015-10-11T08:59:55Z</dcterms:modified>
</cp:coreProperties>
</file>