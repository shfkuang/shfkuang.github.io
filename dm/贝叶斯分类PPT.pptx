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Default Extension="gif" ContentType="image/gif"/>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60" r:id="rId2"/>
    <p:sldMasterId id="2147483686" r:id="rId3"/>
  </p:sldMasterIdLst>
  <p:notesMasterIdLst>
    <p:notesMasterId r:id="rId74"/>
  </p:notesMasterIdLst>
  <p:sldIdLst>
    <p:sldId id="256" r:id="rId4"/>
    <p:sldId id="257" r:id="rId5"/>
    <p:sldId id="258" r:id="rId6"/>
    <p:sldId id="264" r:id="rId7"/>
    <p:sldId id="281" r:id="rId8"/>
    <p:sldId id="282" r:id="rId9"/>
    <p:sldId id="262" r:id="rId10"/>
    <p:sldId id="346" r:id="rId11"/>
    <p:sldId id="347" r:id="rId12"/>
    <p:sldId id="266" r:id="rId13"/>
    <p:sldId id="265" r:id="rId14"/>
    <p:sldId id="267" r:id="rId15"/>
    <p:sldId id="268" r:id="rId16"/>
    <p:sldId id="269" r:id="rId17"/>
    <p:sldId id="271" r:id="rId18"/>
    <p:sldId id="283" r:id="rId19"/>
    <p:sldId id="284" r:id="rId20"/>
    <p:sldId id="285" r:id="rId21"/>
    <p:sldId id="272" r:id="rId22"/>
    <p:sldId id="273" r:id="rId23"/>
    <p:sldId id="289" r:id="rId24"/>
    <p:sldId id="290" r:id="rId25"/>
    <p:sldId id="291" r:id="rId26"/>
    <p:sldId id="292" r:id="rId27"/>
    <p:sldId id="293" r:id="rId28"/>
    <p:sldId id="287" r:id="rId29"/>
    <p:sldId id="274" r:id="rId30"/>
    <p:sldId id="276" r:id="rId31"/>
    <p:sldId id="294" r:id="rId32"/>
    <p:sldId id="358" r:id="rId33"/>
    <p:sldId id="359" r:id="rId34"/>
    <p:sldId id="360" r:id="rId35"/>
    <p:sldId id="299" r:id="rId36"/>
    <p:sldId id="298" r:id="rId37"/>
    <p:sldId id="305" r:id="rId38"/>
    <p:sldId id="306" r:id="rId39"/>
    <p:sldId id="308" r:id="rId40"/>
    <p:sldId id="309" r:id="rId41"/>
    <p:sldId id="318" r:id="rId42"/>
    <p:sldId id="362" r:id="rId43"/>
    <p:sldId id="302" r:id="rId44"/>
    <p:sldId id="310" r:id="rId45"/>
    <p:sldId id="311" r:id="rId46"/>
    <p:sldId id="313" r:id="rId47"/>
    <p:sldId id="314" r:id="rId48"/>
    <p:sldId id="316" r:id="rId49"/>
    <p:sldId id="317" r:id="rId50"/>
    <p:sldId id="368" r:id="rId51"/>
    <p:sldId id="319" r:id="rId52"/>
    <p:sldId id="320" r:id="rId53"/>
    <p:sldId id="363" r:id="rId54"/>
    <p:sldId id="364" r:id="rId55"/>
    <p:sldId id="365" r:id="rId56"/>
    <p:sldId id="366" r:id="rId57"/>
    <p:sldId id="367" r:id="rId58"/>
    <p:sldId id="331" r:id="rId59"/>
    <p:sldId id="361" r:id="rId60"/>
    <p:sldId id="330" r:id="rId61"/>
    <p:sldId id="348" r:id="rId62"/>
    <p:sldId id="349" r:id="rId63"/>
    <p:sldId id="350" r:id="rId64"/>
    <p:sldId id="351" r:id="rId65"/>
    <p:sldId id="352" r:id="rId66"/>
    <p:sldId id="353" r:id="rId67"/>
    <p:sldId id="354" r:id="rId68"/>
    <p:sldId id="355" r:id="rId69"/>
    <p:sldId id="356" r:id="rId70"/>
    <p:sldId id="345" r:id="rId71"/>
    <p:sldId id="357" r:id="rId72"/>
    <p:sldId id="259" r:id="rId7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33"/>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7" d="100"/>
          <a:sy n="77" d="100"/>
        </p:scale>
        <p:origin x="-984" y="1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zh-CN" altLang="en-US"/>
          </a:p>
        </p:txBody>
      </p:sp>
      <p:sp>
        <p:nvSpPr>
          <p:cNvPr id="8909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4745D837-7C75-45F5-AD03-7B7CE2455E65}" type="datetimeFigureOut">
              <a:rPr lang="zh-CN" altLang="en-US"/>
              <a:pPr>
                <a:defRPr/>
              </a:pPr>
              <a:t>2013/10/28</a:t>
            </a:fld>
            <a:endParaRPr lang="en-US" altLang="zh-CN"/>
          </a:p>
        </p:txBody>
      </p:sp>
      <p:sp>
        <p:nvSpPr>
          <p:cNvPr id="9933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8909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909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en-US" altLang="zh-CN"/>
          </a:p>
        </p:txBody>
      </p:sp>
      <p:sp>
        <p:nvSpPr>
          <p:cNvPr id="8909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pPr>
              <a:defRPr/>
            </a:pPr>
            <a:fld id="{DCFA89F4-62D2-4B2C-9835-616EA7C1044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Rot="1" noChangeArrowheads="1" noTextEdit="1"/>
          </p:cNvSpPr>
          <p:nvPr>
            <p:ph type="sldImg"/>
          </p:nvPr>
        </p:nvSpPr>
        <p:spPr>
          <a:ln/>
        </p:spPr>
      </p:sp>
      <p:sp>
        <p:nvSpPr>
          <p:cNvPr id="10035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Rot="1" noChangeArrowheads="1" noTextEdit="1"/>
          </p:cNvSpPr>
          <p:nvPr>
            <p:ph type="sldImg"/>
          </p:nvPr>
        </p:nvSpPr>
        <p:spPr>
          <a:ln/>
        </p:spPr>
      </p:sp>
      <p:sp>
        <p:nvSpPr>
          <p:cNvPr id="10137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Rot="1" noChangeArrowheads="1" noTextEdit="1"/>
          </p:cNvSpPr>
          <p:nvPr>
            <p:ph type="sldImg"/>
          </p:nvPr>
        </p:nvSpPr>
        <p:spPr>
          <a:ln/>
        </p:spPr>
      </p:sp>
      <p:sp>
        <p:nvSpPr>
          <p:cNvPr id="10240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Rot="1" noChangeArrowheads="1" noTextEdit="1"/>
          </p:cNvSpPr>
          <p:nvPr>
            <p:ph type="sldImg"/>
          </p:nvPr>
        </p:nvSpPr>
        <p:spPr>
          <a:ln/>
        </p:spPr>
      </p:sp>
      <p:sp>
        <p:nvSpPr>
          <p:cNvPr id="10342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Rot="1" noChangeArrowheads="1" noTextEdit="1"/>
          </p:cNvSpPr>
          <p:nvPr>
            <p:ph type="sldImg"/>
          </p:nvPr>
        </p:nvSpPr>
        <p:spPr>
          <a:ln/>
        </p:spPr>
      </p:sp>
      <p:sp>
        <p:nvSpPr>
          <p:cNvPr id="10445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Rot="1" noChangeArrowheads="1" noTextEdit="1"/>
          </p:cNvSpPr>
          <p:nvPr>
            <p:ph type="sldImg"/>
          </p:nvPr>
        </p:nvSpPr>
        <p:spPr>
          <a:ln/>
        </p:spPr>
      </p:sp>
      <p:sp>
        <p:nvSpPr>
          <p:cNvPr id="10547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Rot="1" noChangeArrowheads="1" noTextEdit="1"/>
          </p:cNvSpPr>
          <p:nvPr>
            <p:ph type="sldImg"/>
          </p:nvPr>
        </p:nvSpPr>
        <p:spPr>
          <a:ln/>
        </p:spPr>
      </p:sp>
      <p:sp>
        <p:nvSpPr>
          <p:cNvPr id="10649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p:spPr>
        <p:txBody>
          <a:bodyPr/>
          <a:lstStyle/>
          <a:p>
            <a:endParaRPr lang="zh-CN" altLang="en-US" smtClean="0"/>
          </a:p>
        </p:txBody>
      </p:sp>
      <p:sp>
        <p:nvSpPr>
          <p:cNvPr id="107524" name="灯片编号占位符 3"/>
          <p:cNvSpPr>
            <a:spLocks noGrp="1"/>
          </p:cNvSpPr>
          <p:nvPr>
            <p:ph type="sldNum" sz="quarter" idx="5"/>
          </p:nvPr>
        </p:nvSpPr>
        <p:spPr>
          <a:noFill/>
        </p:spPr>
        <p:txBody>
          <a:bodyPr/>
          <a:lstStyle/>
          <a:p>
            <a:fld id="{2DE9CDF1-3F36-4ED5-BFE7-0E6DC8EABD5B}" type="slidenum">
              <a:rPr lang="zh-CN" altLang="en-US" smtClean="0"/>
              <a:pPr/>
              <a:t>28</a:t>
            </a:fld>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p:spPr>
        <p:txBody>
          <a:bodyPr/>
          <a:lstStyle/>
          <a:p>
            <a:endParaRPr lang="zh-CN" altLang="en-US" smtClean="0"/>
          </a:p>
        </p:txBody>
      </p:sp>
      <p:sp>
        <p:nvSpPr>
          <p:cNvPr id="108548" name="灯片编号占位符 3"/>
          <p:cNvSpPr>
            <a:spLocks noGrp="1"/>
          </p:cNvSpPr>
          <p:nvPr>
            <p:ph type="sldNum" sz="quarter" idx="5"/>
          </p:nvPr>
        </p:nvSpPr>
        <p:spPr>
          <a:noFill/>
        </p:spPr>
        <p:txBody>
          <a:bodyPr/>
          <a:lstStyle/>
          <a:p>
            <a:fld id="{A7F81BB8-560C-4889-A32F-9D0247A0D448}" type="slidenum">
              <a:rPr lang="zh-CN" altLang="en-US" smtClean="0"/>
              <a:pPr/>
              <a:t>66</a:t>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Rot="1" noChangeArrowheads="1" noTextEdit="1"/>
          </p:cNvSpPr>
          <p:nvPr>
            <p:ph type="sldImg"/>
          </p:nvPr>
        </p:nvSpPr>
        <p:spPr>
          <a:ln/>
        </p:spPr>
      </p:sp>
      <p:sp>
        <p:nvSpPr>
          <p:cNvPr id="10957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4B36D68E-E0A2-420B-9173-D976F62BAD8D}"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B24BD4D-739E-4BAC-8CF2-DA95E1DE853E}" type="slidenum">
              <a:rPr lang="zh-CN" altLang="en-US"/>
              <a:pPr>
                <a:defRPr/>
              </a:pPr>
              <a:t>‹#›</a:t>
            </a:fld>
            <a:endParaRPr lang="zh-CN" altLang="en-US"/>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F597250-31E3-4711-9C6A-4311E4505734}"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D58F31F-1EF7-4815-83AC-58E6BAF5FB39}" type="slidenum">
              <a:rPr lang="zh-CN" altLang="en-US"/>
              <a:pPr>
                <a:defRPr/>
              </a:pPr>
              <a:t>‹#›</a:t>
            </a:fld>
            <a:endParaRPr lang="zh-CN" altLang="en-US"/>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C1EDA027-9DBE-460E-8D39-392B9B817648}"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30BEA6F-5817-43E7-A733-81FD0ACAB026}" type="slidenum">
              <a:rPr lang="zh-CN" altLang="en-US"/>
              <a:pPr>
                <a:defRPr/>
              </a:pPr>
              <a:t>‹#›</a:t>
            </a:fld>
            <a:endParaRPr lang="zh-CN" altLang="en-US"/>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89D1A7DC-F504-44DD-97CC-A5568A0F46C6}"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C277C6A-C0B8-4DC4-A79E-98D581D42E8E}" type="slidenum">
              <a:rPr lang="zh-CN" altLang="en-US"/>
              <a:pPr>
                <a:defRPr/>
              </a:pPr>
              <a:t>‹#›</a:t>
            </a:fld>
            <a:endParaRPr lang="zh-CN" altLang="en-US"/>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F320E57E-C257-446A-B230-497E76DF7BEE}" type="datetimeFigureOut">
              <a:rPr lang="zh-CN" altLang="en-US"/>
              <a:pPr>
                <a:defRPr/>
              </a:pPr>
              <a:t>2013/10/28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78A9BCDD-69AA-4957-858E-84260C7AC2A2}" type="slidenum">
              <a:rPr lang="zh-CN" altLang="en-US"/>
              <a:pPr>
                <a:defRPr/>
              </a:pPr>
              <a:t>‹#›</a:t>
            </a:fld>
            <a:endParaRPr lang="zh-CN" altLang="en-US"/>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95828144-FAF9-4917-8ACC-E9A60E1185EF}" type="datetimeFigureOut">
              <a:rPr lang="zh-CN" altLang="en-US"/>
              <a:pPr>
                <a:defRPr/>
              </a:pPr>
              <a:t>2013/10/28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1C50A68-37B7-4C79-B324-64A64ED00A01}" type="slidenum">
              <a:rPr lang="zh-CN" altLang="en-US"/>
              <a:pPr>
                <a:defRPr/>
              </a:pPr>
              <a:t>‹#›</a:t>
            </a:fld>
            <a:endParaRPr lang="zh-CN" altLang="en-US"/>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4A4C763-0814-464E-B1F5-4FBF91C6215D}" type="datetimeFigureOut">
              <a:rPr lang="zh-CN" altLang="en-US"/>
              <a:pPr>
                <a:defRPr/>
              </a:pPr>
              <a:t>2013/10/28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8512A84C-1B4F-4364-B506-09930D3C199D}" type="slidenum">
              <a:rPr lang="zh-CN" altLang="en-US"/>
              <a:pPr>
                <a:defRPr/>
              </a:pPr>
              <a:t>‹#›</a:t>
            </a:fld>
            <a:endParaRPr lang="zh-CN" altLang="en-US"/>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C045B3F4-BA1A-45B8-8096-C9B6D0B6E29C}"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43F7D02-01D9-424A-A6E4-117DC4612326}" type="slidenum">
              <a:rPr lang="zh-CN" altLang="en-US"/>
              <a:pPr>
                <a:defRPr/>
              </a:pPr>
              <a:t>‹#›</a:t>
            </a:fld>
            <a:endParaRPr lang="zh-CN" altLang="en-US"/>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936C0BA-3006-40EF-A013-710409135C31}"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7E001DD-5ED8-44AA-AA34-622E2BA4AB34}" type="slidenum">
              <a:rPr lang="zh-CN" altLang="en-US"/>
              <a:pPr>
                <a:defRPr/>
              </a:pPr>
              <a:t>‹#›</a:t>
            </a:fld>
            <a:endParaRPr lang="zh-CN" altLang="en-US"/>
          </a:p>
        </p:txBody>
      </p:sp>
    </p:spTree>
  </p:cSld>
  <p:clrMapOvr>
    <a:masterClrMapping/>
  </p:clrMapOvr>
  <p:transition>
    <p:wipe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51E0FCC-0B0A-4697-B99A-972D3FA7BC49}"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B9A23EB-5504-40FB-9833-449C32DE913B}" type="slidenum">
              <a:rPr lang="zh-CN" altLang="en-US"/>
              <a:pPr>
                <a:defRPr/>
              </a:pPr>
              <a:t>‹#›</a:t>
            </a:fld>
            <a:endParaRPr lang="zh-CN" altLang="en-US"/>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0681788-A5B2-4245-A9C8-FA1C5C66FB6E}"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84C48C9-0CD5-487D-9F6F-8F02158E20A2}" type="slidenum">
              <a:rPr lang="zh-CN" altLang="en-US"/>
              <a:pPr>
                <a:defRPr/>
              </a:pPr>
              <a:t>‹#›</a:t>
            </a:fld>
            <a:endParaRPr lang="zh-CN" altLang="en-US"/>
          </a:p>
        </p:txBody>
      </p:sp>
    </p:spTree>
  </p:cSld>
  <p:clrMapOvr>
    <a:masterClrMapping/>
  </p:clrMapOvr>
  <p:transition>
    <p:wipe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wipe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两栏内容">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F149A5ED-F08A-4DE0-9A73-056E0E7BE37A}" type="datetimeFigureOut">
              <a:rPr lang="zh-CN" altLang="en-US"/>
              <a:pPr>
                <a:defRPr/>
              </a:pPr>
              <a:t>2013/10/28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327B9EB-2732-4633-9151-B06741DAF7E5}" type="slidenum">
              <a:rPr lang="zh-CN" altLang="en-US"/>
              <a:pPr>
                <a:defRPr/>
              </a:pPr>
              <a:t>‹#›</a:t>
            </a:fld>
            <a:endParaRPr lang="zh-CN" altLang="en-US"/>
          </a:p>
        </p:txBody>
      </p:sp>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10FC46D6-F322-4F9C-82A4-4262CCA6B42E}" type="datetimeFigureOut">
              <a:rPr lang="zh-CN" altLang="en-US"/>
              <a:pPr>
                <a:defRPr/>
              </a:pPr>
              <a:t>2013/10/28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B86BFB4-B526-4407-A977-353C040C5D68}" type="slidenum">
              <a:rPr lang="zh-CN" altLang="en-US"/>
              <a:pPr>
                <a:defRPr/>
              </a:pPr>
              <a:t>‹#›</a:t>
            </a:fld>
            <a:endParaRPr lang="zh-CN" altLang="en-US"/>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A945A19A-78F8-4924-83D7-865F12D6C560}" type="datetimeFigureOut">
              <a:rPr lang="zh-CN" altLang="en-US"/>
              <a:pPr>
                <a:defRPr/>
              </a:pPr>
              <a:t>2013/10/28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C28F412-832E-4E15-8D53-E59276A5D7E4}" type="slidenum">
              <a:rPr lang="zh-CN" altLang="en-US"/>
              <a:pPr>
                <a:defRPr/>
              </a:pPr>
              <a:t>‹#›</a:t>
            </a:fld>
            <a:endParaRPr lang="zh-CN" altLang="en-US"/>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9119BEE7-89CF-47E2-AF25-0AA2BE8AB5FB}" type="datetimeFigureOut">
              <a:rPr lang="zh-CN" altLang="en-US"/>
              <a:pPr>
                <a:defRPr/>
              </a:pPr>
              <a:t>2013/10/28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C6A29343-57FC-4649-BC10-39E06944CC61}" type="slidenum">
              <a:rPr lang="zh-CN" altLang="en-US"/>
              <a:pPr>
                <a:defRPr/>
              </a:pPr>
              <a:t>‹#›</a:t>
            </a:fld>
            <a:endParaRPr lang="zh-CN" altLang="en-US"/>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D6448A87-0AC8-48E1-83F1-BD53F886D4AB}" type="datetimeFigureOut">
              <a:rPr lang="zh-CN" altLang="en-US"/>
              <a:pPr>
                <a:defRPr/>
              </a:pPr>
              <a:t>2013/10/28</a:t>
            </a:fld>
            <a:endParaRPr lang="zh-CN" altLang="en-US"/>
          </a:p>
        </p:txBody>
      </p:sp>
      <p:sp>
        <p:nvSpPr>
          <p:cNvPr id="8" name="页脚占位符 7"/>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36E5DDDD-EF10-4338-B78F-E174C3430456}" type="slidenum">
              <a:rPr lang="zh-CN" altLang="en-US"/>
              <a:pPr>
                <a:defRPr/>
              </a:pPr>
              <a:t>‹#›</a:t>
            </a:fld>
            <a:endParaRPr lang="zh-CN" altLang="en-US"/>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442A7621-16AA-4F4D-A293-2EB777A11B3C}" type="datetimeFigureOut">
              <a:rPr lang="zh-CN" altLang="en-US"/>
              <a:pPr>
                <a:defRPr/>
              </a:pPr>
              <a:t>2013/10/28</a:t>
            </a:fld>
            <a:endParaRPr lang="zh-CN" altLang="en-US"/>
          </a:p>
        </p:txBody>
      </p:sp>
      <p:sp>
        <p:nvSpPr>
          <p:cNvPr id="4" name="页脚占位符 3"/>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81E7C962-E0C9-4505-9A4D-0C1B651623BB}" type="slidenum">
              <a:rPr lang="zh-CN" altLang="en-US"/>
              <a:pPr>
                <a:defRPr/>
              </a:pPr>
              <a:t>‹#›</a:t>
            </a:fld>
            <a:endParaRPr lang="zh-CN" altLang="en-US"/>
          </a:p>
        </p:txBody>
      </p:sp>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AC4BED04-2232-4AAF-B5CC-FDF1746EA87E}" type="datetimeFigureOut">
              <a:rPr lang="zh-CN" altLang="en-US"/>
              <a:pPr>
                <a:defRPr/>
              </a:pPr>
              <a:t>2013/10/28</a:t>
            </a:fld>
            <a:endParaRPr lang="zh-CN" altLang="en-US"/>
          </a:p>
        </p:txBody>
      </p:sp>
      <p:sp>
        <p:nvSpPr>
          <p:cNvPr id="3" name="页脚占位符 2"/>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B3A67A4C-0532-43C3-B2C9-B89F9504BC4D}" type="slidenum">
              <a:rPr lang="zh-CN" altLang="en-US"/>
              <a:pPr>
                <a:defRPr/>
              </a:pPr>
              <a:t>‹#›</a:t>
            </a:fld>
            <a:endParaRPr lang="zh-CN" altLang="en-US"/>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88E4F12D-2428-41F2-BF1F-319D8F874757}" type="datetimeFigureOut">
              <a:rPr lang="zh-CN" altLang="en-US"/>
              <a:pPr>
                <a:defRPr/>
              </a:pPr>
              <a:t>2013/10/28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69778A4C-348A-4C9B-8498-451C2F3AFDB1}" type="slidenum">
              <a:rPr lang="zh-CN" altLang="en-US"/>
              <a:pPr>
                <a:defRPr/>
              </a:pPr>
              <a:t>‹#›</a:t>
            </a:fld>
            <a:endParaRPr lang="zh-CN" altLang="en-US"/>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B0F9ADEA-0A27-4C20-B1BD-A659F8778A97}" type="datetimeFigureOut">
              <a:rPr lang="zh-CN" altLang="en-US"/>
              <a:pPr>
                <a:defRPr/>
              </a:pPr>
              <a:t>2013/10/28</a:t>
            </a:fld>
            <a:endParaRPr lang="zh-CN" altLang="en-US"/>
          </a:p>
        </p:txBody>
      </p:sp>
      <p:sp>
        <p:nvSpPr>
          <p:cNvPr id="6" name="页脚占位符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C5C9CDC9-90E6-4EB3-A2D8-84DF55987BD7}" type="slidenum">
              <a:rPr lang="zh-CN" altLang="en-US"/>
              <a:pPr>
                <a:defRPr/>
              </a:pPr>
              <a:t>‹#›</a:t>
            </a:fld>
            <a:endParaRPr lang="zh-CN" altLang="en-US"/>
          </a:p>
        </p:txBody>
      </p:sp>
    </p:spTree>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30B0C4D2-65FB-4EE2-A593-368FF2801CF7}" type="datetimeFigureOut">
              <a:rPr lang="zh-CN" altLang="en-US"/>
              <a:pPr>
                <a:defRPr/>
              </a:pPr>
              <a:t>2013/10/28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98A9671-EA13-4C9F-9B81-F0D34E75D7B1}" type="slidenum">
              <a:rPr lang="zh-CN" altLang="en-US"/>
              <a:pPr>
                <a:defRPr/>
              </a:pPr>
              <a:t>‹#›</a:t>
            </a:fld>
            <a:endParaRPr lang="zh-CN" altLang="en-US"/>
          </a:p>
        </p:txBody>
      </p:sp>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ea typeface="+mn-ea"/>
              </a:defRPr>
            </a:lvl1pPr>
          </a:lstStyle>
          <a:p>
            <a:pPr>
              <a:defRPr/>
            </a:pPr>
            <a:fld id="{179BFAEA-0F01-45F0-A389-8DF6119B8DB8}" type="datetimeFigureOut">
              <a:rPr lang="zh-CN" altLang="en-US"/>
              <a:pPr>
                <a:defRPr/>
              </a:pPr>
              <a:t>2013/10/28</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FB6B413-91C9-4473-AA36-E9AF5F24F507}" type="slidenum">
              <a:rPr lang="zh-CN" altLang="en-US"/>
              <a:pPr>
                <a:defRPr/>
              </a:pPr>
              <a:t>‹#›</a:t>
            </a:fld>
            <a:endParaRPr lang="zh-CN" altLang="en-US"/>
          </a:p>
        </p:txBody>
      </p:sp>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A1773C17-C8AC-4BEB-8463-C27214F547F8}"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4A7D0B7-49FB-4A11-ADA4-653628B12E06}" type="slidenum">
              <a:rPr lang="zh-CN" altLang="en-US"/>
              <a:pPr>
                <a:defRPr/>
              </a:pPr>
              <a:t>‹#›</a:t>
            </a:fld>
            <a:endParaRPr lang="zh-CN" altLang="en-US"/>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A77A9E5-3B77-4A5F-A07A-229A92D74164}"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8553860-36A8-4B23-BBE8-9D6F57B78F8F}" type="slidenum">
              <a:rPr lang="zh-CN" altLang="en-US"/>
              <a:pPr>
                <a:defRPr/>
              </a:pPr>
              <a:t>‹#›</a:t>
            </a:fld>
            <a:endParaRPr lang="zh-CN" altLang="en-US"/>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16E40CB-749B-4919-AEEA-7C1A2D3260A3}"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4516B1A-B2A1-4B9C-A67D-C0C3274F971D}" type="slidenum">
              <a:rPr lang="zh-CN" altLang="en-US"/>
              <a:pPr>
                <a:defRPr/>
              </a:pPr>
              <a:t>‹#›</a:t>
            </a:fld>
            <a:endParaRPr lang="zh-CN" altLang="en-US"/>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4D07113F-8F7A-4595-BD98-6CF45747319E}"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9DB9984-1CAE-4703-9B2B-3D3F0EA271B4}" type="slidenum">
              <a:rPr lang="zh-CN" altLang="en-US"/>
              <a:pPr>
                <a:defRPr/>
              </a:pPr>
              <a:t>‹#›</a:t>
            </a:fld>
            <a:endParaRPr lang="zh-CN" altLang="en-US"/>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908F3433-9C0C-4908-A05E-5B5B28F0E6C0}" type="datetimeFigureOut">
              <a:rPr lang="zh-CN" altLang="en-US"/>
              <a:pPr>
                <a:defRPr/>
              </a:pPr>
              <a:t>2013/10/28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CF278591-7FCF-4EFA-B6DB-FDA0FED2CC14}" type="slidenum">
              <a:rPr lang="zh-CN" altLang="en-US"/>
              <a:pPr>
                <a:defRPr/>
              </a:pPr>
              <a:t>‹#›</a:t>
            </a:fld>
            <a:endParaRPr lang="zh-CN" altLang="en-US"/>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1D697EAA-4FE9-43A6-A8BB-2C084D5986F1}" type="datetimeFigureOut">
              <a:rPr lang="zh-CN" altLang="en-US"/>
              <a:pPr>
                <a:defRPr/>
              </a:pPr>
              <a:t>2013/10/28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BB6C182-6798-4814-B1C0-DB2A243C97F3}" type="slidenum">
              <a:rPr lang="zh-CN" altLang="en-US"/>
              <a:pPr>
                <a:defRPr/>
              </a:pPr>
              <a:t>‹#›</a:t>
            </a:fld>
            <a:endParaRPr lang="zh-CN" altLang="en-US"/>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A2873D61-5DEE-42D5-8C84-16DE250DADE5}" type="datetimeFigureOut">
              <a:rPr lang="zh-CN" altLang="en-US"/>
              <a:pPr>
                <a:defRPr/>
              </a:pPr>
              <a:t>2013/10/28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36DA916-F975-428A-8FD3-77878CDC2B64}" type="slidenum">
              <a:rPr lang="zh-CN" altLang="en-US"/>
              <a:pPr>
                <a:defRPr/>
              </a:pPr>
              <a:t>‹#›</a:t>
            </a:fld>
            <a:endParaRPr lang="zh-CN" altLang="en-US"/>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29000432-00C2-4493-866E-188CD399B5C0}"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078C3A3-3144-4269-8E94-FB59DD039DCF}" type="slidenum">
              <a:rPr lang="zh-CN" altLang="en-US"/>
              <a:pPr>
                <a:defRPr/>
              </a:pPr>
              <a:t>‹#›</a:t>
            </a:fld>
            <a:endParaRPr lang="zh-CN" altLang="en-US"/>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4CB7519-8515-44AB-96FA-42ED35E263B0}" type="datetimeFigureOut">
              <a:rPr lang="zh-CN" altLang="en-US"/>
              <a:pPr>
                <a:defRPr/>
              </a:pPr>
              <a:t>2013/10/28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E8EFBB7-A87A-44D8-B741-47F0910420D6}" type="slidenum">
              <a:rPr lang="zh-CN" altLang="en-US"/>
              <a:pPr>
                <a:defRPr/>
              </a:pPr>
              <a:t>‹#›</a:t>
            </a:fld>
            <a:endParaRPr lang="zh-CN" altLang="en-US"/>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7FA871A-2D30-4C4C-8C9A-AE083A707A63}"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56D7A5A-911C-4B16-83F6-BC1A30A2AF6F}" type="slidenum">
              <a:rPr lang="zh-CN" altLang="en-US"/>
              <a:pPr>
                <a:defRPr/>
              </a:pPr>
              <a:t>‹#›</a:t>
            </a:fld>
            <a:endParaRPr lang="zh-CN" altLang="en-US"/>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59DA4265-83D0-45DF-B0C4-F59627210483}" type="datetimeFigureOut">
              <a:rPr lang="zh-CN" altLang="en-US"/>
              <a:pPr>
                <a:defRPr/>
              </a:pPr>
              <a:t>2013/10/28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4014C0D-3677-4007-B7AF-28849BBD2812}" type="slidenum">
              <a:rPr lang="zh-CN" altLang="en-US"/>
              <a:pPr>
                <a:defRPr/>
              </a:pPr>
              <a:t>‹#›</a:t>
            </a:fld>
            <a:endParaRPr lang="zh-CN" altLang="en-US"/>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节标题">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A52D71D3-F37A-498A-9695-6BF662982AC7}" type="datetimeFigureOut">
              <a:rPr lang="zh-CN" altLang="en-US"/>
              <a:pPr>
                <a:defRPr/>
              </a:pPr>
              <a:t>2013/10/28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0CA99A72-6659-4FB5-9AF7-759C31745A31}" type="slidenum">
              <a:rPr lang="zh-CN" altLang="en-US"/>
              <a:pPr>
                <a:defRPr/>
              </a:pPr>
              <a:t>‹#›</a:t>
            </a:fld>
            <a:endParaRPr lang="zh-CN" altLang="en-US"/>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p:transition>
    <p:wipe dir="u"/>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10.png"/><Relationship Id="rId2" Type="http://schemas.openxmlformats.org/officeDocument/2006/relationships/slideLayout" Target="../slideLayouts/slideLayout14.xml"/><Relationship Id="rId16" Type="http://schemas.openxmlformats.org/officeDocument/2006/relationships/image" Target="../media/image9.png"/><Relationship Id="rId20"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8.jpeg"/><Relationship Id="rId10" Type="http://schemas.openxmlformats.org/officeDocument/2006/relationships/slideLayout" Target="../slideLayouts/slideLayout22.xml"/><Relationship Id="rId19" Type="http://schemas.openxmlformats.org/officeDocument/2006/relationships/image" Target="../media/image4.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image" Target="../media/image13.png"/><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image" Target="../media/image12.png"/><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image" Target="../media/image5.png"/><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image" Target="../media/image7.jpeg"/><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717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17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2A856555-50E9-4CB5-A7DC-48E23665888E}" type="datetimeFigureOut">
              <a:rPr lang="zh-CN" altLang="en-US"/>
              <a:pPr>
                <a:defRPr/>
              </a:pPr>
              <a:t>2013/10/28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2490F679-DC77-43AA-880F-2D6796CB7CA1}" type="slidenum">
              <a:rPr lang="zh-CN" altLang="en-US"/>
              <a:pPr>
                <a:defRPr/>
              </a:pPr>
              <a:t>‹#›</a:t>
            </a:fld>
            <a:endParaRPr lang="zh-CN" altLang="en-US"/>
          </a:p>
        </p:txBody>
      </p:sp>
      <p:pic>
        <p:nvPicPr>
          <p:cNvPr id="7175" name="图片 6" descr="ruanPPT.png"/>
          <p:cNvPicPr>
            <a:picLocks noChangeAspect="1"/>
          </p:cNvPicPr>
          <p:nvPr userDrawn="1"/>
        </p:nvPicPr>
        <p:blipFill>
          <a:blip r:embed="rId15"/>
          <a:srcRect/>
          <a:stretch>
            <a:fillRect/>
          </a:stretch>
        </p:blipFill>
        <p:spPr bwMode="auto">
          <a:xfrm>
            <a:off x="1588" y="0"/>
            <a:ext cx="9142412" cy="6856413"/>
          </a:xfrm>
          <a:prstGeom prst="rect">
            <a:avLst/>
          </a:prstGeom>
          <a:noFill/>
          <a:ln w="9525">
            <a:noFill/>
            <a:miter lim="800000"/>
            <a:headEnd/>
            <a:tailEnd/>
          </a:ln>
        </p:spPr>
      </p:pic>
      <p:sp>
        <p:nvSpPr>
          <p:cNvPr id="10" name="日期占位符 3"/>
          <p:cNvSpPr txBox="1">
            <a:spLocks/>
          </p:cNvSpPr>
          <p:nvPr userDrawn="1"/>
        </p:nvSpPr>
        <p:spPr>
          <a:xfrm>
            <a:off x="457200" y="6356350"/>
            <a:ext cx="2133600" cy="365125"/>
          </a:xfrm>
          <a:prstGeom prst="rect">
            <a:avLst/>
          </a:prstGeom>
        </p:spPr>
        <p:txBody>
          <a:bodyPr/>
          <a:lstStyle/>
          <a:p>
            <a:pPr fontAlgn="auto">
              <a:spcBef>
                <a:spcPts val="0"/>
              </a:spcBef>
              <a:spcAft>
                <a:spcPts val="0"/>
              </a:spcAft>
              <a:defRPr/>
            </a:pPr>
            <a:fld id="{28F8D50A-B156-4A08-B964-E7F556A1C89C}" type="datetimeFigureOut">
              <a:rPr lang="zh-CN" altLang="en-US">
                <a:latin typeface="+mn-lt"/>
                <a:ea typeface="+mn-ea"/>
              </a:rPr>
              <a:pPr fontAlgn="auto">
                <a:spcBef>
                  <a:spcPts val="0"/>
                </a:spcBef>
                <a:spcAft>
                  <a:spcPts val="0"/>
                </a:spcAft>
                <a:defRPr/>
              </a:pPr>
              <a:t>2013/10/28</a:t>
            </a:fld>
            <a:endParaRPr lang="zh-CN" altLang="en-US">
              <a:latin typeface="+mn-lt"/>
              <a:ea typeface="+mn-ea"/>
            </a:endParaRPr>
          </a:p>
        </p:txBody>
      </p:sp>
      <p:sp>
        <p:nvSpPr>
          <p:cNvPr id="11" name="灯片编号占位符 5"/>
          <p:cNvSpPr txBox="1">
            <a:spLocks/>
          </p:cNvSpPr>
          <p:nvPr userDrawn="1"/>
        </p:nvSpPr>
        <p:spPr>
          <a:xfrm>
            <a:off x="6553200" y="6356350"/>
            <a:ext cx="2133600" cy="365125"/>
          </a:xfrm>
          <a:prstGeom prst="rect">
            <a:avLst/>
          </a:prstGeom>
        </p:spPr>
        <p:txBody>
          <a:bodyPr/>
          <a:lstStyle/>
          <a:p>
            <a:pPr fontAlgn="auto">
              <a:spcBef>
                <a:spcPts val="0"/>
              </a:spcBef>
              <a:spcAft>
                <a:spcPts val="0"/>
              </a:spcAft>
              <a:defRPr/>
            </a:pPr>
            <a:fld id="{2B79D848-5EFF-4AD1-AA19-93CEF32369CC}" type="slidenum">
              <a:rPr lang="zh-CN" altLang="en-US">
                <a:latin typeface="+mn-lt"/>
                <a:ea typeface="+mn-ea"/>
              </a:rPr>
              <a:pPr fontAlgn="auto">
                <a:spcBef>
                  <a:spcPts val="0"/>
                </a:spcBef>
                <a:spcAft>
                  <a:spcPts val="0"/>
                </a:spcAft>
                <a:defRPr/>
              </a:pPr>
              <a:t>‹#›</a:t>
            </a:fld>
            <a:endParaRPr lang="zh-CN" altLang="en-US">
              <a:latin typeface="+mn-lt"/>
              <a:ea typeface="+mn-ea"/>
            </a:endParaRPr>
          </a:p>
        </p:txBody>
      </p:sp>
      <p:pic>
        <p:nvPicPr>
          <p:cNvPr id="12" name="图片 11" descr="BRIGHT F 1.png"/>
          <p:cNvPicPr>
            <a:picLocks noChangeAspect="1"/>
          </p:cNvPicPr>
          <p:nvPr userDrawn="1"/>
        </p:nvPicPr>
        <p:blipFill>
          <a:blip r:embed="rId16"/>
          <a:srcRect/>
          <a:stretch>
            <a:fillRect/>
          </a:stretch>
        </p:blipFill>
        <p:spPr bwMode="auto">
          <a:xfrm>
            <a:off x="2971800" y="0"/>
            <a:ext cx="6172200" cy="3086100"/>
          </a:xfrm>
          <a:prstGeom prst="rect">
            <a:avLst/>
          </a:prstGeom>
          <a:noFill/>
          <a:ln w="9525">
            <a:noFill/>
            <a:miter lim="800000"/>
            <a:headEnd/>
            <a:tailEnd/>
          </a:ln>
        </p:spPr>
      </p:pic>
      <p:pic>
        <p:nvPicPr>
          <p:cNvPr id="13" name="图片 12" descr="BRIGHT F 2.png"/>
          <p:cNvPicPr>
            <a:picLocks noChangeAspect="1"/>
          </p:cNvPicPr>
          <p:nvPr userDrawn="1"/>
        </p:nvPicPr>
        <p:blipFill>
          <a:blip r:embed="rId17"/>
          <a:srcRect/>
          <a:stretch>
            <a:fillRect/>
          </a:stretch>
        </p:blipFill>
        <p:spPr bwMode="auto">
          <a:xfrm>
            <a:off x="0" y="1219200"/>
            <a:ext cx="2266950" cy="5638800"/>
          </a:xfrm>
          <a:prstGeom prst="rect">
            <a:avLst/>
          </a:prstGeom>
          <a:noFill/>
          <a:ln w="9525">
            <a:noFill/>
            <a:miter lim="800000"/>
            <a:headEnd/>
            <a:tailEnd/>
          </a:ln>
        </p:spPr>
      </p:pic>
      <p:pic>
        <p:nvPicPr>
          <p:cNvPr id="7180" name="图片 13" descr="DOWN G.png"/>
          <p:cNvPicPr>
            <a:picLocks noChangeAspect="1"/>
          </p:cNvPicPr>
          <p:nvPr userDrawn="1"/>
        </p:nvPicPr>
        <p:blipFill>
          <a:blip r:embed="rId18"/>
          <a:srcRect/>
          <a:stretch>
            <a:fillRect/>
          </a:stretch>
        </p:blipFill>
        <p:spPr bwMode="auto">
          <a:xfrm>
            <a:off x="0" y="4667250"/>
            <a:ext cx="9142413" cy="2190750"/>
          </a:xfrm>
          <a:prstGeom prst="rect">
            <a:avLst/>
          </a:prstGeom>
          <a:noFill/>
          <a:ln w="9525">
            <a:noFill/>
            <a:miter lim="800000"/>
            <a:headEnd/>
            <a:tailEnd/>
          </a:ln>
        </p:spPr>
      </p:pic>
      <p:pic>
        <p:nvPicPr>
          <p:cNvPr id="15" name="图片 14" descr="LEFT FLOWER,DOWN.png"/>
          <p:cNvPicPr>
            <a:picLocks noChangeAspect="1"/>
          </p:cNvPicPr>
          <p:nvPr userDrawn="1"/>
        </p:nvPicPr>
        <p:blipFill>
          <a:blip r:embed="rId19"/>
          <a:srcRect/>
          <a:stretch>
            <a:fillRect/>
          </a:stretch>
        </p:blipFill>
        <p:spPr bwMode="auto">
          <a:xfrm>
            <a:off x="0" y="3514725"/>
            <a:ext cx="1466850" cy="3343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6048" r:id="rId1"/>
    <p:sldLayoutId id="2147486049" r:id="rId2"/>
    <p:sldLayoutId id="2147486050" r:id="rId3"/>
    <p:sldLayoutId id="2147486051" r:id="rId4"/>
    <p:sldLayoutId id="2147486052" r:id="rId5"/>
    <p:sldLayoutId id="2147486053" r:id="rId6"/>
    <p:sldLayoutId id="2147486054" r:id="rId7"/>
    <p:sldLayoutId id="2147486055" r:id="rId8"/>
    <p:sldLayoutId id="2147486056" r:id="rId9"/>
    <p:sldLayoutId id="2147486057" r:id="rId10"/>
    <p:sldLayoutId id="2147486058" r:id="rId11"/>
    <p:sldLayoutId id="2147486071" r:id="rId12"/>
  </p:sldLayoutIdLst>
  <p:transition>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3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8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DA49CD8C-7CD1-4A8B-9C3D-CD627E1E4864}" type="slidenum">
              <a:rPr lang="zh-CN" altLang="en-US"/>
              <a:pPr>
                <a:defRPr/>
              </a:pPr>
              <a:t>‹#›</a:t>
            </a:fld>
            <a:endParaRPr lang="zh-CN" altLang="en-US"/>
          </a:p>
        </p:txBody>
      </p:sp>
      <p:pic>
        <p:nvPicPr>
          <p:cNvPr id="11" name="图片 10" descr="BIG WHITE1.png"/>
          <p:cNvPicPr>
            <a:picLocks noChangeAspect="1"/>
          </p:cNvPicPr>
          <p:nvPr userDrawn="1"/>
        </p:nvPicPr>
        <p:blipFill>
          <a:blip r:embed="rId16"/>
          <a:srcRect/>
          <a:stretch>
            <a:fillRect/>
          </a:stretch>
        </p:blipFill>
        <p:spPr bwMode="auto">
          <a:xfrm>
            <a:off x="0" y="0"/>
            <a:ext cx="9142413" cy="6856413"/>
          </a:xfrm>
          <a:prstGeom prst="rect">
            <a:avLst/>
          </a:prstGeom>
          <a:noFill/>
          <a:ln w="9525">
            <a:noFill/>
            <a:miter lim="800000"/>
            <a:headEnd/>
            <a:tailEnd/>
          </a:ln>
        </p:spPr>
      </p:pic>
      <p:pic>
        <p:nvPicPr>
          <p:cNvPr id="8196" name="图片 11" descr="LEFT GREEN.png"/>
          <p:cNvPicPr>
            <a:picLocks noChangeAspect="1"/>
          </p:cNvPicPr>
          <p:nvPr userDrawn="1"/>
        </p:nvPicPr>
        <p:blipFill>
          <a:blip r:embed="rId17"/>
          <a:srcRect/>
          <a:stretch>
            <a:fillRect/>
          </a:stretch>
        </p:blipFill>
        <p:spPr bwMode="auto">
          <a:xfrm>
            <a:off x="0" y="0"/>
            <a:ext cx="1828800" cy="6856413"/>
          </a:xfrm>
          <a:prstGeom prst="rect">
            <a:avLst/>
          </a:prstGeom>
          <a:noFill/>
          <a:ln w="9525">
            <a:noFill/>
            <a:miter lim="800000"/>
            <a:headEnd/>
            <a:tailEnd/>
          </a:ln>
        </p:spPr>
      </p:pic>
      <p:pic>
        <p:nvPicPr>
          <p:cNvPr id="13" name="图片 12" descr="BRIGHT F 1.png"/>
          <p:cNvPicPr>
            <a:picLocks noChangeAspect="1"/>
          </p:cNvPicPr>
          <p:nvPr userDrawn="1"/>
        </p:nvPicPr>
        <p:blipFill>
          <a:blip r:embed="rId18"/>
          <a:srcRect/>
          <a:stretch>
            <a:fillRect/>
          </a:stretch>
        </p:blipFill>
        <p:spPr bwMode="auto">
          <a:xfrm>
            <a:off x="2971800" y="0"/>
            <a:ext cx="6172200" cy="3086100"/>
          </a:xfrm>
          <a:prstGeom prst="rect">
            <a:avLst/>
          </a:prstGeom>
          <a:noFill/>
          <a:ln w="9525">
            <a:noFill/>
            <a:miter lim="800000"/>
            <a:headEnd/>
            <a:tailEnd/>
          </a:ln>
        </p:spPr>
      </p:pic>
      <p:pic>
        <p:nvPicPr>
          <p:cNvPr id="14" name="图片 13" descr="BRIGHT F 2.png"/>
          <p:cNvPicPr>
            <a:picLocks noChangeAspect="1"/>
          </p:cNvPicPr>
          <p:nvPr userDrawn="1"/>
        </p:nvPicPr>
        <p:blipFill>
          <a:blip r:embed="rId19"/>
          <a:srcRect/>
          <a:stretch>
            <a:fillRect/>
          </a:stretch>
        </p:blipFill>
        <p:spPr bwMode="auto">
          <a:xfrm>
            <a:off x="0" y="1219200"/>
            <a:ext cx="2266950" cy="5638800"/>
          </a:xfrm>
          <a:prstGeom prst="rect">
            <a:avLst/>
          </a:prstGeom>
          <a:noFill/>
          <a:ln w="9525">
            <a:noFill/>
            <a:miter lim="800000"/>
            <a:headEnd/>
            <a:tailEnd/>
          </a:ln>
        </p:spPr>
      </p:pic>
      <p:pic>
        <p:nvPicPr>
          <p:cNvPr id="15" name="图片 14" descr="LEFT FLOWER,DOWN.png"/>
          <p:cNvPicPr>
            <a:picLocks noChangeAspect="1"/>
          </p:cNvPicPr>
          <p:nvPr userDrawn="1"/>
        </p:nvPicPr>
        <p:blipFill>
          <a:blip r:embed="rId20"/>
          <a:srcRect/>
          <a:stretch>
            <a:fillRect/>
          </a:stretch>
        </p:blipFill>
        <p:spPr bwMode="auto">
          <a:xfrm>
            <a:off x="0" y="3514725"/>
            <a:ext cx="1466850" cy="33432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6072" r:id="rId1"/>
    <p:sldLayoutId id="2147486073" r:id="rId2"/>
    <p:sldLayoutId id="2147486074" r:id="rId3"/>
    <p:sldLayoutId id="2147486075" r:id="rId4"/>
    <p:sldLayoutId id="2147486076" r:id="rId5"/>
    <p:sldLayoutId id="2147486077" r:id="rId6"/>
    <p:sldLayoutId id="2147486078" r:id="rId7"/>
    <p:sldLayoutId id="2147486079" r:id="rId8"/>
    <p:sldLayoutId id="2147486080" r:id="rId9"/>
    <p:sldLayoutId id="2147486081" r:id="rId10"/>
    <p:sldLayoutId id="2147486082" r:id="rId11"/>
    <p:sldLayoutId id="2147486083" r:id="rId12"/>
    <p:sldLayoutId id="2147486084" r:id="rId13"/>
  </p:sldLayoutIdLst>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200"/>
                                        <p:tgtEl>
                                          <p:spTgt spid="13"/>
                                        </p:tgtEl>
                                      </p:cBhvr>
                                    </p:animEffect>
                                  </p:childTnLst>
                                </p:cTn>
                              </p:par>
                              <p:par>
                                <p:cTn id="8" presetID="10" presetClass="entr" presetSubtype="0" fill="hold" nodeType="withEffect">
                                  <p:stCondLst>
                                    <p:cond delay="7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1300"/>
                                        <p:tgtEl>
                                          <p:spTgt spid="15"/>
                                        </p:tgtEl>
                                      </p:cBhvr>
                                    </p:animEffect>
                                  </p:childTnLst>
                                </p:cTn>
                              </p:par>
                              <p:par>
                                <p:cTn id="11" presetID="10" presetClass="entr" presetSubtype="0" fill="hold" nodeType="withEffect">
                                  <p:stCondLst>
                                    <p:cond delay="7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300"/>
                                        <p:tgtEl>
                                          <p:spTgt spid="14"/>
                                        </p:tgtEl>
                                      </p:cBhvr>
                                    </p:animEffect>
                                  </p:childTnLst>
                                </p:cTn>
                              </p:par>
                              <p:par>
                                <p:cTn id="14" presetID="2" presetClass="entr" presetSubtype="8" fill="hold" nodeType="withEffect">
                                  <p:stCondLst>
                                    <p:cond delay="70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3"/>
          <a:srcRect/>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AB4E69F-C40F-4D4B-857E-1C70F156A512}" type="datetimeFigureOut">
              <a:rPr lang="zh-CN" altLang="en-US"/>
              <a:pPr>
                <a:defRPr/>
              </a:pPr>
              <a:t>2013/10/28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03E0AD84-19E9-4285-9216-7D17284B819E}" type="slidenum">
              <a:rPr lang="zh-CN" altLang="en-US"/>
              <a:pPr>
                <a:defRPr/>
              </a:pPr>
              <a:t>‹#›</a:t>
            </a:fld>
            <a:endParaRPr lang="zh-CN" altLang="en-US"/>
          </a:p>
        </p:txBody>
      </p:sp>
      <p:pic>
        <p:nvPicPr>
          <p:cNvPr id="9221" name="图片 6" descr="DOWN G.png"/>
          <p:cNvPicPr>
            <a:picLocks noChangeAspect="1"/>
          </p:cNvPicPr>
          <p:nvPr userDrawn="1"/>
        </p:nvPicPr>
        <p:blipFill>
          <a:blip r:embed="rId24"/>
          <a:srcRect/>
          <a:stretch>
            <a:fillRect/>
          </a:stretch>
        </p:blipFill>
        <p:spPr bwMode="auto">
          <a:xfrm>
            <a:off x="0" y="4667250"/>
            <a:ext cx="9142413" cy="2190750"/>
          </a:xfrm>
          <a:prstGeom prst="rect">
            <a:avLst/>
          </a:prstGeom>
          <a:noFill/>
          <a:ln w="9525">
            <a:noFill/>
            <a:miter lim="800000"/>
            <a:headEnd/>
            <a:tailEnd/>
          </a:ln>
        </p:spPr>
      </p:pic>
      <p:pic>
        <p:nvPicPr>
          <p:cNvPr id="14" name="图片 13" descr="LEFT TOP FLOWER.png"/>
          <p:cNvPicPr>
            <a:picLocks noChangeAspect="1"/>
          </p:cNvPicPr>
          <p:nvPr userDrawn="1"/>
        </p:nvPicPr>
        <p:blipFill>
          <a:blip r:embed="rId25"/>
          <a:srcRect/>
          <a:stretch>
            <a:fillRect/>
          </a:stretch>
        </p:blipFill>
        <p:spPr bwMode="auto">
          <a:xfrm>
            <a:off x="0" y="0"/>
            <a:ext cx="3752850" cy="2171700"/>
          </a:xfrm>
          <a:prstGeom prst="rect">
            <a:avLst/>
          </a:prstGeom>
          <a:noFill/>
          <a:ln w="9525">
            <a:noFill/>
            <a:miter lim="800000"/>
            <a:headEnd/>
            <a:tailEnd/>
          </a:ln>
        </p:spPr>
      </p:pic>
      <p:pic>
        <p:nvPicPr>
          <p:cNvPr id="18" name="图片 17" descr="ruanPPT FLOWER~.png"/>
          <p:cNvPicPr>
            <a:picLocks noChangeAspect="1"/>
          </p:cNvPicPr>
          <p:nvPr userDrawn="1"/>
        </p:nvPicPr>
        <p:blipFill>
          <a:blip r:embed="rId26"/>
          <a:srcRect/>
          <a:stretch>
            <a:fillRect/>
          </a:stretch>
        </p:blipFill>
        <p:spPr bwMode="auto">
          <a:xfrm>
            <a:off x="0" y="2362200"/>
            <a:ext cx="9142413" cy="44958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6059" r:id="rId1"/>
    <p:sldLayoutId id="2147486060" r:id="rId2"/>
    <p:sldLayoutId id="2147486061" r:id="rId3"/>
    <p:sldLayoutId id="2147486062" r:id="rId4"/>
    <p:sldLayoutId id="2147486063" r:id="rId5"/>
    <p:sldLayoutId id="2147486064" r:id="rId6"/>
    <p:sldLayoutId id="2147486065" r:id="rId7"/>
    <p:sldLayoutId id="2147486066" r:id="rId8"/>
    <p:sldLayoutId id="2147486067" r:id="rId9"/>
    <p:sldLayoutId id="2147486068" r:id="rId10"/>
    <p:sldLayoutId id="2147486069" r:id="rId11"/>
    <p:sldLayoutId id="2147486085" r:id="rId12"/>
    <p:sldLayoutId id="2147486086" r:id="rId13"/>
    <p:sldLayoutId id="2147486087" r:id="rId14"/>
    <p:sldLayoutId id="2147486088" r:id="rId15"/>
    <p:sldLayoutId id="2147486070" r:id="rId16"/>
    <p:sldLayoutId id="2147486089" r:id="rId17"/>
    <p:sldLayoutId id="2147486090" r:id="rId18"/>
    <p:sldLayoutId id="2147486091" r:id="rId19"/>
    <p:sldLayoutId id="2147486092" r:id="rId20"/>
    <p:sldLayoutId id="2147486093" r:id="rId21"/>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7.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 Id="rId5" Type="http://schemas.openxmlformats.org/officeDocument/2006/relationships/image" Target="../media/image22.jpeg"/><Relationship Id="rId4" Type="http://schemas.openxmlformats.org/officeDocument/2006/relationships/image" Target="../media/image21.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 Id="rId4" Type="http://schemas.openxmlformats.org/officeDocument/2006/relationships/image" Target="../media/image23.jpe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7.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7.xml"/><Relationship Id="rId1" Type="http://schemas.openxmlformats.org/officeDocument/2006/relationships/vmlDrawing" Target="../drawings/vmlDrawing2.vml"/><Relationship Id="rId5" Type="http://schemas.openxmlformats.org/officeDocument/2006/relationships/image" Target="../media/image15.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7.xml"/><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3" Type="http://schemas.openxmlformats.org/officeDocument/2006/relationships/hyperlink" Target="http://zh.wikipedia.org/wiki/%E6%A6%82%E7%8E%87%E8%AE%BA" TargetMode="External"/><Relationship Id="rId2" Type="http://schemas.openxmlformats.org/officeDocument/2006/relationships/image" Target="../media/image20.png"/><Relationship Id="rId1" Type="http://schemas.openxmlformats.org/officeDocument/2006/relationships/slideLayout" Target="../slideLayouts/slideLayout37.xml"/><Relationship Id="rId6" Type="http://schemas.openxmlformats.org/officeDocument/2006/relationships/hyperlink" Target="http://zh.wikipedia.org/wiki/%E8%81%94%E5%90%88%E5%88%86%E5%B8%83" TargetMode="External"/><Relationship Id="rId5" Type="http://schemas.openxmlformats.org/officeDocument/2006/relationships/hyperlink" Target="http://zh.wikipedia.org/wiki/%E6%9D%A1%E4%BB%B6%E6%A6%82%E7%8E%87" TargetMode="External"/><Relationship Id="rId4" Type="http://schemas.openxmlformats.org/officeDocument/2006/relationships/hyperlink" Target="http://zh.wikipedia.org/wiki/%E9%9A%8F%E6%9C%BA%E5%8F%98%E9%87%8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jpeg"/><Relationship Id="rId1" Type="http://schemas.openxmlformats.org/officeDocument/2006/relationships/slideLayout" Target="../slideLayouts/slideLayout37.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oleObject" Target="../embeddings/oleObject3.bin"/><Relationship Id="rId2" Type="http://schemas.openxmlformats.org/officeDocument/2006/relationships/slideLayout" Target="../slideLayouts/slideLayout37.xml"/><Relationship Id="rId1" Type="http://schemas.openxmlformats.org/officeDocument/2006/relationships/vmlDrawing" Target="../drawings/vmlDrawing3.vml"/><Relationship Id="rId6" Type="http://schemas.openxmlformats.org/officeDocument/2006/relationships/hyperlink" Target="http://baike.baidu.com/view/336754.htm" TargetMode="External"/><Relationship Id="rId5" Type="http://schemas.openxmlformats.org/officeDocument/2006/relationships/hyperlink" Target="http://baike.baidu.com/view/541856.htm" TargetMode="External"/><Relationship Id="rId4" Type="http://schemas.openxmlformats.org/officeDocument/2006/relationships/hyperlink" Target="http://baike.baidu.com/view/336751.ht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0.png"/><Relationship Id="rId1" Type="http://schemas.openxmlformats.org/officeDocument/2006/relationships/slideLayout" Target="../slideLayouts/slideLayout37.xml"/><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7.xml"/><Relationship Id="rId5" Type="http://schemas.openxmlformats.org/officeDocument/2006/relationships/image" Target="../media/image15.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hyperlink" Target="http://baike.baidu.com/view/541856.htm" TargetMode="Externa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7.xml"/><Relationship Id="rId1" Type="http://schemas.openxmlformats.org/officeDocument/2006/relationships/vmlDrawing" Target="../drawings/vmlDrawing4.vml"/></Relationships>
</file>

<file path=ppt/slides/_rels/slide3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png"/><Relationship Id="rId1" Type="http://schemas.openxmlformats.org/officeDocument/2006/relationships/slideLayout" Target="../slideLayouts/slideLayout37.xml"/><Relationship Id="rId4" Type="http://schemas.openxmlformats.org/officeDocument/2006/relationships/image" Target="../media/image46.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7.xml"/><Relationship Id="rId1" Type="http://schemas.openxmlformats.org/officeDocument/2006/relationships/vmlDrawing" Target="../drawings/vmlDrawing5.v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7.xml"/><Relationship Id="rId1" Type="http://schemas.openxmlformats.org/officeDocument/2006/relationships/vmlDrawing" Target="../drawings/vmlDrawing6.vml"/><Relationship Id="rId4" Type="http://schemas.openxmlformats.org/officeDocument/2006/relationships/oleObject" Target="../embeddings/oleObject7.bin"/></Relationships>
</file>

<file path=ppt/slides/_rels/slide49.xml.rels><?xml version="1.0" encoding="UTF-8" standalone="yes"?>
<Relationships xmlns="http://schemas.openxmlformats.org/package/2006/relationships"><Relationship Id="rId3" Type="http://schemas.openxmlformats.org/officeDocument/2006/relationships/hyperlink" Target="http://hi.csdn.net/attachment/201101/9/0_1294581116DdRO.gif" TargetMode="External"/><Relationship Id="rId2" Type="http://schemas.openxmlformats.org/officeDocument/2006/relationships/image" Target="../media/image50.png"/><Relationship Id="rId1" Type="http://schemas.openxmlformats.org/officeDocument/2006/relationships/slideLayout" Target="../slideLayouts/slideLayout37.xml"/><Relationship Id="rId6" Type="http://schemas.openxmlformats.org/officeDocument/2006/relationships/image" Target="../media/image52.gif"/><Relationship Id="rId5" Type="http://schemas.openxmlformats.org/officeDocument/2006/relationships/hyperlink" Target="http://hi.csdn.net/attachment/201101/9/0_1294581117bC0B.gif" TargetMode="External"/><Relationship Id="rId4" Type="http://schemas.openxmlformats.org/officeDocument/2006/relationships/image" Target="../media/image51.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4.png"/><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 Id="rId5" Type="http://schemas.openxmlformats.org/officeDocument/2006/relationships/image" Target="../media/image18.png"/><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3" Type="http://schemas.openxmlformats.org/officeDocument/2006/relationships/hyperlink" Target="http://baike.baidu.com/view/10151.htm" TargetMode="External"/><Relationship Id="rId2" Type="http://schemas.openxmlformats.org/officeDocument/2006/relationships/image" Target="../media/image58.jpeg"/><Relationship Id="rId1" Type="http://schemas.openxmlformats.org/officeDocument/2006/relationships/slideLayout" Target="../slideLayouts/slideLayout37.xml"/><Relationship Id="rId4" Type="http://schemas.openxmlformats.org/officeDocument/2006/relationships/hyperlink" Target="http://baike.baidu.com/view/1076817.htm" TargetMode="External"/></Relationships>
</file>

<file path=ppt/slides/_rels/slide6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37.xml"/></Relationships>
</file>

<file path=ppt/slides/_rels/slide6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37.xml"/><Relationship Id="rId4" Type="http://schemas.openxmlformats.org/officeDocument/2006/relationships/image" Target="../media/image6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3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7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bwMode="auto">
          <a:xfrm>
            <a:off x="1371600" y="2286000"/>
            <a:ext cx="7772400" cy="1470025"/>
          </a:xfrm>
          <a:prstGeom prst="rect">
            <a:avLst/>
          </a:prstGeom>
          <a:noFill/>
          <a:ln>
            <a:miter lim="800000"/>
            <a:headEnd/>
            <a:tailEnd/>
          </a:ln>
        </p:spPr>
        <p:txBody>
          <a:bodyPr/>
          <a:lstStyle/>
          <a:p>
            <a:pPr algn="l" eaLnBrk="1" hangingPunct="1"/>
            <a:r>
              <a:rPr lang="zh-CN" altLang="en-US" sz="6000" b="1" smtClean="0">
                <a:latin typeface="微软雅黑" pitchFamily="34" charset="-122"/>
                <a:ea typeface="微软雅黑" pitchFamily="34" charset="-122"/>
              </a:rPr>
              <a:t>数据挖掘分类之</a:t>
            </a:r>
          </a:p>
        </p:txBody>
      </p:sp>
      <p:sp>
        <p:nvSpPr>
          <p:cNvPr id="3" name="副标题 2"/>
          <p:cNvSpPr>
            <a:spLocks noGrp="1"/>
          </p:cNvSpPr>
          <p:nvPr>
            <p:ph type="subTitle" idx="4294967295"/>
          </p:nvPr>
        </p:nvSpPr>
        <p:spPr bwMode="auto">
          <a:xfrm>
            <a:off x="0" y="4786313"/>
            <a:ext cx="4143375" cy="484187"/>
          </a:xfrm>
          <a:prstGeom prst="rect">
            <a:avLst/>
          </a:prstGeom>
          <a:noFill/>
          <a:ln>
            <a:miter lim="800000"/>
            <a:headEnd/>
            <a:tailEnd/>
          </a:ln>
        </p:spPr>
        <p:txBody>
          <a:bodyPr/>
          <a:lstStyle/>
          <a:p>
            <a:pPr eaLnBrk="1" hangingPunct="1">
              <a:buFont typeface="Arial" pitchFamily="34" charset="0"/>
              <a:buNone/>
            </a:pPr>
            <a:endParaRPr lang="zh-CN" altLang="en-US" sz="2400" b="1" smtClean="0">
              <a:latin typeface="微软雅黑" pitchFamily="34" charset="-122"/>
              <a:ea typeface="微软雅黑" pitchFamily="34" charset="-122"/>
            </a:endParaRPr>
          </a:p>
        </p:txBody>
      </p:sp>
      <p:sp>
        <p:nvSpPr>
          <p:cNvPr id="33796" name="TextBox 3"/>
          <p:cNvSpPr txBox="1">
            <a:spLocks noChangeArrowheads="1"/>
          </p:cNvSpPr>
          <p:nvPr/>
        </p:nvSpPr>
        <p:spPr bwMode="auto">
          <a:xfrm flipH="1">
            <a:off x="3286125" y="3286125"/>
            <a:ext cx="3571875" cy="646113"/>
          </a:xfrm>
          <a:prstGeom prst="rect">
            <a:avLst/>
          </a:prstGeom>
          <a:noFill/>
          <a:ln w="9525">
            <a:noFill/>
            <a:miter lim="800000"/>
            <a:headEnd/>
            <a:tailEnd/>
          </a:ln>
        </p:spPr>
        <p:txBody>
          <a:bodyPr>
            <a:spAutoFit/>
          </a:bodyPr>
          <a:lstStyle/>
          <a:p>
            <a:r>
              <a:rPr lang="zh-CN" altLang="en-US" sz="3600" b="1">
                <a:solidFill>
                  <a:srgbClr val="FF0000"/>
                </a:solidFill>
                <a:latin typeface="微软雅黑" pitchFamily="34" charset="-122"/>
                <a:ea typeface="微软雅黑" pitchFamily="34" charset="-122"/>
              </a:rPr>
              <a:t>贝叶斯分类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0" presetClass="entr" presetSubtype="0" decel="100000" fill="hold" grpId="0" nodeType="withEffect" nodePh="1">
                                  <p:stCondLst>
                                    <p:cond delay="900"/>
                                  </p:stCondLst>
                                  <p:endCondLst>
                                    <p:cond evt="begin" delay="0">
                                      <p:tn val="10"/>
                                    </p:cond>
                                  </p:end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7"/>
          <p:cNvGrpSpPr>
            <a:grpSpLocks/>
          </p:cNvGrpSpPr>
          <p:nvPr/>
        </p:nvGrpSpPr>
        <p:grpSpPr bwMode="auto">
          <a:xfrm>
            <a:off x="714375" y="500063"/>
            <a:ext cx="2170113" cy="1085850"/>
            <a:chOff x="857224" y="285728"/>
            <a:chExt cx="2170164" cy="1085714"/>
          </a:xfrm>
        </p:grpSpPr>
        <p:sp>
          <p:nvSpPr>
            <p:cNvPr id="34866" name="TextBox 4"/>
            <p:cNvSpPr txBox="1">
              <a:spLocks noChangeArrowheads="1"/>
            </p:cNvSpPr>
            <p:nvPr/>
          </p:nvSpPr>
          <p:spPr bwMode="auto">
            <a:xfrm>
              <a:off x="1714481" y="357166"/>
              <a:ext cx="1312907" cy="769345"/>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目录</a:t>
              </a:r>
            </a:p>
          </p:txBody>
        </p:sp>
        <p:pic>
          <p:nvPicPr>
            <p:cNvPr id="34867" name="图片 6" descr="ICON2.png"/>
            <p:cNvPicPr>
              <a:picLocks noChangeAspect="1"/>
            </p:cNvPicPr>
            <p:nvPr/>
          </p:nvPicPr>
          <p:blipFill>
            <a:blip r:embed="rId3"/>
            <a:srcRect/>
            <a:stretch>
              <a:fillRect/>
            </a:stretch>
          </p:blipFill>
          <p:spPr bwMode="auto">
            <a:xfrm>
              <a:off x="857224" y="285728"/>
              <a:ext cx="1104762" cy="1085714"/>
            </a:xfrm>
            <a:prstGeom prst="rect">
              <a:avLst/>
            </a:prstGeom>
            <a:noFill/>
            <a:ln w="9525">
              <a:noFill/>
              <a:miter lim="800000"/>
              <a:headEnd/>
              <a:tailEnd/>
            </a:ln>
          </p:spPr>
        </p:pic>
      </p:grpSp>
      <p:grpSp>
        <p:nvGrpSpPr>
          <p:cNvPr id="3" name="组合 43"/>
          <p:cNvGrpSpPr>
            <a:grpSpLocks/>
          </p:cNvGrpSpPr>
          <p:nvPr/>
        </p:nvGrpSpPr>
        <p:grpSpPr bwMode="auto">
          <a:xfrm>
            <a:off x="1714500" y="2428875"/>
            <a:ext cx="5495925" cy="949325"/>
            <a:chOff x="1692275" y="3509963"/>
            <a:chExt cx="5495925" cy="949325"/>
          </a:xfrm>
        </p:grpSpPr>
        <p:grpSp>
          <p:nvGrpSpPr>
            <p:cNvPr id="34857" name="组合 41"/>
            <p:cNvGrpSpPr>
              <a:grpSpLocks/>
            </p:cNvGrpSpPr>
            <p:nvPr/>
          </p:nvGrpSpPr>
          <p:grpSpPr bwMode="auto">
            <a:xfrm>
              <a:off x="1876425" y="3521075"/>
              <a:ext cx="5311775" cy="688975"/>
              <a:chOff x="1876425" y="3521075"/>
              <a:chExt cx="5311775" cy="688975"/>
            </a:xfrm>
          </p:grpSpPr>
          <p:grpSp>
            <p:nvGrpSpPr>
              <p:cNvPr id="34859" name="Group 2"/>
              <p:cNvGrpSpPr>
                <a:grpSpLocks/>
              </p:cNvGrpSpPr>
              <p:nvPr/>
            </p:nvGrpSpPr>
            <p:grpSpPr bwMode="auto">
              <a:xfrm>
                <a:off x="1876425" y="3521075"/>
                <a:ext cx="5311775" cy="688975"/>
                <a:chOff x="720" y="1392"/>
                <a:chExt cx="4058" cy="480"/>
              </a:xfrm>
            </p:grpSpPr>
            <p:sp>
              <p:nvSpPr>
                <p:cNvPr id="34862" name="AutoShape 3"/>
                <p:cNvSpPr>
                  <a:spLocks noChangeArrowheads="1"/>
                </p:cNvSpPr>
                <p:nvPr/>
              </p:nvSpPr>
              <p:spPr bwMode="gray">
                <a:xfrm>
                  <a:off x="720" y="1392"/>
                  <a:ext cx="4058" cy="480"/>
                </a:xfrm>
                <a:prstGeom prst="roundRect">
                  <a:avLst>
                    <a:gd name="adj" fmla="val 17509"/>
                  </a:avLst>
                </a:prstGeom>
                <a:solidFill>
                  <a:srgbClr val="92D050"/>
                </a:solidFill>
                <a:ln w="9525">
                  <a:noFill/>
                  <a:round/>
                  <a:headEnd/>
                  <a:tailEnd/>
                </a:ln>
              </p:spPr>
              <p:txBody>
                <a:bodyPr wrap="none" anchor="ctr"/>
                <a:lstStyle/>
                <a:p>
                  <a:endParaRPr lang="zh-CN" altLang="en-US">
                    <a:latin typeface="Calibri" pitchFamily="34" charset="0"/>
                  </a:endParaRPr>
                </a:p>
              </p:txBody>
            </p:sp>
            <p:grpSp>
              <p:nvGrpSpPr>
                <p:cNvPr id="34863" name="Group 4"/>
                <p:cNvGrpSpPr>
                  <a:grpSpLocks/>
                </p:cNvGrpSpPr>
                <p:nvPr/>
              </p:nvGrpSpPr>
              <p:grpSpPr bwMode="auto">
                <a:xfrm>
                  <a:off x="730" y="1407"/>
                  <a:ext cx="4043" cy="444"/>
                  <a:chOff x="744" y="1407"/>
                  <a:chExt cx="3988" cy="444"/>
                </a:xfrm>
              </p:grpSpPr>
              <p:sp>
                <p:nvSpPr>
                  <p:cNvPr id="12" name="AutoShape 5"/>
                  <p:cNvSpPr>
                    <a:spLocks noChangeArrowheads="1"/>
                  </p:cNvSpPr>
                  <p:nvPr/>
                </p:nvSpPr>
                <p:spPr bwMode="gray">
                  <a:xfrm>
                    <a:off x="744" y="1736"/>
                    <a:ext cx="3988" cy="115"/>
                  </a:xfrm>
                  <a:prstGeom prst="roundRect">
                    <a:avLst>
                      <a:gd name="adj" fmla="val 50000"/>
                    </a:avLst>
                  </a:prstGeom>
                  <a:gradFill rotWithShape="1">
                    <a:gsLst>
                      <a:gs pos="0">
                        <a:schemeClr val="accent2">
                          <a:alpha val="0"/>
                        </a:schemeClr>
                      </a:gs>
                      <a:gs pos="100000">
                        <a:schemeClr val="accent2">
                          <a:gamma/>
                          <a:tint val="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13" name="AutoShape 6"/>
                  <p:cNvSpPr>
                    <a:spLocks noChangeArrowheads="1"/>
                  </p:cNvSpPr>
                  <p:nvPr/>
                </p:nvSpPr>
                <p:spPr bwMode="gray">
                  <a:xfrm>
                    <a:off x="744" y="1407"/>
                    <a:ext cx="3988" cy="115"/>
                  </a:xfrm>
                  <a:prstGeom prst="roundRect">
                    <a:avLst>
                      <a:gd name="adj" fmla="val 50000"/>
                    </a:avLst>
                  </a:prstGeom>
                  <a:gradFill rotWithShape="1">
                    <a:gsLst>
                      <a:gs pos="0">
                        <a:schemeClr val="accent2">
                          <a:gamma/>
                          <a:tint val="0"/>
                          <a:invGamma/>
                        </a:schemeClr>
                      </a:gs>
                      <a:gs pos="100000">
                        <a:schemeClr val="accent2">
                          <a:alpha val="0"/>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grpSp>
          </p:grpSp>
          <p:sp>
            <p:nvSpPr>
              <p:cNvPr id="34860" name="Text Box 23"/>
              <p:cNvSpPr txBox="1">
                <a:spLocks noChangeArrowheads="1"/>
              </p:cNvSpPr>
              <p:nvPr/>
            </p:nvSpPr>
            <p:spPr bwMode="black">
              <a:xfrm>
                <a:off x="2354263" y="3629025"/>
                <a:ext cx="4495800" cy="457200"/>
              </a:xfrm>
              <a:prstGeom prst="rect">
                <a:avLst/>
              </a:prstGeom>
              <a:noFill/>
              <a:ln w="9525">
                <a:noFill/>
                <a:miter lim="800000"/>
                <a:headEnd/>
                <a:tailEnd/>
              </a:ln>
            </p:spPr>
            <p:txBody>
              <a:bodyPr>
                <a:spAutoFit/>
              </a:bodyPr>
              <a:lstStyle/>
              <a:p>
                <a:pPr marL="457200" indent="-457200" algn="ctr">
                  <a:spcBef>
                    <a:spcPct val="50000"/>
                  </a:spcBef>
                  <a:buClr>
                    <a:schemeClr val="tx1"/>
                  </a:buClr>
                </a:pPr>
                <a:r>
                  <a:rPr lang="zh-CN" altLang="en-US" sz="2400" b="1">
                    <a:solidFill>
                      <a:srgbClr val="FFFFFF"/>
                    </a:solidFill>
                    <a:latin typeface="Calibri" pitchFamily="34" charset="0"/>
                  </a:rPr>
                  <a:t>贝叶斯网络</a:t>
                </a:r>
                <a:r>
                  <a:rPr lang="en-US" altLang="zh-CN" sz="2400" b="1">
                    <a:solidFill>
                      <a:srgbClr val="FFFFFF"/>
                    </a:solidFill>
                    <a:latin typeface="Calibri" pitchFamily="34" charset="0"/>
                  </a:rPr>
                  <a:t>    </a:t>
                </a:r>
              </a:p>
            </p:txBody>
          </p:sp>
          <p:sp>
            <p:nvSpPr>
              <p:cNvPr id="34861" name="Text Box 33"/>
              <p:cNvSpPr txBox="1">
                <a:spLocks noChangeArrowheads="1"/>
              </p:cNvSpPr>
              <p:nvPr/>
            </p:nvSpPr>
            <p:spPr bwMode="gray">
              <a:xfrm>
                <a:off x="2014538" y="3608388"/>
                <a:ext cx="381000" cy="457200"/>
              </a:xfrm>
              <a:prstGeom prst="rect">
                <a:avLst/>
              </a:prstGeom>
              <a:noFill/>
              <a:ln w="9525">
                <a:noFill/>
                <a:miter lim="800000"/>
                <a:headEnd/>
                <a:tailEnd/>
              </a:ln>
            </p:spPr>
            <p:txBody>
              <a:bodyPr>
                <a:spAutoFit/>
              </a:bodyPr>
              <a:lstStyle/>
              <a:p>
                <a:pPr algn="ctr">
                  <a:spcBef>
                    <a:spcPct val="50000"/>
                  </a:spcBef>
                </a:pPr>
                <a:r>
                  <a:rPr lang="en-US" altLang="zh-CN" sz="2400" b="1">
                    <a:latin typeface="Calibri" pitchFamily="34" charset="0"/>
                  </a:rPr>
                  <a:t>2</a:t>
                </a:r>
              </a:p>
            </p:txBody>
          </p:sp>
        </p:grpSp>
        <p:pic>
          <p:nvPicPr>
            <p:cNvPr id="34858" name="Picture 29" descr="1"/>
            <p:cNvPicPr>
              <a:picLocks noChangeAspect="1" noChangeArrowheads="1"/>
            </p:cNvPicPr>
            <p:nvPr/>
          </p:nvPicPr>
          <p:blipFill>
            <a:blip r:embed="rId4">
              <a:lum bright="-6000" contrast="24000"/>
            </a:blip>
            <a:srcRect r="153" b="-290"/>
            <a:stretch>
              <a:fillRect/>
            </a:stretch>
          </p:blipFill>
          <p:spPr bwMode="auto">
            <a:xfrm>
              <a:off x="1692275" y="3509963"/>
              <a:ext cx="792163" cy="949325"/>
            </a:xfrm>
            <a:prstGeom prst="rect">
              <a:avLst/>
            </a:prstGeom>
            <a:noFill/>
            <a:ln w="9525">
              <a:noFill/>
              <a:miter lim="800000"/>
              <a:headEnd/>
              <a:tailEnd/>
            </a:ln>
          </p:spPr>
        </p:pic>
      </p:grpSp>
      <p:grpSp>
        <p:nvGrpSpPr>
          <p:cNvPr id="7" name="组合 42"/>
          <p:cNvGrpSpPr>
            <a:grpSpLocks/>
          </p:cNvGrpSpPr>
          <p:nvPr/>
        </p:nvGrpSpPr>
        <p:grpSpPr bwMode="auto">
          <a:xfrm>
            <a:off x="1703388" y="1571625"/>
            <a:ext cx="5507037" cy="949325"/>
            <a:chOff x="1681163" y="2652713"/>
            <a:chExt cx="5507037" cy="949325"/>
          </a:xfrm>
        </p:grpSpPr>
        <p:grpSp>
          <p:nvGrpSpPr>
            <p:cNvPr id="34848" name="组合 40"/>
            <p:cNvGrpSpPr>
              <a:grpSpLocks/>
            </p:cNvGrpSpPr>
            <p:nvPr/>
          </p:nvGrpSpPr>
          <p:grpSpPr bwMode="auto">
            <a:xfrm>
              <a:off x="1876425" y="2657475"/>
              <a:ext cx="5311775" cy="688975"/>
              <a:chOff x="1876425" y="2657475"/>
              <a:chExt cx="5311775" cy="688975"/>
            </a:xfrm>
          </p:grpSpPr>
          <p:grpSp>
            <p:nvGrpSpPr>
              <p:cNvPr id="34850" name="Group 17"/>
              <p:cNvGrpSpPr>
                <a:grpSpLocks/>
              </p:cNvGrpSpPr>
              <p:nvPr/>
            </p:nvGrpSpPr>
            <p:grpSpPr bwMode="auto">
              <a:xfrm>
                <a:off x="1876425" y="2657475"/>
                <a:ext cx="5311775" cy="688975"/>
                <a:chOff x="720" y="1392"/>
                <a:chExt cx="4058" cy="480"/>
              </a:xfrm>
            </p:grpSpPr>
            <p:sp>
              <p:nvSpPr>
                <p:cNvPr id="34853" name="AutoShape 18"/>
                <p:cNvSpPr>
                  <a:spLocks noChangeArrowheads="1"/>
                </p:cNvSpPr>
                <p:nvPr/>
              </p:nvSpPr>
              <p:spPr bwMode="ltGray">
                <a:xfrm>
                  <a:off x="720" y="1392"/>
                  <a:ext cx="4058" cy="480"/>
                </a:xfrm>
                <a:prstGeom prst="roundRect">
                  <a:avLst>
                    <a:gd name="adj" fmla="val 17509"/>
                  </a:avLst>
                </a:prstGeom>
                <a:solidFill>
                  <a:schemeClr val="accent1"/>
                </a:solidFill>
                <a:ln w="9525">
                  <a:noFill/>
                  <a:round/>
                  <a:headEnd/>
                  <a:tailEnd/>
                </a:ln>
              </p:spPr>
              <p:txBody>
                <a:bodyPr wrap="none" anchor="ctr"/>
                <a:lstStyle/>
                <a:p>
                  <a:endParaRPr lang="zh-CN" altLang="en-US">
                    <a:latin typeface="Calibri" pitchFamily="34" charset="0"/>
                  </a:endParaRPr>
                </a:p>
              </p:txBody>
            </p:sp>
            <p:grpSp>
              <p:nvGrpSpPr>
                <p:cNvPr id="34854" name="Group 19"/>
                <p:cNvGrpSpPr>
                  <a:grpSpLocks/>
                </p:cNvGrpSpPr>
                <p:nvPr/>
              </p:nvGrpSpPr>
              <p:grpSpPr bwMode="auto">
                <a:xfrm>
                  <a:off x="730" y="1407"/>
                  <a:ext cx="4043" cy="444"/>
                  <a:chOff x="744" y="1407"/>
                  <a:chExt cx="3988" cy="444"/>
                </a:xfrm>
              </p:grpSpPr>
              <p:sp>
                <p:nvSpPr>
                  <p:cNvPr id="28" name="AutoShape 21"/>
                  <p:cNvSpPr>
                    <a:spLocks noChangeArrowheads="1"/>
                  </p:cNvSpPr>
                  <p:nvPr/>
                </p:nvSpPr>
                <p:spPr bwMode="ltGray">
                  <a:xfrm>
                    <a:off x="744" y="1407"/>
                    <a:ext cx="3988" cy="115"/>
                  </a:xfrm>
                  <a:prstGeom prst="roundRect">
                    <a:avLst>
                      <a:gd name="adj" fmla="val 50000"/>
                    </a:avLst>
                  </a:prstGeom>
                  <a:gradFill rotWithShape="1">
                    <a:gsLst>
                      <a:gs pos="0">
                        <a:schemeClr val="accent1">
                          <a:gamma/>
                          <a:tint val="0"/>
                          <a:invGamma/>
                        </a:schemeClr>
                      </a:gs>
                      <a:gs pos="100000">
                        <a:schemeClr val="accent1">
                          <a:alpha val="0"/>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27" name="AutoShape 20"/>
                  <p:cNvSpPr>
                    <a:spLocks noChangeArrowheads="1"/>
                  </p:cNvSpPr>
                  <p:nvPr/>
                </p:nvSpPr>
                <p:spPr bwMode="ltGray">
                  <a:xfrm>
                    <a:off x="744" y="1736"/>
                    <a:ext cx="3988" cy="115"/>
                  </a:xfrm>
                  <a:prstGeom prst="roundRect">
                    <a:avLst>
                      <a:gd name="adj" fmla="val 50000"/>
                    </a:avLst>
                  </a:prstGeom>
                  <a:gradFill rotWithShape="1">
                    <a:gsLst>
                      <a:gs pos="0">
                        <a:schemeClr val="accent1">
                          <a:alpha val="0"/>
                        </a:schemeClr>
                      </a:gs>
                      <a:gs pos="100000">
                        <a:schemeClr val="accent1">
                          <a:gamma/>
                          <a:tint val="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grpSp>
          </p:grpSp>
          <p:sp>
            <p:nvSpPr>
              <p:cNvPr id="34851" name="Text Box 22"/>
              <p:cNvSpPr txBox="1">
                <a:spLocks noChangeArrowheads="1"/>
              </p:cNvSpPr>
              <p:nvPr/>
            </p:nvSpPr>
            <p:spPr bwMode="black">
              <a:xfrm>
                <a:off x="2343150" y="2771775"/>
                <a:ext cx="4495800" cy="457200"/>
              </a:xfrm>
              <a:prstGeom prst="rect">
                <a:avLst/>
              </a:prstGeom>
              <a:noFill/>
              <a:ln w="9525">
                <a:noFill/>
                <a:miter lim="800000"/>
                <a:headEnd/>
                <a:tailEnd/>
              </a:ln>
            </p:spPr>
            <p:txBody>
              <a:bodyPr>
                <a:spAutoFit/>
              </a:bodyPr>
              <a:lstStyle/>
              <a:p>
                <a:pPr marL="457200" indent="-457200" algn="ctr">
                  <a:spcBef>
                    <a:spcPct val="50000"/>
                  </a:spcBef>
                  <a:buClr>
                    <a:schemeClr val="tx1"/>
                  </a:buClr>
                </a:pPr>
                <a:r>
                  <a:rPr lang="zh-CN" altLang="en-US" sz="2400" b="1">
                    <a:solidFill>
                      <a:srgbClr val="FFFFFF"/>
                    </a:solidFill>
                    <a:latin typeface="Calibri" pitchFamily="34" charset="0"/>
                  </a:rPr>
                  <a:t>贝叶斯分类</a:t>
                </a:r>
                <a:r>
                  <a:rPr lang="en-US" altLang="zh-CN" sz="2400" b="1">
                    <a:solidFill>
                      <a:srgbClr val="FFFFFF"/>
                    </a:solidFill>
                    <a:latin typeface="Calibri" pitchFamily="34" charset="0"/>
                  </a:rPr>
                  <a:t>    </a:t>
                </a:r>
              </a:p>
            </p:txBody>
          </p:sp>
          <p:sp>
            <p:nvSpPr>
              <p:cNvPr id="34852" name="Text Box 32"/>
              <p:cNvSpPr txBox="1">
                <a:spLocks noChangeArrowheads="1"/>
              </p:cNvSpPr>
              <p:nvPr/>
            </p:nvSpPr>
            <p:spPr bwMode="gray">
              <a:xfrm>
                <a:off x="2001838" y="2749550"/>
                <a:ext cx="381000" cy="457200"/>
              </a:xfrm>
              <a:prstGeom prst="rect">
                <a:avLst/>
              </a:prstGeom>
              <a:noFill/>
              <a:ln w="9525">
                <a:noFill/>
                <a:miter lim="800000"/>
                <a:headEnd/>
                <a:tailEnd/>
              </a:ln>
            </p:spPr>
            <p:txBody>
              <a:bodyPr>
                <a:spAutoFit/>
              </a:bodyPr>
              <a:lstStyle/>
              <a:p>
                <a:pPr algn="ctr">
                  <a:spcBef>
                    <a:spcPct val="50000"/>
                  </a:spcBef>
                </a:pPr>
                <a:r>
                  <a:rPr lang="en-US" altLang="zh-CN" sz="2400" b="1">
                    <a:latin typeface="Calibri" pitchFamily="34" charset="0"/>
                  </a:rPr>
                  <a:t>1</a:t>
                </a:r>
              </a:p>
            </p:txBody>
          </p:sp>
        </p:grpSp>
        <p:pic>
          <p:nvPicPr>
            <p:cNvPr id="34849" name="Picture 30" descr="1"/>
            <p:cNvPicPr>
              <a:picLocks noChangeAspect="1" noChangeArrowheads="1"/>
            </p:cNvPicPr>
            <p:nvPr/>
          </p:nvPicPr>
          <p:blipFill>
            <a:blip r:embed="rId4">
              <a:lum bright="-6000" contrast="24000"/>
            </a:blip>
            <a:srcRect r="153" b="-290"/>
            <a:stretch>
              <a:fillRect/>
            </a:stretch>
          </p:blipFill>
          <p:spPr bwMode="auto">
            <a:xfrm>
              <a:off x="1681163" y="2652713"/>
              <a:ext cx="792162" cy="949325"/>
            </a:xfrm>
            <a:prstGeom prst="rect">
              <a:avLst/>
            </a:prstGeom>
            <a:noFill/>
            <a:ln w="9525">
              <a:noFill/>
              <a:miter lim="800000"/>
              <a:headEnd/>
              <a:tailEnd/>
            </a:ln>
          </p:spPr>
        </p:pic>
      </p:grpSp>
      <p:grpSp>
        <p:nvGrpSpPr>
          <p:cNvPr id="11" name="组合 46"/>
          <p:cNvGrpSpPr>
            <a:grpSpLocks/>
          </p:cNvGrpSpPr>
          <p:nvPr/>
        </p:nvGrpSpPr>
        <p:grpSpPr bwMode="auto">
          <a:xfrm>
            <a:off x="1698625" y="4125913"/>
            <a:ext cx="5511800" cy="949325"/>
            <a:chOff x="1676400" y="5207000"/>
            <a:chExt cx="5511800" cy="949325"/>
          </a:xfrm>
        </p:grpSpPr>
        <p:grpSp>
          <p:nvGrpSpPr>
            <p:cNvPr id="34840" name="Group 12"/>
            <p:cNvGrpSpPr>
              <a:grpSpLocks/>
            </p:cNvGrpSpPr>
            <p:nvPr/>
          </p:nvGrpSpPr>
          <p:grpSpPr bwMode="auto">
            <a:xfrm>
              <a:off x="1876425" y="5243513"/>
              <a:ext cx="5311775" cy="688975"/>
              <a:chOff x="720" y="1392"/>
              <a:chExt cx="4058" cy="480"/>
            </a:xfrm>
          </p:grpSpPr>
          <p:sp>
            <p:nvSpPr>
              <p:cNvPr id="34844" name="AutoShape 13"/>
              <p:cNvSpPr>
                <a:spLocks noChangeArrowheads="1"/>
              </p:cNvSpPr>
              <p:nvPr/>
            </p:nvSpPr>
            <p:spPr bwMode="ltGray">
              <a:xfrm>
                <a:off x="720" y="1392"/>
                <a:ext cx="4058" cy="480"/>
              </a:xfrm>
              <a:prstGeom prst="roundRect">
                <a:avLst>
                  <a:gd name="adj" fmla="val 17509"/>
                </a:avLst>
              </a:prstGeom>
              <a:solidFill>
                <a:srgbClr val="0070C0"/>
              </a:solidFill>
              <a:ln w="9525">
                <a:noFill/>
                <a:round/>
                <a:headEnd/>
                <a:tailEnd/>
              </a:ln>
            </p:spPr>
            <p:txBody>
              <a:bodyPr wrap="none" anchor="ctr"/>
              <a:lstStyle/>
              <a:p>
                <a:endParaRPr lang="zh-CN" altLang="en-US">
                  <a:latin typeface="Calibri" pitchFamily="34" charset="0"/>
                </a:endParaRPr>
              </a:p>
            </p:txBody>
          </p:sp>
          <p:grpSp>
            <p:nvGrpSpPr>
              <p:cNvPr id="34845" name="Group 14"/>
              <p:cNvGrpSpPr>
                <a:grpSpLocks/>
              </p:cNvGrpSpPr>
              <p:nvPr/>
            </p:nvGrpSpPr>
            <p:grpSpPr bwMode="auto">
              <a:xfrm>
                <a:off x="730" y="1407"/>
                <a:ext cx="4043" cy="444"/>
                <a:chOff x="744" y="1407"/>
                <a:chExt cx="3988" cy="444"/>
              </a:xfrm>
            </p:grpSpPr>
            <p:sp>
              <p:nvSpPr>
                <p:cNvPr id="22" name="AutoShape 15"/>
                <p:cNvSpPr>
                  <a:spLocks noChangeArrowheads="1"/>
                </p:cNvSpPr>
                <p:nvPr/>
              </p:nvSpPr>
              <p:spPr bwMode="lt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23" name="AutoShape 16"/>
                <p:cNvSpPr>
                  <a:spLocks noChangeArrowheads="1"/>
                </p:cNvSpPr>
                <p:nvPr/>
              </p:nvSpPr>
              <p:spPr bwMode="lt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grpSp>
        </p:grpSp>
        <p:sp>
          <p:nvSpPr>
            <p:cNvPr id="34841" name="Text Box 25"/>
            <p:cNvSpPr txBox="1">
              <a:spLocks noChangeArrowheads="1"/>
            </p:cNvSpPr>
            <p:nvPr/>
          </p:nvSpPr>
          <p:spPr bwMode="black">
            <a:xfrm>
              <a:off x="2354263" y="5335588"/>
              <a:ext cx="4495800" cy="457200"/>
            </a:xfrm>
            <a:prstGeom prst="rect">
              <a:avLst/>
            </a:prstGeom>
            <a:noFill/>
            <a:ln w="9525">
              <a:noFill/>
              <a:miter lim="800000"/>
              <a:headEnd/>
              <a:tailEnd/>
            </a:ln>
          </p:spPr>
          <p:txBody>
            <a:bodyPr>
              <a:spAutoFit/>
            </a:bodyPr>
            <a:lstStyle/>
            <a:p>
              <a:pPr marL="457200" indent="-457200" algn="ctr">
                <a:spcBef>
                  <a:spcPct val="50000"/>
                </a:spcBef>
                <a:buClr>
                  <a:schemeClr val="tx1"/>
                </a:buClr>
              </a:pPr>
              <a:r>
                <a:rPr lang="zh-CN" altLang="en-US" sz="2400" b="1">
                  <a:solidFill>
                    <a:srgbClr val="FFFFFF"/>
                  </a:solidFill>
                  <a:latin typeface="Calibri" pitchFamily="34" charset="0"/>
                </a:rPr>
                <a:t>总结</a:t>
              </a:r>
              <a:r>
                <a:rPr lang="en-US" altLang="zh-CN" sz="2400" b="1">
                  <a:solidFill>
                    <a:srgbClr val="FFFFFF"/>
                  </a:solidFill>
                  <a:latin typeface="Calibri" pitchFamily="34" charset="0"/>
                </a:rPr>
                <a:t>    </a:t>
              </a:r>
            </a:p>
          </p:txBody>
        </p:sp>
        <p:pic>
          <p:nvPicPr>
            <p:cNvPr id="34842" name="Picture 27" descr="1"/>
            <p:cNvPicPr>
              <a:picLocks noChangeAspect="1" noChangeArrowheads="1"/>
            </p:cNvPicPr>
            <p:nvPr/>
          </p:nvPicPr>
          <p:blipFill>
            <a:blip r:embed="rId4">
              <a:lum bright="-6000" contrast="24000"/>
            </a:blip>
            <a:srcRect r="153" b="-290"/>
            <a:stretch>
              <a:fillRect/>
            </a:stretch>
          </p:blipFill>
          <p:spPr bwMode="auto">
            <a:xfrm>
              <a:off x="1676400" y="5207000"/>
              <a:ext cx="792163" cy="949325"/>
            </a:xfrm>
            <a:prstGeom prst="rect">
              <a:avLst/>
            </a:prstGeom>
            <a:noFill/>
            <a:ln w="9525">
              <a:noFill/>
              <a:miter lim="800000"/>
              <a:headEnd/>
              <a:tailEnd/>
            </a:ln>
          </p:spPr>
        </p:pic>
        <p:sp>
          <p:nvSpPr>
            <p:cNvPr id="34843" name="Text Box 31"/>
            <p:cNvSpPr txBox="1">
              <a:spLocks noChangeArrowheads="1"/>
            </p:cNvSpPr>
            <p:nvPr/>
          </p:nvSpPr>
          <p:spPr bwMode="gray">
            <a:xfrm>
              <a:off x="2022475" y="5343525"/>
              <a:ext cx="381000" cy="457200"/>
            </a:xfrm>
            <a:prstGeom prst="rect">
              <a:avLst/>
            </a:prstGeom>
            <a:noFill/>
            <a:ln w="9525">
              <a:noFill/>
              <a:miter lim="800000"/>
              <a:headEnd/>
              <a:tailEnd/>
            </a:ln>
          </p:spPr>
          <p:txBody>
            <a:bodyPr>
              <a:spAutoFit/>
            </a:bodyPr>
            <a:lstStyle/>
            <a:p>
              <a:pPr algn="ctr">
                <a:spcBef>
                  <a:spcPct val="50000"/>
                </a:spcBef>
              </a:pPr>
              <a:r>
                <a:rPr lang="en-US" altLang="zh-CN" sz="2400" b="1">
                  <a:latin typeface="Calibri" pitchFamily="34" charset="0"/>
                </a:rPr>
                <a:t>4</a:t>
              </a:r>
            </a:p>
          </p:txBody>
        </p:sp>
      </p:grpSp>
      <p:grpSp>
        <p:nvGrpSpPr>
          <p:cNvPr id="16" name="组合 45"/>
          <p:cNvGrpSpPr>
            <a:grpSpLocks/>
          </p:cNvGrpSpPr>
          <p:nvPr/>
        </p:nvGrpSpPr>
        <p:grpSpPr bwMode="auto">
          <a:xfrm>
            <a:off x="1714500" y="3279775"/>
            <a:ext cx="5500688" cy="949325"/>
            <a:chOff x="1692275" y="4360863"/>
            <a:chExt cx="5500706" cy="949325"/>
          </a:xfrm>
        </p:grpSpPr>
        <p:grpSp>
          <p:nvGrpSpPr>
            <p:cNvPr id="34832" name="Group 7"/>
            <p:cNvGrpSpPr>
              <a:grpSpLocks/>
            </p:cNvGrpSpPr>
            <p:nvPr/>
          </p:nvGrpSpPr>
          <p:grpSpPr bwMode="auto">
            <a:xfrm>
              <a:off x="1876425" y="4386263"/>
              <a:ext cx="5311775" cy="688975"/>
              <a:chOff x="720" y="1392"/>
              <a:chExt cx="4058" cy="480"/>
            </a:xfrm>
          </p:grpSpPr>
          <p:sp>
            <p:nvSpPr>
              <p:cNvPr id="34836" name="AutoShape 8"/>
              <p:cNvSpPr>
                <a:spLocks noChangeArrowheads="1"/>
              </p:cNvSpPr>
              <p:nvPr/>
            </p:nvSpPr>
            <p:spPr bwMode="gray">
              <a:xfrm>
                <a:off x="720" y="1392"/>
                <a:ext cx="4058" cy="480"/>
              </a:xfrm>
              <a:prstGeom prst="roundRect">
                <a:avLst>
                  <a:gd name="adj" fmla="val 17509"/>
                </a:avLst>
              </a:prstGeom>
              <a:solidFill>
                <a:srgbClr val="00B0F0"/>
              </a:solidFill>
              <a:ln w="9525">
                <a:noFill/>
                <a:round/>
                <a:headEnd/>
                <a:tailEnd/>
              </a:ln>
            </p:spPr>
            <p:txBody>
              <a:bodyPr wrap="none" anchor="ctr"/>
              <a:lstStyle/>
              <a:p>
                <a:endParaRPr lang="zh-CN" altLang="en-US">
                  <a:latin typeface="Calibri" pitchFamily="34" charset="0"/>
                </a:endParaRPr>
              </a:p>
            </p:txBody>
          </p:sp>
          <p:grpSp>
            <p:nvGrpSpPr>
              <p:cNvPr id="34837" name="Group 9"/>
              <p:cNvGrpSpPr>
                <a:grpSpLocks/>
              </p:cNvGrpSpPr>
              <p:nvPr/>
            </p:nvGrpSpPr>
            <p:grpSpPr bwMode="auto">
              <a:xfrm>
                <a:off x="730" y="1407"/>
                <a:ext cx="4043" cy="444"/>
                <a:chOff x="744" y="1407"/>
                <a:chExt cx="3988" cy="444"/>
              </a:xfrm>
            </p:grpSpPr>
            <p:sp>
              <p:nvSpPr>
                <p:cNvPr id="17" name="AutoShape 10"/>
                <p:cNvSpPr>
                  <a:spLocks noChangeArrowheads="1"/>
                </p:cNvSpPr>
                <p:nvPr/>
              </p:nvSpPr>
              <p:spPr bwMode="gray">
                <a:xfrm>
                  <a:off x="744" y="1736"/>
                  <a:ext cx="3988" cy="115"/>
                </a:xfrm>
                <a:prstGeom prst="roundRect">
                  <a:avLst>
                    <a:gd name="adj" fmla="val 50000"/>
                  </a:avLst>
                </a:prstGeom>
                <a:gradFill rotWithShape="1">
                  <a:gsLst>
                    <a:gs pos="0">
                      <a:schemeClr val="hlink">
                        <a:alpha val="0"/>
                      </a:schemeClr>
                    </a:gs>
                    <a:gs pos="100000">
                      <a:schemeClr val="hlink">
                        <a:gamma/>
                        <a:tint val="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18" name="AutoShape 11"/>
                <p:cNvSpPr>
                  <a:spLocks noChangeArrowheads="1"/>
                </p:cNvSpPr>
                <p:nvPr/>
              </p:nvSpPr>
              <p:spPr bwMode="gray">
                <a:xfrm>
                  <a:off x="744" y="1407"/>
                  <a:ext cx="3988" cy="115"/>
                </a:xfrm>
                <a:prstGeom prst="roundRect">
                  <a:avLst>
                    <a:gd name="adj" fmla="val 50000"/>
                  </a:avLst>
                </a:prstGeom>
                <a:gradFill rotWithShape="1">
                  <a:gsLst>
                    <a:gs pos="0">
                      <a:schemeClr val="hlink">
                        <a:gamma/>
                        <a:tint val="0"/>
                        <a:invGamma/>
                      </a:schemeClr>
                    </a:gs>
                    <a:gs pos="100000">
                      <a:schemeClr val="hlink">
                        <a:alpha val="0"/>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grpSp>
        </p:grpSp>
        <p:sp>
          <p:nvSpPr>
            <p:cNvPr id="34833" name="Text Box 24"/>
            <p:cNvSpPr txBox="1">
              <a:spLocks noChangeArrowheads="1"/>
            </p:cNvSpPr>
            <p:nvPr/>
          </p:nvSpPr>
          <p:spPr bwMode="black">
            <a:xfrm>
              <a:off x="2354263" y="4487863"/>
              <a:ext cx="4838718" cy="461665"/>
            </a:xfrm>
            <a:prstGeom prst="rect">
              <a:avLst/>
            </a:prstGeom>
            <a:noFill/>
            <a:ln w="9525">
              <a:noFill/>
              <a:miter lim="800000"/>
              <a:headEnd/>
              <a:tailEnd/>
            </a:ln>
          </p:spPr>
          <p:txBody>
            <a:bodyPr>
              <a:spAutoFit/>
            </a:bodyPr>
            <a:lstStyle/>
            <a:p>
              <a:pPr marL="457200" indent="-457200" algn="ctr">
                <a:spcBef>
                  <a:spcPct val="50000"/>
                </a:spcBef>
                <a:buClr>
                  <a:schemeClr val="tx1"/>
                </a:buClr>
              </a:pPr>
              <a:r>
                <a:rPr lang="zh-CN" altLang="en-US" sz="2400" b="1">
                  <a:solidFill>
                    <a:srgbClr val="FFFFFF"/>
                  </a:solidFill>
                  <a:latin typeface="Calibri" pitchFamily="34" charset="0"/>
                </a:rPr>
                <a:t>基于</a:t>
              </a:r>
              <a:r>
                <a:rPr lang="en-US" altLang="zh-CN" sz="2400" b="1">
                  <a:solidFill>
                    <a:srgbClr val="FFFFFF"/>
                  </a:solidFill>
                  <a:latin typeface="Calibri" pitchFamily="34" charset="0"/>
                </a:rPr>
                <a:t>weka</a:t>
              </a:r>
              <a:r>
                <a:rPr lang="zh-CN" altLang="en-US" sz="2400" b="1">
                  <a:solidFill>
                    <a:srgbClr val="FFFFFF"/>
                  </a:solidFill>
                  <a:latin typeface="Calibri" pitchFamily="34" charset="0"/>
                </a:rPr>
                <a:t>的贝叶斯仿真</a:t>
              </a:r>
              <a:r>
                <a:rPr lang="en-US" altLang="zh-CN" sz="2400" b="1">
                  <a:solidFill>
                    <a:srgbClr val="FFFFFF"/>
                  </a:solidFill>
                  <a:latin typeface="Calibri" pitchFamily="34" charset="0"/>
                </a:rPr>
                <a:t>    </a:t>
              </a:r>
            </a:p>
          </p:txBody>
        </p:sp>
        <p:pic>
          <p:nvPicPr>
            <p:cNvPr id="34834" name="Picture 28" descr="1"/>
            <p:cNvPicPr>
              <a:picLocks noChangeAspect="1" noChangeArrowheads="1"/>
            </p:cNvPicPr>
            <p:nvPr/>
          </p:nvPicPr>
          <p:blipFill>
            <a:blip r:embed="rId4">
              <a:lum bright="-6000" contrast="24000"/>
            </a:blip>
            <a:srcRect r="153" b="-290"/>
            <a:stretch>
              <a:fillRect/>
            </a:stretch>
          </p:blipFill>
          <p:spPr bwMode="auto">
            <a:xfrm>
              <a:off x="1692275" y="4360863"/>
              <a:ext cx="792163" cy="949325"/>
            </a:xfrm>
            <a:prstGeom prst="rect">
              <a:avLst/>
            </a:prstGeom>
            <a:noFill/>
            <a:ln w="9525">
              <a:noFill/>
              <a:miter lim="800000"/>
              <a:headEnd/>
              <a:tailEnd/>
            </a:ln>
          </p:spPr>
        </p:pic>
        <p:sp>
          <p:nvSpPr>
            <p:cNvPr id="34835" name="Text Box 34"/>
            <p:cNvSpPr txBox="1">
              <a:spLocks noChangeArrowheads="1"/>
            </p:cNvSpPr>
            <p:nvPr/>
          </p:nvSpPr>
          <p:spPr bwMode="gray">
            <a:xfrm>
              <a:off x="2014538" y="4495800"/>
              <a:ext cx="381000" cy="457200"/>
            </a:xfrm>
            <a:prstGeom prst="rect">
              <a:avLst/>
            </a:prstGeom>
            <a:noFill/>
            <a:ln w="9525">
              <a:noFill/>
              <a:miter lim="800000"/>
              <a:headEnd/>
              <a:tailEnd/>
            </a:ln>
          </p:spPr>
          <p:txBody>
            <a:bodyPr>
              <a:spAutoFit/>
            </a:bodyPr>
            <a:lstStyle/>
            <a:p>
              <a:pPr algn="ctr">
                <a:spcBef>
                  <a:spcPct val="50000"/>
                </a:spcBef>
              </a:pPr>
              <a:r>
                <a:rPr lang="en-US" altLang="zh-CN" sz="2400" b="1">
                  <a:latin typeface="Calibri" pitchFamily="34" charset="0"/>
                </a:rPr>
                <a:t>3</a:t>
              </a:r>
            </a:p>
          </p:txBody>
        </p:sp>
      </p:grpSp>
      <p:grpSp>
        <p:nvGrpSpPr>
          <p:cNvPr id="21" name="组合 47"/>
          <p:cNvGrpSpPr>
            <a:grpSpLocks/>
          </p:cNvGrpSpPr>
          <p:nvPr/>
        </p:nvGrpSpPr>
        <p:grpSpPr bwMode="auto">
          <a:xfrm>
            <a:off x="1714500" y="5000625"/>
            <a:ext cx="5511800" cy="949325"/>
            <a:chOff x="1676400" y="5207000"/>
            <a:chExt cx="5511800" cy="949325"/>
          </a:xfrm>
        </p:grpSpPr>
        <p:grpSp>
          <p:nvGrpSpPr>
            <p:cNvPr id="34824" name="Group 12"/>
            <p:cNvGrpSpPr>
              <a:grpSpLocks/>
            </p:cNvGrpSpPr>
            <p:nvPr/>
          </p:nvGrpSpPr>
          <p:grpSpPr bwMode="auto">
            <a:xfrm>
              <a:off x="1876425" y="5243513"/>
              <a:ext cx="5311775" cy="688975"/>
              <a:chOff x="720" y="1392"/>
              <a:chExt cx="4058" cy="480"/>
            </a:xfrm>
          </p:grpSpPr>
          <p:sp>
            <p:nvSpPr>
              <p:cNvPr id="34828" name="AutoShape 13"/>
              <p:cNvSpPr>
                <a:spLocks noChangeArrowheads="1"/>
              </p:cNvSpPr>
              <p:nvPr/>
            </p:nvSpPr>
            <p:spPr bwMode="ltGray">
              <a:xfrm>
                <a:off x="720" y="1392"/>
                <a:ext cx="4058" cy="480"/>
              </a:xfrm>
              <a:prstGeom prst="roundRect">
                <a:avLst>
                  <a:gd name="adj" fmla="val 17509"/>
                </a:avLst>
              </a:prstGeom>
              <a:solidFill>
                <a:srgbClr val="002060"/>
              </a:solidFill>
              <a:ln w="9525">
                <a:noFill/>
                <a:round/>
                <a:headEnd/>
                <a:tailEnd/>
              </a:ln>
            </p:spPr>
            <p:txBody>
              <a:bodyPr wrap="none" anchor="ctr"/>
              <a:lstStyle/>
              <a:p>
                <a:endParaRPr lang="zh-CN" altLang="en-US">
                  <a:latin typeface="Calibri" pitchFamily="34" charset="0"/>
                </a:endParaRPr>
              </a:p>
            </p:txBody>
          </p:sp>
          <p:grpSp>
            <p:nvGrpSpPr>
              <p:cNvPr id="34829" name="Group 14"/>
              <p:cNvGrpSpPr>
                <a:grpSpLocks/>
              </p:cNvGrpSpPr>
              <p:nvPr/>
            </p:nvGrpSpPr>
            <p:grpSpPr bwMode="auto">
              <a:xfrm>
                <a:off x="730" y="1407"/>
                <a:ext cx="4043" cy="444"/>
                <a:chOff x="744" y="1407"/>
                <a:chExt cx="3988" cy="444"/>
              </a:xfrm>
            </p:grpSpPr>
            <p:sp>
              <p:nvSpPr>
                <p:cNvPr id="55" name="AutoShape 15"/>
                <p:cNvSpPr>
                  <a:spLocks noChangeArrowheads="1"/>
                </p:cNvSpPr>
                <p:nvPr/>
              </p:nvSpPr>
              <p:spPr bwMode="lt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56" name="AutoShape 16"/>
                <p:cNvSpPr>
                  <a:spLocks noChangeArrowheads="1"/>
                </p:cNvSpPr>
                <p:nvPr/>
              </p:nvSpPr>
              <p:spPr bwMode="lt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grpSp>
        </p:grpSp>
        <p:sp>
          <p:nvSpPr>
            <p:cNvPr id="34825" name="Text Box 25"/>
            <p:cNvSpPr txBox="1">
              <a:spLocks noChangeArrowheads="1"/>
            </p:cNvSpPr>
            <p:nvPr/>
          </p:nvSpPr>
          <p:spPr bwMode="black">
            <a:xfrm>
              <a:off x="2354263" y="5335588"/>
              <a:ext cx="4495800" cy="457200"/>
            </a:xfrm>
            <a:prstGeom prst="rect">
              <a:avLst/>
            </a:prstGeom>
            <a:noFill/>
            <a:ln w="9525">
              <a:noFill/>
              <a:miter lim="800000"/>
              <a:headEnd/>
              <a:tailEnd/>
            </a:ln>
          </p:spPr>
          <p:txBody>
            <a:bodyPr>
              <a:spAutoFit/>
            </a:bodyPr>
            <a:lstStyle/>
            <a:p>
              <a:pPr marL="457200" indent="-457200" algn="ctr">
                <a:spcBef>
                  <a:spcPct val="50000"/>
                </a:spcBef>
                <a:buClr>
                  <a:schemeClr val="tx1"/>
                </a:buClr>
              </a:pPr>
              <a:r>
                <a:rPr lang="zh-CN" altLang="en-US" sz="2400" b="1">
                  <a:solidFill>
                    <a:srgbClr val="FFFFFF"/>
                  </a:solidFill>
                  <a:latin typeface="Calibri" pitchFamily="34" charset="0"/>
                </a:rPr>
                <a:t>致谢</a:t>
              </a:r>
              <a:r>
                <a:rPr lang="en-US" altLang="zh-CN" sz="2400" b="1">
                  <a:solidFill>
                    <a:srgbClr val="FFFFFF"/>
                  </a:solidFill>
                  <a:latin typeface="Calibri" pitchFamily="34" charset="0"/>
                </a:rPr>
                <a:t>    </a:t>
              </a:r>
            </a:p>
          </p:txBody>
        </p:sp>
        <p:pic>
          <p:nvPicPr>
            <p:cNvPr id="34826" name="Picture 27" descr="1"/>
            <p:cNvPicPr>
              <a:picLocks noChangeAspect="1" noChangeArrowheads="1"/>
            </p:cNvPicPr>
            <p:nvPr/>
          </p:nvPicPr>
          <p:blipFill>
            <a:blip r:embed="rId4">
              <a:lum bright="-6000" contrast="24000"/>
            </a:blip>
            <a:srcRect r="153" b="-290"/>
            <a:stretch>
              <a:fillRect/>
            </a:stretch>
          </p:blipFill>
          <p:spPr bwMode="auto">
            <a:xfrm>
              <a:off x="1676400" y="5207000"/>
              <a:ext cx="792163" cy="949325"/>
            </a:xfrm>
            <a:prstGeom prst="rect">
              <a:avLst/>
            </a:prstGeom>
            <a:noFill/>
            <a:ln w="9525">
              <a:noFill/>
              <a:miter lim="800000"/>
              <a:headEnd/>
              <a:tailEnd/>
            </a:ln>
          </p:spPr>
        </p:pic>
        <p:sp>
          <p:nvSpPr>
            <p:cNvPr id="34827" name="Text Box 31"/>
            <p:cNvSpPr txBox="1">
              <a:spLocks noChangeArrowheads="1"/>
            </p:cNvSpPr>
            <p:nvPr/>
          </p:nvSpPr>
          <p:spPr bwMode="gray">
            <a:xfrm>
              <a:off x="2022475" y="5343525"/>
              <a:ext cx="381000" cy="457200"/>
            </a:xfrm>
            <a:prstGeom prst="rect">
              <a:avLst/>
            </a:prstGeom>
            <a:noFill/>
            <a:ln w="9525">
              <a:noFill/>
              <a:miter lim="800000"/>
              <a:headEnd/>
              <a:tailEnd/>
            </a:ln>
          </p:spPr>
          <p:txBody>
            <a:bodyPr>
              <a:spAutoFit/>
            </a:bodyPr>
            <a:lstStyle/>
            <a:p>
              <a:pPr algn="ctr">
                <a:spcBef>
                  <a:spcPct val="50000"/>
                </a:spcBef>
              </a:pPr>
              <a:r>
                <a:rPr lang="en-US" altLang="zh-CN" sz="2400" b="1">
                  <a:latin typeface="Calibri" pitchFamily="34" charset="0"/>
                </a:rPr>
                <a:t>5</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30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par>
                                <p:cTn id="8" presetID="50" presetClass="entr" presetSubtype="0" decel="100000" fill="hold" nodeType="withEffect">
                                  <p:stCondLst>
                                    <p:cond delay="500"/>
                                  </p:stCondLst>
                                  <p:childTnLst>
                                    <p:set>
                                      <p:cBhvr>
                                        <p:cTn id="9" dur="1" fill="hold">
                                          <p:stCondLst>
                                            <p:cond delay="0"/>
                                          </p:stCondLst>
                                        </p:cTn>
                                        <p:tgtEl>
                                          <p:spTgt spid="3"/>
                                        </p:tgtEl>
                                        <p:attrNameLst>
                                          <p:attrName>style.visibility</p:attrName>
                                        </p:attrNameLst>
                                      </p:cBhvr>
                                      <p:to>
                                        <p:strVal val="visible"/>
                                      </p:to>
                                    </p:set>
                                    <p:anim calcmode="lin" valueType="num">
                                      <p:cBhvr>
                                        <p:cTn id="10" dur="1000" fill="hold"/>
                                        <p:tgtEl>
                                          <p:spTgt spid="3"/>
                                        </p:tgtEl>
                                        <p:attrNameLst>
                                          <p:attrName>ppt_w</p:attrName>
                                        </p:attrNameLst>
                                      </p:cBhvr>
                                      <p:tavLst>
                                        <p:tav tm="0">
                                          <p:val>
                                            <p:strVal val="#ppt_w+.3"/>
                                          </p:val>
                                        </p:tav>
                                        <p:tav tm="100000">
                                          <p:val>
                                            <p:strVal val="#ppt_w"/>
                                          </p:val>
                                        </p:tav>
                                      </p:tavLst>
                                    </p:anim>
                                    <p:anim calcmode="lin" valueType="num">
                                      <p:cBhvr>
                                        <p:cTn id="11" dur="1000" fill="hold"/>
                                        <p:tgtEl>
                                          <p:spTgt spid="3"/>
                                        </p:tgtEl>
                                        <p:attrNameLst>
                                          <p:attrName>ppt_h</p:attrName>
                                        </p:attrNameLst>
                                      </p:cBhvr>
                                      <p:tavLst>
                                        <p:tav tm="0">
                                          <p:val>
                                            <p:strVal val="#ppt_h"/>
                                          </p:val>
                                        </p:tav>
                                        <p:tav tm="100000">
                                          <p:val>
                                            <p:strVal val="#ppt_h"/>
                                          </p:val>
                                        </p:tav>
                                      </p:tavLst>
                                    </p:anim>
                                    <p:animEffect transition="in" filter="fade">
                                      <p:cBhvr>
                                        <p:cTn id="12" dur="1000"/>
                                        <p:tgtEl>
                                          <p:spTgt spid="3"/>
                                        </p:tgtEl>
                                      </p:cBhvr>
                                    </p:animEffect>
                                  </p:childTnLst>
                                </p:cTn>
                              </p:par>
                              <p:par>
                                <p:cTn id="13" presetID="50" presetClass="entr" presetSubtype="0" decel="100000"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strVal val="#ppt_w+.3"/>
                                          </p:val>
                                        </p:tav>
                                        <p:tav tm="100000">
                                          <p:val>
                                            <p:strVal val="#ppt_w"/>
                                          </p:val>
                                        </p:tav>
                                      </p:tavLst>
                                    </p:anim>
                                    <p:anim calcmode="lin" valueType="num">
                                      <p:cBhvr>
                                        <p:cTn id="16" dur="1000" fill="hold"/>
                                        <p:tgtEl>
                                          <p:spTgt spid="7"/>
                                        </p:tgtEl>
                                        <p:attrNameLst>
                                          <p:attrName>ppt_h</p:attrName>
                                        </p:attrNameLst>
                                      </p:cBhvr>
                                      <p:tavLst>
                                        <p:tav tm="0">
                                          <p:val>
                                            <p:strVal val="#ppt_h"/>
                                          </p:val>
                                        </p:tav>
                                        <p:tav tm="100000">
                                          <p:val>
                                            <p:strVal val="#ppt_h"/>
                                          </p:val>
                                        </p:tav>
                                      </p:tavLst>
                                    </p:anim>
                                    <p:animEffect transition="in" filter="fade">
                                      <p:cBhvr>
                                        <p:cTn id="17" dur="1000"/>
                                        <p:tgtEl>
                                          <p:spTgt spid="7"/>
                                        </p:tgtEl>
                                      </p:cBhvr>
                                    </p:animEffect>
                                  </p:childTnLst>
                                </p:cTn>
                              </p:par>
                              <p:par>
                                <p:cTn id="18" presetID="50" presetClass="entr" presetSubtype="0" decel="100000" fill="hold" nodeType="withEffect">
                                  <p:stCondLst>
                                    <p:cond delay="500"/>
                                  </p:stCondLst>
                                  <p:childTnLst>
                                    <p:set>
                                      <p:cBhvr>
                                        <p:cTn id="19" dur="1" fill="hold">
                                          <p:stCondLst>
                                            <p:cond delay="0"/>
                                          </p:stCondLst>
                                        </p:cTn>
                                        <p:tgtEl>
                                          <p:spTgt spid="11"/>
                                        </p:tgtEl>
                                        <p:attrNameLst>
                                          <p:attrName>style.visibility</p:attrName>
                                        </p:attrNameLst>
                                      </p:cBhvr>
                                      <p:to>
                                        <p:strVal val="visible"/>
                                      </p:to>
                                    </p:set>
                                    <p:anim calcmode="lin" valueType="num">
                                      <p:cBhvr>
                                        <p:cTn id="20" dur="1000" fill="hold"/>
                                        <p:tgtEl>
                                          <p:spTgt spid="11"/>
                                        </p:tgtEl>
                                        <p:attrNameLst>
                                          <p:attrName>ppt_w</p:attrName>
                                        </p:attrNameLst>
                                      </p:cBhvr>
                                      <p:tavLst>
                                        <p:tav tm="0">
                                          <p:val>
                                            <p:strVal val="#ppt_w+.3"/>
                                          </p:val>
                                        </p:tav>
                                        <p:tav tm="100000">
                                          <p:val>
                                            <p:strVal val="#ppt_w"/>
                                          </p:val>
                                        </p:tav>
                                      </p:tavLst>
                                    </p:anim>
                                    <p:anim calcmode="lin" valueType="num">
                                      <p:cBhvr>
                                        <p:cTn id="21" dur="1000" fill="hold"/>
                                        <p:tgtEl>
                                          <p:spTgt spid="11"/>
                                        </p:tgtEl>
                                        <p:attrNameLst>
                                          <p:attrName>ppt_h</p:attrName>
                                        </p:attrNameLst>
                                      </p:cBhvr>
                                      <p:tavLst>
                                        <p:tav tm="0">
                                          <p:val>
                                            <p:strVal val="#ppt_h"/>
                                          </p:val>
                                        </p:tav>
                                        <p:tav tm="100000">
                                          <p:val>
                                            <p:strVal val="#ppt_h"/>
                                          </p:val>
                                        </p:tav>
                                      </p:tavLst>
                                    </p:anim>
                                    <p:animEffect transition="in" filter="fade">
                                      <p:cBhvr>
                                        <p:cTn id="22" dur="1000"/>
                                        <p:tgtEl>
                                          <p:spTgt spid="11"/>
                                        </p:tgtEl>
                                      </p:cBhvr>
                                    </p:animEffect>
                                  </p:childTnLst>
                                </p:cTn>
                              </p:par>
                              <p:par>
                                <p:cTn id="23" presetID="50" presetClass="entr" presetSubtype="0" decel="100000" fill="hold" nodeType="withEffect">
                                  <p:stCondLst>
                                    <p:cond delay="50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3"/>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par>
                                <p:cTn id="28" presetID="50" presetClass="entr" presetSubtype="0" decel="100000" fill="hold" nodeType="withEffect">
                                  <p:stCondLst>
                                    <p:cond delay="500"/>
                                  </p:stCondLst>
                                  <p:childTnLst>
                                    <p:set>
                                      <p:cBhvr>
                                        <p:cTn id="29" dur="1" fill="hold">
                                          <p:stCondLst>
                                            <p:cond delay="0"/>
                                          </p:stCondLst>
                                        </p:cTn>
                                        <p:tgtEl>
                                          <p:spTgt spid="21"/>
                                        </p:tgtEl>
                                        <p:attrNameLst>
                                          <p:attrName>style.visibility</p:attrName>
                                        </p:attrNameLst>
                                      </p:cBhvr>
                                      <p:to>
                                        <p:strVal val="visible"/>
                                      </p:to>
                                    </p:set>
                                    <p:anim calcmode="lin" valueType="num">
                                      <p:cBhvr>
                                        <p:cTn id="30" dur="1000" fill="hold"/>
                                        <p:tgtEl>
                                          <p:spTgt spid="21"/>
                                        </p:tgtEl>
                                        <p:attrNameLst>
                                          <p:attrName>ppt_w</p:attrName>
                                        </p:attrNameLst>
                                      </p:cBhvr>
                                      <p:tavLst>
                                        <p:tav tm="0">
                                          <p:val>
                                            <p:strVal val="#ppt_w+.3"/>
                                          </p:val>
                                        </p:tav>
                                        <p:tav tm="100000">
                                          <p:val>
                                            <p:strVal val="#ppt_w"/>
                                          </p:val>
                                        </p:tav>
                                      </p:tavLst>
                                    </p:anim>
                                    <p:anim calcmode="lin" valueType="num">
                                      <p:cBhvr>
                                        <p:cTn id="31" dur="1000" fill="hold"/>
                                        <p:tgtEl>
                                          <p:spTgt spid="21"/>
                                        </p:tgtEl>
                                        <p:attrNameLst>
                                          <p:attrName>ppt_h</p:attrName>
                                        </p:attrNameLst>
                                      </p:cBhvr>
                                      <p:tavLst>
                                        <p:tav tm="0">
                                          <p:val>
                                            <p:strVal val="#ppt_h"/>
                                          </p:val>
                                        </p:tav>
                                        <p:tav tm="100000">
                                          <p:val>
                                            <p:strVal val="#ppt_h"/>
                                          </p:val>
                                        </p:tav>
                                      </p:tavLst>
                                    </p:anim>
                                    <p:animEffect transition="in" filter="fade">
                                      <p:cBhvr>
                                        <p:cTn id="32"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5"/>
          <p:cNvGrpSpPr>
            <a:grpSpLocks/>
          </p:cNvGrpSpPr>
          <p:nvPr/>
        </p:nvGrpSpPr>
        <p:grpSpPr bwMode="auto">
          <a:xfrm>
            <a:off x="2071688" y="2357438"/>
            <a:ext cx="4256087" cy="1309687"/>
            <a:chOff x="303584" y="2214568"/>
            <a:chExt cx="4534054" cy="1395116"/>
          </a:xfrm>
        </p:grpSpPr>
        <p:grpSp>
          <p:nvGrpSpPr>
            <p:cNvPr id="35856" name="AutoShape 8"/>
            <p:cNvGrpSpPr>
              <a:grpSpLocks/>
            </p:cNvGrpSpPr>
            <p:nvPr/>
          </p:nvGrpSpPr>
          <p:grpSpPr bwMode="auto">
            <a:xfrm>
              <a:off x="1369185" y="2366781"/>
              <a:ext cx="3468453" cy="870361"/>
              <a:chOff x="1467420" y="2500299"/>
              <a:chExt cx="3255265" cy="816864"/>
            </a:xfrm>
          </p:grpSpPr>
          <p:pic>
            <p:nvPicPr>
              <p:cNvPr id="35859" name="AutoShape 8"/>
              <p:cNvPicPr>
                <a:picLocks noChangeArrowheads="1"/>
              </p:cNvPicPr>
              <p:nvPr/>
            </p:nvPicPr>
            <p:blipFill>
              <a:blip r:embed="rId3"/>
              <a:srcRect/>
              <a:stretch>
                <a:fillRect/>
              </a:stretch>
            </p:blipFill>
            <p:spPr bwMode="invGray">
              <a:xfrm>
                <a:off x="1467420" y="2500299"/>
                <a:ext cx="3255265" cy="816864"/>
              </a:xfrm>
              <a:prstGeom prst="rect">
                <a:avLst/>
              </a:prstGeom>
              <a:noFill/>
              <a:ln w="9525">
                <a:noFill/>
                <a:miter lim="800000"/>
                <a:headEnd/>
                <a:tailEnd/>
              </a:ln>
            </p:spPr>
          </p:pic>
          <p:sp>
            <p:nvSpPr>
              <p:cNvPr id="35860" name="Text Box 29"/>
              <p:cNvSpPr txBox="1">
                <a:spLocks noChangeArrowheads="1"/>
              </p:cNvSpPr>
              <p:nvPr/>
            </p:nvSpPr>
            <p:spPr bwMode="auto">
              <a:xfrm>
                <a:off x="1538856" y="2571727"/>
                <a:ext cx="3173202" cy="682609"/>
              </a:xfrm>
              <a:prstGeom prst="rect">
                <a:avLst/>
              </a:prstGeom>
              <a:noFill/>
              <a:ln w="9525">
                <a:noFill/>
                <a:miter lim="800000"/>
                <a:headEnd/>
                <a:tailEnd/>
              </a:ln>
            </p:spPr>
            <p:txBody>
              <a:bodyPr wrap="none" anchor="ctr"/>
              <a:lstStyle/>
              <a:p>
                <a:r>
                  <a:rPr lang="en-US" altLang="zh-CN" sz="2800">
                    <a:latin typeface="微软雅黑" pitchFamily="34" charset="-122"/>
                    <a:ea typeface="微软雅黑" pitchFamily="34" charset="-122"/>
                  </a:rPr>
                  <a:t>1.1</a:t>
                </a:r>
                <a:r>
                  <a:rPr lang="zh-CN" altLang="en-US" sz="2800">
                    <a:latin typeface="微软雅黑" pitchFamily="34" charset="-122"/>
                    <a:ea typeface="微软雅黑" pitchFamily="34" charset="-122"/>
                  </a:rPr>
                  <a:t>分类的基本概念</a:t>
                </a:r>
              </a:p>
            </p:txBody>
          </p:sp>
        </p:grpSp>
        <p:pic>
          <p:nvPicPr>
            <p:cNvPr id="35857" name="图片 5" descr="ICON1.png"/>
            <p:cNvPicPr>
              <a:picLocks noChangeAspect="1"/>
            </p:cNvPicPr>
            <p:nvPr/>
          </p:nvPicPr>
          <p:blipFill>
            <a:blip r:embed="rId4"/>
            <a:srcRect/>
            <a:stretch>
              <a:fillRect/>
            </a:stretch>
          </p:blipFill>
          <p:spPr bwMode="auto">
            <a:xfrm>
              <a:off x="303584" y="2214568"/>
              <a:ext cx="1141747" cy="1174370"/>
            </a:xfrm>
            <a:prstGeom prst="rect">
              <a:avLst/>
            </a:prstGeom>
            <a:noFill/>
            <a:ln w="9525">
              <a:noFill/>
              <a:miter lim="800000"/>
              <a:headEnd/>
              <a:tailEnd/>
            </a:ln>
          </p:spPr>
        </p:pic>
        <p:sp>
          <p:nvSpPr>
            <p:cNvPr id="35858"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grpSp>
        <p:nvGrpSpPr>
          <p:cNvPr id="4" name="组合 47"/>
          <p:cNvGrpSpPr>
            <a:grpSpLocks/>
          </p:cNvGrpSpPr>
          <p:nvPr/>
        </p:nvGrpSpPr>
        <p:grpSpPr bwMode="auto">
          <a:xfrm>
            <a:off x="2071688" y="3357563"/>
            <a:ext cx="4183062" cy="1524000"/>
            <a:chOff x="1784893" y="2138495"/>
            <a:chExt cx="4458308" cy="1623129"/>
          </a:xfrm>
        </p:grpSpPr>
        <p:grpSp>
          <p:nvGrpSpPr>
            <p:cNvPr id="35851" name="AutoShape 8"/>
            <p:cNvGrpSpPr>
              <a:grpSpLocks/>
            </p:cNvGrpSpPr>
            <p:nvPr/>
          </p:nvGrpSpPr>
          <p:grpSpPr bwMode="auto">
            <a:xfrm>
              <a:off x="2774747" y="2366811"/>
              <a:ext cx="3468454" cy="798912"/>
              <a:chOff x="2858028" y="3571897"/>
              <a:chExt cx="3255265" cy="749807"/>
            </a:xfrm>
          </p:grpSpPr>
          <p:pic>
            <p:nvPicPr>
              <p:cNvPr id="35854" name="AutoShape 8"/>
              <p:cNvPicPr>
                <a:picLocks noChangeArrowheads="1"/>
              </p:cNvPicPr>
              <p:nvPr/>
            </p:nvPicPr>
            <p:blipFill>
              <a:blip r:embed="rId5"/>
              <a:srcRect/>
              <a:stretch>
                <a:fillRect/>
              </a:stretch>
            </p:blipFill>
            <p:spPr bwMode="invGray">
              <a:xfrm>
                <a:off x="2858028" y="3571897"/>
                <a:ext cx="3255265" cy="749807"/>
              </a:xfrm>
              <a:prstGeom prst="rect">
                <a:avLst/>
              </a:prstGeom>
              <a:noFill/>
              <a:ln w="9525">
                <a:noFill/>
                <a:miter lim="800000"/>
                <a:headEnd/>
                <a:tailEnd/>
              </a:ln>
            </p:spPr>
          </p:pic>
          <p:sp>
            <p:nvSpPr>
              <p:cNvPr id="35855" name="Text Box 19"/>
              <p:cNvSpPr txBox="1">
                <a:spLocks noChangeArrowheads="1"/>
              </p:cNvSpPr>
              <p:nvPr/>
            </p:nvSpPr>
            <p:spPr bwMode="auto">
              <a:xfrm>
                <a:off x="2929491" y="3643326"/>
                <a:ext cx="3114648" cy="542499"/>
              </a:xfrm>
              <a:prstGeom prst="rect">
                <a:avLst/>
              </a:prstGeom>
              <a:solidFill>
                <a:srgbClr val="00B0F0"/>
              </a:solidFill>
              <a:ln w="9525">
                <a:noFill/>
                <a:miter lim="800000"/>
                <a:headEnd/>
                <a:tailEnd/>
              </a:ln>
            </p:spPr>
            <p:txBody>
              <a:bodyPr wrap="none" anchor="ctr"/>
              <a:lstStyle/>
              <a:p>
                <a:r>
                  <a:rPr lang="en-US" altLang="zh-CN" sz="2800">
                    <a:latin typeface="微软雅黑" pitchFamily="34" charset="-122"/>
                    <a:ea typeface="微软雅黑" pitchFamily="34" charset="-122"/>
                  </a:rPr>
                  <a:t>1.2</a:t>
                </a:r>
                <a:r>
                  <a:rPr lang="zh-CN" altLang="en-US" sz="2800">
                    <a:latin typeface="微软雅黑" pitchFamily="34" charset="-122"/>
                    <a:ea typeface="微软雅黑" pitchFamily="34" charset="-122"/>
                  </a:rPr>
                  <a:t>贝叶斯分类概述</a:t>
                </a:r>
              </a:p>
            </p:txBody>
          </p:sp>
        </p:grpSp>
        <p:pic>
          <p:nvPicPr>
            <p:cNvPr id="35852" name="图片 49" descr="ICON1.png"/>
            <p:cNvPicPr>
              <a:picLocks noChangeAspect="1"/>
            </p:cNvPicPr>
            <p:nvPr/>
          </p:nvPicPr>
          <p:blipFill>
            <a:blip r:embed="rId4"/>
            <a:srcRect/>
            <a:stretch>
              <a:fillRect/>
            </a:stretch>
          </p:blipFill>
          <p:spPr bwMode="auto">
            <a:xfrm>
              <a:off x="1784893" y="2138495"/>
              <a:ext cx="1141747" cy="1174368"/>
            </a:xfrm>
            <a:prstGeom prst="rect">
              <a:avLst/>
            </a:prstGeom>
            <a:noFill/>
            <a:ln w="9525">
              <a:noFill/>
              <a:miter lim="800000"/>
              <a:headEnd/>
              <a:tailEnd/>
            </a:ln>
          </p:spPr>
        </p:pic>
        <p:sp>
          <p:nvSpPr>
            <p:cNvPr id="35853" name="TextBox 50"/>
            <p:cNvSpPr txBox="1">
              <a:spLocks noChangeArrowheads="1"/>
            </p:cNvSpPr>
            <p:nvPr/>
          </p:nvSpPr>
          <p:spPr bwMode="auto">
            <a:xfrm>
              <a:off x="2622461" y="3203973"/>
              <a:ext cx="196875"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grpSp>
        <p:nvGrpSpPr>
          <p:cNvPr id="35844" name="组合 22"/>
          <p:cNvGrpSpPr>
            <a:grpSpLocks/>
          </p:cNvGrpSpPr>
          <p:nvPr/>
        </p:nvGrpSpPr>
        <p:grpSpPr bwMode="auto">
          <a:xfrm>
            <a:off x="1643063" y="571500"/>
            <a:ext cx="5857875" cy="1292225"/>
            <a:chOff x="-376793" y="549348"/>
            <a:chExt cx="6673704" cy="1353900"/>
          </a:xfrm>
        </p:grpSpPr>
        <p:grpSp>
          <p:nvGrpSpPr>
            <p:cNvPr id="35845" name="剪去单角的矩形 23"/>
            <p:cNvGrpSpPr>
              <a:grpSpLocks/>
            </p:cNvGrpSpPr>
            <p:nvPr/>
          </p:nvGrpSpPr>
          <p:grpSpPr bwMode="auto">
            <a:xfrm>
              <a:off x="-376793" y="549348"/>
              <a:ext cx="6673704" cy="1353900"/>
              <a:chOff x="-359664" y="621792"/>
              <a:chExt cx="6370320" cy="1292352"/>
            </a:xfrm>
          </p:grpSpPr>
          <p:pic>
            <p:nvPicPr>
              <p:cNvPr id="35849" name="剪去单角的矩形 23"/>
              <p:cNvPicPr>
                <a:picLocks noChangeArrowheads="1"/>
              </p:cNvPicPr>
              <p:nvPr/>
            </p:nvPicPr>
            <p:blipFill>
              <a:blip r:embed="rId6"/>
              <a:srcRect/>
              <a:stretch>
                <a:fillRect/>
              </a:stretch>
            </p:blipFill>
            <p:spPr bwMode="auto">
              <a:xfrm>
                <a:off x="-359664" y="621792"/>
                <a:ext cx="6370320" cy="1292352"/>
              </a:xfrm>
              <a:prstGeom prst="rect">
                <a:avLst/>
              </a:prstGeom>
              <a:noFill/>
              <a:ln w="9525">
                <a:noFill/>
                <a:miter lim="800000"/>
                <a:headEnd/>
                <a:tailEnd/>
              </a:ln>
            </p:spPr>
          </p:pic>
          <p:sp>
            <p:nvSpPr>
              <p:cNvPr id="32778" name="Text Box 8"/>
              <p:cNvSpPr txBox="1">
                <a:spLocks noChangeArrowheads="1"/>
              </p:cNvSpPr>
              <p:nvPr/>
            </p:nvSpPr>
            <p:spPr bwMode="auto">
              <a:xfrm>
                <a:off x="-578" y="621792"/>
                <a:ext cx="5999149" cy="976409"/>
              </a:xfrm>
              <a:prstGeom prst="rect">
                <a:avLst/>
              </a:prstGeom>
              <a:solidFill>
                <a:schemeClr val="accent6">
                  <a:lumMod val="75000"/>
                </a:schemeClr>
              </a:solidFill>
              <a:ln w="9525">
                <a:noFill/>
                <a:miter lim="800000"/>
                <a:headEnd/>
                <a:tailEnd/>
              </a:ln>
            </p:spPr>
            <p:txBody>
              <a:bodyPr anchor="ctr"/>
              <a:lstStyle/>
              <a:p>
                <a:pPr algn="ctr">
                  <a:defRPr/>
                </a:pPr>
                <a:endParaRPr lang="zh-CN" altLang="en-US">
                  <a:solidFill>
                    <a:srgbClr val="FFFFFF"/>
                  </a:solidFill>
                  <a:latin typeface="Calibri" pitchFamily="34" charset="0"/>
                </a:endParaRPr>
              </a:p>
            </p:txBody>
          </p:sp>
        </p:grpSp>
        <p:grpSp>
          <p:nvGrpSpPr>
            <p:cNvPr id="35846" name="组合 7"/>
            <p:cNvGrpSpPr>
              <a:grpSpLocks/>
            </p:cNvGrpSpPr>
            <p:nvPr/>
          </p:nvGrpSpPr>
          <p:grpSpPr bwMode="auto">
            <a:xfrm>
              <a:off x="428596" y="571480"/>
              <a:ext cx="5624155" cy="1085714"/>
              <a:chOff x="714348" y="500042"/>
              <a:chExt cx="5624155" cy="1085714"/>
            </a:xfrm>
          </p:grpSpPr>
          <p:sp>
            <p:nvSpPr>
              <p:cNvPr id="35847" name="TextBox 25"/>
              <p:cNvSpPr txBox="1">
                <a:spLocks noChangeArrowheads="1"/>
              </p:cNvSpPr>
              <p:nvPr/>
            </p:nvSpPr>
            <p:spPr bwMode="auto">
              <a:xfrm>
                <a:off x="1714480" y="571480"/>
                <a:ext cx="4624023" cy="806165"/>
              </a:xfrm>
              <a:prstGeom prst="rect">
                <a:avLst/>
              </a:prstGeom>
              <a:noFill/>
              <a:ln w="9525">
                <a:noFill/>
                <a:miter lim="800000"/>
                <a:headEnd/>
                <a:tailEnd/>
              </a:ln>
            </p:spPr>
            <p:txBody>
              <a:bodyPr>
                <a:spAutoFit/>
              </a:bodyPr>
              <a:lstStyle/>
              <a:p>
                <a:r>
                  <a:rPr lang="en-US" altLang="zh-CN" sz="4400" b="1">
                    <a:latin typeface="微软雅黑" pitchFamily="34" charset="-122"/>
                    <a:ea typeface="微软雅黑" pitchFamily="34" charset="-122"/>
                  </a:rPr>
                  <a:t>1.</a:t>
                </a:r>
                <a:r>
                  <a:rPr lang="zh-CN" altLang="en-US" sz="4400" b="1">
                    <a:latin typeface="微软雅黑" pitchFamily="34" charset="-122"/>
                    <a:ea typeface="微软雅黑" pitchFamily="34" charset="-122"/>
                  </a:rPr>
                  <a:t>贝叶斯分类</a:t>
                </a:r>
              </a:p>
            </p:txBody>
          </p:sp>
          <p:pic>
            <p:nvPicPr>
              <p:cNvPr id="35848" name="图片 26" descr="ICON2.png"/>
              <p:cNvPicPr>
                <a:picLocks noChangeAspect="1"/>
              </p:cNvPicPr>
              <p:nvPr/>
            </p:nvPicPr>
            <p:blipFill>
              <a:blip r:embed="rId7"/>
              <a:srcRect/>
              <a:stretch>
                <a:fillRect/>
              </a:stretch>
            </p:blipFill>
            <p:spPr bwMode="auto">
              <a:xfrm>
                <a:off x="714348" y="500042"/>
                <a:ext cx="1104762" cy="1085714"/>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slide(fromBottom)">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785813" y="557213"/>
            <a:ext cx="5849937" cy="1085850"/>
            <a:chOff x="857224" y="285728"/>
            <a:chExt cx="5847501" cy="1085714"/>
          </a:xfrm>
        </p:grpSpPr>
        <p:sp>
          <p:nvSpPr>
            <p:cNvPr id="36869" name="TextBox 2"/>
            <p:cNvSpPr txBox="1">
              <a:spLocks noChangeArrowheads="1"/>
            </p:cNvSpPr>
            <p:nvPr/>
          </p:nvSpPr>
          <p:spPr bwMode="auto">
            <a:xfrm>
              <a:off x="1714479" y="357166"/>
              <a:ext cx="4990246" cy="769345"/>
            </a:xfrm>
            <a:prstGeom prst="rect">
              <a:avLst/>
            </a:prstGeom>
            <a:solidFill>
              <a:srgbClr val="00B0F0"/>
            </a:solidFill>
            <a:ln w="9525">
              <a:noFill/>
              <a:miter lim="800000"/>
              <a:headEnd/>
              <a:tailEnd/>
            </a:ln>
          </p:spPr>
          <p:txBody>
            <a:bodyPr wrap="none">
              <a:spAutoFit/>
            </a:bodyPr>
            <a:lstStyle/>
            <a:p>
              <a:r>
                <a:rPr lang="en-US" altLang="zh-CN" sz="4400" b="1">
                  <a:latin typeface="微软雅黑" pitchFamily="34" charset="-122"/>
                  <a:ea typeface="微软雅黑" pitchFamily="34" charset="-122"/>
                </a:rPr>
                <a:t>1.1</a:t>
              </a:r>
              <a:r>
                <a:rPr lang="zh-CN" altLang="en-US" sz="4400" b="1">
                  <a:latin typeface="微软雅黑" pitchFamily="34" charset="-122"/>
                  <a:ea typeface="微软雅黑" pitchFamily="34" charset="-122"/>
                </a:rPr>
                <a:t>分类的基本概念</a:t>
              </a:r>
            </a:p>
          </p:txBody>
        </p:sp>
        <p:pic>
          <p:nvPicPr>
            <p:cNvPr id="36870" name="图片 3" descr="ICON2.png"/>
            <p:cNvPicPr>
              <a:picLocks noChangeAspect="1"/>
            </p:cNvPicPr>
            <p:nvPr/>
          </p:nvPicPr>
          <p:blipFill>
            <a:blip r:embed="rId3"/>
            <a:srcRect/>
            <a:stretch>
              <a:fillRect/>
            </a:stretch>
          </p:blipFill>
          <p:spPr bwMode="auto">
            <a:xfrm>
              <a:off x="857224" y="285728"/>
              <a:ext cx="1104762" cy="1085714"/>
            </a:xfrm>
            <a:prstGeom prst="rect">
              <a:avLst/>
            </a:prstGeom>
            <a:noFill/>
            <a:ln w="9525">
              <a:noFill/>
              <a:miter lim="800000"/>
              <a:headEnd/>
              <a:tailEnd/>
            </a:ln>
          </p:spPr>
        </p:pic>
      </p:grpSp>
      <p:sp>
        <p:nvSpPr>
          <p:cNvPr id="6" name="TextBox 5"/>
          <p:cNvSpPr txBox="1"/>
          <p:nvPr/>
        </p:nvSpPr>
        <p:spPr>
          <a:xfrm>
            <a:off x="928662" y="1357298"/>
            <a:ext cx="5429288" cy="5232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defRPr/>
            </a:pPr>
            <a:r>
              <a:rPr lang="zh-CN" altLang="en-US" sz="28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charset="0"/>
              </a:rPr>
              <a:t>背景</a:t>
            </a:r>
          </a:p>
        </p:txBody>
      </p:sp>
      <p:sp>
        <p:nvSpPr>
          <p:cNvPr id="15" name="TextBox 14"/>
          <p:cNvSpPr txBox="1"/>
          <p:nvPr/>
        </p:nvSpPr>
        <p:spPr>
          <a:xfrm>
            <a:off x="642938" y="1785938"/>
            <a:ext cx="7858125" cy="2678112"/>
          </a:xfrm>
          <a:prstGeom prst="rect">
            <a:avLst/>
          </a:prstGeom>
          <a:noFill/>
        </p:spPr>
        <p:txBody>
          <a:bodyPr>
            <a:spAutoFit/>
          </a:bodyPr>
          <a:lstStyle/>
          <a:p>
            <a:pPr>
              <a:defRPr/>
            </a:pPr>
            <a:r>
              <a:rPr lang="zh-CN" altLang="en-US" sz="2400" kern="1400" dirty="0">
                <a:latin typeface="Arial" charset="0"/>
              </a:rPr>
              <a:t>        近几十年来，</a:t>
            </a:r>
            <a:r>
              <a:rPr lang="en-US" altLang="zh-CN" sz="2400" kern="1400" dirty="0">
                <a:latin typeface="Arial" charset="0"/>
              </a:rPr>
              <a:t>Internet</a:t>
            </a:r>
            <a:r>
              <a:rPr lang="zh-CN" altLang="en-US" sz="2400" kern="1400" dirty="0">
                <a:latin typeface="Arial" charset="0"/>
              </a:rPr>
              <a:t>互联网的普及使得人们获得和存储数据的能力得到逐步的提高，数据规模不断壮大。面对“数据丰富而知识匮乏”的挑战，数据挖掘技术应运而生。数据挖掘是一门多学科的交叉领域，涉及统计学，机器学习、神经网络、模式识别、知识库系统、信息检索、高性能计算和可视化等学科。而数据挖掘中的分类技术是一项非常重要的技术。</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30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组合 6"/>
          <p:cNvGrpSpPr>
            <a:grpSpLocks/>
          </p:cNvGrpSpPr>
          <p:nvPr/>
        </p:nvGrpSpPr>
        <p:grpSpPr bwMode="auto">
          <a:xfrm>
            <a:off x="1428750" y="214313"/>
            <a:ext cx="6370638" cy="1292225"/>
            <a:chOff x="-376793" y="549348"/>
            <a:chExt cx="6673704" cy="1353900"/>
          </a:xfrm>
        </p:grpSpPr>
        <p:grpSp>
          <p:nvGrpSpPr>
            <p:cNvPr id="37895" name="剪去单角的矩形 7"/>
            <p:cNvGrpSpPr>
              <a:grpSpLocks/>
            </p:cNvGrpSpPr>
            <p:nvPr/>
          </p:nvGrpSpPr>
          <p:grpSpPr bwMode="auto">
            <a:xfrm>
              <a:off x="-376793" y="549348"/>
              <a:ext cx="6673704" cy="1353900"/>
              <a:chOff x="-359664" y="621792"/>
              <a:chExt cx="6370320" cy="1292352"/>
            </a:xfrm>
          </p:grpSpPr>
          <p:pic>
            <p:nvPicPr>
              <p:cNvPr id="37899"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37900"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37896" name="组合 7"/>
            <p:cNvGrpSpPr>
              <a:grpSpLocks/>
            </p:cNvGrpSpPr>
            <p:nvPr/>
          </p:nvGrpSpPr>
          <p:grpSpPr bwMode="auto">
            <a:xfrm>
              <a:off x="428596" y="571480"/>
              <a:ext cx="5340627" cy="1085714"/>
              <a:chOff x="714348" y="500042"/>
              <a:chExt cx="5340627" cy="1085714"/>
            </a:xfrm>
          </p:grpSpPr>
          <p:sp>
            <p:nvSpPr>
              <p:cNvPr id="37897" name="TextBox 9"/>
              <p:cNvSpPr txBox="1">
                <a:spLocks noChangeArrowheads="1"/>
              </p:cNvSpPr>
              <p:nvPr/>
            </p:nvSpPr>
            <p:spPr bwMode="auto">
              <a:xfrm>
                <a:off x="1705127" y="627550"/>
                <a:ext cx="4349848" cy="805869"/>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Q1  </a:t>
                </a:r>
                <a:r>
                  <a:rPr lang="zh-CN" altLang="en-US" sz="4400" b="1">
                    <a:latin typeface="微软雅黑" pitchFamily="34" charset="-122"/>
                    <a:ea typeface="微软雅黑" pitchFamily="34" charset="-122"/>
                  </a:rPr>
                  <a:t>什么是分类</a:t>
                </a:r>
              </a:p>
            </p:txBody>
          </p:sp>
          <p:pic>
            <p:nvPicPr>
              <p:cNvPr id="37898" name="图片 10" descr="ICON2.png"/>
              <p:cNvPicPr>
                <a:picLocks noChangeAspect="1"/>
              </p:cNvPicPr>
              <p:nvPr/>
            </p:nvPicPr>
            <p:blipFill>
              <a:blip r:embed="rId3"/>
              <a:srcRect/>
              <a:stretch>
                <a:fillRect/>
              </a:stretch>
            </p:blipFill>
            <p:spPr bwMode="auto">
              <a:xfrm>
                <a:off x="714348" y="500042"/>
                <a:ext cx="1104762" cy="1085714"/>
              </a:xfrm>
              <a:prstGeom prst="rect">
                <a:avLst/>
              </a:prstGeom>
              <a:noFill/>
              <a:ln w="9525">
                <a:noFill/>
                <a:miter lim="800000"/>
                <a:headEnd/>
                <a:tailEnd/>
              </a:ln>
            </p:spPr>
          </p:pic>
        </p:grpSp>
      </p:grpSp>
      <p:pic>
        <p:nvPicPr>
          <p:cNvPr id="37891" name="图片 8" descr="5041194911306687.jpg"/>
          <p:cNvPicPr>
            <a:picLocks noChangeAspect="1"/>
          </p:cNvPicPr>
          <p:nvPr/>
        </p:nvPicPr>
        <p:blipFill>
          <a:blip r:embed="rId4"/>
          <a:srcRect/>
          <a:stretch>
            <a:fillRect/>
          </a:stretch>
        </p:blipFill>
        <p:spPr bwMode="auto">
          <a:xfrm>
            <a:off x="142875" y="1500188"/>
            <a:ext cx="3786188" cy="2827337"/>
          </a:xfrm>
          <a:prstGeom prst="rect">
            <a:avLst/>
          </a:prstGeom>
          <a:noFill/>
          <a:ln w="9525">
            <a:noFill/>
            <a:miter lim="800000"/>
            <a:headEnd/>
            <a:tailEnd/>
          </a:ln>
        </p:spPr>
      </p:pic>
      <p:pic>
        <p:nvPicPr>
          <p:cNvPr id="37892" name="图片 9" descr="81371325778158784.jpg"/>
          <p:cNvPicPr>
            <a:picLocks noChangeAspect="1"/>
          </p:cNvPicPr>
          <p:nvPr/>
        </p:nvPicPr>
        <p:blipFill>
          <a:blip r:embed="rId5"/>
          <a:srcRect/>
          <a:stretch>
            <a:fillRect/>
          </a:stretch>
        </p:blipFill>
        <p:spPr bwMode="auto">
          <a:xfrm>
            <a:off x="4429125" y="1500188"/>
            <a:ext cx="4189413" cy="2786062"/>
          </a:xfrm>
          <a:prstGeom prst="rect">
            <a:avLst/>
          </a:prstGeom>
          <a:noFill/>
          <a:ln w="9525">
            <a:noFill/>
            <a:miter lim="800000"/>
            <a:headEnd/>
            <a:tailEnd/>
          </a:ln>
        </p:spPr>
      </p:pic>
      <p:sp>
        <p:nvSpPr>
          <p:cNvPr id="37893" name="TextBox 10"/>
          <p:cNvSpPr txBox="1">
            <a:spLocks noChangeArrowheads="1"/>
          </p:cNvSpPr>
          <p:nvPr/>
        </p:nvSpPr>
        <p:spPr bwMode="auto">
          <a:xfrm>
            <a:off x="214313" y="4714875"/>
            <a:ext cx="3500437" cy="461963"/>
          </a:xfrm>
          <a:prstGeom prst="rect">
            <a:avLst/>
          </a:prstGeom>
          <a:noFill/>
          <a:ln w="9525">
            <a:noFill/>
            <a:miter lim="800000"/>
            <a:headEnd/>
            <a:tailEnd/>
          </a:ln>
        </p:spPr>
        <p:txBody>
          <a:bodyPr>
            <a:spAutoFit/>
          </a:bodyPr>
          <a:lstStyle/>
          <a:p>
            <a:r>
              <a:rPr lang="zh-CN" altLang="en-US"/>
              <a:t>           </a:t>
            </a:r>
            <a:r>
              <a:rPr lang="zh-CN" altLang="en-US" sz="2400"/>
              <a:t>超市中的物品分类</a:t>
            </a:r>
          </a:p>
        </p:txBody>
      </p:sp>
      <p:sp>
        <p:nvSpPr>
          <p:cNvPr id="37894" name="TextBox 11"/>
          <p:cNvSpPr txBox="1">
            <a:spLocks noChangeArrowheads="1"/>
          </p:cNvSpPr>
          <p:nvPr/>
        </p:nvSpPr>
        <p:spPr bwMode="auto">
          <a:xfrm>
            <a:off x="4643438" y="4714875"/>
            <a:ext cx="3714750" cy="461963"/>
          </a:xfrm>
          <a:prstGeom prst="rect">
            <a:avLst/>
          </a:prstGeom>
          <a:noFill/>
          <a:ln w="9525">
            <a:noFill/>
            <a:miter lim="800000"/>
            <a:headEnd/>
            <a:tailEnd/>
          </a:ln>
        </p:spPr>
        <p:txBody>
          <a:bodyPr>
            <a:spAutoFit/>
          </a:bodyPr>
          <a:lstStyle/>
          <a:p>
            <a:r>
              <a:rPr lang="zh-CN" altLang="en-US"/>
              <a:t>         </a:t>
            </a:r>
            <a:r>
              <a:rPr lang="zh-CN" altLang="en-US" sz="2400"/>
              <a:t>生活中的垃圾分类</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组合 6"/>
          <p:cNvGrpSpPr>
            <a:grpSpLocks/>
          </p:cNvGrpSpPr>
          <p:nvPr/>
        </p:nvGrpSpPr>
        <p:grpSpPr bwMode="auto">
          <a:xfrm>
            <a:off x="1428750" y="214313"/>
            <a:ext cx="6370638" cy="1292225"/>
            <a:chOff x="-376793" y="549348"/>
            <a:chExt cx="6673704" cy="1353900"/>
          </a:xfrm>
        </p:grpSpPr>
        <p:grpSp>
          <p:nvGrpSpPr>
            <p:cNvPr id="38918" name="剪去单角的矩形 7"/>
            <p:cNvGrpSpPr>
              <a:grpSpLocks/>
            </p:cNvGrpSpPr>
            <p:nvPr/>
          </p:nvGrpSpPr>
          <p:grpSpPr bwMode="auto">
            <a:xfrm>
              <a:off x="-376793" y="549348"/>
              <a:ext cx="6673704" cy="1353900"/>
              <a:chOff x="-359664" y="621792"/>
              <a:chExt cx="6370320" cy="1292352"/>
            </a:xfrm>
          </p:grpSpPr>
          <p:pic>
            <p:nvPicPr>
              <p:cNvPr id="38922"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38923"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38919" name="组合 7"/>
            <p:cNvGrpSpPr>
              <a:grpSpLocks/>
            </p:cNvGrpSpPr>
            <p:nvPr/>
          </p:nvGrpSpPr>
          <p:grpSpPr bwMode="auto">
            <a:xfrm>
              <a:off x="428596" y="571480"/>
              <a:ext cx="5340627" cy="1085714"/>
              <a:chOff x="714348" y="500042"/>
              <a:chExt cx="5340627" cy="1085714"/>
            </a:xfrm>
          </p:grpSpPr>
          <p:sp>
            <p:nvSpPr>
              <p:cNvPr id="38920" name="TextBox 9"/>
              <p:cNvSpPr txBox="1">
                <a:spLocks noChangeArrowheads="1"/>
              </p:cNvSpPr>
              <p:nvPr/>
            </p:nvSpPr>
            <p:spPr bwMode="auto">
              <a:xfrm>
                <a:off x="1705127" y="627550"/>
                <a:ext cx="4349848" cy="805869"/>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Q1  </a:t>
                </a:r>
                <a:r>
                  <a:rPr lang="zh-CN" altLang="en-US" sz="4400" b="1">
                    <a:latin typeface="微软雅黑" pitchFamily="34" charset="-122"/>
                    <a:ea typeface="微软雅黑" pitchFamily="34" charset="-122"/>
                  </a:rPr>
                  <a:t>什么是分类</a:t>
                </a:r>
              </a:p>
            </p:txBody>
          </p:sp>
          <p:pic>
            <p:nvPicPr>
              <p:cNvPr id="38921" name="图片 10" descr="ICON2.png"/>
              <p:cNvPicPr>
                <a:picLocks noChangeAspect="1"/>
              </p:cNvPicPr>
              <p:nvPr/>
            </p:nvPicPr>
            <p:blipFill>
              <a:blip r:embed="rId3"/>
              <a:srcRect/>
              <a:stretch>
                <a:fillRect/>
              </a:stretch>
            </p:blipFill>
            <p:spPr bwMode="auto">
              <a:xfrm>
                <a:off x="714348" y="500042"/>
                <a:ext cx="1104762" cy="1085714"/>
              </a:xfrm>
              <a:prstGeom prst="rect">
                <a:avLst/>
              </a:prstGeom>
              <a:noFill/>
              <a:ln w="9525">
                <a:noFill/>
                <a:miter lim="800000"/>
                <a:headEnd/>
                <a:tailEnd/>
              </a:ln>
            </p:spPr>
          </p:pic>
        </p:grpSp>
      </p:grpSp>
      <p:pic>
        <p:nvPicPr>
          <p:cNvPr id="38915" name="图片 8" descr="4887831_030354077312_2.jpg"/>
          <p:cNvPicPr>
            <a:picLocks noChangeAspect="1"/>
          </p:cNvPicPr>
          <p:nvPr/>
        </p:nvPicPr>
        <p:blipFill>
          <a:blip r:embed="rId4"/>
          <a:srcRect/>
          <a:stretch>
            <a:fillRect/>
          </a:stretch>
        </p:blipFill>
        <p:spPr bwMode="auto">
          <a:xfrm>
            <a:off x="500063" y="1285875"/>
            <a:ext cx="4071937" cy="3184525"/>
          </a:xfrm>
          <a:prstGeom prst="rect">
            <a:avLst/>
          </a:prstGeom>
          <a:noFill/>
          <a:ln w="9525">
            <a:noFill/>
            <a:miter lim="800000"/>
            <a:headEnd/>
            <a:tailEnd/>
          </a:ln>
        </p:spPr>
      </p:pic>
      <p:sp>
        <p:nvSpPr>
          <p:cNvPr id="38916" name="TextBox 9"/>
          <p:cNvSpPr txBox="1">
            <a:spLocks noChangeArrowheads="1"/>
          </p:cNvSpPr>
          <p:nvPr/>
        </p:nvSpPr>
        <p:spPr bwMode="auto">
          <a:xfrm>
            <a:off x="428625" y="4714875"/>
            <a:ext cx="4286250" cy="461963"/>
          </a:xfrm>
          <a:prstGeom prst="rect">
            <a:avLst/>
          </a:prstGeom>
          <a:noFill/>
          <a:ln w="9525">
            <a:noFill/>
            <a:miter lim="800000"/>
            <a:headEnd/>
            <a:tailEnd/>
          </a:ln>
        </p:spPr>
        <p:txBody>
          <a:bodyPr>
            <a:spAutoFit/>
          </a:bodyPr>
          <a:lstStyle/>
          <a:p>
            <a:r>
              <a:rPr lang="zh-CN" altLang="en-US"/>
              <a:t>                  </a:t>
            </a:r>
            <a:r>
              <a:rPr lang="zh-CN" altLang="en-US" sz="2400"/>
              <a:t>生活信息的分类</a:t>
            </a:r>
          </a:p>
        </p:txBody>
      </p:sp>
      <p:sp>
        <p:nvSpPr>
          <p:cNvPr id="38917" name="TextBox 10"/>
          <p:cNvSpPr txBox="1">
            <a:spLocks noChangeArrowheads="1"/>
          </p:cNvSpPr>
          <p:nvPr/>
        </p:nvSpPr>
        <p:spPr bwMode="auto">
          <a:xfrm>
            <a:off x="5072063" y="1643063"/>
            <a:ext cx="3500437" cy="2246312"/>
          </a:xfrm>
          <a:prstGeom prst="rect">
            <a:avLst/>
          </a:prstGeom>
          <a:solidFill>
            <a:schemeClr val="accent1"/>
          </a:solidFill>
          <a:ln w="9525">
            <a:noFill/>
            <a:miter lim="800000"/>
            <a:headEnd/>
            <a:tailEnd/>
          </a:ln>
        </p:spPr>
        <p:txBody>
          <a:bodyPr>
            <a:spAutoFit/>
          </a:bodyPr>
          <a:lstStyle/>
          <a:p>
            <a:r>
              <a:rPr lang="zh-CN" altLang="en-US" sz="2800"/>
              <a:t>由此可见，分类是跟我们的生活息息相关的东西，分类让生活更加有条理，更加精彩</a:t>
            </a:r>
            <a:r>
              <a:rPr lang="en-US" altLang="zh-CN" sz="2800"/>
              <a:t>.</a:t>
            </a:r>
            <a:endParaRPr lang="zh-CN" altLang="en-US" sz="2800"/>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8" name="组合 6"/>
          <p:cNvGrpSpPr>
            <a:grpSpLocks/>
          </p:cNvGrpSpPr>
          <p:nvPr/>
        </p:nvGrpSpPr>
        <p:grpSpPr bwMode="auto">
          <a:xfrm>
            <a:off x="1428750" y="214313"/>
            <a:ext cx="6370638" cy="1292225"/>
            <a:chOff x="-376793" y="549348"/>
            <a:chExt cx="6673704" cy="1353900"/>
          </a:xfrm>
        </p:grpSpPr>
        <p:grpSp>
          <p:nvGrpSpPr>
            <p:cNvPr id="39943" name="剪去单角的矩形 7"/>
            <p:cNvGrpSpPr>
              <a:grpSpLocks/>
            </p:cNvGrpSpPr>
            <p:nvPr/>
          </p:nvGrpSpPr>
          <p:grpSpPr bwMode="auto">
            <a:xfrm>
              <a:off x="-376793" y="549348"/>
              <a:ext cx="6673704" cy="1353900"/>
              <a:chOff x="-359664" y="621792"/>
              <a:chExt cx="6370320" cy="1292352"/>
            </a:xfrm>
          </p:grpSpPr>
          <p:pic>
            <p:nvPicPr>
              <p:cNvPr id="39947" name="剪去单角的矩形 7"/>
              <p:cNvPicPr>
                <a:picLocks noChangeArrowheads="1"/>
              </p:cNvPicPr>
              <p:nvPr/>
            </p:nvPicPr>
            <p:blipFill>
              <a:blip r:embed="rId3"/>
              <a:srcRect/>
              <a:stretch>
                <a:fillRect/>
              </a:stretch>
            </p:blipFill>
            <p:spPr bwMode="auto">
              <a:xfrm>
                <a:off x="-359664" y="621792"/>
                <a:ext cx="6370320" cy="1292352"/>
              </a:xfrm>
              <a:prstGeom prst="rect">
                <a:avLst/>
              </a:prstGeom>
              <a:noFill/>
              <a:ln w="9525">
                <a:noFill/>
                <a:miter lim="800000"/>
                <a:headEnd/>
                <a:tailEnd/>
              </a:ln>
            </p:spPr>
          </p:pic>
          <p:sp>
            <p:nvSpPr>
              <p:cNvPr id="39948"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39944" name="组合 7"/>
            <p:cNvGrpSpPr>
              <a:grpSpLocks/>
            </p:cNvGrpSpPr>
            <p:nvPr/>
          </p:nvGrpSpPr>
          <p:grpSpPr bwMode="auto">
            <a:xfrm>
              <a:off x="428596" y="571480"/>
              <a:ext cx="5340627" cy="1085714"/>
              <a:chOff x="714348" y="500042"/>
              <a:chExt cx="5340627" cy="1085714"/>
            </a:xfrm>
          </p:grpSpPr>
          <p:sp>
            <p:nvSpPr>
              <p:cNvPr id="39945" name="TextBox 9"/>
              <p:cNvSpPr txBox="1">
                <a:spLocks noChangeArrowheads="1"/>
              </p:cNvSpPr>
              <p:nvPr/>
            </p:nvSpPr>
            <p:spPr bwMode="auto">
              <a:xfrm>
                <a:off x="1705127" y="627550"/>
                <a:ext cx="4349848" cy="805869"/>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Q1  </a:t>
                </a:r>
                <a:r>
                  <a:rPr lang="zh-CN" altLang="en-US" sz="4400" b="1">
                    <a:latin typeface="微软雅黑" pitchFamily="34" charset="-122"/>
                    <a:ea typeface="微软雅黑" pitchFamily="34" charset="-122"/>
                  </a:rPr>
                  <a:t>什么是分类</a:t>
                </a:r>
              </a:p>
            </p:txBody>
          </p:sp>
          <p:pic>
            <p:nvPicPr>
              <p:cNvPr id="39946" name="图片 10" descr="ICON2.png"/>
              <p:cNvPicPr>
                <a:picLocks noChangeAspect="1"/>
              </p:cNvPicPr>
              <p:nvPr/>
            </p:nvPicPr>
            <p:blipFill>
              <a:blip r:embed="rId4"/>
              <a:srcRect/>
              <a:stretch>
                <a:fillRect/>
              </a:stretch>
            </p:blipFill>
            <p:spPr bwMode="auto">
              <a:xfrm>
                <a:off x="714348" y="500042"/>
                <a:ext cx="1104762" cy="1085714"/>
              </a:xfrm>
              <a:prstGeom prst="rect">
                <a:avLst/>
              </a:prstGeom>
              <a:noFill/>
              <a:ln w="9525">
                <a:noFill/>
                <a:miter lim="800000"/>
                <a:headEnd/>
                <a:tailEnd/>
              </a:ln>
            </p:spPr>
          </p:pic>
        </p:grpSp>
      </p:grpSp>
      <p:sp>
        <p:nvSpPr>
          <p:cNvPr id="39939" name="TextBox 9"/>
          <p:cNvSpPr txBox="1">
            <a:spLocks noChangeArrowheads="1"/>
          </p:cNvSpPr>
          <p:nvPr/>
        </p:nvSpPr>
        <p:spPr bwMode="auto">
          <a:xfrm>
            <a:off x="357188" y="1714500"/>
            <a:ext cx="8643937" cy="369888"/>
          </a:xfrm>
          <a:prstGeom prst="rect">
            <a:avLst/>
          </a:prstGeom>
          <a:noFill/>
          <a:ln w="9525">
            <a:noFill/>
            <a:miter lim="800000"/>
            <a:headEnd/>
            <a:tailEnd/>
          </a:ln>
        </p:spPr>
        <p:txBody>
          <a:bodyPr>
            <a:spAutoFit/>
          </a:bodyPr>
          <a:lstStyle/>
          <a:p>
            <a:endParaRPr lang="zh-CN" altLang="en-US"/>
          </a:p>
        </p:txBody>
      </p:sp>
      <p:sp>
        <p:nvSpPr>
          <p:cNvPr id="39940" name="TextBox 9"/>
          <p:cNvSpPr txBox="1">
            <a:spLocks noChangeArrowheads="1"/>
          </p:cNvSpPr>
          <p:nvPr/>
        </p:nvSpPr>
        <p:spPr bwMode="auto">
          <a:xfrm>
            <a:off x="642938" y="1714500"/>
            <a:ext cx="8072437" cy="369888"/>
          </a:xfrm>
          <a:prstGeom prst="rect">
            <a:avLst/>
          </a:prstGeom>
          <a:noFill/>
          <a:ln w="9525">
            <a:noFill/>
            <a:miter lim="800000"/>
            <a:headEnd/>
            <a:tailEnd/>
          </a:ln>
        </p:spPr>
        <p:txBody>
          <a:bodyPr>
            <a:spAutoFit/>
          </a:bodyPr>
          <a:lstStyle/>
          <a:p>
            <a:endParaRPr lang="zh-CN" altLang="en-US"/>
          </a:p>
        </p:txBody>
      </p:sp>
      <p:sp>
        <p:nvSpPr>
          <p:cNvPr id="11" name="TextBox 10"/>
          <p:cNvSpPr txBox="1"/>
          <p:nvPr/>
        </p:nvSpPr>
        <p:spPr>
          <a:xfrm>
            <a:off x="500063" y="1643063"/>
            <a:ext cx="8072437" cy="3786187"/>
          </a:xfrm>
          <a:prstGeom prst="rect">
            <a:avLst/>
          </a:prstGeom>
          <a:noFill/>
        </p:spPr>
        <p:txBody>
          <a:bodyPr>
            <a:spAutoFit/>
          </a:bodyPr>
          <a:lstStyle/>
          <a:p>
            <a:pPr>
              <a:defRPr/>
            </a:pPr>
            <a:r>
              <a:rPr lang="zh-CN" altLang="en-US" sz="2400" kern="1400" dirty="0">
                <a:latin typeface="Arial" charset="0"/>
              </a:rPr>
              <a:t>       </a:t>
            </a:r>
            <a:endParaRPr lang="en-US" altLang="zh-CN" sz="2400" kern="1400" dirty="0">
              <a:latin typeface="Arial" charset="0"/>
            </a:endParaRPr>
          </a:p>
          <a:p>
            <a:pPr>
              <a:defRPr/>
            </a:pPr>
            <a:r>
              <a:rPr lang="en-US" altLang="zh-CN" sz="2400" kern="1400" dirty="0">
                <a:latin typeface="Arial" charset="0"/>
              </a:rPr>
              <a:t>        </a:t>
            </a:r>
            <a:r>
              <a:rPr lang="zh-CN" altLang="en-US" sz="2400" kern="1400" dirty="0">
                <a:latin typeface="Arial" charset="0"/>
              </a:rPr>
              <a:t>分类就是把一些新的数据项映射到给定类别的中的某一个类别，比如说当我们发表一篇文章的时候，就可以自动的把这篇文章划分到某一个文章类别。</a:t>
            </a:r>
            <a:endParaRPr lang="en-US" altLang="zh-CN" sz="2400" kern="1400" dirty="0">
              <a:latin typeface="Arial" charset="0"/>
            </a:endParaRPr>
          </a:p>
          <a:p>
            <a:pPr>
              <a:defRPr/>
            </a:pPr>
            <a:r>
              <a:rPr lang="zh-CN" altLang="en-US" sz="2400" dirty="0">
                <a:solidFill>
                  <a:schemeClr val="hlink"/>
                </a:solidFill>
              </a:rPr>
              <a:t>       </a:t>
            </a:r>
            <a:r>
              <a:rPr lang="zh-CN" altLang="en-US" sz="2400" kern="1400" dirty="0">
                <a:latin typeface="Arial" charset="0"/>
              </a:rPr>
              <a:t>分类也称为有监督学习(supervised learning),与之相对于的是无监督学习(unsupervised learning),比如聚类。</a:t>
            </a:r>
          </a:p>
          <a:p>
            <a:pPr>
              <a:defRPr/>
            </a:pPr>
            <a:r>
              <a:rPr lang="zh-CN" altLang="en-US" sz="2400" kern="1400" dirty="0">
                <a:latin typeface="Arial" charset="0"/>
              </a:rPr>
              <a:t>       分类与聚类的最大区别在于，分类数据中的一部分的类别是已知的，而聚类数据的类别未知。</a:t>
            </a:r>
            <a:endParaRPr lang="en-US" altLang="zh-CN" sz="2400" kern="1400" dirty="0">
              <a:latin typeface="Arial" charset="0"/>
            </a:endParaRPr>
          </a:p>
          <a:p>
            <a:pPr>
              <a:defRPr/>
            </a:pPr>
            <a:r>
              <a:rPr lang="en-US" altLang="zh-CN" sz="2400" kern="1400" dirty="0">
                <a:latin typeface="Arial" charset="0"/>
              </a:rPr>
              <a:t>        </a:t>
            </a:r>
            <a:r>
              <a:rPr lang="zh-CN" altLang="en-US" sz="2400" kern="1400" dirty="0">
                <a:latin typeface="Arial" charset="0"/>
              </a:rPr>
              <a:t> </a:t>
            </a:r>
            <a:endParaRPr lang="en-US" altLang="zh-CN" sz="2400" kern="1400" dirty="0">
              <a:latin typeface="Arial" charset="0"/>
            </a:endParaRPr>
          </a:p>
          <a:p>
            <a:pPr>
              <a:defRPr/>
            </a:pPr>
            <a:r>
              <a:rPr lang="en-US" altLang="zh-CN" sz="2400" kern="1400" dirty="0">
                <a:latin typeface="Arial" charset="0"/>
              </a:rPr>
              <a:t>        </a:t>
            </a:r>
            <a:endParaRPr lang="zh-CN" altLang="en-US" sz="2400" kern="1400" dirty="0">
              <a:latin typeface="Arial" charset="0"/>
            </a:endParaRPr>
          </a:p>
        </p:txBody>
      </p:sp>
      <p:sp>
        <p:nvSpPr>
          <p:cNvPr id="14" name="矩形 13"/>
          <p:cNvSpPr/>
          <p:nvPr/>
        </p:nvSpPr>
        <p:spPr>
          <a:xfrm>
            <a:off x="785786" y="1285860"/>
            <a:ext cx="5540299" cy="584775"/>
          </a:xfrm>
          <a:prstGeom prst="rect">
            <a:avLst/>
          </a:prstGeom>
          <a:noFill/>
        </p:spPr>
        <p:txBody>
          <a:bodyPr wrap="none">
            <a:spAutoFit/>
          </a:bodyPr>
          <a:lstStyle/>
          <a:p>
            <a:pPr algn="ctr">
              <a:defRPr/>
            </a:pPr>
            <a:r>
              <a:rPr lang="zh-CN" altLang="en-US" sz="3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分类在数据挖掘中的学术定义</a:t>
            </a: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0962" name="组合 6"/>
          <p:cNvGrpSpPr>
            <a:grpSpLocks/>
          </p:cNvGrpSpPr>
          <p:nvPr/>
        </p:nvGrpSpPr>
        <p:grpSpPr bwMode="auto">
          <a:xfrm>
            <a:off x="1285875" y="0"/>
            <a:ext cx="6370638" cy="1292225"/>
            <a:chOff x="-376793" y="549348"/>
            <a:chExt cx="6673704" cy="1353900"/>
          </a:xfrm>
        </p:grpSpPr>
        <p:grpSp>
          <p:nvGrpSpPr>
            <p:cNvPr id="41101" name="剪去单角的矩形 7"/>
            <p:cNvGrpSpPr>
              <a:grpSpLocks/>
            </p:cNvGrpSpPr>
            <p:nvPr/>
          </p:nvGrpSpPr>
          <p:grpSpPr bwMode="auto">
            <a:xfrm>
              <a:off x="-376793" y="549348"/>
              <a:ext cx="6673704" cy="1353900"/>
              <a:chOff x="-359664" y="621792"/>
              <a:chExt cx="6370320" cy="1292352"/>
            </a:xfrm>
          </p:grpSpPr>
          <p:pic>
            <p:nvPicPr>
              <p:cNvPr id="41105"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1106"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41102" name="组合 7"/>
            <p:cNvGrpSpPr>
              <a:grpSpLocks/>
            </p:cNvGrpSpPr>
            <p:nvPr/>
          </p:nvGrpSpPr>
          <p:grpSpPr bwMode="auto">
            <a:xfrm>
              <a:off x="428596" y="571480"/>
              <a:ext cx="4749303" cy="1085714"/>
              <a:chOff x="714348" y="500042"/>
              <a:chExt cx="4749303" cy="1085714"/>
            </a:xfrm>
          </p:grpSpPr>
          <p:sp>
            <p:nvSpPr>
              <p:cNvPr id="41103" name="TextBox 9"/>
              <p:cNvSpPr txBox="1">
                <a:spLocks noChangeArrowheads="1"/>
              </p:cNvSpPr>
              <p:nvPr/>
            </p:nvSpPr>
            <p:spPr bwMode="auto">
              <a:xfrm>
                <a:off x="1705127" y="627550"/>
                <a:ext cx="3758524"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分类问题</a:t>
                </a:r>
              </a:p>
            </p:txBody>
          </p:sp>
          <p:pic>
            <p:nvPicPr>
              <p:cNvPr id="41104" name="图片 10" descr="ICON2.png"/>
              <p:cNvPicPr>
                <a:picLocks noChangeAspect="1"/>
              </p:cNvPicPr>
              <p:nvPr/>
            </p:nvPicPr>
            <p:blipFill>
              <a:blip r:embed="rId3"/>
              <a:srcRect/>
              <a:stretch>
                <a:fillRect/>
              </a:stretch>
            </p:blipFill>
            <p:spPr bwMode="auto">
              <a:xfrm>
                <a:off x="714348" y="500042"/>
                <a:ext cx="1104762" cy="1085714"/>
              </a:xfrm>
              <a:prstGeom prst="rect">
                <a:avLst/>
              </a:prstGeom>
              <a:noFill/>
              <a:ln w="9525">
                <a:noFill/>
                <a:miter lim="800000"/>
                <a:headEnd/>
                <a:tailEnd/>
              </a:ln>
            </p:spPr>
          </p:pic>
        </p:grpSp>
      </p:grpSp>
      <p:graphicFrame>
        <p:nvGraphicFramePr>
          <p:cNvPr id="10" name="表格 9"/>
          <p:cNvGraphicFramePr>
            <a:graphicFrameLocks noGrp="1"/>
          </p:cNvGraphicFramePr>
          <p:nvPr/>
        </p:nvGraphicFramePr>
        <p:xfrm>
          <a:off x="857250" y="1000125"/>
          <a:ext cx="6429420" cy="5248971"/>
        </p:xfrm>
        <a:graphic>
          <a:graphicData uri="http://schemas.openxmlformats.org/drawingml/2006/table">
            <a:tbl>
              <a:tblPr/>
              <a:tblGrid>
                <a:gridCol w="1374405"/>
                <a:gridCol w="557625"/>
                <a:gridCol w="972566"/>
                <a:gridCol w="1303064"/>
                <a:gridCol w="974023"/>
                <a:gridCol w="1247737"/>
              </a:tblGrid>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rgbClr val="FF0000"/>
                          </a:solidFill>
                          <a:effectLst/>
                          <a:latin typeface="宋体" pitchFamily="2" charset="-122"/>
                          <a:ea typeface="宋体" pitchFamily="2" charset="-122"/>
                          <a:cs typeface="Arial" pitchFamily="34" charset="0"/>
                        </a:rPr>
                        <a:t>名称</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FF0000"/>
                          </a:solidFill>
                          <a:effectLst/>
                          <a:latin typeface="宋体" pitchFamily="2" charset="-122"/>
                          <a:ea typeface="宋体" pitchFamily="2" charset="-122"/>
                          <a:cs typeface="Arial" pitchFamily="34" charset="0"/>
                        </a:rPr>
                        <a:t>胎生</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FF0000"/>
                          </a:solidFill>
                          <a:effectLst/>
                          <a:latin typeface="宋体" pitchFamily="2" charset="-122"/>
                          <a:ea typeface="宋体" pitchFamily="2" charset="-122"/>
                          <a:cs typeface="Arial" pitchFamily="34" charset="0"/>
                        </a:rPr>
                        <a:t>会飞</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FF0000"/>
                          </a:solidFill>
                          <a:effectLst/>
                          <a:latin typeface="宋体" pitchFamily="2" charset="-122"/>
                          <a:ea typeface="宋体" pitchFamily="2" charset="-122"/>
                          <a:cs typeface="Arial" pitchFamily="34" charset="0"/>
                        </a:rPr>
                        <a:t>水中生活</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FF0000"/>
                          </a:solidFill>
                          <a:effectLst/>
                          <a:latin typeface="宋体" pitchFamily="2" charset="-122"/>
                          <a:ea typeface="宋体" pitchFamily="2" charset="-122"/>
                          <a:cs typeface="Arial" pitchFamily="34" charset="0"/>
                        </a:rPr>
                        <a:t>有腿</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rgbClr val="FF0000"/>
                          </a:solidFill>
                          <a:effectLst/>
                          <a:latin typeface="宋体" pitchFamily="2" charset="-122"/>
                          <a:ea typeface="宋体" pitchFamily="2" charset="-122"/>
                          <a:cs typeface="Arial" pitchFamily="34" charset="0"/>
                        </a:rPr>
                        <a:t>类别</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rgbClr val="000000"/>
                          </a:solidFill>
                          <a:effectLst/>
                          <a:latin typeface="Arial" pitchFamily="34" charset="0"/>
                          <a:ea typeface="宋体" pitchFamily="2" charset="-122"/>
                          <a:cs typeface="Arial" pitchFamily="34" charset="0"/>
                        </a:rPr>
                        <a:t>Human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rgbClr val="000000"/>
                          </a:solidFill>
                          <a:effectLst/>
                          <a:latin typeface="Arial" pitchFamily="34" charset="0"/>
                          <a:ea typeface="宋体" pitchFamily="2" charset="-122"/>
                          <a:cs typeface="Arial" pitchFamily="34" charset="0"/>
                        </a:rPr>
                        <a:t>python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salmon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whale</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frog</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有时</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komodo</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bat</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pigeon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cat</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leopard_shark</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turtle</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有时</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penguin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有时</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porcupine</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eel</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salamander</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有时</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gila_monster</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platypus</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owl</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dolphin</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r h="22111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rgbClr val="000000"/>
                          </a:solidFill>
                          <a:effectLst/>
                          <a:latin typeface="Arial" pitchFamily="34" charset="0"/>
                          <a:ea typeface="宋体" pitchFamily="2" charset="-122"/>
                          <a:cs typeface="Arial" pitchFamily="34" charset="0"/>
                        </a:rPr>
                        <a:t>eagle</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否</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6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非哺乳动物</a:t>
                      </a:r>
                    </a:p>
                  </a:txBody>
                  <a:tcPr marL="6111" marR="6111" marT="6111" marB="0" anchor="ctr" horzOverflow="overflow">
                    <a:lnL>
                      <a:noFill/>
                    </a:lnL>
                    <a:lnR>
                      <a:noFill/>
                    </a:lnR>
                    <a:lnT>
                      <a:noFill/>
                    </a:lnT>
                    <a:lnB>
                      <a:noFill/>
                    </a:lnB>
                    <a:lnTlToBr>
                      <a:noFill/>
                    </a:lnTlToBr>
                    <a:lnBlToTr>
                      <a:noFill/>
                    </a:lnBlToTr>
                    <a:solidFill>
                      <a:srgbClr val="92D050">
                        <a:alpha val="48000"/>
                      </a:srgbClr>
                    </a:solidFill>
                  </a:tcPr>
                </a:tc>
              </a:tr>
            </a:tbl>
          </a:graphicData>
        </a:graphic>
      </p:graphicFrame>
      <p:graphicFrame>
        <p:nvGraphicFramePr>
          <p:cNvPr id="11" name="表格 10"/>
          <p:cNvGraphicFramePr>
            <a:graphicFrameLocks noGrp="1"/>
          </p:cNvGraphicFramePr>
          <p:nvPr/>
        </p:nvGraphicFramePr>
        <p:xfrm>
          <a:off x="1214438" y="6343650"/>
          <a:ext cx="6324601" cy="514668"/>
        </p:xfrm>
        <a:graphic>
          <a:graphicData uri="http://schemas.openxmlformats.org/drawingml/2006/table">
            <a:tbl>
              <a:tblPr/>
              <a:tblGrid>
                <a:gridCol w="1125183"/>
                <a:gridCol w="1125182"/>
                <a:gridCol w="1506601"/>
                <a:gridCol w="1125182"/>
                <a:gridCol w="1442453"/>
              </a:tblGrid>
              <a:tr h="53955">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FF0000"/>
                          </a:solidFill>
                          <a:effectLst/>
                          <a:latin typeface="宋体" pitchFamily="2" charset="-122"/>
                          <a:ea typeface="宋体" pitchFamily="2" charset="-122"/>
                          <a:cs typeface="Arial" pitchFamily="34" charset="0"/>
                        </a:rPr>
                        <a:t>胎生</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FF0000"/>
                          </a:solidFill>
                          <a:effectLst/>
                          <a:latin typeface="宋体" pitchFamily="2" charset="-122"/>
                          <a:ea typeface="宋体" pitchFamily="2" charset="-122"/>
                          <a:cs typeface="Arial" pitchFamily="34" charset="0"/>
                        </a:rPr>
                        <a:t>会飞</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FF0000"/>
                          </a:solidFill>
                          <a:effectLst/>
                          <a:latin typeface="宋体" pitchFamily="2" charset="-122"/>
                          <a:ea typeface="宋体" pitchFamily="2" charset="-122"/>
                          <a:cs typeface="Arial" pitchFamily="34" charset="0"/>
                        </a:rPr>
                        <a:t>水中生活</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rgbClr val="FF0000"/>
                          </a:solidFill>
                          <a:effectLst/>
                          <a:latin typeface="宋体" pitchFamily="2" charset="-122"/>
                          <a:ea typeface="宋体" pitchFamily="2" charset="-122"/>
                          <a:cs typeface="Arial" pitchFamily="34" charset="0"/>
                        </a:rPr>
                        <a:t>有腿</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400" b="0" i="0" u="none" strike="noStrike" cap="none" normalizeH="0" baseline="0" dirty="0" smtClean="0">
                          <a:ln>
                            <a:noFill/>
                          </a:ln>
                          <a:solidFill>
                            <a:srgbClr val="FF0000"/>
                          </a:solidFill>
                          <a:effectLst/>
                          <a:latin typeface="宋体" pitchFamily="2" charset="-122"/>
                          <a:ea typeface="宋体" pitchFamily="2" charset="-122"/>
                          <a:cs typeface="Arial" pitchFamily="34" charset="0"/>
                        </a:rPr>
                        <a:t>类别</a:t>
                      </a:r>
                    </a:p>
                  </a:txBody>
                  <a:tcPr marL="7620" marR="7620" marT="7620" marB="0" anchor="ctr" horzOverflow="overflow">
                    <a:lnL>
                      <a:noFill/>
                    </a:lnL>
                    <a:lnR>
                      <a:noFill/>
                    </a:lnR>
                    <a:lnT>
                      <a:noFill/>
                    </a:lnT>
                    <a:lnB>
                      <a:noFill/>
                    </a:lnB>
                    <a:lnTlToBr>
                      <a:noFill/>
                    </a:lnTlToBr>
                    <a:lnBlToTr>
                      <a:noFill/>
                    </a:lnBlToTr>
                    <a:solidFill>
                      <a:srgbClr val="92D050"/>
                    </a:solidFill>
                  </a:tcPr>
                </a:tc>
              </a:tr>
              <a:tr h="29368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200" b="0" i="0" u="none" strike="noStrike" cap="none" normalizeH="0" baseline="0" smtClean="0">
                          <a:ln>
                            <a:noFill/>
                          </a:ln>
                          <a:solidFill>
                            <a:schemeClr val="tx1"/>
                          </a:solidFill>
                          <a:effectLst/>
                          <a:latin typeface="宋体" pitchFamily="2" charset="-122"/>
                          <a:ea typeface="宋体" pitchFamily="2" charset="-122"/>
                          <a:cs typeface="Arial" pitchFamily="34" charset="0"/>
                        </a:rPr>
                        <a:t>是</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是</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否</a:t>
                      </a:r>
                    </a:p>
                  </a:txBody>
                  <a:tcPr marL="7620" marR="7620" marT="7620" marB="0" anchor="ctr" horzOverflow="overflow">
                    <a:lnL>
                      <a:noFill/>
                    </a:lnL>
                    <a:lnR>
                      <a:noFill/>
                    </a:lnR>
                    <a:lnT>
                      <a:noFill/>
                    </a:lnT>
                    <a:lnB>
                      <a:noFill/>
                    </a:lnB>
                    <a:lnTlToBr>
                      <a:noFill/>
                    </a:lnTlToBr>
                    <a:lnBlToTr>
                      <a:noFill/>
                    </a:lnBlToTr>
                    <a:solidFill>
                      <a:srgbClr val="92D050"/>
                    </a:solid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200" b="0" i="0" u="none" strike="noStrike" cap="none" normalizeH="0" baseline="0" dirty="0" smtClean="0">
                          <a:ln>
                            <a:noFill/>
                          </a:ln>
                          <a:solidFill>
                            <a:schemeClr val="tx1"/>
                          </a:solidFill>
                          <a:effectLst/>
                          <a:latin typeface="宋体" pitchFamily="2" charset="-122"/>
                          <a:ea typeface="宋体" pitchFamily="2" charset="-122"/>
                          <a:cs typeface="Arial" pitchFamily="34" charset="0"/>
                        </a:rPr>
                        <a:t>？</a:t>
                      </a:r>
                    </a:p>
                  </a:txBody>
                  <a:tcPr marL="7620" marR="7620" marT="7620" marB="0" anchor="ctr" horzOverflow="overflow">
                    <a:lnL>
                      <a:noFill/>
                    </a:lnL>
                    <a:lnR>
                      <a:noFill/>
                    </a:lnR>
                    <a:lnT>
                      <a:noFill/>
                    </a:lnT>
                    <a:lnB>
                      <a:noFill/>
                    </a:lnB>
                    <a:lnTlToBr>
                      <a:noFill/>
                    </a:lnTlToBr>
                    <a:lnBlToTr>
                      <a:noFill/>
                    </a:lnBlToTr>
                    <a:solidFill>
                      <a:srgbClr val="92D050"/>
                    </a:solidFill>
                  </a:tcPr>
                </a:tc>
              </a:tr>
            </a:tbl>
          </a:graphicData>
        </a:graphic>
      </p:graphicFrame>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27" name="组合 6"/>
          <p:cNvGrpSpPr>
            <a:grpSpLocks/>
          </p:cNvGrpSpPr>
          <p:nvPr/>
        </p:nvGrpSpPr>
        <p:grpSpPr bwMode="auto">
          <a:xfrm>
            <a:off x="1285875" y="0"/>
            <a:ext cx="6370638" cy="1292225"/>
            <a:chOff x="-376793" y="549348"/>
            <a:chExt cx="6673704" cy="1353900"/>
          </a:xfrm>
        </p:grpSpPr>
        <p:grpSp>
          <p:nvGrpSpPr>
            <p:cNvPr id="1089" name="剪去单角的矩形 7"/>
            <p:cNvGrpSpPr>
              <a:grpSpLocks/>
            </p:cNvGrpSpPr>
            <p:nvPr/>
          </p:nvGrpSpPr>
          <p:grpSpPr bwMode="auto">
            <a:xfrm>
              <a:off x="-376793" y="549348"/>
              <a:ext cx="6673704" cy="1353900"/>
              <a:chOff x="-359664" y="621792"/>
              <a:chExt cx="6370320" cy="1292352"/>
            </a:xfrm>
          </p:grpSpPr>
          <p:pic>
            <p:nvPicPr>
              <p:cNvPr id="1093" name="剪去单角的矩形 7"/>
              <p:cNvPicPr>
                <a:picLocks noChangeArrowheads="1"/>
              </p:cNvPicPr>
              <p:nvPr/>
            </p:nvPicPr>
            <p:blipFill>
              <a:blip r:embed="rId3"/>
              <a:srcRect/>
              <a:stretch>
                <a:fillRect/>
              </a:stretch>
            </p:blipFill>
            <p:spPr bwMode="auto">
              <a:xfrm>
                <a:off x="-359664" y="621792"/>
                <a:ext cx="6370320" cy="1292352"/>
              </a:xfrm>
              <a:prstGeom prst="rect">
                <a:avLst/>
              </a:prstGeom>
              <a:noFill/>
              <a:ln w="9525">
                <a:noFill/>
                <a:miter lim="800000"/>
                <a:headEnd/>
                <a:tailEnd/>
              </a:ln>
            </p:spPr>
          </p:pic>
          <p:sp>
            <p:nvSpPr>
              <p:cNvPr id="1094"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1090" name="组合 7"/>
            <p:cNvGrpSpPr>
              <a:grpSpLocks/>
            </p:cNvGrpSpPr>
            <p:nvPr/>
          </p:nvGrpSpPr>
          <p:grpSpPr bwMode="auto">
            <a:xfrm>
              <a:off x="428596" y="571480"/>
              <a:ext cx="4749303" cy="1085714"/>
              <a:chOff x="714348" y="500042"/>
              <a:chExt cx="4749303" cy="1085714"/>
            </a:xfrm>
          </p:grpSpPr>
          <p:sp>
            <p:nvSpPr>
              <p:cNvPr id="1091" name="TextBox 9"/>
              <p:cNvSpPr txBox="1">
                <a:spLocks noChangeArrowheads="1"/>
              </p:cNvSpPr>
              <p:nvPr/>
            </p:nvSpPr>
            <p:spPr bwMode="auto">
              <a:xfrm>
                <a:off x="1705127" y="627550"/>
                <a:ext cx="3758524"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分类问题</a:t>
                </a:r>
              </a:p>
            </p:txBody>
          </p:sp>
          <p:pic>
            <p:nvPicPr>
              <p:cNvPr id="1092" name="图片 10" descr="ICON2.png"/>
              <p:cNvPicPr>
                <a:picLocks noChangeAspect="1"/>
              </p:cNvPicPr>
              <p:nvPr/>
            </p:nvPicPr>
            <p:blipFill>
              <a:blip r:embed="rId4"/>
              <a:srcRect/>
              <a:stretch>
                <a:fillRect/>
              </a:stretch>
            </p:blipFill>
            <p:spPr bwMode="auto">
              <a:xfrm>
                <a:off x="714348" y="500042"/>
                <a:ext cx="1104762" cy="1085714"/>
              </a:xfrm>
              <a:prstGeom prst="rect">
                <a:avLst/>
              </a:prstGeom>
              <a:noFill/>
              <a:ln w="9525">
                <a:noFill/>
                <a:miter lim="800000"/>
                <a:headEnd/>
                <a:tailEnd/>
              </a:ln>
            </p:spPr>
          </p:pic>
        </p:grpSp>
      </p:grpSp>
      <p:graphicFrame>
        <p:nvGraphicFramePr>
          <p:cNvPr id="9" name="表格 8"/>
          <p:cNvGraphicFramePr>
            <a:graphicFrameLocks noGrp="1"/>
          </p:cNvGraphicFramePr>
          <p:nvPr/>
        </p:nvGraphicFramePr>
        <p:xfrm>
          <a:off x="1371600" y="1447800"/>
          <a:ext cx="5867400" cy="3657600"/>
        </p:xfrm>
        <a:graphic>
          <a:graphicData uri="http://schemas.openxmlformats.org/drawingml/2006/table">
            <a:tbl>
              <a:tblPr/>
              <a:tblGrid>
                <a:gridCol w="823495"/>
                <a:gridCol w="1338179"/>
                <a:gridCol w="1338179"/>
                <a:gridCol w="1646989"/>
                <a:gridCol w="720558"/>
              </a:tblGrid>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rPr>
                        <a:t>税号</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去年退税</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婚姻状况</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可征税收入</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逃税</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1</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单身</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125k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2</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婚姻中</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100k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3</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单身</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70k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4</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婚姻中</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dirty="0" smtClean="0">
                          <a:ln>
                            <a:noFill/>
                          </a:ln>
                          <a:solidFill>
                            <a:schemeClr val="tx1"/>
                          </a:solidFill>
                          <a:effectLst/>
                          <a:latin typeface="Arial" pitchFamily="34" charset="0"/>
                          <a:ea typeface="宋体" pitchFamily="2" charset="-122"/>
                          <a:cs typeface="Arial" pitchFamily="34" charset="0"/>
                        </a:rPr>
                        <a:t>120k</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5</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离婚</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95k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6</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婚姻中</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60k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7</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离婚</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220k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8</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单身</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85k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9</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婚姻中</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75k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10</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否</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单身</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1800" b="0" i="0" u="none" strike="noStrike" cap="none" normalizeH="0" baseline="0" smtClean="0">
                          <a:ln>
                            <a:noFill/>
                          </a:ln>
                          <a:solidFill>
                            <a:schemeClr val="tx1"/>
                          </a:solidFill>
                          <a:effectLst/>
                          <a:latin typeface="Arial" pitchFamily="34" charset="0"/>
                          <a:ea typeface="宋体" pitchFamily="2" charset="-122"/>
                          <a:cs typeface="Arial" pitchFamily="34" charset="0"/>
                        </a:rPr>
                        <a:t>90k</a:t>
                      </a:r>
                      <a:endPar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zh-CN" altLang="en-US" sz="1800" b="0" i="0" u="none" strike="noStrike" cap="none" normalizeH="0" baseline="0" smtClean="0">
                          <a:ln>
                            <a:noFill/>
                          </a:ln>
                          <a:solidFill>
                            <a:schemeClr val="tx1"/>
                          </a:solidFill>
                          <a:effectLst/>
                          <a:latin typeface="Arial" pitchFamily="34" charset="0"/>
                          <a:ea typeface="宋体" pitchFamily="2" charset="-122"/>
                          <a:cs typeface="Arial" pitchFamily="34" charset="0"/>
                        </a:rPr>
                        <a:t>是</a:t>
                      </a: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r h="304800">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Arial" pitchFamily="34" charset="0"/>
                      </a:endParaRPr>
                    </a:p>
                  </a:txBody>
                  <a:tcPr marL="7620" marR="7620" marT="7620" marB="0" anchor="b" horzOverflow="overflow">
                    <a:lnL>
                      <a:noFill/>
                    </a:lnL>
                    <a:lnR>
                      <a:noFill/>
                    </a:lnR>
                    <a:lnT>
                      <a:noFill/>
                    </a:lnT>
                    <a:lnB>
                      <a:noFill/>
                    </a:lnB>
                    <a:lnTlToBr>
                      <a:noFill/>
                    </a:lnTlToBr>
                    <a:lnBlToTr>
                      <a:noFill/>
                    </a:lnBlToTr>
                    <a:solidFill>
                      <a:srgbClr val="92D050">
                        <a:alpha val="49000"/>
                      </a:srgbClr>
                    </a:solidFill>
                  </a:tcPr>
                </a:tc>
              </a:tr>
            </a:tbl>
          </a:graphicData>
        </a:graphic>
      </p:graphicFrame>
      <p:graphicFrame>
        <p:nvGraphicFramePr>
          <p:cNvPr id="1026" name="Object 3"/>
          <p:cNvGraphicFramePr>
            <a:graphicFrameLocks noChangeAspect="1"/>
          </p:cNvGraphicFramePr>
          <p:nvPr/>
        </p:nvGraphicFramePr>
        <p:xfrm>
          <a:off x="762000" y="5334000"/>
          <a:ext cx="7943850" cy="381000"/>
        </p:xfrm>
        <a:graphic>
          <a:graphicData uri="http://schemas.openxmlformats.org/presentationml/2006/ole">
            <p:oleObj spid="_x0000_s1026" name="Equation" r:id="rId5" imgW="4483080" imgH="215640" progId="Equation.DSMT4">
              <p:embed/>
            </p:oleObj>
          </a:graphicData>
        </a:graphic>
      </p:graphicFrame>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40000"/>
            <a:lumOff val="60000"/>
          </a:schemeClr>
        </a:solidFill>
        <a:effectLst/>
      </p:bgPr>
    </p:bg>
    <p:spTree>
      <p:nvGrpSpPr>
        <p:cNvPr id="1" name=""/>
        <p:cNvGrpSpPr/>
        <p:nvPr/>
      </p:nvGrpSpPr>
      <p:grpSpPr>
        <a:xfrm>
          <a:off x="0" y="0"/>
          <a:ext cx="0" cy="0"/>
          <a:chOff x="0" y="0"/>
          <a:chExt cx="0" cy="0"/>
        </a:xfrm>
      </p:grpSpPr>
      <p:grpSp>
        <p:nvGrpSpPr>
          <p:cNvPr id="41986" name="组合 6"/>
          <p:cNvGrpSpPr>
            <a:grpSpLocks/>
          </p:cNvGrpSpPr>
          <p:nvPr/>
        </p:nvGrpSpPr>
        <p:grpSpPr bwMode="auto">
          <a:xfrm>
            <a:off x="1071563" y="214313"/>
            <a:ext cx="6727825" cy="1292225"/>
            <a:chOff x="-750998" y="549348"/>
            <a:chExt cx="7047909" cy="1353900"/>
          </a:xfrm>
        </p:grpSpPr>
        <p:grpSp>
          <p:nvGrpSpPr>
            <p:cNvPr id="42073" name="剪去单角的矩形 7"/>
            <p:cNvGrpSpPr>
              <a:grpSpLocks/>
            </p:cNvGrpSpPr>
            <p:nvPr/>
          </p:nvGrpSpPr>
          <p:grpSpPr bwMode="auto">
            <a:xfrm>
              <a:off x="-376793" y="549348"/>
              <a:ext cx="6673704" cy="1353900"/>
              <a:chOff x="-359664" y="621792"/>
              <a:chExt cx="6370320" cy="1292352"/>
            </a:xfrm>
          </p:grpSpPr>
          <p:pic>
            <p:nvPicPr>
              <p:cNvPr id="42077" name="剪去单角的矩形 7"/>
              <p:cNvPicPr>
                <a:picLocks noChangeArrowheads="1"/>
              </p:cNvPicPr>
              <p:nvPr/>
            </p:nvPicPr>
            <p:blipFill>
              <a:blip r:embed="rId3"/>
              <a:srcRect/>
              <a:stretch>
                <a:fillRect/>
              </a:stretch>
            </p:blipFill>
            <p:spPr bwMode="auto">
              <a:xfrm>
                <a:off x="-359664" y="621792"/>
                <a:ext cx="6370320" cy="1292352"/>
              </a:xfrm>
              <a:prstGeom prst="rect">
                <a:avLst/>
              </a:prstGeom>
              <a:noFill/>
              <a:ln w="9525">
                <a:noFill/>
                <a:miter lim="800000"/>
                <a:headEnd/>
                <a:tailEnd/>
              </a:ln>
            </p:spPr>
          </p:pic>
          <p:sp>
            <p:nvSpPr>
              <p:cNvPr id="42078"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42074" name="组合 7"/>
            <p:cNvGrpSpPr>
              <a:grpSpLocks/>
            </p:cNvGrpSpPr>
            <p:nvPr/>
          </p:nvGrpSpPr>
          <p:grpSpPr bwMode="auto">
            <a:xfrm>
              <a:off x="-750998" y="624172"/>
              <a:ext cx="5247661" cy="1085714"/>
              <a:chOff x="-465246" y="552734"/>
              <a:chExt cx="5247661" cy="1085714"/>
            </a:xfrm>
          </p:grpSpPr>
          <p:sp>
            <p:nvSpPr>
              <p:cNvPr id="42075" name="TextBox 9"/>
              <p:cNvSpPr txBox="1">
                <a:spLocks noChangeArrowheads="1"/>
              </p:cNvSpPr>
              <p:nvPr/>
            </p:nvSpPr>
            <p:spPr bwMode="auto">
              <a:xfrm>
                <a:off x="432792" y="627582"/>
                <a:ext cx="4349623"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分类的流程</a:t>
                </a:r>
              </a:p>
            </p:txBody>
          </p:sp>
          <p:pic>
            <p:nvPicPr>
              <p:cNvPr id="42076" name="图片 10" descr="ICON2.png"/>
              <p:cNvPicPr>
                <a:picLocks noChangeAspect="1"/>
              </p:cNvPicPr>
              <p:nvPr/>
            </p:nvPicPr>
            <p:blipFill>
              <a:blip r:embed="rId4"/>
              <a:srcRect/>
              <a:stretch>
                <a:fillRect/>
              </a:stretch>
            </p:blipFill>
            <p:spPr bwMode="auto">
              <a:xfrm>
                <a:off x="-465246" y="552734"/>
                <a:ext cx="1104762" cy="1085714"/>
              </a:xfrm>
              <a:prstGeom prst="rect">
                <a:avLst/>
              </a:prstGeom>
              <a:noFill/>
              <a:ln w="9525">
                <a:noFill/>
                <a:miter lim="800000"/>
                <a:headEnd/>
                <a:tailEnd/>
              </a:ln>
            </p:spPr>
          </p:pic>
        </p:grpSp>
      </p:grpSp>
      <p:sp>
        <p:nvSpPr>
          <p:cNvPr id="41987" name="TextBox 9"/>
          <p:cNvSpPr txBox="1">
            <a:spLocks noChangeArrowheads="1"/>
          </p:cNvSpPr>
          <p:nvPr/>
        </p:nvSpPr>
        <p:spPr bwMode="auto">
          <a:xfrm>
            <a:off x="357188" y="1714500"/>
            <a:ext cx="8643937" cy="369888"/>
          </a:xfrm>
          <a:prstGeom prst="rect">
            <a:avLst/>
          </a:prstGeom>
          <a:noFill/>
          <a:ln w="9525">
            <a:noFill/>
            <a:miter lim="800000"/>
            <a:headEnd/>
            <a:tailEnd/>
          </a:ln>
        </p:spPr>
        <p:txBody>
          <a:bodyPr>
            <a:spAutoFit/>
          </a:bodyPr>
          <a:lstStyle/>
          <a:p>
            <a:endParaRPr lang="zh-CN" altLang="en-US"/>
          </a:p>
        </p:txBody>
      </p:sp>
      <p:sp>
        <p:nvSpPr>
          <p:cNvPr id="41988" name="TextBox 9"/>
          <p:cNvSpPr txBox="1">
            <a:spLocks noChangeArrowheads="1"/>
          </p:cNvSpPr>
          <p:nvPr/>
        </p:nvSpPr>
        <p:spPr bwMode="auto">
          <a:xfrm>
            <a:off x="642938" y="1714500"/>
            <a:ext cx="8072437" cy="369888"/>
          </a:xfrm>
          <a:prstGeom prst="rect">
            <a:avLst/>
          </a:prstGeom>
          <a:noFill/>
          <a:ln w="9525">
            <a:noFill/>
            <a:miter lim="800000"/>
            <a:headEnd/>
            <a:tailEnd/>
          </a:ln>
        </p:spPr>
        <p:txBody>
          <a:bodyPr>
            <a:spAutoFit/>
          </a:bodyPr>
          <a:lstStyle/>
          <a:p>
            <a:endParaRPr lang="zh-CN" altLang="en-US"/>
          </a:p>
        </p:txBody>
      </p:sp>
      <p:sp>
        <p:nvSpPr>
          <p:cNvPr id="11" name="TextBox 10"/>
          <p:cNvSpPr txBox="1"/>
          <p:nvPr/>
        </p:nvSpPr>
        <p:spPr>
          <a:xfrm>
            <a:off x="500063" y="1643063"/>
            <a:ext cx="8072437" cy="461962"/>
          </a:xfrm>
          <a:prstGeom prst="rect">
            <a:avLst/>
          </a:prstGeom>
          <a:noFill/>
        </p:spPr>
        <p:txBody>
          <a:bodyPr>
            <a:spAutoFit/>
          </a:bodyPr>
          <a:lstStyle/>
          <a:p>
            <a:pPr>
              <a:defRPr/>
            </a:pPr>
            <a:r>
              <a:rPr lang="zh-CN" altLang="en-US" sz="2400" kern="1400" dirty="0">
                <a:latin typeface="Arial" charset="0"/>
              </a:rPr>
              <a:t>       </a:t>
            </a:r>
            <a:r>
              <a:rPr lang="en-US" altLang="zh-CN" sz="2400" kern="1400" dirty="0">
                <a:latin typeface="Arial" charset="0"/>
              </a:rPr>
              <a:t> </a:t>
            </a:r>
            <a:endParaRPr lang="zh-CN" altLang="en-US" sz="2400" kern="1400" dirty="0">
              <a:latin typeface="Arial" charset="0"/>
            </a:endParaRPr>
          </a:p>
        </p:txBody>
      </p:sp>
      <p:graphicFrame>
        <p:nvGraphicFramePr>
          <p:cNvPr id="12" name="Group 4"/>
          <p:cNvGraphicFramePr>
            <a:graphicFrameLocks noGrp="1"/>
          </p:cNvGraphicFramePr>
          <p:nvPr/>
        </p:nvGraphicFramePr>
        <p:xfrm>
          <a:off x="755650" y="1195388"/>
          <a:ext cx="7245350" cy="3570287"/>
        </p:xfrm>
        <a:graphic>
          <a:graphicData uri="http://schemas.openxmlformats.org/drawingml/2006/table">
            <a:tbl>
              <a:tblPr/>
              <a:tblGrid>
                <a:gridCol w="1004888"/>
                <a:gridCol w="687387"/>
                <a:gridCol w="1071563"/>
                <a:gridCol w="1114425"/>
                <a:gridCol w="1006475"/>
                <a:gridCol w="1103312"/>
                <a:gridCol w="1257300"/>
              </a:tblGrid>
              <a:tr h="36036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dirty="0" smtClean="0">
                          <a:ln>
                            <a:noFill/>
                          </a:ln>
                          <a:solidFill>
                            <a:schemeClr val="tx1"/>
                          </a:solidFill>
                          <a:effectLst/>
                          <a:latin typeface="Calibri"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36036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3063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3698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36195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36036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36195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动物A</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无</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rgbClr val="008000"/>
                          </a:solidFill>
                          <a:effectLst/>
                          <a:latin typeface="Calibri"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327025">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动物B</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rgbClr val="008000"/>
                          </a:solidFill>
                          <a:effectLst/>
                          <a:latin typeface="Calibri" pitchFamily="34" charset="0"/>
                          <a:ea typeface="楷体_GB2312" pitchFamily="1" charset="-122"/>
                        </a:rPr>
                        <a:t>？</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bl>
          </a:graphicData>
        </a:graphic>
      </p:graphicFrame>
      <p:sp>
        <p:nvSpPr>
          <p:cNvPr id="14" name="Rectangle 3"/>
          <p:cNvSpPr txBox="1">
            <a:spLocks noChangeArrowheads="1"/>
          </p:cNvSpPr>
          <p:nvPr/>
        </p:nvSpPr>
        <p:spPr>
          <a:xfrm>
            <a:off x="357188" y="5000625"/>
            <a:ext cx="7777162" cy="960438"/>
          </a:xfrm>
          <a:prstGeom prst="rect">
            <a:avLst/>
          </a:prstGeom>
          <a:ln/>
        </p:spPr>
        <p:txBody>
          <a:bodyPr/>
          <a:lstStyle/>
          <a:p>
            <a:pPr marL="342900" indent="-342900" eaLnBrk="0" hangingPunct="0">
              <a:spcBef>
                <a:spcPct val="20000"/>
              </a:spcBef>
              <a:buFont typeface="Arial" pitchFamily="34" charset="0"/>
              <a:buChar char="•"/>
              <a:defRPr/>
            </a:pPr>
            <a:r>
              <a:rPr lang="zh-CN" altLang="en-US" sz="2000" b="1" dirty="0">
                <a:solidFill>
                  <a:srgbClr val="660033"/>
                </a:solidFill>
                <a:latin typeface="+mn-lt"/>
                <a:ea typeface="+mn-ea"/>
              </a:rPr>
              <a:t>根据现有的知识，我们得到了一些</a:t>
            </a:r>
            <a:r>
              <a:rPr lang="zh-CN" altLang="en-US" sz="2000" b="1" dirty="0">
                <a:solidFill>
                  <a:srgbClr val="660033"/>
                </a:solidFill>
                <a:latin typeface="+mn-lt"/>
                <a:ea typeface="+mn-ea"/>
              </a:rPr>
              <a:t>关于</a:t>
            </a:r>
            <a:r>
              <a:rPr lang="zh-CN" altLang="en-US" sz="2000" b="1" dirty="0">
                <a:solidFill>
                  <a:srgbClr val="660033"/>
                </a:solidFill>
                <a:latin typeface="+mn-lt"/>
                <a:ea typeface="+mn-ea"/>
              </a:rPr>
              <a:t>哺乳</a:t>
            </a:r>
            <a:r>
              <a:rPr lang="zh-CN" altLang="en-US" sz="2000" b="1" dirty="0">
                <a:solidFill>
                  <a:srgbClr val="660033"/>
                </a:solidFill>
                <a:latin typeface="+mn-lt"/>
                <a:ea typeface="+mn-ea"/>
              </a:rPr>
              <a:t>动物</a:t>
            </a:r>
            <a:r>
              <a:rPr lang="zh-CN" altLang="en-US" sz="2000" b="1" dirty="0">
                <a:solidFill>
                  <a:srgbClr val="660033"/>
                </a:solidFill>
                <a:latin typeface="+mn-lt"/>
                <a:ea typeface="+mn-ea"/>
              </a:rPr>
              <a:t>和鸟类的信息，我们能否对新发现的物种，比如动物A，动物B进行分类？</a:t>
            </a:r>
          </a:p>
          <a:p>
            <a:pPr marL="342900" indent="-342900" eaLnBrk="0" hangingPunct="0">
              <a:spcBef>
                <a:spcPct val="20000"/>
              </a:spcBef>
              <a:buFont typeface="Arial" pitchFamily="34" charset="0"/>
              <a:buChar char="•"/>
              <a:defRPr/>
            </a:pPr>
            <a:endParaRPr lang="zh-CN" altLang="en-US" dirty="0">
              <a:latin typeface="+mn-lt"/>
              <a:ea typeface="+mn-ea"/>
            </a:endParaRPr>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graphicFrame>
        <p:nvGraphicFramePr>
          <p:cNvPr id="4" name="Group 4"/>
          <p:cNvGraphicFramePr>
            <a:graphicFrameLocks noGrp="1"/>
          </p:cNvGraphicFramePr>
          <p:nvPr/>
        </p:nvGraphicFramePr>
        <p:xfrm>
          <a:off x="642938" y="2857500"/>
          <a:ext cx="7920037" cy="2994025"/>
        </p:xfrm>
        <a:graphic>
          <a:graphicData uri="http://schemas.openxmlformats.org/drawingml/2006/table">
            <a:tbl>
              <a:tblPr/>
              <a:tblGrid>
                <a:gridCol w="1098550"/>
                <a:gridCol w="750887"/>
                <a:gridCol w="1171575"/>
                <a:gridCol w="1217613"/>
                <a:gridCol w="1100137"/>
                <a:gridCol w="1206500"/>
                <a:gridCol w="1374775"/>
              </a:tblGrid>
              <a:tr h="43180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dirty="0" smtClean="0">
                          <a:ln>
                            <a:noFill/>
                          </a:ln>
                          <a:solidFill>
                            <a:schemeClr val="tx1"/>
                          </a:solidFill>
                          <a:effectLst/>
                          <a:latin typeface="Calibri"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r>
              <a:tr h="43021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180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40163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180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33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bl>
          </a:graphicData>
        </a:graphic>
      </p:graphicFrame>
      <p:sp>
        <p:nvSpPr>
          <p:cNvPr id="43076" name="TextBox 4"/>
          <p:cNvSpPr txBox="1">
            <a:spLocks noChangeArrowheads="1"/>
          </p:cNvSpPr>
          <p:nvPr/>
        </p:nvSpPr>
        <p:spPr bwMode="auto">
          <a:xfrm>
            <a:off x="1000125" y="428625"/>
            <a:ext cx="6715125" cy="369888"/>
          </a:xfrm>
          <a:prstGeom prst="rect">
            <a:avLst/>
          </a:prstGeom>
          <a:noFill/>
          <a:ln w="9525">
            <a:noFill/>
            <a:miter lim="800000"/>
            <a:headEnd/>
            <a:tailEnd/>
          </a:ln>
        </p:spPr>
        <p:txBody>
          <a:bodyPr>
            <a:spAutoFit/>
          </a:bodyPr>
          <a:lstStyle/>
          <a:p>
            <a:endParaRPr lang="zh-CN" altLang="en-US"/>
          </a:p>
        </p:txBody>
      </p:sp>
      <p:sp>
        <p:nvSpPr>
          <p:cNvPr id="6" name="Rectangle 3"/>
          <p:cNvSpPr txBox="1">
            <a:spLocks noChangeArrowheads="1"/>
          </p:cNvSpPr>
          <p:nvPr/>
        </p:nvSpPr>
        <p:spPr>
          <a:xfrm>
            <a:off x="714375" y="1285875"/>
            <a:ext cx="7920038" cy="1368425"/>
          </a:xfrm>
          <a:prstGeom prst="rect">
            <a:avLst/>
          </a:prstGeom>
          <a:ln/>
        </p:spPr>
        <p:txBody>
          <a:bodyPr/>
          <a:lstStyle/>
          <a:p>
            <a:pPr marL="342900" indent="-342900" eaLnBrk="0" hangingPunct="0">
              <a:spcBef>
                <a:spcPct val="20000"/>
              </a:spcBef>
              <a:buFont typeface="Arial" pitchFamily="34" charset="0"/>
              <a:buChar char="•"/>
              <a:defRPr/>
            </a:pPr>
            <a:r>
              <a:rPr lang="zh-CN" altLang="en-US" sz="2400" dirty="0">
                <a:solidFill>
                  <a:srgbClr val="660033"/>
                </a:solidFill>
                <a:latin typeface="+mn-lt"/>
                <a:ea typeface="+mn-ea"/>
              </a:rPr>
              <a:t>步骤一：将样本转化为等维的数据特征（特征提取）。</a:t>
            </a:r>
          </a:p>
          <a:p>
            <a:pPr marL="742950" lvl="1" indent="-285750" eaLnBrk="0" hangingPunct="0">
              <a:spcBef>
                <a:spcPct val="20000"/>
              </a:spcBef>
              <a:buFont typeface="Arial" pitchFamily="34" charset="0"/>
              <a:buChar char="–"/>
              <a:defRPr/>
            </a:pPr>
            <a:r>
              <a:rPr lang="zh-CN" altLang="en-US" sz="2000" dirty="0">
                <a:solidFill>
                  <a:srgbClr val="660033"/>
                </a:solidFill>
                <a:latin typeface="+mn-lt"/>
                <a:ea typeface="华文新魏" pitchFamily="2" charset="-122"/>
              </a:rPr>
              <a:t>所有样本必须具有相同数量的特征</a:t>
            </a:r>
          </a:p>
          <a:p>
            <a:pPr marL="742950" lvl="1" indent="-285750" eaLnBrk="0" hangingPunct="0">
              <a:spcBef>
                <a:spcPct val="20000"/>
              </a:spcBef>
              <a:buFont typeface="Arial" pitchFamily="34" charset="0"/>
              <a:buChar char="–"/>
              <a:defRPr/>
            </a:pPr>
            <a:r>
              <a:rPr lang="zh-CN" altLang="en-US" sz="2000" dirty="0">
                <a:solidFill>
                  <a:srgbClr val="660033"/>
                </a:solidFill>
                <a:latin typeface="+mn-lt"/>
                <a:ea typeface="华文新魏" pitchFamily="2" charset="-122"/>
              </a:rPr>
              <a:t>兼顾特征的全面性和独立性</a:t>
            </a:r>
          </a:p>
          <a:p>
            <a:pPr marL="342900" indent="-342900" eaLnBrk="0" hangingPunct="0">
              <a:spcBef>
                <a:spcPct val="20000"/>
              </a:spcBef>
              <a:buFont typeface="Arial" pitchFamily="34" charset="0"/>
              <a:buChar char="•"/>
              <a:defRPr/>
            </a:pPr>
            <a:endParaRPr lang="zh-CN" altLang="en-US" sz="2000" dirty="0">
              <a:latin typeface="+mn-lt"/>
              <a:ea typeface="+mn-ea"/>
            </a:endParaRPr>
          </a:p>
        </p:txBody>
      </p:sp>
      <p:grpSp>
        <p:nvGrpSpPr>
          <p:cNvPr id="43078" name="组合 6"/>
          <p:cNvGrpSpPr>
            <a:grpSpLocks/>
          </p:cNvGrpSpPr>
          <p:nvPr/>
        </p:nvGrpSpPr>
        <p:grpSpPr bwMode="auto">
          <a:xfrm>
            <a:off x="1071563" y="214313"/>
            <a:ext cx="6727825" cy="1292225"/>
            <a:chOff x="-750998" y="549348"/>
            <a:chExt cx="7047909" cy="1353900"/>
          </a:xfrm>
        </p:grpSpPr>
        <p:grpSp>
          <p:nvGrpSpPr>
            <p:cNvPr id="43079" name="剪去单角的矩形 7"/>
            <p:cNvGrpSpPr>
              <a:grpSpLocks/>
            </p:cNvGrpSpPr>
            <p:nvPr/>
          </p:nvGrpSpPr>
          <p:grpSpPr bwMode="auto">
            <a:xfrm>
              <a:off x="-376793" y="549348"/>
              <a:ext cx="6673704" cy="1353900"/>
              <a:chOff x="-359664" y="621792"/>
              <a:chExt cx="6370320" cy="1292352"/>
            </a:xfrm>
          </p:grpSpPr>
          <p:pic>
            <p:nvPicPr>
              <p:cNvPr id="43083"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3084"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43080" name="组合 7"/>
            <p:cNvGrpSpPr>
              <a:grpSpLocks/>
            </p:cNvGrpSpPr>
            <p:nvPr/>
          </p:nvGrpSpPr>
          <p:grpSpPr bwMode="auto">
            <a:xfrm>
              <a:off x="-750998" y="624172"/>
              <a:ext cx="5247661" cy="1085714"/>
              <a:chOff x="-465246" y="552734"/>
              <a:chExt cx="5247661" cy="1085714"/>
            </a:xfrm>
          </p:grpSpPr>
          <p:sp>
            <p:nvSpPr>
              <p:cNvPr id="43081" name="TextBox 9"/>
              <p:cNvSpPr txBox="1">
                <a:spLocks noChangeArrowheads="1"/>
              </p:cNvSpPr>
              <p:nvPr/>
            </p:nvSpPr>
            <p:spPr bwMode="auto">
              <a:xfrm>
                <a:off x="432792" y="627582"/>
                <a:ext cx="4349623"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分类的流程</a:t>
                </a:r>
              </a:p>
            </p:txBody>
          </p:sp>
          <p:pic>
            <p:nvPicPr>
              <p:cNvPr id="43082" name="图片 10" descr="ICON2.png"/>
              <p:cNvPicPr>
                <a:picLocks noChangeAspect="1"/>
              </p:cNvPicPr>
              <p:nvPr/>
            </p:nvPicPr>
            <p:blipFill>
              <a:blip r:embed="rId3"/>
              <a:srcRect/>
              <a:stretch>
                <a:fillRect/>
              </a:stretch>
            </p:blipFill>
            <p:spPr bwMode="auto">
              <a:xfrm>
                <a:off x="-465246" y="552734"/>
                <a:ext cx="1104762" cy="1085714"/>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4034" name="TextBox 4"/>
          <p:cNvSpPr txBox="1">
            <a:spLocks noChangeArrowheads="1"/>
          </p:cNvSpPr>
          <p:nvPr/>
        </p:nvSpPr>
        <p:spPr bwMode="auto">
          <a:xfrm>
            <a:off x="1000125" y="428625"/>
            <a:ext cx="6715125" cy="369888"/>
          </a:xfrm>
          <a:prstGeom prst="rect">
            <a:avLst/>
          </a:prstGeom>
          <a:noFill/>
          <a:ln w="9525">
            <a:noFill/>
            <a:miter lim="800000"/>
            <a:headEnd/>
            <a:tailEnd/>
          </a:ln>
        </p:spPr>
        <p:txBody>
          <a:bodyPr>
            <a:spAutoFit/>
          </a:bodyPr>
          <a:lstStyle/>
          <a:p>
            <a:endParaRPr lang="zh-CN" altLang="en-US"/>
          </a:p>
        </p:txBody>
      </p:sp>
      <p:graphicFrame>
        <p:nvGraphicFramePr>
          <p:cNvPr id="7" name="Group 4"/>
          <p:cNvGraphicFramePr>
            <a:graphicFrameLocks noGrp="1"/>
          </p:cNvGraphicFramePr>
          <p:nvPr/>
        </p:nvGraphicFramePr>
        <p:xfrm>
          <a:off x="785813" y="3286125"/>
          <a:ext cx="7920037" cy="2938463"/>
        </p:xfrm>
        <a:graphic>
          <a:graphicData uri="http://schemas.openxmlformats.org/drawingml/2006/table">
            <a:tbl>
              <a:tblPr/>
              <a:tblGrid>
                <a:gridCol w="1098550"/>
                <a:gridCol w="750887"/>
                <a:gridCol w="1171575"/>
                <a:gridCol w="1217613"/>
                <a:gridCol w="1100137"/>
                <a:gridCol w="1206500"/>
                <a:gridCol w="1374775"/>
              </a:tblGrid>
              <a:tr h="14605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dirty="0" smtClean="0">
                          <a:ln>
                            <a:noFill/>
                          </a:ln>
                          <a:solidFill>
                            <a:schemeClr val="tx1"/>
                          </a:solidFill>
                          <a:effectLst/>
                          <a:latin typeface="Calibri" pitchFamily="34" charset="0"/>
                          <a:ea typeface="楷体_GB2312" pitchFamily="1" charset="-122"/>
                        </a:rPr>
                        <a:t>动物种类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体型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翅膀数量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脚的只数</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是否产蛋</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是否有毛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1800" b="1" i="0" u="none" strike="noStrike" cap="none" normalizeH="0" baseline="0" smtClean="0">
                          <a:ln>
                            <a:noFill/>
                          </a:ln>
                          <a:solidFill>
                            <a:schemeClr val="tx1"/>
                          </a:solidFill>
                          <a:effectLst/>
                          <a:latin typeface="Calibri" pitchFamily="34" charset="0"/>
                          <a:ea typeface="楷体_GB2312" pitchFamily="1" charset="-122"/>
                        </a:rPr>
                        <a:t>类别</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25400" cap="flat" cmpd="sng" algn="ctr">
                      <a:solidFill>
                        <a:srgbClr val="F79646"/>
                      </a:solidFill>
                      <a:prstDash val="solid"/>
                      <a:round/>
                      <a:headEnd type="none" w="med" len="med"/>
                      <a:tailEnd type="none" w="med" len="med"/>
                    </a:lnB>
                    <a:lnTlToBr>
                      <a:noFill/>
                    </a:lnTlToBr>
                    <a:lnBlToTr>
                      <a:noFill/>
                    </a:lnBlToTr>
                    <a:noFill/>
                  </a:tcPr>
                </a:tc>
              </a:tr>
              <a:tr h="43021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狗</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254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1800">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猪</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41433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牛</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0</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4</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否</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dirty="0" smtClean="0">
                          <a:ln>
                            <a:noFill/>
                          </a:ln>
                          <a:solidFill>
                            <a:schemeClr val="hlink"/>
                          </a:solidFill>
                          <a:effectLst/>
                          <a:latin typeface="Calibri" pitchFamily="34" charset="0"/>
                          <a:ea typeface="楷体_GB2312" pitchFamily="1" charset="-122"/>
                        </a:rPr>
                        <a:t>哺乳动物</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0213">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麻雀</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小</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天鹅</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solidFill>
                      <a:srgbClr val="F79646">
                        <a:alpha val="20000"/>
                      </a:srgbClr>
                    </a:solidFill>
                  </a:tcPr>
                </a:tc>
              </a:tr>
              <a:tr h="433388">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大雁</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chemeClr val="tx1"/>
                          </a:solidFill>
                          <a:effectLst/>
                          <a:latin typeface="Calibri" pitchFamily="34" charset="0"/>
                          <a:ea typeface="楷体_GB2312" pitchFamily="1" charset="-122"/>
                        </a:rPr>
                        <a:t>中</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楷体_GB2312" pitchFamily="1" charset="-122"/>
                          <a:ea typeface="楷体_GB2312" pitchFamily="1" charset="-122"/>
                        </a:rPr>
                        <a:t>2</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1" i="0" u="none" strike="noStrike" cap="none" normalizeH="0" baseline="0" smtClean="0">
                          <a:ln>
                            <a:noFill/>
                          </a:ln>
                          <a:solidFill>
                            <a:srgbClr val="008000"/>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93CDDD"/>
                          </a:solidFill>
                          <a:effectLst/>
                          <a:latin typeface="Calibri" pitchFamily="34" charset="0"/>
                          <a:ea typeface="楷体_GB2312" pitchFamily="1" charset="-122"/>
                        </a:rPr>
                        <a:t>是</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rgbClr val="339966"/>
                        </a:buClr>
                        <a:buSzPct val="60000"/>
                        <a:buFont typeface="Wingdings" pitchFamily="2" charset="2"/>
                        <a:buNone/>
                        <a:tabLst/>
                      </a:pPr>
                      <a:r>
                        <a:rPr kumimoji="0" lang="zh-CN" altLang="en-US" sz="2000" b="0" i="0" u="none" strike="noStrike" cap="none" normalizeH="0" baseline="0" smtClean="0">
                          <a:ln>
                            <a:noFill/>
                          </a:ln>
                          <a:solidFill>
                            <a:srgbClr val="3333FF"/>
                          </a:solidFill>
                          <a:effectLst/>
                          <a:latin typeface="Calibri" pitchFamily="34" charset="0"/>
                          <a:ea typeface="楷体_GB2312" pitchFamily="1" charset="-122"/>
                        </a:rPr>
                        <a:t>鸟类</a:t>
                      </a:r>
                    </a:p>
                  </a:txBody>
                  <a:tcPr horzOverflow="overflow">
                    <a:lnL w="12700" cap="flat" cmpd="sng" algn="ctr">
                      <a:solidFill>
                        <a:srgbClr val="F79646"/>
                      </a:solidFill>
                      <a:prstDash val="solid"/>
                      <a:round/>
                      <a:headEnd type="none" w="med" len="med"/>
                      <a:tailEnd type="none" w="med" len="med"/>
                    </a:lnL>
                    <a:lnR w="12700" cap="flat" cmpd="sng" algn="ctr">
                      <a:solidFill>
                        <a:srgbClr val="F79646"/>
                      </a:solidFill>
                      <a:prstDash val="solid"/>
                      <a:round/>
                      <a:headEnd type="none" w="med" len="med"/>
                      <a:tailEnd type="none" w="med" len="med"/>
                    </a:lnR>
                    <a:lnT w="12700" cap="flat" cmpd="sng" algn="ctr">
                      <a:solidFill>
                        <a:srgbClr val="F79646"/>
                      </a:solidFill>
                      <a:prstDash val="solid"/>
                      <a:round/>
                      <a:headEnd type="none" w="med" len="med"/>
                      <a:tailEnd type="none" w="med" len="med"/>
                    </a:lnT>
                    <a:lnB w="12700" cap="flat" cmpd="sng" algn="ctr">
                      <a:solidFill>
                        <a:srgbClr val="F79646"/>
                      </a:solidFill>
                      <a:prstDash val="solid"/>
                      <a:round/>
                      <a:headEnd type="none" w="med" len="med"/>
                      <a:tailEnd type="none" w="med" len="med"/>
                    </a:lnB>
                    <a:lnTlToBr>
                      <a:noFill/>
                    </a:lnTlToBr>
                    <a:lnBlToTr>
                      <a:noFill/>
                    </a:lnBlToTr>
                    <a:noFill/>
                  </a:tcPr>
                </a:tc>
              </a:tr>
            </a:tbl>
          </a:graphicData>
        </a:graphic>
      </p:graphicFrame>
      <p:sp>
        <p:nvSpPr>
          <p:cNvPr id="8" name="Rectangle 3"/>
          <p:cNvSpPr txBox="1">
            <a:spLocks noChangeArrowheads="1"/>
          </p:cNvSpPr>
          <p:nvPr/>
        </p:nvSpPr>
        <p:spPr>
          <a:xfrm>
            <a:off x="928688" y="1714500"/>
            <a:ext cx="7415212" cy="1463675"/>
          </a:xfrm>
          <a:prstGeom prst="rect">
            <a:avLst/>
          </a:prstGeom>
          <a:ln/>
        </p:spPr>
        <p:txBody>
          <a:bodyPr/>
          <a:lstStyle/>
          <a:p>
            <a:pPr marL="342900" indent="-342900" eaLnBrk="0" hangingPunct="0">
              <a:spcBef>
                <a:spcPct val="20000"/>
              </a:spcBef>
              <a:buFont typeface="Arial" pitchFamily="34" charset="0"/>
              <a:buChar char="•"/>
              <a:defRPr/>
            </a:pPr>
            <a:r>
              <a:rPr lang="zh-CN" altLang="en-US" sz="2400" dirty="0">
                <a:solidFill>
                  <a:srgbClr val="660033"/>
                </a:solidFill>
                <a:latin typeface="+mn-lt"/>
                <a:ea typeface="+mn-ea"/>
              </a:rPr>
              <a:t>步骤二：选择与类别相关的特征（特征选择）。</a:t>
            </a:r>
          </a:p>
          <a:p>
            <a:pPr marL="742950" lvl="1" indent="-285750" eaLnBrk="0" hangingPunct="0">
              <a:spcBef>
                <a:spcPct val="20000"/>
              </a:spcBef>
              <a:buFont typeface="Arial" pitchFamily="34" charset="0"/>
              <a:buChar char="–"/>
              <a:defRPr/>
            </a:pPr>
            <a:r>
              <a:rPr lang="zh-CN" altLang="en-US" sz="2000" dirty="0">
                <a:solidFill>
                  <a:srgbClr val="660033"/>
                </a:solidFill>
                <a:latin typeface="+mn-lt"/>
                <a:ea typeface="华文新魏" pitchFamily="2" charset="-122"/>
              </a:rPr>
              <a:t>比如，绿色代表与类别非常相关，黑色代表部分相关，浅蓝色代表完全无关</a:t>
            </a:r>
          </a:p>
          <a:p>
            <a:pPr marL="342900" indent="-342900" eaLnBrk="0" hangingPunct="0">
              <a:spcBef>
                <a:spcPct val="20000"/>
              </a:spcBef>
              <a:buFont typeface="Arial" pitchFamily="34" charset="0"/>
              <a:buChar char="•"/>
              <a:defRPr/>
            </a:pPr>
            <a:endParaRPr lang="zh-CN" altLang="en-US" sz="2000" dirty="0">
              <a:latin typeface="+mn-lt"/>
              <a:ea typeface="+mn-ea"/>
            </a:endParaRPr>
          </a:p>
        </p:txBody>
      </p:sp>
      <p:grpSp>
        <p:nvGrpSpPr>
          <p:cNvPr id="44102" name="组合 6"/>
          <p:cNvGrpSpPr>
            <a:grpSpLocks/>
          </p:cNvGrpSpPr>
          <p:nvPr/>
        </p:nvGrpSpPr>
        <p:grpSpPr bwMode="auto">
          <a:xfrm>
            <a:off x="1071563" y="214313"/>
            <a:ext cx="6727825" cy="1292225"/>
            <a:chOff x="-750998" y="549348"/>
            <a:chExt cx="7047909" cy="1353900"/>
          </a:xfrm>
        </p:grpSpPr>
        <p:grpSp>
          <p:nvGrpSpPr>
            <p:cNvPr id="44103" name="剪去单角的矩形 7"/>
            <p:cNvGrpSpPr>
              <a:grpSpLocks/>
            </p:cNvGrpSpPr>
            <p:nvPr/>
          </p:nvGrpSpPr>
          <p:grpSpPr bwMode="auto">
            <a:xfrm>
              <a:off x="-376793" y="549348"/>
              <a:ext cx="6673704" cy="1353900"/>
              <a:chOff x="-359664" y="621792"/>
              <a:chExt cx="6370320" cy="1292352"/>
            </a:xfrm>
          </p:grpSpPr>
          <p:pic>
            <p:nvPicPr>
              <p:cNvPr id="44107"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4108"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44104" name="组合 7"/>
            <p:cNvGrpSpPr>
              <a:grpSpLocks/>
            </p:cNvGrpSpPr>
            <p:nvPr/>
          </p:nvGrpSpPr>
          <p:grpSpPr bwMode="auto">
            <a:xfrm>
              <a:off x="-750998" y="624172"/>
              <a:ext cx="5247661" cy="1085714"/>
              <a:chOff x="-465246" y="552734"/>
              <a:chExt cx="5247661" cy="1085714"/>
            </a:xfrm>
          </p:grpSpPr>
          <p:sp>
            <p:nvSpPr>
              <p:cNvPr id="44105" name="TextBox 9"/>
              <p:cNvSpPr txBox="1">
                <a:spLocks noChangeArrowheads="1"/>
              </p:cNvSpPr>
              <p:nvPr/>
            </p:nvSpPr>
            <p:spPr bwMode="auto">
              <a:xfrm>
                <a:off x="432792" y="627582"/>
                <a:ext cx="4349623"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分类的流程</a:t>
                </a:r>
              </a:p>
            </p:txBody>
          </p:sp>
          <p:pic>
            <p:nvPicPr>
              <p:cNvPr id="44106" name="图片 10" descr="ICON2.png"/>
              <p:cNvPicPr>
                <a:picLocks noChangeAspect="1"/>
              </p:cNvPicPr>
              <p:nvPr/>
            </p:nvPicPr>
            <p:blipFill>
              <a:blip r:embed="rId3"/>
              <a:srcRect/>
              <a:stretch>
                <a:fillRect/>
              </a:stretch>
            </p:blipFill>
            <p:spPr bwMode="auto">
              <a:xfrm>
                <a:off x="-465246" y="552734"/>
                <a:ext cx="1104762" cy="1085714"/>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3" name="Rectangle 3"/>
          <p:cNvSpPr txBox="1">
            <a:spLocks noChangeArrowheads="1"/>
          </p:cNvSpPr>
          <p:nvPr/>
        </p:nvSpPr>
        <p:spPr>
          <a:xfrm>
            <a:off x="928688" y="1857375"/>
            <a:ext cx="7415212" cy="1295400"/>
          </a:xfrm>
          <a:prstGeom prst="rect">
            <a:avLst/>
          </a:prstGeom>
          <a:ln/>
        </p:spPr>
        <p:txBody>
          <a:bodyPr/>
          <a:lstStyle/>
          <a:p>
            <a:pPr marL="342900" indent="-342900" eaLnBrk="0" hangingPunct="0">
              <a:spcBef>
                <a:spcPct val="20000"/>
              </a:spcBef>
              <a:buFont typeface="Arial" pitchFamily="34" charset="0"/>
              <a:buChar char="•"/>
              <a:defRPr/>
            </a:pPr>
            <a:r>
              <a:rPr lang="zh-CN" altLang="en-US" sz="2400" dirty="0">
                <a:solidFill>
                  <a:srgbClr val="660033"/>
                </a:solidFill>
                <a:latin typeface="+mn-lt"/>
                <a:ea typeface="+mn-ea"/>
              </a:rPr>
              <a:t>步骤三：建立分类模型或分类器（分类）。</a:t>
            </a:r>
          </a:p>
          <a:p>
            <a:pPr marL="742950" lvl="1" indent="-285750" eaLnBrk="0" hangingPunct="0">
              <a:spcBef>
                <a:spcPct val="20000"/>
              </a:spcBef>
              <a:buFont typeface="Arial" pitchFamily="34" charset="0"/>
              <a:buChar char="–"/>
              <a:defRPr/>
            </a:pPr>
            <a:r>
              <a:rPr lang="zh-CN" altLang="en-US" sz="2000" dirty="0">
                <a:solidFill>
                  <a:srgbClr val="660033"/>
                </a:solidFill>
                <a:latin typeface="+mn-lt"/>
                <a:ea typeface="华文新魏" pitchFamily="2" charset="-122"/>
              </a:rPr>
              <a:t>分类器通常可以看作一个函数，它把特征映射到类的空间上</a:t>
            </a:r>
          </a:p>
          <a:p>
            <a:pPr marL="742950" lvl="1" indent="-285750" eaLnBrk="0" hangingPunct="0">
              <a:spcBef>
                <a:spcPct val="20000"/>
              </a:spcBef>
              <a:buFont typeface="Arial" pitchFamily="34" charset="0"/>
              <a:buChar char="–"/>
              <a:defRPr/>
            </a:pPr>
            <a:endParaRPr lang="zh-CN" altLang="en-US" sz="2000" dirty="0">
              <a:latin typeface="+mn-lt"/>
              <a:ea typeface="华文新魏" pitchFamily="2" charset="-122"/>
            </a:endParaRPr>
          </a:p>
          <a:p>
            <a:pPr marL="342900" indent="-342900" eaLnBrk="0" hangingPunct="0">
              <a:spcBef>
                <a:spcPct val="20000"/>
              </a:spcBef>
              <a:buFont typeface="Arial" pitchFamily="34" charset="0"/>
              <a:buChar char="•"/>
              <a:defRPr/>
            </a:pPr>
            <a:endParaRPr lang="zh-CN" altLang="en-US" sz="2000" dirty="0">
              <a:latin typeface="+mn-lt"/>
              <a:ea typeface="+mn-ea"/>
            </a:endParaRPr>
          </a:p>
        </p:txBody>
      </p:sp>
      <p:graphicFrame>
        <p:nvGraphicFramePr>
          <p:cNvPr id="2050" name="Object 2"/>
          <p:cNvGraphicFramePr>
            <a:graphicFrameLocks/>
          </p:cNvGraphicFramePr>
          <p:nvPr/>
        </p:nvGraphicFramePr>
        <p:xfrm>
          <a:off x="1000125" y="3500438"/>
          <a:ext cx="7488238" cy="1006475"/>
        </p:xfrm>
        <a:graphic>
          <a:graphicData uri="http://schemas.openxmlformats.org/presentationml/2006/ole">
            <p:oleObj spid="_x0000_s2050" r:id="rId3" imgW="2400437" imgH="304877" progId="Equation.3">
              <p:embed/>
            </p:oleObj>
          </a:graphicData>
        </a:graphic>
      </p:graphicFrame>
      <p:grpSp>
        <p:nvGrpSpPr>
          <p:cNvPr id="2053" name="组合 6"/>
          <p:cNvGrpSpPr>
            <a:grpSpLocks/>
          </p:cNvGrpSpPr>
          <p:nvPr/>
        </p:nvGrpSpPr>
        <p:grpSpPr bwMode="auto">
          <a:xfrm>
            <a:off x="1071563" y="214313"/>
            <a:ext cx="6727825" cy="1077912"/>
            <a:chOff x="-750998" y="549348"/>
            <a:chExt cx="7047909" cy="1353900"/>
          </a:xfrm>
        </p:grpSpPr>
        <p:grpSp>
          <p:nvGrpSpPr>
            <p:cNvPr id="2054" name="剪去单角的矩形 7"/>
            <p:cNvGrpSpPr>
              <a:grpSpLocks/>
            </p:cNvGrpSpPr>
            <p:nvPr/>
          </p:nvGrpSpPr>
          <p:grpSpPr bwMode="auto">
            <a:xfrm>
              <a:off x="-376793" y="549348"/>
              <a:ext cx="6673704" cy="1353900"/>
              <a:chOff x="-359664" y="621792"/>
              <a:chExt cx="6370320" cy="1292352"/>
            </a:xfrm>
          </p:grpSpPr>
          <p:pic>
            <p:nvPicPr>
              <p:cNvPr id="2058" name="剪去单角的矩形 7"/>
              <p:cNvPicPr>
                <a:picLocks noChangeArrowheads="1"/>
              </p:cNvPicPr>
              <p:nvPr/>
            </p:nvPicPr>
            <p:blipFill>
              <a:blip r:embed="rId4"/>
              <a:srcRect/>
              <a:stretch>
                <a:fillRect/>
              </a:stretch>
            </p:blipFill>
            <p:spPr bwMode="auto">
              <a:xfrm>
                <a:off x="-359664" y="621792"/>
                <a:ext cx="6370320" cy="1292352"/>
              </a:xfrm>
              <a:prstGeom prst="rect">
                <a:avLst/>
              </a:prstGeom>
              <a:noFill/>
              <a:ln w="9525">
                <a:noFill/>
                <a:miter lim="800000"/>
                <a:headEnd/>
                <a:tailEnd/>
              </a:ln>
            </p:spPr>
          </p:pic>
          <p:sp>
            <p:nvSpPr>
              <p:cNvPr id="2059"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2055" name="组合 7"/>
            <p:cNvGrpSpPr>
              <a:grpSpLocks/>
            </p:cNvGrpSpPr>
            <p:nvPr/>
          </p:nvGrpSpPr>
          <p:grpSpPr bwMode="auto">
            <a:xfrm>
              <a:off x="-750998" y="624172"/>
              <a:ext cx="5247661" cy="1085714"/>
              <a:chOff x="-465246" y="552734"/>
              <a:chExt cx="5247661" cy="1085714"/>
            </a:xfrm>
          </p:grpSpPr>
          <p:sp>
            <p:nvSpPr>
              <p:cNvPr id="2056" name="TextBox 9"/>
              <p:cNvSpPr txBox="1">
                <a:spLocks noChangeArrowheads="1"/>
              </p:cNvSpPr>
              <p:nvPr/>
            </p:nvSpPr>
            <p:spPr bwMode="auto">
              <a:xfrm>
                <a:off x="432792" y="627582"/>
                <a:ext cx="4349623"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Q2  </a:t>
                </a:r>
                <a:r>
                  <a:rPr lang="zh-CN" altLang="en-US" sz="4400" b="1">
                    <a:latin typeface="微软雅黑" pitchFamily="34" charset="-122"/>
                    <a:ea typeface="微软雅黑" pitchFamily="34" charset="-122"/>
                  </a:rPr>
                  <a:t>分类的流程</a:t>
                </a:r>
              </a:p>
            </p:txBody>
          </p:sp>
          <p:pic>
            <p:nvPicPr>
              <p:cNvPr id="2057" name="图片 10" descr="ICON2.png"/>
              <p:cNvPicPr>
                <a:picLocks noChangeAspect="1"/>
              </p:cNvPicPr>
              <p:nvPr/>
            </p:nvPicPr>
            <p:blipFill>
              <a:blip r:embed="rId5"/>
              <a:srcRect/>
              <a:stretch>
                <a:fillRect/>
              </a:stretch>
            </p:blipFill>
            <p:spPr bwMode="auto">
              <a:xfrm>
                <a:off x="-465246" y="552734"/>
                <a:ext cx="1104762" cy="1085714"/>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5058" name="组合 6"/>
          <p:cNvGrpSpPr>
            <a:grpSpLocks/>
          </p:cNvGrpSpPr>
          <p:nvPr/>
        </p:nvGrpSpPr>
        <p:grpSpPr bwMode="auto">
          <a:xfrm>
            <a:off x="1428750" y="214313"/>
            <a:ext cx="6370638" cy="1292225"/>
            <a:chOff x="-376793" y="549348"/>
            <a:chExt cx="6673704" cy="1353900"/>
          </a:xfrm>
        </p:grpSpPr>
        <p:grpSp>
          <p:nvGrpSpPr>
            <p:cNvPr id="45060" name="剪去单角的矩形 7"/>
            <p:cNvGrpSpPr>
              <a:grpSpLocks/>
            </p:cNvGrpSpPr>
            <p:nvPr/>
          </p:nvGrpSpPr>
          <p:grpSpPr bwMode="auto">
            <a:xfrm>
              <a:off x="-376793" y="549348"/>
              <a:ext cx="6673704" cy="1353900"/>
              <a:chOff x="-359664" y="621792"/>
              <a:chExt cx="6370320" cy="1292352"/>
            </a:xfrm>
          </p:grpSpPr>
          <p:pic>
            <p:nvPicPr>
              <p:cNvPr id="45064"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5065" name="Text Box 4"/>
              <p:cNvSpPr txBox="1">
                <a:spLocks noChangeArrowheads="1"/>
              </p:cNvSpPr>
              <p:nvPr/>
            </p:nvSpPr>
            <p:spPr bwMode="auto">
              <a:xfrm>
                <a:off x="0" y="722475"/>
                <a:ext cx="5921200"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grpSp>
          <p:nvGrpSpPr>
            <p:cNvPr id="45061" name="组合 7"/>
            <p:cNvGrpSpPr>
              <a:grpSpLocks/>
            </p:cNvGrpSpPr>
            <p:nvPr/>
          </p:nvGrpSpPr>
          <p:grpSpPr bwMode="auto">
            <a:xfrm>
              <a:off x="428596" y="571480"/>
              <a:ext cx="5340403" cy="1085714"/>
              <a:chOff x="714348" y="500042"/>
              <a:chExt cx="5340403" cy="1085714"/>
            </a:xfrm>
          </p:grpSpPr>
          <p:sp>
            <p:nvSpPr>
              <p:cNvPr id="45062" name="TextBox 9"/>
              <p:cNvSpPr txBox="1">
                <a:spLocks noChangeArrowheads="1"/>
              </p:cNvSpPr>
              <p:nvPr/>
            </p:nvSpPr>
            <p:spPr bwMode="auto">
              <a:xfrm>
                <a:off x="1705127" y="627550"/>
                <a:ext cx="4349624"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Q3  </a:t>
                </a:r>
                <a:r>
                  <a:rPr lang="zh-CN" altLang="en-US" sz="4400" b="1">
                    <a:latin typeface="微软雅黑" pitchFamily="34" charset="-122"/>
                    <a:ea typeface="微软雅黑" pitchFamily="34" charset="-122"/>
                  </a:rPr>
                  <a:t>分类的方法</a:t>
                </a:r>
              </a:p>
            </p:txBody>
          </p:sp>
          <p:pic>
            <p:nvPicPr>
              <p:cNvPr id="45063" name="图片 10" descr="ICON2.png"/>
              <p:cNvPicPr>
                <a:picLocks noChangeAspect="1"/>
              </p:cNvPicPr>
              <p:nvPr/>
            </p:nvPicPr>
            <p:blipFill>
              <a:blip r:embed="rId3"/>
              <a:srcRect/>
              <a:stretch>
                <a:fillRect/>
              </a:stretch>
            </p:blipFill>
            <p:spPr bwMode="auto">
              <a:xfrm>
                <a:off x="714348" y="500042"/>
                <a:ext cx="1104762" cy="1085714"/>
              </a:xfrm>
              <a:prstGeom prst="rect">
                <a:avLst/>
              </a:prstGeom>
              <a:noFill/>
              <a:ln w="9525">
                <a:noFill/>
                <a:miter lim="800000"/>
                <a:headEnd/>
                <a:tailEnd/>
              </a:ln>
            </p:spPr>
          </p:pic>
        </p:grpSp>
      </p:grpSp>
      <p:sp>
        <p:nvSpPr>
          <p:cNvPr id="45059" name="TextBox 10"/>
          <p:cNvSpPr txBox="1">
            <a:spLocks noChangeArrowheads="1"/>
          </p:cNvSpPr>
          <p:nvPr/>
        </p:nvSpPr>
        <p:spPr bwMode="auto">
          <a:xfrm>
            <a:off x="928688" y="1357313"/>
            <a:ext cx="6572250" cy="3786187"/>
          </a:xfrm>
          <a:prstGeom prst="rect">
            <a:avLst/>
          </a:prstGeom>
          <a:noFill/>
          <a:ln w="9525">
            <a:noFill/>
            <a:miter lim="800000"/>
            <a:headEnd/>
            <a:tailEnd/>
          </a:ln>
        </p:spPr>
        <p:txBody>
          <a:bodyPr>
            <a:spAutoFit/>
          </a:bodyPr>
          <a:lstStyle/>
          <a:p>
            <a:r>
              <a:rPr lang="zh-CN" altLang="en-US"/>
              <a:t> </a:t>
            </a:r>
            <a:r>
              <a:rPr lang="en-US" altLang="zh-CN"/>
              <a:t>         </a:t>
            </a:r>
            <a:r>
              <a:rPr lang="zh-CN" altLang="en-US" sz="2400"/>
              <a:t>对数据挖掘中心的可信技术分类算法的内容及其研究现状进行综述。认为分类算法大体可以分为</a:t>
            </a:r>
            <a:r>
              <a:rPr lang="zh-CN" altLang="en-US" sz="2400" b="1"/>
              <a:t>传统分类算法</a:t>
            </a:r>
            <a:r>
              <a:rPr lang="zh-CN" altLang="en-US" sz="2400"/>
              <a:t>和</a:t>
            </a:r>
            <a:r>
              <a:rPr lang="zh-CN" altLang="en-US" sz="2400" b="1"/>
              <a:t>基于软件计算</a:t>
            </a:r>
            <a:r>
              <a:rPr lang="zh-CN" altLang="en-US" sz="2400"/>
              <a:t>的分类法两类，主要包括</a:t>
            </a:r>
            <a:r>
              <a:rPr lang="zh-CN" altLang="en-US" sz="2400" u="sng"/>
              <a:t>相似函数</a:t>
            </a:r>
            <a:r>
              <a:rPr lang="zh-CN" altLang="en-US" sz="2400"/>
              <a:t>，</a:t>
            </a:r>
            <a:r>
              <a:rPr lang="zh-CN" altLang="en-US" sz="2400" u="sng"/>
              <a:t>关联规则分类算法</a:t>
            </a:r>
            <a:r>
              <a:rPr lang="zh-CN" altLang="en-US" sz="2400"/>
              <a:t>，</a:t>
            </a:r>
            <a:r>
              <a:rPr lang="en-US" altLang="zh-CN" sz="2400" u="sng"/>
              <a:t>K</a:t>
            </a:r>
            <a:r>
              <a:rPr lang="zh-CN" altLang="en-US" sz="2400" u="sng"/>
              <a:t>近邻分类算法</a:t>
            </a:r>
            <a:r>
              <a:rPr lang="zh-CN" altLang="en-US" sz="2400"/>
              <a:t>，</a:t>
            </a:r>
            <a:r>
              <a:rPr lang="zh-CN" altLang="en-US" sz="2400" u="sng"/>
              <a:t>决策树分类算法</a:t>
            </a:r>
            <a:r>
              <a:rPr lang="zh-CN" altLang="en-US" sz="2400"/>
              <a:t>，</a:t>
            </a:r>
            <a:r>
              <a:rPr lang="zh-CN" altLang="en-US" sz="2400" u="sng"/>
              <a:t>贝叶斯分类算法</a:t>
            </a:r>
            <a:r>
              <a:rPr lang="zh-CN" altLang="en-US" sz="2400"/>
              <a:t>和</a:t>
            </a:r>
            <a:r>
              <a:rPr lang="zh-CN" altLang="en-US" sz="2400" u="sng"/>
              <a:t>基于模糊逻辑</a:t>
            </a:r>
            <a:r>
              <a:rPr lang="zh-CN" altLang="en-US" sz="2400"/>
              <a:t>，</a:t>
            </a:r>
            <a:r>
              <a:rPr lang="zh-CN" altLang="en-US" sz="2400" u="sng"/>
              <a:t>遗传算法</a:t>
            </a:r>
            <a:r>
              <a:rPr lang="zh-CN" altLang="en-US" sz="2400"/>
              <a:t>，</a:t>
            </a:r>
            <a:r>
              <a:rPr lang="zh-CN" altLang="en-US" sz="2400" u="sng"/>
              <a:t>粗糙集</a:t>
            </a:r>
            <a:r>
              <a:rPr lang="zh-CN" altLang="en-US" sz="2400"/>
              <a:t>和</a:t>
            </a:r>
            <a:r>
              <a:rPr lang="zh-CN" altLang="en-US" sz="2400" u="sng"/>
              <a:t>神经网络</a:t>
            </a:r>
            <a:r>
              <a:rPr lang="zh-CN" altLang="en-US" sz="2400"/>
              <a:t>的分类算法。</a:t>
            </a:r>
            <a:endParaRPr lang="en-US" altLang="zh-CN" sz="2400"/>
          </a:p>
          <a:p>
            <a:r>
              <a:rPr lang="en-US" altLang="zh-CN" sz="2400"/>
              <a:t>       </a:t>
            </a:r>
            <a:r>
              <a:rPr lang="zh-CN" altLang="en-US" sz="2400"/>
              <a:t>分类的算法有很多种，他们都有各自的优缺点和应用范围，本次我就</a:t>
            </a:r>
            <a:r>
              <a:rPr lang="zh-CN" altLang="en-US" sz="2400">
                <a:solidFill>
                  <a:srgbClr val="FFFF00"/>
                </a:solidFill>
              </a:rPr>
              <a:t>贝叶斯分类算法</a:t>
            </a:r>
            <a:r>
              <a:rPr lang="zh-CN" altLang="en-US" sz="2400"/>
              <a:t>展开我的演讲。</a:t>
            </a: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785813" y="557213"/>
            <a:ext cx="6186487" cy="1085850"/>
            <a:chOff x="857224" y="285728"/>
            <a:chExt cx="6183739" cy="1085714"/>
          </a:xfrm>
        </p:grpSpPr>
        <p:sp>
          <p:nvSpPr>
            <p:cNvPr id="46087" name="TextBox 2"/>
            <p:cNvSpPr txBox="1">
              <a:spLocks noChangeArrowheads="1"/>
            </p:cNvSpPr>
            <p:nvPr/>
          </p:nvSpPr>
          <p:spPr bwMode="auto">
            <a:xfrm>
              <a:off x="1714479" y="357166"/>
              <a:ext cx="5326484" cy="769345"/>
            </a:xfrm>
            <a:prstGeom prst="rect">
              <a:avLst/>
            </a:prstGeom>
            <a:solidFill>
              <a:srgbClr val="00B0F0"/>
            </a:solidFill>
            <a:ln w="9525">
              <a:solidFill>
                <a:schemeClr val="bg1"/>
              </a:solidFill>
              <a:miter lim="800000"/>
              <a:headEnd/>
              <a:tailEnd/>
            </a:ln>
          </p:spPr>
          <p:txBody>
            <a:bodyPr wrap="none">
              <a:spAutoFit/>
            </a:bodyPr>
            <a:lstStyle/>
            <a:p>
              <a:r>
                <a:rPr lang="en-US" altLang="zh-CN" sz="4400" b="1">
                  <a:latin typeface="微软雅黑" pitchFamily="34" charset="-122"/>
                  <a:ea typeface="微软雅黑" pitchFamily="34" charset="-122"/>
                </a:rPr>
                <a:t>1.2  </a:t>
              </a:r>
              <a:r>
                <a:rPr lang="zh-CN" altLang="en-US" sz="4400" b="1">
                  <a:latin typeface="微软雅黑" pitchFamily="34" charset="-122"/>
                  <a:ea typeface="微软雅黑" pitchFamily="34" charset="-122"/>
                </a:rPr>
                <a:t>贝叶斯分类概述</a:t>
              </a:r>
            </a:p>
          </p:txBody>
        </p:sp>
        <p:pic>
          <p:nvPicPr>
            <p:cNvPr id="46088" name="图片 3" descr="ICON2.png"/>
            <p:cNvPicPr>
              <a:picLocks noChangeAspect="1"/>
            </p:cNvPicPr>
            <p:nvPr/>
          </p:nvPicPr>
          <p:blipFill>
            <a:blip r:embed="rId3"/>
            <a:srcRect/>
            <a:stretch>
              <a:fillRect/>
            </a:stretch>
          </p:blipFill>
          <p:spPr bwMode="auto">
            <a:xfrm>
              <a:off x="857224" y="285728"/>
              <a:ext cx="1104762" cy="1085714"/>
            </a:xfrm>
            <a:prstGeom prst="rect">
              <a:avLst/>
            </a:prstGeom>
            <a:noFill/>
            <a:ln w="9525">
              <a:noFill/>
              <a:miter lim="800000"/>
              <a:headEnd/>
              <a:tailEnd/>
            </a:ln>
          </p:spPr>
        </p:pic>
      </p:grpSp>
      <p:sp>
        <p:nvSpPr>
          <p:cNvPr id="6" name="TextBox 5"/>
          <p:cNvSpPr txBox="1"/>
          <p:nvPr/>
        </p:nvSpPr>
        <p:spPr>
          <a:xfrm>
            <a:off x="928662" y="1357298"/>
            <a:ext cx="5429288" cy="5232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defRPr/>
            </a:pPr>
            <a:r>
              <a:rPr lang="zh-CN" altLang="en-US" sz="28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charset="0"/>
              </a:rPr>
              <a:t>背景</a:t>
            </a:r>
          </a:p>
        </p:txBody>
      </p:sp>
      <p:sp>
        <p:nvSpPr>
          <p:cNvPr id="15" name="TextBox 14"/>
          <p:cNvSpPr txBox="1"/>
          <p:nvPr/>
        </p:nvSpPr>
        <p:spPr>
          <a:xfrm>
            <a:off x="642938" y="1785938"/>
            <a:ext cx="5572125" cy="4524375"/>
          </a:xfrm>
          <a:prstGeom prst="rect">
            <a:avLst/>
          </a:prstGeom>
          <a:noFill/>
        </p:spPr>
        <p:txBody>
          <a:bodyPr>
            <a:spAutoFit/>
          </a:bodyPr>
          <a:lstStyle/>
          <a:p>
            <a:pPr>
              <a:defRPr/>
            </a:pPr>
            <a:r>
              <a:rPr lang="zh-CN" altLang="en-US" sz="2400" kern="1400" dirty="0">
                <a:latin typeface="Arial" charset="0"/>
              </a:rPr>
              <a:t>        </a:t>
            </a:r>
            <a:r>
              <a:rPr lang="en-US" altLang="zh-CN" sz="2400" kern="1400" dirty="0">
                <a:latin typeface="Arial" charset="0"/>
              </a:rPr>
              <a:t> </a:t>
            </a:r>
            <a:r>
              <a:rPr lang="zh-CN" altLang="en-US" sz="2400" kern="1400" dirty="0">
                <a:latin typeface="Arial" charset="0"/>
              </a:rPr>
              <a:t>贝叶斯分类基于贝叶斯定理，贝叶斯定理是由</a:t>
            </a:r>
            <a:r>
              <a:rPr lang="en-US" altLang="zh-CN" sz="2400" kern="1400" dirty="0">
                <a:latin typeface="Arial" charset="0"/>
              </a:rPr>
              <a:t>18</a:t>
            </a:r>
            <a:r>
              <a:rPr lang="zh-CN" altLang="en-US" sz="2400" kern="1400" dirty="0">
                <a:latin typeface="Arial" charset="0"/>
              </a:rPr>
              <a:t>世纪概率论和决策论的早起研究者</a:t>
            </a:r>
            <a:r>
              <a:rPr lang="en-US" altLang="zh-CN" sz="2400" kern="1400" dirty="0">
                <a:latin typeface="Arial" charset="0"/>
              </a:rPr>
              <a:t>Thomas </a:t>
            </a:r>
            <a:r>
              <a:rPr lang="en-US" altLang="zh-CN" sz="2400" kern="1400" dirty="0" err="1">
                <a:latin typeface="Arial" charset="0"/>
              </a:rPr>
              <a:t>Bayes</a:t>
            </a:r>
            <a:r>
              <a:rPr lang="zh-CN" altLang="en-US" sz="2400" kern="1400" dirty="0">
                <a:latin typeface="Arial" charset="0"/>
              </a:rPr>
              <a:t>发明的，故用其名字命名为贝叶斯定理。</a:t>
            </a:r>
            <a:endParaRPr lang="en-US" altLang="zh-CN" sz="2400" kern="1400" dirty="0">
              <a:latin typeface="Arial" charset="0"/>
            </a:endParaRPr>
          </a:p>
          <a:p>
            <a:pPr>
              <a:defRPr/>
            </a:pPr>
            <a:r>
              <a:rPr lang="en-US" altLang="zh-CN" sz="2400" kern="1400" dirty="0">
                <a:latin typeface="Arial" charset="0"/>
              </a:rPr>
              <a:t>         </a:t>
            </a:r>
            <a:r>
              <a:rPr lang="zh-CN" altLang="en-US" sz="2400" kern="1400" dirty="0">
                <a:latin typeface="Arial" charset="0"/>
              </a:rPr>
              <a:t>分类算法的比较研究发现，一种称为朴素贝叶斯分类法的简单贝叶斯分类法可以与决策树和经过挑选的神经网络分类器相媲美。用于大型数据库，贝叶斯分类法也已表现出高准确率和高速度。</a:t>
            </a:r>
            <a:endParaRPr lang="en-US" altLang="zh-CN" sz="2400" kern="1400" dirty="0">
              <a:latin typeface="Arial" charset="0"/>
            </a:endParaRPr>
          </a:p>
          <a:p>
            <a:pPr>
              <a:defRPr/>
            </a:pPr>
            <a:r>
              <a:rPr lang="zh-CN" altLang="en-US" sz="2400" dirty="0"/>
              <a:t>        目前研究较多的贝叶斯分类器主要有四种，分别是：</a:t>
            </a:r>
            <a:r>
              <a:rPr lang="en-US" altLang="zh-CN" sz="2400" dirty="0"/>
              <a:t>Naive </a:t>
            </a:r>
            <a:r>
              <a:rPr lang="en-US" altLang="zh-CN" sz="2400" dirty="0" err="1"/>
              <a:t>Bayes</a:t>
            </a:r>
            <a:r>
              <a:rPr lang="zh-CN" altLang="en-US" sz="2400" dirty="0"/>
              <a:t>、</a:t>
            </a:r>
            <a:r>
              <a:rPr lang="en-US" altLang="zh-CN" sz="2400" dirty="0"/>
              <a:t>TAN</a:t>
            </a:r>
            <a:r>
              <a:rPr lang="zh-CN" altLang="en-US" sz="2400" dirty="0"/>
              <a:t>、</a:t>
            </a:r>
            <a:r>
              <a:rPr lang="en-US" altLang="zh-CN" sz="2400" dirty="0"/>
              <a:t>BAN</a:t>
            </a:r>
            <a:r>
              <a:rPr lang="zh-CN" altLang="en-US" sz="2400" dirty="0"/>
              <a:t>和</a:t>
            </a:r>
            <a:r>
              <a:rPr lang="en-US" altLang="zh-CN" sz="2400" dirty="0"/>
              <a:t>GBN</a:t>
            </a:r>
            <a:r>
              <a:rPr lang="zh-CN" altLang="en-US" sz="2400" dirty="0"/>
              <a:t>。</a:t>
            </a:r>
            <a:endParaRPr lang="zh-CN" altLang="en-US" sz="2400" kern="1400" dirty="0">
              <a:latin typeface="Arial" charset="0"/>
            </a:endParaRPr>
          </a:p>
        </p:txBody>
      </p:sp>
      <p:pic>
        <p:nvPicPr>
          <p:cNvPr id="46085" name="图片 6" descr="u=3572017347,1317848067&amp;fm=23&amp;gp=0.jpg"/>
          <p:cNvPicPr>
            <a:picLocks noChangeAspect="1"/>
          </p:cNvPicPr>
          <p:nvPr/>
        </p:nvPicPr>
        <p:blipFill>
          <a:blip r:embed="rId4"/>
          <a:srcRect/>
          <a:stretch>
            <a:fillRect/>
          </a:stretch>
        </p:blipFill>
        <p:spPr bwMode="auto">
          <a:xfrm>
            <a:off x="6286500" y="2071688"/>
            <a:ext cx="2489200" cy="2928937"/>
          </a:xfrm>
          <a:prstGeom prst="rect">
            <a:avLst/>
          </a:prstGeom>
          <a:noFill/>
          <a:ln w="9525">
            <a:noFill/>
            <a:miter lim="800000"/>
            <a:headEnd/>
            <a:tailEnd/>
          </a:ln>
        </p:spPr>
      </p:pic>
      <p:sp>
        <p:nvSpPr>
          <p:cNvPr id="9" name="TextBox 8"/>
          <p:cNvSpPr txBox="1"/>
          <p:nvPr/>
        </p:nvSpPr>
        <p:spPr>
          <a:xfrm>
            <a:off x="6357938" y="5214938"/>
            <a:ext cx="2571750" cy="369887"/>
          </a:xfrm>
          <a:prstGeom prst="rect">
            <a:avLst/>
          </a:prstGeom>
          <a:noFill/>
        </p:spPr>
        <p:txBody>
          <a:bodyPr>
            <a:spAutoFit/>
          </a:bodyPr>
          <a:lstStyle/>
          <a:p>
            <a:pPr>
              <a:defRPr/>
            </a:pPr>
            <a:r>
              <a:rPr lang="en-US" altLang="zh-CN" kern="1400" dirty="0">
                <a:solidFill>
                  <a:srgbClr val="FFFF00"/>
                </a:solidFill>
                <a:latin typeface="Arial" charset="0"/>
              </a:rPr>
              <a:t>Thomas  </a:t>
            </a:r>
            <a:r>
              <a:rPr lang="en-US" altLang="zh-CN" kern="1400" dirty="0" err="1">
                <a:solidFill>
                  <a:srgbClr val="FFFF00"/>
                </a:solidFill>
                <a:latin typeface="Arial" charset="0"/>
              </a:rPr>
              <a:t>Bayes</a:t>
            </a:r>
            <a:endParaRPr lang="zh-CN" altLang="en-US" dirty="0">
              <a:solidFill>
                <a:srgbClr val="FFFF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30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组合 6"/>
          <p:cNvGrpSpPr>
            <a:grpSpLocks/>
          </p:cNvGrpSpPr>
          <p:nvPr/>
        </p:nvGrpSpPr>
        <p:grpSpPr bwMode="auto">
          <a:xfrm>
            <a:off x="1714500" y="142875"/>
            <a:ext cx="4857750" cy="1143000"/>
            <a:chOff x="-376793" y="549348"/>
            <a:chExt cx="6673704" cy="1353900"/>
          </a:xfrm>
        </p:grpSpPr>
        <p:grpSp>
          <p:nvGrpSpPr>
            <p:cNvPr id="47108" name="剪去单角的矩形 7"/>
            <p:cNvGrpSpPr>
              <a:grpSpLocks/>
            </p:cNvGrpSpPr>
            <p:nvPr/>
          </p:nvGrpSpPr>
          <p:grpSpPr bwMode="auto">
            <a:xfrm>
              <a:off x="-376793" y="549348"/>
              <a:ext cx="6673704" cy="1353900"/>
              <a:chOff x="-359664" y="621792"/>
              <a:chExt cx="6370320" cy="1292352"/>
            </a:xfrm>
          </p:grpSpPr>
          <p:pic>
            <p:nvPicPr>
              <p:cNvPr id="47110"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7111" name="Text Box 4"/>
              <p:cNvSpPr txBox="1">
                <a:spLocks noChangeArrowheads="1"/>
              </p:cNvSpPr>
              <p:nvPr/>
            </p:nvSpPr>
            <p:spPr bwMode="auto">
              <a:xfrm>
                <a:off x="-73958" y="702565"/>
                <a:ext cx="4357528"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47109" name="TextBox 9"/>
            <p:cNvSpPr txBox="1">
              <a:spLocks noChangeArrowheads="1"/>
            </p:cNvSpPr>
            <p:nvPr/>
          </p:nvSpPr>
          <p:spPr bwMode="auto">
            <a:xfrm>
              <a:off x="1095346" y="633967"/>
              <a:ext cx="3148948" cy="911414"/>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贝叶斯定理</a:t>
              </a:r>
            </a:p>
          </p:txBody>
        </p:sp>
      </p:grpSp>
      <p:sp>
        <p:nvSpPr>
          <p:cNvPr id="47107" name="TextBox 6"/>
          <p:cNvSpPr txBox="1">
            <a:spLocks noChangeArrowheads="1"/>
          </p:cNvSpPr>
          <p:nvPr/>
        </p:nvSpPr>
        <p:spPr bwMode="auto">
          <a:xfrm>
            <a:off x="357188" y="1214438"/>
            <a:ext cx="8072437" cy="2678112"/>
          </a:xfrm>
          <a:prstGeom prst="rect">
            <a:avLst/>
          </a:prstGeom>
          <a:noFill/>
          <a:ln w="9525">
            <a:noFill/>
            <a:miter lim="800000"/>
            <a:headEnd/>
            <a:tailEnd/>
          </a:ln>
        </p:spPr>
        <p:txBody>
          <a:bodyPr>
            <a:spAutoFit/>
          </a:bodyPr>
          <a:lstStyle/>
          <a:p>
            <a:r>
              <a:rPr lang="zh-CN" altLang="en-US" sz="2400" b="1"/>
              <a:t>       贝叶斯定理</a:t>
            </a:r>
            <a:r>
              <a:rPr lang="zh-CN" altLang="en-US" sz="2400"/>
              <a:t>（</a:t>
            </a:r>
            <a:r>
              <a:rPr lang="en-US" altLang="zh-CN" sz="2400"/>
              <a:t>Bayes' theorem</a:t>
            </a:r>
            <a:r>
              <a:rPr lang="zh-CN" altLang="en-US" sz="2400"/>
              <a:t>）是</a:t>
            </a:r>
            <a:r>
              <a:rPr lang="zh-CN" altLang="en-US" sz="2400">
                <a:hlinkClick r:id="rId3" tooltip="概率论"/>
              </a:rPr>
              <a:t>概率论</a:t>
            </a:r>
            <a:r>
              <a:rPr lang="zh-CN" altLang="en-US" sz="2400"/>
              <a:t>中的一个结果，它跟</a:t>
            </a:r>
            <a:r>
              <a:rPr lang="zh-CN" altLang="en-US" sz="2400">
                <a:hlinkClick r:id="rId4" tooltip="随机变量"/>
              </a:rPr>
              <a:t>随机变量</a:t>
            </a:r>
            <a:r>
              <a:rPr lang="zh-CN" altLang="en-US" sz="2400"/>
              <a:t>的</a:t>
            </a:r>
            <a:r>
              <a:rPr lang="zh-CN" altLang="en-US" sz="2400">
                <a:hlinkClick r:id="rId5" tooltip="条件概率"/>
              </a:rPr>
              <a:t>条件概率</a:t>
            </a:r>
            <a:r>
              <a:rPr lang="zh-CN" altLang="en-US" sz="2400"/>
              <a:t>以及</a:t>
            </a:r>
            <a:r>
              <a:rPr lang="zh-CN" altLang="en-US" sz="2400">
                <a:hlinkClick r:id="rId6" tooltip="联合分布"/>
              </a:rPr>
              <a:t>边缘概率分布</a:t>
            </a:r>
            <a:r>
              <a:rPr lang="zh-CN" altLang="en-US" sz="2400"/>
              <a:t>有关。在有些关于概率的解说中，贝叶斯定理能够告知我们如何利用新证据修改已有的看法。</a:t>
            </a:r>
          </a:p>
          <a:p>
            <a:r>
              <a:rPr lang="zh-CN" altLang="en-US" sz="2400"/>
              <a:t>        通常，事件</a:t>
            </a:r>
            <a:r>
              <a:rPr lang="en-US" altLang="zh-CN" sz="2400"/>
              <a:t>A</a:t>
            </a:r>
            <a:r>
              <a:rPr lang="zh-CN" altLang="en-US" sz="2400"/>
              <a:t>在事件</a:t>
            </a:r>
            <a:r>
              <a:rPr lang="en-US" altLang="zh-CN" sz="2400"/>
              <a:t>B</a:t>
            </a:r>
            <a:r>
              <a:rPr lang="zh-CN" altLang="en-US" sz="2400"/>
              <a:t>（发生）的条件下的概率，与事件</a:t>
            </a:r>
            <a:r>
              <a:rPr lang="en-US" altLang="zh-CN" sz="2400"/>
              <a:t>B</a:t>
            </a:r>
            <a:r>
              <a:rPr lang="zh-CN" altLang="en-US" sz="2400"/>
              <a:t>在事件</a:t>
            </a:r>
            <a:r>
              <a:rPr lang="en-US" altLang="zh-CN" sz="2400"/>
              <a:t>A</a:t>
            </a:r>
            <a:r>
              <a:rPr lang="zh-CN" altLang="en-US" sz="2400"/>
              <a:t>的条件下的概率是不一样的；然而，这两者是有确定的关系，贝叶斯定理就是这种关系的陈述。</a:t>
            </a:r>
            <a:r>
              <a:rPr lang="en-US" altLang="zh-CN" sz="2400"/>
              <a:t> </a:t>
            </a:r>
            <a:endParaRPr lang="zh-CN" altLang="en-US" sz="2400"/>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8130" name="内容占位符 2"/>
          <p:cNvSpPr txBox="1">
            <a:spLocks/>
          </p:cNvSpPr>
          <p:nvPr/>
        </p:nvSpPr>
        <p:spPr bwMode="auto">
          <a:xfrm>
            <a:off x="357188" y="2332038"/>
            <a:ext cx="8229600" cy="4525962"/>
          </a:xfrm>
          <a:prstGeom prst="rect">
            <a:avLst/>
          </a:prstGeom>
          <a:noFill/>
          <a:ln w="9525">
            <a:noFill/>
            <a:miter lim="800000"/>
            <a:headEnd/>
            <a:tailEnd/>
          </a:ln>
        </p:spPr>
        <p:txBody>
          <a:bodyPr/>
          <a:lstStyle/>
          <a:p>
            <a:r>
              <a:rPr lang="zh-CN" altLang="en-US" sz="3200"/>
              <a:t>      贝叶斯公式提供了从先验概率</a:t>
            </a:r>
            <a:r>
              <a:rPr lang="en-US" altLang="zh-CN" sz="3200"/>
              <a:t>P(A)</a:t>
            </a:r>
            <a:r>
              <a:rPr lang="zh-CN" altLang="en-US" sz="3200"/>
              <a:t>、</a:t>
            </a:r>
            <a:r>
              <a:rPr lang="en-US" altLang="zh-CN" sz="3200"/>
              <a:t>P(B)</a:t>
            </a:r>
            <a:r>
              <a:rPr lang="zh-CN" altLang="en-US" sz="3200"/>
              <a:t>和</a:t>
            </a:r>
            <a:r>
              <a:rPr lang="en-US" altLang="zh-CN" sz="3200"/>
              <a:t>P(B|A)</a:t>
            </a:r>
            <a:r>
              <a:rPr lang="zh-CN" altLang="en-US" sz="3200"/>
              <a:t>计算后验概率</a:t>
            </a:r>
            <a:r>
              <a:rPr lang="en-US" altLang="zh-CN" sz="3200"/>
              <a:t>P(A|B)</a:t>
            </a:r>
            <a:r>
              <a:rPr lang="zh-CN" altLang="en-US" sz="3200"/>
              <a:t>的方法：</a:t>
            </a:r>
            <a:r>
              <a:rPr lang="en-US" altLang="zh-CN" sz="3200"/>
              <a:t>P(A|B)=P(B|A)*P(A)/P(B) </a:t>
            </a:r>
            <a:r>
              <a:rPr lang="zh-CN" altLang="en-US" sz="3200"/>
              <a:t>，</a:t>
            </a:r>
            <a:r>
              <a:rPr lang="en-US" altLang="zh-CN" sz="3200"/>
              <a:t>P(A|B)</a:t>
            </a:r>
            <a:r>
              <a:rPr lang="zh-CN" altLang="en-US" sz="3200"/>
              <a:t>随着</a:t>
            </a:r>
            <a:r>
              <a:rPr lang="en-US" altLang="zh-CN" sz="3200"/>
              <a:t>P(A)</a:t>
            </a:r>
            <a:r>
              <a:rPr lang="zh-CN" altLang="en-US" sz="3200"/>
              <a:t>和</a:t>
            </a:r>
            <a:r>
              <a:rPr lang="en-US" altLang="zh-CN" sz="3200"/>
              <a:t>P(B|A)</a:t>
            </a:r>
            <a:r>
              <a:rPr lang="zh-CN" altLang="en-US" sz="3200"/>
              <a:t>的增长而增长，随着</a:t>
            </a:r>
            <a:r>
              <a:rPr lang="en-US" altLang="zh-CN" sz="3200"/>
              <a:t>P(B)</a:t>
            </a:r>
            <a:r>
              <a:rPr lang="zh-CN" altLang="en-US" sz="3200"/>
              <a:t>的增长而减少，即如果</a:t>
            </a:r>
            <a:r>
              <a:rPr lang="en-US" altLang="zh-CN" sz="3200"/>
              <a:t>B</a:t>
            </a:r>
            <a:r>
              <a:rPr lang="zh-CN" altLang="en-US" sz="3200"/>
              <a:t>独立于</a:t>
            </a:r>
            <a:r>
              <a:rPr lang="en-US" altLang="zh-CN" sz="3200"/>
              <a:t>A</a:t>
            </a:r>
            <a:r>
              <a:rPr lang="zh-CN" altLang="en-US" sz="3200"/>
              <a:t>时被观察到的可能性越大，那么</a:t>
            </a:r>
            <a:r>
              <a:rPr lang="en-US" altLang="zh-CN" sz="3200"/>
              <a:t>B</a:t>
            </a:r>
            <a:r>
              <a:rPr lang="zh-CN" altLang="en-US" sz="3200"/>
              <a:t>对</a:t>
            </a:r>
            <a:r>
              <a:rPr lang="en-US" altLang="zh-CN" sz="3200"/>
              <a:t>A</a:t>
            </a:r>
            <a:r>
              <a:rPr lang="zh-CN" altLang="en-US" sz="3200"/>
              <a:t>的支持度越小。 </a:t>
            </a:r>
          </a:p>
        </p:txBody>
      </p:sp>
      <p:grpSp>
        <p:nvGrpSpPr>
          <p:cNvPr id="48131" name="组合 6"/>
          <p:cNvGrpSpPr>
            <a:grpSpLocks/>
          </p:cNvGrpSpPr>
          <p:nvPr/>
        </p:nvGrpSpPr>
        <p:grpSpPr bwMode="auto">
          <a:xfrm>
            <a:off x="2286000" y="214313"/>
            <a:ext cx="5357813" cy="1143000"/>
            <a:chOff x="-376793" y="549348"/>
            <a:chExt cx="8606126" cy="1353900"/>
          </a:xfrm>
        </p:grpSpPr>
        <p:grpSp>
          <p:nvGrpSpPr>
            <p:cNvPr id="48133" name="剪去单角的矩形 7"/>
            <p:cNvGrpSpPr>
              <a:grpSpLocks/>
            </p:cNvGrpSpPr>
            <p:nvPr/>
          </p:nvGrpSpPr>
          <p:grpSpPr bwMode="auto">
            <a:xfrm>
              <a:off x="-376793" y="549348"/>
              <a:ext cx="8606126" cy="1353900"/>
              <a:chOff x="-359664" y="621792"/>
              <a:chExt cx="8214895" cy="1292352"/>
            </a:xfrm>
          </p:grpSpPr>
          <p:pic>
            <p:nvPicPr>
              <p:cNvPr id="48135" name="剪去单角的矩形 7"/>
              <p:cNvPicPr>
                <a:picLocks noChangeArrowheads="1"/>
              </p:cNvPicPr>
              <p:nvPr/>
            </p:nvPicPr>
            <p:blipFill>
              <a:blip r:embed="rId3"/>
              <a:srcRect/>
              <a:stretch>
                <a:fillRect/>
              </a:stretch>
            </p:blipFill>
            <p:spPr bwMode="auto">
              <a:xfrm>
                <a:off x="-359664" y="621792"/>
                <a:ext cx="6370320" cy="1292352"/>
              </a:xfrm>
              <a:prstGeom prst="rect">
                <a:avLst/>
              </a:prstGeom>
              <a:noFill/>
              <a:ln w="9525">
                <a:noFill/>
                <a:miter lim="800000"/>
                <a:headEnd/>
                <a:tailEnd/>
              </a:ln>
            </p:spPr>
          </p:pic>
          <p:sp>
            <p:nvSpPr>
              <p:cNvPr id="48136" name="Text Box 4"/>
              <p:cNvSpPr txBox="1">
                <a:spLocks noChangeArrowheads="1"/>
              </p:cNvSpPr>
              <p:nvPr/>
            </p:nvSpPr>
            <p:spPr bwMode="auto">
              <a:xfrm>
                <a:off x="-73958" y="702565"/>
                <a:ext cx="7929189"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48134" name="TextBox 9"/>
            <p:cNvSpPr txBox="1">
              <a:spLocks noChangeArrowheads="1"/>
            </p:cNvSpPr>
            <p:nvPr/>
          </p:nvSpPr>
          <p:spPr bwMode="auto">
            <a:xfrm>
              <a:off x="745731" y="624171"/>
              <a:ext cx="3148948" cy="911414"/>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贝叶斯公式</a:t>
              </a:r>
            </a:p>
          </p:txBody>
        </p:sp>
      </p:grpSp>
      <p:pic>
        <p:nvPicPr>
          <p:cNvPr id="48132" name="图片 7" descr="46b680c10ac90b0782843f4bbd0b4a95.png"/>
          <p:cNvPicPr>
            <a:picLocks noChangeAspect="1"/>
          </p:cNvPicPr>
          <p:nvPr/>
        </p:nvPicPr>
        <p:blipFill>
          <a:blip r:embed="rId4"/>
          <a:srcRect/>
          <a:stretch>
            <a:fillRect/>
          </a:stretch>
        </p:blipFill>
        <p:spPr bwMode="auto">
          <a:xfrm>
            <a:off x="1714500" y="1214438"/>
            <a:ext cx="4214813" cy="968375"/>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组合 6"/>
          <p:cNvGrpSpPr>
            <a:grpSpLocks/>
          </p:cNvGrpSpPr>
          <p:nvPr/>
        </p:nvGrpSpPr>
        <p:grpSpPr bwMode="auto">
          <a:xfrm>
            <a:off x="1785938" y="285750"/>
            <a:ext cx="6715125" cy="1143000"/>
            <a:chOff x="-376793" y="549348"/>
            <a:chExt cx="9279657" cy="1353900"/>
          </a:xfrm>
        </p:grpSpPr>
        <p:grpSp>
          <p:nvGrpSpPr>
            <p:cNvPr id="49156" name="剪去单角的矩形 7"/>
            <p:cNvGrpSpPr>
              <a:grpSpLocks/>
            </p:cNvGrpSpPr>
            <p:nvPr/>
          </p:nvGrpSpPr>
          <p:grpSpPr bwMode="auto">
            <a:xfrm>
              <a:off x="-376793" y="549348"/>
              <a:ext cx="9279657" cy="1353900"/>
              <a:chOff x="-359664" y="621792"/>
              <a:chExt cx="8857808" cy="1292352"/>
            </a:xfrm>
          </p:grpSpPr>
          <p:pic>
            <p:nvPicPr>
              <p:cNvPr id="49158" name="剪去单角的矩形 7"/>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49159" name="Text Box 4"/>
              <p:cNvSpPr txBox="1">
                <a:spLocks noChangeArrowheads="1"/>
              </p:cNvSpPr>
              <p:nvPr/>
            </p:nvSpPr>
            <p:spPr bwMode="auto">
              <a:xfrm>
                <a:off x="568955" y="702540"/>
                <a:ext cx="7929189"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49157" name="TextBox 9"/>
            <p:cNvSpPr txBox="1">
              <a:spLocks noChangeArrowheads="1"/>
            </p:cNvSpPr>
            <p:nvPr/>
          </p:nvSpPr>
          <p:spPr bwMode="auto">
            <a:xfrm>
              <a:off x="745731" y="624171"/>
              <a:ext cx="3148948" cy="911414"/>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贝叶斯法则</a:t>
              </a:r>
            </a:p>
          </p:txBody>
        </p:sp>
      </p:grpSp>
      <p:sp>
        <p:nvSpPr>
          <p:cNvPr id="49155" name="矩形 7"/>
          <p:cNvSpPr>
            <a:spLocks noChangeArrowheads="1"/>
          </p:cNvSpPr>
          <p:nvPr/>
        </p:nvSpPr>
        <p:spPr bwMode="auto">
          <a:xfrm>
            <a:off x="571500" y="1500188"/>
            <a:ext cx="7786688" cy="3108325"/>
          </a:xfrm>
          <a:prstGeom prst="rect">
            <a:avLst/>
          </a:prstGeom>
          <a:noFill/>
          <a:ln w="9525">
            <a:noFill/>
            <a:miter lim="800000"/>
            <a:headEnd/>
            <a:tailEnd/>
          </a:ln>
        </p:spPr>
        <p:txBody>
          <a:bodyPr>
            <a:spAutoFit/>
          </a:bodyPr>
          <a:lstStyle/>
          <a:p>
            <a:r>
              <a:rPr lang="zh-CN" altLang="en-US" sz="2800"/>
              <a:t>        机器学习的任务：在给定训练数据</a:t>
            </a:r>
            <a:r>
              <a:rPr lang="en-US" altLang="zh-CN" sz="2800"/>
              <a:t>D</a:t>
            </a:r>
            <a:r>
              <a:rPr lang="zh-CN" altLang="en-US" sz="2800"/>
              <a:t>时，确定假设空间</a:t>
            </a:r>
            <a:r>
              <a:rPr lang="en-US" altLang="zh-CN" sz="2800"/>
              <a:t>H</a:t>
            </a:r>
            <a:r>
              <a:rPr lang="zh-CN" altLang="en-US" sz="2800"/>
              <a:t>中的最佳假设。 </a:t>
            </a:r>
          </a:p>
          <a:p>
            <a:r>
              <a:rPr lang="zh-CN" altLang="en-US" sz="2800"/>
              <a:t>        最佳假设：一种方法是把它定义为在给定数据</a:t>
            </a:r>
            <a:r>
              <a:rPr lang="en-US" altLang="zh-CN" sz="2800"/>
              <a:t>D</a:t>
            </a:r>
            <a:r>
              <a:rPr lang="zh-CN" altLang="en-US" sz="2800"/>
              <a:t>以及</a:t>
            </a:r>
            <a:r>
              <a:rPr lang="en-US" altLang="zh-CN" sz="2800"/>
              <a:t>H</a:t>
            </a:r>
            <a:r>
              <a:rPr lang="zh-CN" altLang="en-US" sz="2800"/>
              <a:t>中不同假设的先验概率的有关知识下的</a:t>
            </a:r>
            <a:r>
              <a:rPr lang="zh-CN" altLang="en-US" sz="2800" b="1"/>
              <a:t>最可能假设</a:t>
            </a:r>
            <a:r>
              <a:rPr lang="zh-CN" altLang="en-US" sz="2800"/>
              <a:t>。贝叶斯理论提供了一种计算假设概率的方法，基于假设的先验概率、给定假设下观察到不同数据的概率以及观察到的数据本身。</a:t>
            </a: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075" name="组合 6"/>
          <p:cNvGrpSpPr>
            <a:grpSpLocks/>
          </p:cNvGrpSpPr>
          <p:nvPr/>
        </p:nvGrpSpPr>
        <p:grpSpPr bwMode="auto">
          <a:xfrm>
            <a:off x="642938" y="285750"/>
            <a:ext cx="8215312" cy="1143000"/>
            <a:chOff x="-376793" y="549348"/>
            <a:chExt cx="8606126" cy="1353900"/>
          </a:xfrm>
        </p:grpSpPr>
        <p:grpSp>
          <p:nvGrpSpPr>
            <p:cNvPr id="3077" name="剪去单角的矩形 7"/>
            <p:cNvGrpSpPr>
              <a:grpSpLocks/>
            </p:cNvGrpSpPr>
            <p:nvPr/>
          </p:nvGrpSpPr>
          <p:grpSpPr bwMode="auto">
            <a:xfrm>
              <a:off x="-376793" y="549348"/>
              <a:ext cx="8606126" cy="1353900"/>
              <a:chOff x="-359664" y="621792"/>
              <a:chExt cx="8214895" cy="1292352"/>
            </a:xfrm>
          </p:grpSpPr>
          <p:pic>
            <p:nvPicPr>
              <p:cNvPr id="3079" name="剪去单角的矩形 7"/>
              <p:cNvPicPr>
                <a:picLocks noChangeArrowheads="1"/>
              </p:cNvPicPr>
              <p:nvPr/>
            </p:nvPicPr>
            <p:blipFill>
              <a:blip r:embed="rId3"/>
              <a:srcRect/>
              <a:stretch>
                <a:fillRect/>
              </a:stretch>
            </p:blipFill>
            <p:spPr bwMode="auto">
              <a:xfrm>
                <a:off x="-359664" y="621792"/>
                <a:ext cx="6370320" cy="1292352"/>
              </a:xfrm>
              <a:prstGeom prst="rect">
                <a:avLst/>
              </a:prstGeom>
              <a:noFill/>
              <a:ln w="9525">
                <a:noFill/>
                <a:miter lim="800000"/>
                <a:headEnd/>
                <a:tailEnd/>
              </a:ln>
            </p:spPr>
          </p:pic>
          <p:sp>
            <p:nvSpPr>
              <p:cNvPr id="3080" name="Text Box 4"/>
              <p:cNvSpPr txBox="1">
                <a:spLocks noChangeArrowheads="1"/>
              </p:cNvSpPr>
              <p:nvPr/>
            </p:nvSpPr>
            <p:spPr bwMode="auto">
              <a:xfrm>
                <a:off x="-73958" y="702565"/>
                <a:ext cx="7929189"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3078" name="TextBox 9"/>
            <p:cNvSpPr txBox="1">
              <a:spLocks noChangeArrowheads="1"/>
            </p:cNvSpPr>
            <p:nvPr/>
          </p:nvSpPr>
          <p:spPr bwMode="auto">
            <a:xfrm>
              <a:off x="72196" y="633941"/>
              <a:ext cx="4922247" cy="911414"/>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贝叶斯分类的原理</a:t>
              </a:r>
            </a:p>
          </p:txBody>
        </p:sp>
      </p:grpSp>
      <p:sp>
        <p:nvSpPr>
          <p:cNvPr id="9" name="Rectangle 3"/>
          <p:cNvSpPr txBox="1">
            <a:spLocks noChangeArrowheads="1"/>
          </p:cNvSpPr>
          <p:nvPr/>
        </p:nvSpPr>
        <p:spPr>
          <a:xfrm>
            <a:off x="500063" y="1214438"/>
            <a:ext cx="8280400" cy="5286375"/>
          </a:xfrm>
          <a:prstGeom prst="rect">
            <a:avLst/>
          </a:prstGeom>
          <a:ln/>
        </p:spPr>
        <p:txBody>
          <a:bodyPr/>
          <a:lstStyle/>
          <a:p>
            <a:pPr marL="342900" indent="-342900" algn="just" eaLnBrk="0" hangingPunct="0">
              <a:spcBef>
                <a:spcPct val="20000"/>
              </a:spcBef>
              <a:buFont typeface="Arial" pitchFamily="34" charset="0"/>
              <a:buChar char="•"/>
              <a:defRPr/>
            </a:pPr>
            <a:endParaRPr lang="en-US" altLang="zh-CN" sz="2400" b="1" dirty="0">
              <a:latin typeface="+mn-lt"/>
              <a:ea typeface="+mn-ea"/>
            </a:endParaRPr>
          </a:p>
          <a:p>
            <a:pPr>
              <a:defRPr/>
            </a:pPr>
            <a:r>
              <a:rPr lang="zh-CN" altLang="en-US" sz="2800" dirty="0"/>
              <a:t>       贝叶斯分类器的分类原理是通过某对象的</a:t>
            </a:r>
            <a:r>
              <a:rPr lang="zh-CN" altLang="en-US" sz="2800" dirty="0">
                <a:hlinkClick r:id="rId4"/>
              </a:rPr>
              <a:t>先验概率</a:t>
            </a:r>
            <a:r>
              <a:rPr lang="zh-CN" altLang="en-US" sz="2800" dirty="0"/>
              <a:t>，利用</a:t>
            </a:r>
            <a:r>
              <a:rPr lang="zh-CN" altLang="en-US" sz="2800" dirty="0">
                <a:hlinkClick r:id="rId5"/>
              </a:rPr>
              <a:t>贝叶斯公式</a:t>
            </a:r>
            <a:r>
              <a:rPr lang="zh-CN" altLang="en-US" sz="2800" dirty="0"/>
              <a:t>计算出其</a:t>
            </a:r>
            <a:r>
              <a:rPr lang="zh-CN" altLang="en-US" sz="2800" dirty="0">
                <a:hlinkClick r:id="rId6"/>
              </a:rPr>
              <a:t>后验概率</a:t>
            </a:r>
            <a:r>
              <a:rPr lang="zh-CN" altLang="en-US" sz="2800" dirty="0"/>
              <a:t>，即该对象属于某一类的概率，选择具有最大</a:t>
            </a:r>
            <a:r>
              <a:rPr lang="zh-CN" altLang="en-US" sz="2800" dirty="0">
                <a:hlinkClick r:id="rId6"/>
              </a:rPr>
              <a:t>后验概率</a:t>
            </a:r>
            <a:r>
              <a:rPr lang="zh-CN" altLang="en-US" sz="2800" dirty="0"/>
              <a:t>的类作为该对象所属的类。也就是说，贝叶斯分类器是最小错误率意义上的优化。</a:t>
            </a:r>
            <a:endParaRPr lang="en-US" altLang="zh-CN" sz="2800" dirty="0"/>
          </a:p>
          <a:p>
            <a:pPr marL="342900" indent="-342900" algn="just" eaLnBrk="0" hangingPunct="0">
              <a:lnSpc>
                <a:spcPct val="90000"/>
              </a:lnSpc>
              <a:spcBef>
                <a:spcPct val="20000"/>
              </a:spcBef>
              <a:buFont typeface="Wingdings" pitchFamily="2" charset="2"/>
              <a:buNone/>
              <a:defRPr/>
            </a:pPr>
            <a:r>
              <a:rPr lang="zh-CN" altLang="en-US" sz="2800" b="1" dirty="0">
                <a:solidFill>
                  <a:srgbClr val="003300"/>
                </a:solidFill>
              </a:rPr>
              <a:t>根据贝叶斯定理：</a:t>
            </a:r>
          </a:p>
          <a:p>
            <a:pPr marL="342900" indent="-342900" algn="just" eaLnBrk="0" hangingPunct="0">
              <a:lnSpc>
                <a:spcPct val="90000"/>
              </a:lnSpc>
              <a:spcBef>
                <a:spcPct val="20000"/>
              </a:spcBef>
              <a:buFont typeface="Wingdings" pitchFamily="2" charset="2"/>
              <a:buNone/>
              <a:defRPr/>
            </a:pPr>
            <a:endParaRPr lang="zh-CN" altLang="en-US" sz="2800" b="1" dirty="0">
              <a:solidFill>
                <a:srgbClr val="003300"/>
              </a:solidFill>
            </a:endParaRPr>
          </a:p>
          <a:p>
            <a:pPr marL="342900" indent="-342900" algn="just" eaLnBrk="0" hangingPunct="0">
              <a:lnSpc>
                <a:spcPct val="90000"/>
              </a:lnSpc>
              <a:spcBef>
                <a:spcPct val="20000"/>
              </a:spcBef>
              <a:buFont typeface="Wingdings" pitchFamily="2" charset="2"/>
              <a:buNone/>
              <a:defRPr/>
            </a:pPr>
            <a:r>
              <a:rPr lang="zh-CN" altLang="en-US" sz="2800" b="1" dirty="0">
                <a:solidFill>
                  <a:srgbClr val="003300"/>
                </a:solidFill>
                <a:latin typeface="Tahoma"/>
              </a:rPr>
              <a:t> </a:t>
            </a:r>
            <a:endParaRPr lang="zh-CN" altLang="en-US" sz="2800" b="1" dirty="0">
              <a:solidFill>
                <a:srgbClr val="003300"/>
              </a:solidFill>
            </a:endParaRPr>
          </a:p>
          <a:p>
            <a:pPr marL="342900" indent="-342900" algn="just" eaLnBrk="0" hangingPunct="0">
              <a:lnSpc>
                <a:spcPct val="90000"/>
              </a:lnSpc>
              <a:spcBef>
                <a:spcPct val="20000"/>
              </a:spcBef>
              <a:buFont typeface="Wingdings" pitchFamily="2" charset="2"/>
              <a:buNone/>
              <a:defRPr/>
            </a:pPr>
            <a:endParaRPr lang="zh-CN" altLang="en-US" sz="2800" b="1" dirty="0">
              <a:solidFill>
                <a:srgbClr val="003300"/>
              </a:solidFill>
            </a:endParaRPr>
          </a:p>
          <a:p>
            <a:pPr marL="342900" indent="-342900" algn="just" eaLnBrk="0" hangingPunct="0">
              <a:lnSpc>
                <a:spcPct val="90000"/>
              </a:lnSpc>
              <a:spcBef>
                <a:spcPct val="20000"/>
              </a:spcBef>
              <a:buFont typeface="Arial" pitchFamily="34" charset="0"/>
              <a:buChar char="•"/>
              <a:defRPr/>
            </a:pPr>
            <a:r>
              <a:rPr lang="zh-CN" altLang="en-US" sz="2800" b="1" dirty="0">
                <a:solidFill>
                  <a:srgbClr val="003300"/>
                </a:solidFill>
              </a:rPr>
              <a:t>由于</a:t>
            </a:r>
            <a:r>
              <a:rPr lang="zh-CN" altLang="en-US" sz="2800" b="1" i="1" dirty="0">
                <a:solidFill>
                  <a:srgbClr val="003300"/>
                </a:solidFill>
              </a:rPr>
              <a:t>P</a:t>
            </a:r>
            <a:r>
              <a:rPr lang="zh-CN" altLang="en-US" sz="2800" b="1" dirty="0">
                <a:solidFill>
                  <a:srgbClr val="003300"/>
                </a:solidFill>
              </a:rPr>
              <a:t>(</a:t>
            </a:r>
            <a:r>
              <a:rPr lang="zh-CN" altLang="en-US" sz="2800" b="1" i="1" dirty="0">
                <a:solidFill>
                  <a:srgbClr val="003300"/>
                </a:solidFill>
              </a:rPr>
              <a:t>X</a:t>
            </a:r>
            <a:r>
              <a:rPr lang="zh-CN" altLang="en-US" sz="2800" b="1" dirty="0">
                <a:solidFill>
                  <a:srgbClr val="003300"/>
                </a:solidFill>
              </a:rPr>
              <a:t>)对于所有类为</a:t>
            </a:r>
            <a:r>
              <a:rPr lang="zh-CN" altLang="en-US" sz="2800" b="1" dirty="0">
                <a:solidFill>
                  <a:schemeClr val="hlink"/>
                </a:solidFill>
              </a:rPr>
              <a:t>常数</a:t>
            </a:r>
            <a:r>
              <a:rPr lang="zh-CN" altLang="en-US" sz="2800" b="1" dirty="0">
                <a:solidFill>
                  <a:srgbClr val="003300"/>
                </a:solidFill>
              </a:rPr>
              <a:t>，只需要</a:t>
            </a:r>
            <a:r>
              <a:rPr lang="zh-CN" altLang="en-US" sz="2800" b="1" i="1" dirty="0">
                <a:solidFill>
                  <a:srgbClr val="003300"/>
                </a:solidFill>
              </a:rPr>
              <a:t>P</a:t>
            </a:r>
            <a:r>
              <a:rPr lang="zh-CN" altLang="en-US" sz="2800" b="1" dirty="0">
                <a:solidFill>
                  <a:srgbClr val="003300"/>
                </a:solidFill>
              </a:rPr>
              <a:t>(</a:t>
            </a:r>
            <a:r>
              <a:rPr lang="zh-CN" altLang="en-US" sz="2800" b="1" i="1" dirty="0">
                <a:solidFill>
                  <a:srgbClr val="003300"/>
                </a:solidFill>
              </a:rPr>
              <a:t>X</a:t>
            </a:r>
            <a:r>
              <a:rPr lang="zh-CN" altLang="en-US" sz="2800" b="1" dirty="0">
                <a:solidFill>
                  <a:srgbClr val="003300"/>
                </a:solidFill>
              </a:rPr>
              <a:t>|</a:t>
            </a:r>
            <a:r>
              <a:rPr lang="en-US" altLang="zh-CN" sz="2800" b="1" i="1" dirty="0">
                <a:solidFill>
                  <a:srgbClr val="003300"/>
                </a:solidFill>
              </a:rPr>
              <a:t>H</a:t>
            </a:r>
            <a:r>
              <a:rPr lang="zh-CN" altLang="en-US" sz="2800" b="1" dirty="0">
                <a:solidFill>
                  <a:srgbClr val="003300"/>
                </a:solidFill>
              </a:rPr>
              <a:t>)*</a:t>
            </a:r>
            <a:r>
              <a:rPr lang="zh-CN" altLang="en-US" sz="2800" b="1" i="1" dirty="0">
                <a:solidFill>
                  <a:srgbClr val="003300"/>
                </a:solidFill>
              </a:rPr>
              <a:t>P</a:t>
            </a:r>
            <a:r>
              <a:rPr lang="zh-CN" altLang="en-US" sz="2800" b="1" dirty="0">
                <a:solidFill>
                  <a:srgbClr val="003300"/>
                </a:solidFill>
              </a:rPr>
              <a:t>(</a:t>
            </a:r>
            <a:r>
              <a:rPr lang="en-US" altLang="zh-CN" sz="2800" b="1" i="1" dirty="0">
                <a:solidFill>
                  <a:srgbClr val="003300"/>
                </a:solidFill>
              </a:rPr>
              <a:t>H</a:t>
            </a:r>
            <a:r>
              <a:rPr lang="zh-CN" altLang="en-US" sz="2800" b="1" dirty="0">
                <a:solidFill>
                  <a:srgbClr val="003300"/>
                </a:solidFill>
              </a:rPr>
              <a:t>)最大即可。</a:t>
            </a:r>
          </a:p>
          <a:p>
            <a:pPr>
              <a:defRPr/>
            </a:pPr>
            <a:endParaRPr lang="zh-CN" altLang="en-US" sz="2800" b="1" dirty="0">
              <a:solidFill>
                <a:schemeClr val="tx2"/>
              </a:solidFill>
              <a:latin typeface="+mn-lt"/>
              <a:ea typeface="+mn-ea"/>
            </a:endParaRPr>
          </a:p>
          <a:p>
            <a:pPr marL="342900" indent="-342900" algn="just" eaLnBrk="0" hangingPunct="0">
              <a:spcBef>
                <a:spcPct val="20000"/>
              </a:spcBef>
              <a:buFont typeface="Arial" pitchFamily="34" charset="0"/>
              <a:buChar char="•"/>
              <a:defRPr/>
            </a:pPr>
            <a:endParaRPr lang="zh-CN" altLang="en-US" sz="3200" b="1" dirty="0">
              <a:solidFill>
                <a:schemeClr val="tx2"/>
              </a:solidFill>
              <a:latin typeface="+mn-lt"/>
              <a:ea typeface="+mn-ea"/>
            </a:endParaRPr>
          </a:p>
          <a:p>
            <a:pPr marL="342900" indent="-342900" eaLnBrk="0" hangingPunct="0">
              <a:spcBef>
                <a:spcPct val="20000"/>
              </a:spcBef>
              <a:defRPr/>
            </a:pPr>
            <a:endParaRPr lang="zh-CN" altLang="en-US" sz="4000" b="1" dirty="0">
              <a:latin typeface="+mn-lt"/>
              <a:ea typeface="+mn-ea"/>
            </a:endParaRPr>
          </a:p>
        </p:txBody>
      </p:sp>
      <p:graphicFrame>
        <p:nvGraphicFramePr>
          <p:cNvPr id="3074" name="Object 2"/>
          <p:cNvGraphicFramePr>
            <a:graphicFrameLocks noChangeAspect="1"/>
          </p:cNvGraphicFramePr>
          <p:nvPr/>
        </p:nvGraphicFramePr>
        <p:xfrm>
          <a:off x="2000250" y="4500563"/>
          <a:ext cx="4321175" cy="822325"/>
        </p:xfrm>
        <a:graphic>
          <a:graphicData uri="http://schemas.openxmlformats.org/presentationml/2006/ole">
            <p:oleObj spid="_x0000_s3074" r:id="rId7" imgW="2311517" imgH="419357" progId="Equation.3">
              <p:embed/>
            </p:oleObj>
          </a:graphicData>
        </a:graphic>
      </p:graphicFrame>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8313" y="765175"/>
            <a:ext cx="7920037" cy="5567363"/>
          </a:xfrm>
          <a:prstGeom prst="rect">
            <a:avLst/>
          </a:prstGeom>
          <a:ln/>
        </p:spPr>
        <p:txBody>
          <a:bodyPr/>
          <a:lstStyle/>
          <a:p>
            <a:pPr marL="342900" indent="-342900" algn="just" eaLnBrk="0" hangingPunct="0">
              <a:lnSpc>
                <a:spcPct val="90000"/>
              </a:lnSpc>
              <a:spcBef>
                <a:spcPct val="20000"/>
              </a:spcBef>
              <a:buFont typeface="Wingdings" pitchFamily="2" charset="2"/>
              <a:buNone/>
              <a:defRPr/>
            </a:pPr>
            <a:r>
              <a:rPr lang="zh-CN" altLang="en-US" sz="2400" b="1" dirty="0">
                <a:solidFill>
                  <a:srgbClr val="003300"/>
                </a:solidFill>
                <a:latin typeface="+mn-lt"/>
                <a:ea typeface="+mn-ea"/>
              </a:rPr>
              <a:t> </a:t>
            </a:r>
            <a:endParaRPr lang="zh-CN" altLang="en-US" sz="2400" b="1" dirty="0">
              <a:solidFill>
                <a:schemeClr val="tx2"/>
              </a:solidFill>
              <a:latin typeface="+mn-lt"/>
              <a:ea typeface="+mn-ea"/>
            </a:endParaRPr>
          </a:p>
        </p:txBody>
      </p:sp>
      <p:grpSp>
        <p:nvGrpSpPr>
          <p:cNvPr id="50179" name="组合 6"/>
          <p:cNvGrpSpPr>
            <a:grpSpLocks/>
          </p:cNvGrpSpPr>
          <p:nvPr/>
        </p:nvGrpSpPr>
        <p:grpSpPr bwMode="auto">
          <a:xfrm>
            <a:off x="2000250" y="357188"/>
            <a:ext cx="6572250" cy="1143000"/>
            <a:chOff x="-376793" y="549348"/>
            <a:chExt cx="6884921" cy="1353900"/>
          </a:xfrm>
        </p:grpSpPr>
        <p:grpSp>
          <p:nvGrpSpPr>
            <p:cNvPr id="50188" name="剪去单角的矩形 7"/>
            <p:cNvGrpSpPr>
              <a:grpSpLocks/>
            </p:cNvGrpSpPr>
            <p:nvPr/>
          </p:nvGrpSpPr>
          <p:grpSpPr bwMode="auto">
            <a:xfrm>
              <a:off x="-376793" y="549348"/>
              <a:ext cx="6884921" cy="1353900"/>
              <a:chOff x="-359664" y="621792"/>
              <a:chExt cx="6571935" cy="1292352"/>
            </a:xfrm>
          </p:grpSpPr>
          <p:pic>
            <p:nvPicPr>
              <p:cNvPr id="50190" name="剪去单角的矩形 7"/>
              <p:cNvPicPr>
                <a:picLocks noChangeArrowheads="1"/>
              </p:cNvPicPr>
              <p:nvPr/>
            </p:nvPicPr>
            <p:blipFill>
              <a:blip r:embed="rId2"/>
              <a:srcRect/>
              <a:stretch>
                <a:fillRect/>
              </a:stretch>
            </p:blipFill>
            <p:spPr bwMode="auto">
              <a:xfrm>
                <a:off x="-359664" y="621792"/>
                <a:ext cx="3785993" cy="1292352"/>
              </a:xfrm>
              <a:prstGeom prst="rect">
                <a:avLst/>
              </a:prstGeom>
              <a:noFill/>
              <a:ln w="9525">
                <a:noFill/>
                <a:miter lim="800000"/>
                <a:headEnd/>
                <a:tailEnd/>
              </a:ln>
            </p:spPr>
          </p:pic>
          <p:sp>
            <p:nvSpPr>
              <p:cNvPr id="50191" name="Text Box 4"/>
              <p:cNvSpPr txBox="1">
                <a:spLocks noChangeArrowheads="1"/>
              </p:cNvSpPr>
              <p:nvPr/>
            </p:nvSpPr>
            <p:spPr bwMode="auto">
              <a:xfrm>
                <a:off x="-73957" y="702565"/>
                <a:ext cx="6286228" cy="875110"/>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50189" name="TextBox 9"/>
            <p:cNvSpPr txBox="1">
              <a:spLocks noChangeArrowheads="1"/>
            </p:cNvSpPr>
            <p:nvPr/>
          </p:nvSpPr>
          <p:spPr bwMode="auto">
            <a:xfrm>
              <a:off x="72196" y="633941"/>
              <a:ext cx="3148948" cy="911414"/>
            </a:xfrm>
            <a:prstGeom prst="rect">
              <a:avLst/>
            </a:prstGeom>
            <a:noFill/>
            <a:ln w="9525">
              <a:noFill/>
              <a:miter lim="800000"/>
              <a:headEnd/>
              <a:tailEnd/>
            </a:ln>
          </p:spPr>
          <p:txBody>
            <a:bodyPr wrap="none">
              <a:spAutoFit/>
            </a:bodyPr>
            <a:lstStyle/>
            <a:p>
              <a:r>
                <a:rPr lang="zh-CN" altLang="en-US" sz="4400" b="1">
                  <a:latin typeface="微软雅黑" pitchFamily="34" charset="-122"/>
                  <a:ea typeface="微软雅黑" pitchFamily="34" charset="-122"/>
                </a:rPr>
                <a:t>朴素贝叶斯</a:t>
              </a:r>
            </a:p>
          </p:txBody>
        </p:sp>
      </p:grpSp>
      <p:sp>
        <p:nvSpPr>
          <p:cNvPr id="50180" name="TextBox 8"/>
          <p:cNvSpPr txBox="1">
            <a:spLocks noChangeArrowheads="1"/>
          </p:cNvSpPr>
          <p:nvPr/>
        </p:nvSpPr>
        <p:spPr bwMode="auto">
          <a:xfrm>
            <a:off x="285750" y="1214438"/>
            <a:ext cx="8215313" cy="2616200"/>
          </a:xfrm>
          <a:prstGeom prst="rect">
            <a:avLst/>
          </a:prstGeom>
          <a:noFill/>
          <a:ln w="9525">
            <a:noFill/>
            <a:miter lim="800000"/>
            <a:headEnd/>
            <a:tailEnd/>
          </a:ln>
        </p:spPr>
        <p:txBody>
          <a:bodyPr>
            <a:spAutoFit/>
          </a:bodyPr>
          <a:lstStyle/>
          <a:p>
            <a:r>
              <a:rPr lang="zh-CN" altLang="en-US" sz="2400"/>
              <a:t>       </a:t>
            </a:r>
            <a:r>
              <a:rPr lang="zh-CN" altLang="en-US" sz="2000"/>
              <a:t>朴素贝叶斯分类是一种十分简单的分类算法，叫它朴素贝叶斯分类是因为这种方法的思想真的很朴素，朴素贝叶斯的思想基础是这样的：对于给出的待分类项，求解在此项出现的条件下各个类别出现的概率，哪个最大，就认为此待分类项属于哪个类别。</a:t>
            </a:r>
            <a:endParaRPr lang="en-US" altLang="zh-CN" sz="2000"/>
          </a:p>
          <a:p>
            <a:r>
              <a:rPr lang="zh-CN" altLang="en-US" sz="2000"/>
              <a:t>      通俗来说，就好比这么个道理，你在街上看到一个黑人，我问你你猜这哥们哪里来的，你十有八九猜非洲。为什么呢？因为黑人中非洲人的比率最高，当然人家也可能是美洲人或亚洲人，但在没有其它可用信息下，我们会选择条件概率最大的类别，这就是朴素贝叶斯的思想基础。</a:t>
            </a:r>
          </a:p>
        </p:txBody>
      </p:sp>
      <p:pic>
        <p:nvPicPr>
          <p:cNvPr id="50181" name="图片 8" descr="10754981_766531.jpg"/>
          <p:cNvPicPr>
            <a:picLocks noChangeAspect="1"/>
          </p:cNvPicPr>
          <p:nvPr/>
        </p:nvPicPr>
        <p:blipFill>
          <a:blip r:embed="rId3"/>
          <a:srcRect/>
          <a:stretch>
            <a:fillRect/>
          </a:stretch>
        </p:blipFill>
        <p:spPr bwMode="auto">
          <a:xfrm>
            <a:off x="714375" y="3929063"/>
            <a:ext cx="1857375" cy="2500312"/>
          </a:xfrm>
          <a:prstGeom prst="rect">
            <a:avLst/>
          </a:prstGeom>
          <a:noFill/>
          <a:ln w="9525">
            <a:noFill/>
            <a:miter lim="800000"/>
            <a:headEnd/>
            <a:tailEnd/>
          </a:ln>
        </p:spPr>
      </p:pic>
      <p:pic>
        <p:nvPicPr>
          <p:cNvPr id="50182" name="图片 9" descr="0590100091.jpg"/>
          <p:cNvPicPr>
            <a:picLocks noChangeAspect="1"/>
          </p:cNvPicPr>
          <p:nvPr/>
        </p:nvPicPr>
        <p:blipFill>
          <a:blip r:embed="rId4"/>
          <a:srcRect/>
          <a:stretch>
            <a:fillRect/>
          </a:stretch>
        </p:blipFill>
        <p:spPr bwMode="auto">
          <a:xfrm>
            <a:off x="6215063" y="3857625"/>
            <a:ext cx="1881187" cy="2500313"/>
          </a:xfrm>
          <a:prstGeom prst="rect">
            <a:avLst/>
          </a:prstGeom>
          <a:noFill/>
          <a:ln w="9525">
            <a:noFill/>
            <a:miter lim="800000"/>
            <a:headEnd/>
            <a:tailEnd/>
          </a:ln>
        </p:spPr>
      </p:pic>
      <p:sp>
        <p:nvSpPr>
          <p:cNvPr id="11" name="TextBox 10"/>
          <p:cNvSpPr txBox="1"/>
          <p:nvPr/>
        </p:nvSpPr>
        <p:spPr>
          <a:xfrm>
            <a:off x="2571736" y="4143380"/>
            <a:ext cx="3571900" cy="400110"/>
          </a:xfrm>
          <a:prstGeom prst="rect">
            <a:avLst/>
          </a:prstGeom>
          <a:noFill/>
        </p:spPr>
        <p:txBody>
          <a:bodyPr>
            <a:spAutoFit/>
          </a:bodyPr>
          <a:lstStyle/>
          <a:p>
            <a:pPr>
              <a:defRPr/>
            </a:pPr>
            <a:r>
              <a:rPr lang="zh-CN" altLang="en-US" sz="2000" dirty="0">
                <a:ln w="18415" cmpd="sng">
                  <a:solidFill>
                    <a:srgbClr val="FFFFFF"/>
                  </a:solidFill>
                  <a:prstDash val="solid"/>
                </a:ln>
                <a:effectLst>
                  <a:outerShdw blurRad="63500" dir="3600000" algn="tl" rotWithShape="0">
                    <a:srgbClr val="000000">
                      <a:alpha val="70000"/>
                    </a:srgbClr>
                  </a:outerShdw>
                </a:effectLst>
              </a:rPr>
              <a:t>                       黑人</a:t>
            </a:r>
            <a:endParaRPr lang="zh-CN" altLang="en-US" sz="2000" b="1" dirty="0">
              <a:ln w="18415" cmpd="sng">
                <a:solidFill>
                  <a:srgbClr val="FFFFFF"/>
                </a:solidFill>
                <a:prstDash val="solid"/>
              </a:ln>
              <a:effectLst>
                <a:outerShdw blurRad="63500" dir="3600000" algn="tl" rotWithShape="0">
                  <a:srgbClr val="000000">
                    <a:alpha val="70000"/>
                  </a:srgbClr>
                </a:outerShdw>
              </a:effectLst>
            </a:endParaRPr>
          </a:p>
        </p:txBody>
      </p:sp>
      <p:sp>
        <p:nvSpPr>
          <p:cNvPr id="12" name="TextBox 11"/>
          <p:cNvSpPr txBox="1"/>
          <p:nvPr/>
        </p:nvSpPr>
        <p:spPr>
          <a:xfrm>
            <a:off x="2786050" y="5072074"/>
            <a:ext cx="3214710" cy="369332"/>
          </a:xfrm>
          <a:prstGeom prst="rect">
            <a:avLst/>
          </a:prstGeom>
          <a:noFill/>
        </p:spPr>
        <p:txBody>
          <a:bodyPr>
            <a:spAutoFit/>
          </a:bodyPr>
          <a:lstStyle/>
          <a:p>
            <a:pPr>
              <a:defRPr/>
            </a:pPr>
            <a:r>
              <a:rPr lang="zh-CN" altLang="en-US" dirty="0"/>
              <a:t>                  </a:t>
            </a:r>
            <a:r>
              <a:rPr lang="zh-CN" altLang="en-US" b="1" dirty="0">
                <a:ln w="18000">
                  <a:solidFill>
                    <a:schemeClr val="accent2">
                      <a:satMod val="140000"/>
                    </a:schemeClr>
                  </a:solidFill>
                  <a:prstDash val="solid"/>
                  <a:miter lim="800000"/>
                </a:ln>
                <a:noFill/>
                <a:effectLst>
                  <a:outerShdw blurRad="25500" dist="23000" dir="7020000" algn="tl">
                    <a:srgbClr val="000000">
                      <a:alpha val="50000"/>
                    </a:srgbClr>
                  </a:outerShdw>
                </a:effectLst>
              </a:rPr>
              <a:t>非洲人</a:t>
            </a:r>
            <a:endParaRPr lang="zh-CN" altLang="en-US" dirty="0"/>
          </a:p>
        </p:txBody>
      </p:sp>
      <p:cxnSp>
        <p:nvCxnSpPr>
          <p:cNvPr id="14" name="直接箭头连接符 13"/>
          <p:cNvCxnSpPr>
            <a:endCxn id="12" idx="0"/>
          </p:cNvCxnSpPr>
          <p:nvPr/>
        </p:nvCxnSpPr>
        <p:spPr>
          <a:xfrm rot="16200000" flipH="1">
            <a:off x="4196557" y="4876006"/>
            <a:ext cx="357188" cy="34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2"/>
            <a:endCxn id="12" idx="0"/>
          </p:cNvCxnSpPr>
          <p:nvPr/>
        </p:nvCxnSpPr>
        <p:spPr>
          <a:xfrm rot="16200000" flipH="1">
            <a:off x="4110832" y="4790281"/>
            <a:ext cx="528638" cy="34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187" name="TextBox 19"/>
          <p:cNvSpPr txBox="1">
            <a:spLocks noChangeArrowheads="1"/>
          </p:cNvSpPr>
          <p:nvPr/>
        </p:nvSpPr>
        <p:spPr bwMode="auto">
          <a:xfrm>
            <a:off x="3286125" y="4714875"/>
            <a:ext cx="1285875" cy="369888"/>
          </a:xfrm>
          <a:prstGeom prst="rect">
            <a:avLst/>
          </a:prstGeom>
          <a:noFill/>
          <a:ln w="9525">
            <a:noFill/>
            <a:miter lim="800000"/>
            <a:headEnd/>
            <a:tailEnd/>
          </a:ln>
        </p:spPr>
        <p:txBody>
          <a:bodyPr>
            <a:spAutoFit/>
          </a:bodyPr>
          <a:lstStyle/>
          <a:p>
            <a:r>
              <a:rPr lang="zh-CN" altLang="en-US"/>
              <a:t>概率最大</a:t>
            </a: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TextBox 1"/>
          <p:cNvSpPr txBox="1">
            <a:spLocks noChangeArrowheads="1"/>
          </p:cNvSpPr>
          <p:nvPr/>
        </p:nvSpPr>
        <p:spPr bwMode="auto">
          <a:xfrm>
            <a:off x="0" y="714375"/>
            <a:ext cx="5786438" cy="2586038"/>
          </a:xfrm>
          <a:prstGeom prst="rect">
            <a:avLst/>
          </a:prstGeom>
          <a:noFill/>
          <a:ln w="9525">
            <a:noFill/>
            <a:miter lim="800000"/>
            <a:headEnd/>
            <a:tailEnd/>
          </a:ln>
        </p:spPr>
        <p:txBody>
          <a:bodyPr>
            <a:spAutoFit/>
          </a:bodyPr>
          <a:lstStyle/>
          <a:p>
            <a:r>
              <a:rPr lang="zh-CN" altLang="en-US" b="1"/>
              <a:t>    第一阶段</a:t>
            </a:r>
            <a:r>
              <a:rPr lang="en-US" altLang="zh-CN" b="1"/>
              <a:t>——</a:t>
            </a:r>
            <a:r>
              <a:rPr lang="zh-CN" altLang="en-US" b="1"/>
              <a:t>准备工作阶段</a:t>
            </a:r>
            <a:r>
              <a:rPr lang="zh-CN" altLang="en-US"/>
              <a:t>，这个阶段的任务是为朴素贝叶斯分类做必要的准备，主要工作是根据具体情况确定特征属性，并对每个特征属性进行适当划分，然后由人工对一部分待分类项进行分类，形成训练样本集合。这一阶段的输入是所有待分类数据，输出是特征属性和训练样本。这一阶段是整个朴素贝叶斯分类中唯一需要人工完成的阶段，其质量对整个过程将有重要影响，分类器的质量很大程度上由特征属性、特征属性划分及训练样本质量决定。</a:t>
            </a:r>
          </a:p>
        </p:txBody>
      </p:sp>
      <p:sp>
        <p:nvSpPr>
          <p:cNvPr id="51203" name="TextBox 5"/>
          <p:cNvSpPr txBox="1">
            <a:spLocks noChangeArrowheads="1"/>
          </p:cNvSpPr>
          <p:nvPr/>
        </p:nvSpPr>
        <p:spPr bwMode="auto">
          <a:xfrm>
            <a:off x="0" y="3286125"/>
            <a:ext cx="5857875" cy="1754188"/>
          </a:xfrm>
          <a:prstGeom prst="rect">
            <a:avLst/>
          </a:prstGeom>
          <a:noFill/>
          <a:ln w="9525">
            <a:noFill/>
            <a:miter lim="800000"/>
            <a:headEnd/>
            <a:tailEnd/>
          </a:ln>
        </p:spPr>
        <p:txBody>
          <a:bodyPr>
            <a:spAutoFit/>
          </a:bodyPr>
          <a:lstStyle/>
          <a:p>
            <a:r>
              <a:rPr lang="zh-CN" altLang="en-US"/>
              <a:t>    </a:t>
            </a:r>
            <a:r>
              <a:rPr lang="zh-CN" altLang="en-US" b="1"/>
              <a:t>第二阶段</a:t>
            </a:r>
            <a:r>
              <a:rPr lang="en-US" altLang="zh-CN" b="1"/>
              <a:t>——</a:t>
            </a:r>
            <a:r>
              <a:rPr lang="zh-CN" altLang="en-US" b="1"/>
              <a:t>分类器训练阶段</a:t>
            </a:r>
            <a:r>
              <a:rPr lang="zh-CN" altLang="en-US"/>
              <a:t>，这个阶段的任务就是生成分类器，主要工作是计算每个类别在训练样本中的出现频率及每个特征属性划分对每个类别的条件概率估计，并将结果记录。其输入是特征属性和训练样本，输出是分类器。这一阶段是机械性阶段，根据前面讨论的公式可以由程序自动计算完成。</a:t>
            </a:r>
          </a:p>
        </p:txBody>
      </p:sp>
      <p:sp>
        <p:nvSpPr>
          <p:cNvPr id="51204" name="TextBox 6"/>
          <p:cNvSpPr txBox="1">
            <a:spLocks noChangeArrowheads="1"/>
          </p:cNvSpPr>
          <p:nvPr/>
        </p:nvSpPr>
        <p:spPr bwMode="auto">
          <a:xfrm>
            <a:off x="0" y="5000625"/>
            <a:ext cx="5572125" cy="1200150"/>
          </a:xfrm>
          <a:prstGeom prst="rect">
            <a:avLst/>
          </a:prstGeom>
          <a:noFill/>
          <a:ln w="9525">
            <a:noFill/>
            <a:miter lim="800000"/>
            <a:headEnd/>
            <a:tailEnd/>
          </a:ln>
        </p:spPr>
        <p:txBody>
          <a:bodyPr>
            <a:spAutoFit/>
          </a:bodyPr>
          <a:lstStyle/>
          <a:p>
            <a:r>
              <a:rPr lang="zh-CN" altLang="en-US"/>
              <a:t> </a:t>
            </a:r>
            <a:r>
              <a:rPr lang="zh-CN" altLang="en-US" b="1"/>
              <a:t>  第三阶段</a:t>
            </a:r>
            <a:r>
              <a:rPr lang="en-US" altLang="zh-CN" b="1"/>
              <a:t>——</a:t>
            </a:r>
            <a:r>
              <a:rPr lang="zh-CN" altLang="en-US" b="1"/>
              <a:t>应用阶段</a:t>
            </a:r>
            <a:r>
              <a:rPr lang="zh-CN" altLang="en-US"/>
              <a:t>。这个阶段的任务是使用分类器对待分类项进行分类，其输入是分类器和待分类项，输出是待分类项与类别的映射关系。这一阶段也是机械性阶段，由程序完成。</a:t>
            </a:r>
          </a:p>
        </p:txBody>
      </p:sp>
      <p:pic>
        <p:nvPicPr>
          <p:cNvPr id="51205" name="图片 7" descr="1_2.png"/>
          <p:cNvPicPr>
            <a:picLocks noChangeAspect="1"/>
          </p:cNvPicPr>
          <p:nvPr/>
        </p:nvPicPr>
        <p:blipFill>
          <a:blip r:embed="rId2"/>
          <a:srcRect/>
          <a:stretch>
            <a:fillRect/>
          </a:stretch>
        </p:blipFill>
        <p:spPr bwMode="auto">
          <a:xfrm>
            <a:off x="5929313" y="785813"/>
            <a:ext cx="3214687" cy="4294187"/>
          </a:xfrm>
          <a:prstGeom prst="rect">
            <a:avLst/>
          </a:prstGeom>
          <a:noFill/>
          <a:ln w="9525">
            <a:noFill/>
            <a:miter lim="800000"/>
            <a:headEnd/>
            <a:tailEnd/>
          </a:ln>
        </p:spPr>
      </p:pic>
      <p:sp>
        <p:nvSpPr>
          <p:cNvPr id="9" name="TextBox 8"/>
          <p:cNvSpPr txBox="1"/>
          <p:nvPr/>
        </p:nvSpPr>
        <p:spPr>
          <a:xfrm>
            <a:off x="1857356" y="142852"/>
            <a:ext cx="4929222" cy="523220"/>
          </a:xfrm>
          <a:prstGeom prst="rect">
            <a:avLst/>
          </a:prstGeom>
          <a:solidFill>
            <a:schemeClr val="bg1"/>
          </a:solidFill>
        </p:spPr>
        <p:txBody>
          <a:bodyPr>
            <a:spAutoFit/>
          </a:bodyPr>
          <a:lstStyle/>
          <a:p>
            <a:pPr>
              <a:defRPr/>
            </a:pPr>
            <a:r>
              <a:rPr lang="zh-CN" altLang="en-U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朴素贝叶斯分类的流程</a:t>
            </a: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TextBox 1"/>
          <p:cNvSpPr txBox="1">
            <a:spLocks noChangeArrowheads="1"/>
          </p:cNvSpPr>
          <p:nvPr/>
        </p:nvSpPr>
        <p:spPr bwMode="auto">
          <a:xfrm>
            <a:off x="1857375" y="142875"/>
            <a:ext cx="4929188" cy="954088"/>
          </a:xfrm>
          <a:prstGeom prst="rect">
            <a:avLst/>
          </a:prstGeom>
          <a:solidFill>
            <a:schemeClr val="bg1"/>
          </a:solidFill>
          <a:ln w="9525">
            <a:noFill/>
            <a:miter lim="800000"/>
            <a:headEnd/>
            <a:tailEnd/>
          </a:ln>
        </p:spPr>
        <p:txBody>
          <a:bodyPr>
            <a:spAutoFit/>
          </a:bodyPr>
          <a:lstStyle/>
          <a:p>
            <a:r>
              <a:rPr lang="zh-CN" altLang="en-US" sz="2800"/>
              <a:t>      朴素贝叶斯分类实例</a:t>
            </a:r>
            <a:endParaRPr lang="en-US" altLang="zh-CN" sz="2800"/>
          </a:p>
          <a:p>
            <a:r>
              <a:rPr lang="zh-CN" altLang="en-US" sz="2800" b="1"/>
              <a:t>检测</a:t>
            </a:r>
            <a:r>
              <a:rPr lang="en-US" altLang="zh-CN" sz="2800" b="1"/>
              <a:t>SNS</a:t>
            </a:r>
            <a:r>
              <a:rPr lang="zh-CN" altLang="en-US" sz="2800" b="1"/>
              <a:t>社区中不真实账号</a:t>
            </a:r>
          </a:p>
        </p:txBody>
      </p:sp>
      <p:sp>
        <p:nvSpPr>
          <p:cNvPr id="52227" name="TextBox 2"/>
          <p:cNvSpPr txBox="1">
            <a:spLocks noChangeArrowheads="1"/>
          </p:cNvSpPr>
          <p:nvPr/>
        </p:nvSpPr>
        <p:spPr bwMode="auto">
          <a:xfrm>
            <a:off x="571500" y="1214438"/>
            <a:ext cx="5786438" cy="4708525"/>
          </a:xfrm>
          <a:prstGeom prst="rect">
            <a:avLst/>
          </a:prstGeom>
          <a:noFill/>
          <a:ln w="9525">
            <a:noFill/>
            <a:miter lim="800000"/>
            <a:headEnd/>
            <a:tailEnd/>
          </a:ln>
        </p:spPr>
        <p:txBody>
          <a:bodyPr>
            <a:spAutoFit/>
          </a:bodyPr>
          <a:lstStyle/>
          <a:p>
            <a:r>
              <a:rPr lang="zh-CN" altLang="en-US"/>
              <a:t> </a:t>
            </a:r>
            <a:r>
              <a:rPr lang="zh-CN" altLang="en-US" sz="2000"/>
              <a:t>     下面讨论一个使用朴素贝叶斯分类解决实际问题的例子。</a:t>
            </a:r>
          </a:p>
          <a:p>
            <a:r>
              <a:rPr lang="zh-CN" altLang="en-US" sz="2000"/>
              <a:t>      这个问题是这样的，对于</a:t>
            </a:r>
            <a:r>
              <a:rPr lang="en-US" altLang="zh-CN" sz="2000"/>
              <a:t>SNS</a:t>
            </a:r>
            <a:r>
              <a:rPr lang="zh-CN" altLang="en-US" sz="2000"/>
              <a:t>社区来说，不真实账号（使用虚假身份或用户的小号）是一个普遍存在的问题，作为</a:t>
            </a:r>
            <a:r>
              <a:rPr lang="en-US" altLang="zh-CN" sz="2000"/>
              <a:t>SNS</a:t>
            </a:r>
            <a:r>
              <a:rPr lang="zh-CN" altLang="en-US" sz="2000"/>
              <a:t>社区的运营商，希望可以检测出这些不真实账号，从而在一些运营分析报告中避免这些账号的干扰，亦可以加强对</a:t>
            </a:r>
            <a:r>
              <a:rPr lang="en-US" altLang="zh-CN" sz="2000"/>
              <a:t>SNS</a:t>
            </a:r>
            <a:r>
              <a:rPr lang="zh-CN" altLang="en-US" sz="2000"/>
              <a:t>社区的了解与监管。</a:t>
            </a:r>
          </a:p>
          <a:p>
            <a:r>
              <a:rPr lang="zh-CN" altLang="en-US" sz="2000"/>
              <a:t>      如果通过纯人工检测，需要耗费大量的人力，效率也十分低下，如能引入自动检测机制，必将大大提升工作效率。这个问题说白了，就是要将社区中所有账号在真实账号和不真实账号两个类别上进行分类。</a:t>
            </a:r>
            <a:endParaRPr lang="en-US" altLang="zh-CN" sz="2000"/>
          </a:p>
          <a:p>
            <a:r>
              <a:rPr lang="en-US" altLang="zh-CN" sz="2000"/>
              <a:t>     </a:t>
            </a:r>
            <a:r>
              <a:rPr lang="zh-CN" altLang="en-US" sz="2000"/>
              <a:t>下面我们一步一步实现这个过程。</a:t>
            </a:r>
          </a:p>
          <a:p>
            <a:r>
              <a:rPr lang="zh-CN" altLang="en-US" sz="2000"/>
              <a:t>     </a:t>
            </a:r>
            <a:endParaRPr lang="zh-CN" altLang="en-US"/>
          </a:p>
        </p:txBody>
      </p:sp>
      <p:pic>
        <p:nvPicPr>
          <p:cNvPr id="52228" name="图片 3" descr="5243fbf2b21193135328b7be65380cd7902397dda144ad69.jpg"/>
          <p:cNvPicPr>
            <a:picLocks noChangeAspect="1"/>
          </p:cNvPicPr>
          <p:nvPr/>
        </p:nvPicPr>
        <p:blipFill>
          <a:blip r:embed="rId2"/>
          <a:srcRect/>
          <a:stretch>
            <a:fillRect/>
          </a:stretch>
        </p:blipFill>
        <p:spPr bwMode="auto">
          <a:xfrm>
            <a:off x="6429375" y="1500188"/>
            <a:ext cx="2433638" cy="2857500"/>
          </a:xfrm>
          <a:prstGeom prst="rect">
            <a:avLst/>
          </a:prstGeom>
          <a:noFill/>
          <a:ln w="9525">
            <a:noFill/>
            <a:miter lim="800000"/>
            <a:headEnd/>
            <a:tailEnd/>
          </a:ln>
        </p:spPr>
      </p:pic>
      <p:sp>
        <p:nvSpPr>
          <p:cNvPr id="6" name="矩形 5"/>
          <p:cNvSpPr/>
          <p:nvPr/>
        </p:nvSpPr>
        <p:spPr>
          <a:xfrm>
            <a:off x="5715008" y="5000636"/>
            <a:ext cx="3663182" cy="923330"/>
          </a:xfrm>
          <a:prstGeom prst="rect">
            <a:avLst/>
          </a:prstGeom>
          <a:noFill/>
        </p:spPr>
        <p:txBody>
          <a:bodyPr wrap="none">
            <a:spAutoFit/>
          </a:bodyPr>
          <a:lstStyle/>
          <a:p>
            <a:pPr algn="ctr">
              <a:defRPr/>
            </a:pPr>
            <a:r>
              <a:rPr lang="zh-CN" alt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是真是假？</a:t>
            </a: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1"/>
          <p:cNvSpPr txBox="1">
            <a:spLocks noChangeArrowheads="1"/>
          </p:cNvSpPr>
          <p:nvPr/>
        </p:nvSpPr>
        <p:spPr bwMode="auto">
          <a:xfrm>
            <a:off x="1071563" y="571500"/>
            <a:ext cx="5643562" cy="369888"/>
          </a:xfrm>
          <a:prstGeom prst="rect">
            <a:avLst/>
          </a:prstGeom>
          <a:noFill/>
          <a:ln w="9525">
            <a:noFill/>
            <a:miter lim="800000"/>
            <a:headEnd/>
            <a:tailEnd/>
          </a:ln>
        </p:spPr>
        <p:txBody>
          <a:bodyPr>
            <a:spAutoFit/>
          </a:bodyPr>
          <a:lstStyle/>
          <a:p>
            <a:r>
              <a:rPr lang="zh-CN" altLang="en-US"/>
              <a:t>首先设</a:t>
            </a:r>
            <a:r>
              <a:rPr lang="en-US" altLang="zh-CN"/>
              <a:t>C=0</a:t>
            </a:r>
            <a:r>
              <a:rPr lang="zh-CN" altLang="en-US"/>
              <a:t>表示真实账号，</a:t>
            </a:r>
            <a:r>
              <a:rPr lang="en-US" altLang="zh-CN"/>
              <a:t>C=1</a:t>
            </a:r>
            <a:r>
              <a:rPr lang="zh-CN" altLang="en-US"/>
              <a:t>表示不真实账号。</a:t>
            </a:r>
          </a:p>
        </p:txBody>
      </p:sp>
      <p:sp>
        <p:nvSpPr>
          <p:cNvPr id="53251" name="TextBox 2"/>
          <p:cNvSpPr txBox="1">
            <a:spLocks noChangeArrowheads="1"/>
          </p:cNvSpPr>
          <p:nvPr/>
        </p:nvSpPr>
        <p:spPr bwMode="auto">
          <a:xfrm>
            <a:off x="857250" y="1143000"/>
            <a:ext cx="6429375" cy="3970338"/>
          </a:xfrm>
          <a:prstGeom prst="rect">
            <a:avLst/>
          </a:prstGeom>
          <a:noFill/>
          <a:ln w="9525">
            <a:noFill/>
            <a:miter lim="800000"/>
            <a:headEnd/>
            <a:tailEnd/>
          </a:ln>
        </p:spPr>
        <p:txBody>
          <a:bodyPr>
            <a:spAutoFit/>
          </a:bodyPr>
          <a:lstStyle/>
          <a:p>
            <a:r>
              <a:rPr lang="zh-CN" altLang="en-US"/>
              <a:t>   </a:t>
            </a:r>
            <a:r>
              <a:rPr lang="en-US" altLang="zh-CN" b="1" i="1"/>
              <a:t>1</a:t>
            </a:r>
            <a:r>
              <a:rPr lang="zh-CN" altLang="en-US" b="1" i="1"/>
              <a:t>、确定特征属性及划分</a:t>
            </a:r>
            <a:endParaRPr lang="zh-CN" altLang="en-US" b="1"/>
          </a:p>
          <a:p>
            <a:r>
              <a:rPr lang="zh-CN" altLang="en-US"/>
              <a:t>      这一步要找出可以帮助我们区分真实账号与不真实账号的特征属性，在实际应用中，特征属性的数量是很多的，划分也会比较细致，但这里为了简单起见，我们用少量的特征属性以及较粗的划分，并对数据做了修改。</a:t>
            </a:r>
          </a:p>
          <a:p>
            <a:r>
              <a:rPr lang="zh-CN" altLang="en-US"/>
              <a:t>      我们选择三个特征属性：</a:t>
            </a:r>
            <a:r>
              <a:rPr lang="en-US" altLang="zh-CN"/>
              <a:t>a1</a:t>
            </a:r>
            <a:r>
              <a:rPr lang="zh-CN" altLang="en-US"/>
              <a:t>：日志数量</a:t>
            </a:r>
            <a:r>
              <a:rPr lang="en-US" altLang="zh-CN"/>
              <a:t>/</a:t>
            </a:r>
            <a:r>
              <a:rPr lang="zh-CN" altLang="en-US"/>
              <a:t>注册天数</a:t>
            </a:r>
            <a:endParaRPr lang="en-US" altLang="zh-CN"/>
          </a:p>
          <a:p>
            <a:r>
              <a:rPr lang="en-US" altLang="zh-CN"/>
              <a:t>                                              a2</a:t>
            </a:r>
            <a:r>
              <a:rPr lang="zh-CN" altLang="en-US"/>
              <a:t>：好友数量</a:t>
            </a:r>
            <a:r>
              <a:rPr lang="en-US" altLang="zh-CN"/>
              <a:t>/</a:t>
            </a:r>
            <a:r>
              <a:rPr lang="zh-CN" altLang="en-US"/>
              <a:t>注册天数</a:t>
            </a:r>
            <a:endParaRPr lang="en-US" altLang="zh-CN"/>
          </a:p>
          <a:p>
            <a:r>
              <a:rPr lang="en-US" altLang="zh-CN"/>
              <a:t>                                              a3</a:t>
            </a:r>
            <a:r>
              <a:rPr lang="zh-CN" altLang="en-US"/>
              <a:t>：是否使用真实头像</a:t>
            </a:r>
            <a:endParaRPr lang="en-US" altLang="zh-CN"/>
          </a:p>
          <a:p>
            <a:r>
              <a:rPr lang="en-US" altLang="zh-CN"/>
              <a:t>     </a:t>
            </a:r>
            <a:r>
              <a:rPr lang="zh-CN" altLang="en-US"/>
              <a:t>在</a:t>
            </a:r>
            <a:r>
              <a:rPr lang="en-US" altLang="zh-CN"/>
              <a:t>SNS</a:t>
            </a:r>
            <a:r>
              <a:rPr lang="zh-CN" altLang="en-US"/>
              <a:t>社区中这三项都是可以直接从数据库里得到或计算出来的。</a:t>
            </a:r>
          </a:p>
          <a:p>
            <a:r>
              <a:rPr lang="zh-CN" altLang="en-US"/>
              <a:t>      下面给出划分：</a:t>
            </a:r>
            <a:r>
              <a:rPr lang="en-US" altLang="zh-CN"/>
              <a:t>a1</a:t>
            </a:r>
            <a:r>
              <a:rPr lang="zh-CN" altLang="en-US"/>
              <a:t>：</a:t>
            </a:r>
            <a:r>
              <a:rPr lang="en-US" altLang="zh-CN"/>
              <a:t>{a&lt;=0.05, 0.05&lt;a&lt;0.2, a&gt;=0.2}</a:t>
            </a:r>
          </a:p>
          <a:p>
            <a:r>
              <a:rPr lang="en-US" altLang="zh-CN"/>
              <a:t>                                a2</a:t>
            </a:r>
            <a:r>
              <a:rPr lang="zh-CN" altLang="en-US"/>
              <a:t>：</a:t>
            </a:r>
            <a:r>
              <a:rPr lang="en-US" altLang="zh-CN"/>
              <a:t>{a&lt;=0.1, 0.1&lt;a&lt;0.8, a&gt;=0.8}</a:t>
            </a:r>
          </a:p>
          <a:p>
            <a:r>
              <a:rPr lang="en-US" altLang="zh-CN"/>
              <a:t>                                a3</a:t>
            </a:r>
            <a:r>
              <a:rPr lang="zh-CN" altLang="en-US"/>
              <a:t>：</a:t>
            </a:r>
            <a:r>
              <a:rPr lang="en-US" altLang="zh-CN"/>
              <a:t>{a=0</a:t>
            </a:r>
            <a:r>
              <a:rPr lang="zh-CN" altLang="en-US"/>
              <a:t>（不是）</a:t>
            </a:r>
            <a:r>
              <a:rPr lang="en-US" altLang="zh-CN"/>
              <a:t>,a=1</a:t>
            </a:r>
            <a:r>
              <a:rPr lang="zh-CN" altLang="en-US"/>
              <a:t>（是）</a:t>
            </a:r>
            <a:r>
              <a:rPr lang="en-US" altLang="zh-CN"/>
              <a:t>}</a:t>
            </a:r>
            <a:endParaRPr lang="zh-CN" altLang="en-US"/>
          </a:p>
          <a:p>
            <a:endParaRPr lang="zh-CN" altLang="en-US"/>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TextBox 1"/>
          <p:cNvSpPr txBox="1">
            <a:spLocks noChangeArrowheads="1"/>
          </p:cNvSpPr>
          <p:nvPr/>
        </p:nvSpPr>
        <p:spPr bwMode="auto">
          <a:xfrm>
            <a:off x="1143000" y="785813"/>
            <a:ext cx="7000875" cy="2308225"/>
          </a:xfrm>
          <a:prstGeom prst="rect">
            <a:avLst/>
          </a:prstGeom>
          <a:noFill/>
          <a:ln w="9525">
            <a:noFill/>
            <a:miter lim="800000"/>
            <a:headEnd/>
            <a:tailEnd/>
          </a:ln>
        </p:spPr>
        <p:txBody>
          <a:bodyPr>
            <a:spAutoFit/>
          </a:bodyPr>
          <a:lstStyle/>
          <a:p>
            <a:r>
              <a:rPr lang="zh-CN" altLang="en-US"/>
              <a:t> </a:t>
            </a:r>
            <a:r>
              <a:rPr lang="zh-CN" altLang="en-US" b="1"/>
              <a:t> </a:t>
            </a:r>
            <a:r>
              <a:rPr lang="en-US" altLang="zh-CN" b="1" i="1"/>
              <a:t>2</a:t>
            </a:r>
            <a:r>
              <a:rPr lang="zh-CN" altLang="en-US" b="1" i="1"/>
              <a:t>、获取训练样本</a:t>
            </a:r>
            <a:endParaRPr lang="zh-CN" altLang="en-US" b="1"/>
          </a:p>
          <a:p>
            <a:r>
              <a:rPr lang="zh-CN" altLang="en-US"/>
              <a:t>      这里使用运维人员曾经人工检测过的</a:t>
            </a:r>
            <a:r>
              <a:rPr lang="en-US" altLang="zh-CN"/>
              <a:t>1</a:t>
            </a:r>
            <a:r>
              <a:rPr lang="zh-CN" altLang="en-US"/>
              <a:t>万个账号作为训练样本。</a:t>
            </a:r>
            <a:endParaRPr lang="en-US" altLang="zh-CN"/>
          </a:p>
          <a:p>
            <a:endParaRPr lang="zh-CN" altLang="en-US"/>
          </a:p>
          <a:p>
            <a:r>
              <a:rPr lang="zh-CN" altLang="en-US" b="1"/>
              <a:t> </a:t>
            </a:r>
            <a:r>
              <a:rPr lang="en-US" altLang="zh-CN" b="1" i="1"/>
              <a:t>3</a:t>
            </a:r>
            <a:r>
              <a:rPr lang="zh-CN" altLang="en-US" b="1" i="1"/>
              <a:t>、计算训练样本中每个类别的频率</a:t>
            </a:r>
            <a:endParaRPr lang="zh-CN" altLang="en-US" b="1"/>
          </a:p>
          <a:p>
            <a:r>
              <a:rPr lang="zh-CN" altLang="en-US"/>
              <a:t>      用训练样本中真实账号和不真实账号数量分别除以一万，得到：</a:t>
            </a:r>
          </a:p>
          <a:p>
            <a:r>
              <a:rPr lang="zh-CN" altLang="en-US"/>
              <a:t>      </a:t>
            </a:r>
          </a:p>
          <a:p>
            <a:r>
              <a:rPr lang="zh-CN" altLang="en-US"/>
              <a:t>      </a:t>
            </a:r>
          </a:p>
          <a:p>
            <a:endParaRPr lang="zh-CN" altLang="en-US"/>
          </a:p>
        </p:txBody>
      </p:sp>
      <p:sp>
        <p:nvSpPr>
          <p:cNvPr id="54275" name="TextBox 21"/>
          <p:cNvSpPr txBox="1">
            <a:spLocks noChangeArrowheads="1"/>
          </p:cNvSpPr>
          <p:nvPr/>
        </p:nvSpPr>
        <p:spPr bwMode="auto">
          <a:xfrm>
            <a:off x="1571625" y="2357438"/>
            <a:ext cx="6143625" cy="923925"/>
          </a:xfrm>
          <a:prstGeom prst="rect">
            <a:avLst/>
          </a:prstGeom>
          <a:noFill/>
          <a:ln w="9525">
            <a:noFill/>
            <a:miter lim="800000"/>
            <a:headEnd/>
            <a:tailEnd/>
          </a:ln>
        </p:spPr>
        <p:txBody>
          <a:bodyPr>
            <a:spAutoFit/>
          </a:bodyPr>
          <a:lstStyle/>
          <a:p>
            <a:r>
              <a:rPr lang="zh-CN" altLang="en-US"/>
              <a:t> </a:t>
            </a:r>
          </a:p>
          <a:p>
            <a:r>
              <a:rPr lang="zh-CN" altLang="en-US"/>
              <a:t>      </a:t>
            </a:r>
          </a:p>
          <a:p>
            <a:endParaRPr lang="zh-CN" altLang="en-US"/>
          </a:p>
        </p:txBody>
      </p:sp>
      <p:sp>
        <p:nvSpPr>
          <p:cNvPr id="54276" name="TextBox 25"/>
          <p:cNvSpPr txBox="1">
            <a:spLocks noChangeArrowheads="1"/>
          </p:cNvSpPr>
          <p:nvPr/>
        </p:nvSpPr>
        <p:spPr bwMode="auto">
          <a:xfrm>
            <a:off x="1857375" y="2286000"/>
            <a:ext cx="4214813" cy="1200150"/>
          </a:xfrm>
          <a:prstGeom prst="rect">
            <a:avLst/>
          </a:prstGeom>
          <a:noFill/>
          <a:ln w="9525">
            <a:noFill/>
            <a:miter lim="800000"/>
            <a:headEnd/>
            <a:tailEnd/>
          </a:ln>
        </p:spPr>
        <p:txBody>
          <a:bodyPr>
            <a:spAutoFit/>
          </a:bodyPr>
          <a:lstStyle/>
          <a:p>
            <a:r>
              <a:rPr lang="en-US" altLang="zh-CN"/>
              <a:t>P(C = 0) = 8900/10000 =  0.89</a:t>
            </a:r>
          </a:p>
          <a:p>
            <a:r>
              <a:rPr lang="en-US" altLang="zh-CN"/>
              <a:t>P(C = 1) = 1100/10000 =  0.11</a:t>
            </a:r>
          </a:p>
          <a:p>
            <a:endParaRPr lang="en-US" altLang="zh-CN"/>
          </a:p>
          <a:p>
            <a:endParaRPr lang="zh-CN" altLang="en-US"/>
          </a:p>
        </p:txBody>
      </p:sp>
      <p:sp>
        <p:nvSpPr>
          <p:cNvPr id="54277" name="TextBox 26"/>
          <p:cNvSpPr txBox="1">
            <a:spLocks noChangeArrowheads="1"/>
          </p:cNvSpPr>
          <p:nvPr/>
        </p:nvSpPr>
        <p:spPr bwMode="auto">
          <a:xfrm>
            <a:off x="1214438" y="3071813"/>
            <a:ext cx="6215062" cy="369887"/>
          </a:xfrm>
          <a:prstGeom prst="rect">
            <a:avLst/>
          </a:prstGeom>
          <a:noFill/>
          <a:ln w="9525">
            <a:noFill/>
            <a:miter lim="800000"/>
            <a:headEnd/>
            <a:tailEnd/>
          </a:ln>
        </p:spPr>
        <p:txBody>
          <a:bodyPr>
            <a:spAutoFit/>
          </a:bodyPr>
          <a:lstStyle/>
          <a:p>
            <a:r>
              <a:rPr lang="zh-CN" altLang="en-US" b="1"/>
              <a:t>  </a:t>
            </a:r>
            <a:r>
              <a:rPr lang="en-US" altLang="zh-CN" b="1" i="1"/>
              <a:t>4</a:t>
            </a:r>
            <a:r>
              <a:rPr lang="zh-CN" altLang="en-US" b="1" i="1"/>
              <a:t>、计算每个类别条件下各个特征属性划分的频率</a:t>
            </a:r>
            <a:endParaRPr lang="zh-CN" altLang="en-US" b="1"/>
          </a:p>
        </p:txBody>
      </p:sp>
      <p:sp>
        <p:nvSpPr>
          <p:cNvPr id="54278" name="TextBox 5"/>
          <p:cNvSpPr txBox="1">
            <a:spLocks noChangeArrowheads="1"/>
          </p:cNvSpPr>
          <p:nvPr/>
        </p:nvSpPr>
        <p:spPr bwMode="auto">
          <a:xfrm>
            <a:off x="1143000" y="3571875"/>
            <a:ext cx="7215188" cy="2862263"/>
          </a:xfrm>
          <a:prstGeom prst="rect">
            <a:avLst/>
          </a:prstGeom>
          <a:noFill/>
          <a:ln w="9525">
            <a:noFill/>
            <a:miter lim="800000"/>
            <a:headEnd/>
            <a:tailEnd/>
          </a:ln>
        </p:spPr>
        <p:txBody>
          <a:bodyPr>
            <a:spAutoFit/>
          </a:bodyPr>
          <a:lstStyle/>
          <a:p>
            <a:r>
              <a:rPr lang="en-US" altLang="zh-CN"/>
              <a:t>P(a1&lt;=0.05| C = 0) = 0.3               P(a1&lt;=0.05| C = 1) = 0.8 </a:t>
            </a:r>
          </a:p>
          <a:p>
            <a:r>
              <a:rPr lang="en-US" altLang="zh-CN"/>
              <a:t> P(0.05&lt;a1&lt;0.2|C = 0) = 0.5          P(0.05&lt;a1&lt;0.2| C = 1) = 0.1</a:t>
            </a:r>
          </a:p>
          <a:p>
            <a:r>
              <a:rPr lang="en-US" altLang="zh-CN"/>
              <a:t>P(a1&gt;0.2| C = 0) = 0.2                   P(a1&gt;0.2| C = 1) = 0.1</a:t>
            </a:r>
          </a:p>
          <a:p>
            <a:r>
              <a:rPr lang="en-US" altLang="zh-CN"/>
              <a:t>P(a2&lt;=0.1| C = 0) = 0.1                 P(a2&lt;=0.1| C = 1) = 0.7</a:t>
            </a:r>
          </a:p>
          <a:p>
            <a:r>
              <a:rPr lang="en-US" altLang="zh-CN"/>
              <a:t>P(0.1&lt;a2&lt;0.8 | C=0) = 0.7             P(0.1&lt;a2&lt;0.8 | C=1) = 0.2 </a:t>
            </a:r>
          </a:p>
          <a:p>
            <a:r>
              <a:rPr lang="en-US" altLang="zh-CN"/>
              <a:t>P(a2&gt;0.8| C = 0) = 0.2                   P(a2&gt;0.8| C = 0) = 0.1</a:t>
            </a:r>
          </a:p>
          <a:p>
            <a:r>
              <a:rPr lang="en-US" altLang="zh-CN"/>
              <a:t>P(a3 = 0|C = 0) = 0.2                     P(a3 = 1|C = 0) = 0.8 </a:t>
            </a:r>
          </a:p>
          <a:p>
            <a:r>
              <a:rPr lang="en-US" altLang="zh-CN"/>
              <a:t>P(a3 = 0|C = 1) = 0.9                     P(a3 = 1|C = 1) = 0.1                 </a:t>
            </a:r>
            <a:endParaRPr lang="zh-CN" altLang="en-US"/>
          </a:p>
          <a:p>
            <a:r>
              <a:rPr lang="en-US" altLang="zh-CN"/>
              <a:t>                 </a:t>
            </a:r>
            <a:endParaRPr lang="zh-CN" altLang="en-US"/>
          </a:p>
          <a:p>
            <a:endParaRPr lang="zh-CN" altLang="en-US"/>
          </a:p>
        </p:txBody>
      </p:sp>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TextBox 1"/>
          <p:cNvSpPr txBox="1">
            <a:spLocks noChangeArrowheads="1"/>
          </p:cNvSpPr>
          <p:nvPr/>
        </p:nvSpPr>
        <p:spPr bwMode="auto">
          <a:xfrm>
            <a:off x="1214438" y="642938"/>
            <a:ext cx="6000750" cy="1754187"/>
          </a:xfrm>
          <a:prstGeom prst="rect">
            <a:avLst/>
          </a:prstGeom>
          <a:noFill/>
          <a:ln w="9525">
            <a:noFill/>
            <a:miter lim="800000"/>
            <a:headEnd/>
            <a:tailEnd/>
          </a:ln>
        </p:spPr>
        <p:txBody>
          <a:bodyPr>
            <a:spAutoFit/>
          </a:bodyPr>
          <a:lstStyle/>
          <a:p>
            <a:r>
              <a:rPr lang="zh-CN" altLang="en-US" b="1"/>
              <a:t> </a:t>
            </a:r>
            <a:r>
              <a:rPr lang="en-US" altLang="zh-CN" b="1" i="1"/>
              <a:t>5</a:t>
            </a:r>
            <a:r>
              <a:rPr lang="zh-CN" altLang="en-US" b="1" i="1"/>
              <a:t>、使用分类器进行鉴别</a:t>
            </a:r>
            <a:endParaRPr lang="zh-CN" altLang="en-US" b="1"/>
          </a:p>
          <a:p>
            <a:r>
              <a:rPr lang="zh-CN" altLang="en-US"/>
              <a:t>      下面我们使用上面训练得到的分类器鉴别一个账号，属性如下  </a:t>
            </a:r>
            <a:r>
              <a:rPr lang="en-US" altLang="zh-CN"/>
              <a:t>a1:</a:t>
            </a:r>
            <a:r>
              <a:rPr lang="zh-CN" altLang="en-US"/>
              <a:t>日志数量与注册天数的比率为</a:t>
            </a:r>
            <a:r>
              <a:rPr lang="en-US" altLang="zh-CN"/>
              <a:t>0.1</a:t>
            </a:r>
          </a:p>
          <a:p>
            <a:r>
              <a:rPr lang="en-US" altLang="zh-CN"/>
              <a:t>                a2 :</a:t>
            </a:r>
            <a:r>
              <a:rPr lang="zh-CN" altLang="en-US"/>
              <a:t>好友数与注册天数的比率为 </a:t>
            </a:r>
            <a:r>
              <a:rPr lang="en-US" altLang="zh-CN"/>
              <a:t>0.2</a:t>
            </a:r>
          </a:p>
          <a:p>
            <a:r>
              <a:rPr lang="zh-CN" altLang="en-US"/>
              <a:t>                </a:t>
            </a:r>
            <a:r>
              <a:rPr lang="en-US" altLang="zh-CN"/>
              <a:t>a3:</a:t>
            </a:r>
            <a:r>
              <a:rPr lang="zh-CN" altLang="en-US"/>
              <a:t>不使用真实头像  </a:t>
            </a:r>
            <a:r>
              <a:rPr lang="en-US" altLang="zh-CN"/>
              <a:t>(a = 0)</a:t>
            </a:r>
            <a:endParaRPr lang="zh-CN" altLang="en-US"/>
          </a:p>
          <a:p>
            <a:endParaRPr lang="zh-CN" altLang="en-US"/>
          </a:p>
        </p:txBody>
      </p:sp>
      <p:sp>
        <p:nvSpPr>
          <p:cNvPr id="55299" name="TextBox 2"/>
          <p:cNvSpPr txBox="1">
            <a:spLocks noChangeArrowheads="1"/>
          </p:cNvSpPr>
          <p:nvPr/>
        </p:nvSpPr>
        <p:spPr bwMode="auto">
          <a:xfrm>
            <a:off x="1071563" y="2286000"/>
            <a:ext cx="7358062" cy="1200150"/>
          </a:xfrm>
          <a:prstGeom prst="rect">
            <a:avLst/>
          </a:prstGeom>
          <a:noFill/>
          <a:ln w="9525">
            <a:noFill/>
            <a:miter lim="800000"/>
            <a:headEnd/>
            <a:tailEnd/>
          </a:ln>
        </p:spPr>
        <p:txBody>
          <a:bodyPr>
            <a:spAutoFit/>
          </a:bodyPr>
          <a:lstStyle/>
          <a:p>
            <a:r>
              <a:rPr lang="en-US" altLang="zh-CN"/>
              <a:t>    P(C = 0)P( x|C = 0)</a:t>
            </a:r>
          </a:p>
          <a:p>
            <a:r>
              <a:rPr lang="en-US" altLang="zh-CN"/>
              <a:t>=  P(C = 0) P(0.05&lt;a1&lt;0.2|C = 0)P(0.1&lt;a2&lt;0.8|C = 0)P(a3=0|C = 0)</a:t>
            </a:r>
          </a:p>
          <a:p>
            <a:r>
              <a:rPr lang="en-US" altLang="zh-CN"/>
              <a:t>=  0.89*0.5*0.7*0.2</a:t>
            </a:r>
          </a:p>
          <a:p>
            <a:r>
              <a:rPr lang="en-US" altLang="zh-CN"/>
              <a:t>=  0.0623</a:t>
            </a:r>
            <a:endParaRPr lang="zh-CN" altLang="en-US"/>
          </a:p>
        </p:txBody>
      </p:sp>
      <p:sp>
        <p:nvSpPr>
          <p:cNvPr id="55300" name="TextBox 3"/>
          <p:cNvSpPr txBox="1">
            <a:spLocks noChangeArrowheads="1"/>
          </p:cNvSpPr>
          <p:nvPr/>
        </p:nvSpPr>
        <p:spPr bwMode="auto">
          <a:xfrm>
            <a:off x="1071563" y="3500438"/>
            <a:ext cx="7500937" cy="1200150"/>
          </a:xfrm>
          <a:prstGeom prst="rect">
            <a:avLst/>
          </a:prstGeom>
          <a:noFill/>
          <a:ln w="9525">
            <a:noFill/>
            <a:miter lim="800000"/>
            <a:headEnd/>
            <a:tailEnd/>
          </a:ln>
        </p:spPr>
        <p:txBody>
          <a:bodyPr>
            <a:spAutoFit/>
          </a:bodyPr>
          <a:lstStyle/>
          <a:p>
            <a:r>
              <a:rPr lang="en-US" altLang="zh-CN"/>
              <a:t>    P(C = 1)P( x|C = 1)</a:t>
            </a:r>
          </a:p>
          <a:p>
            <a:r>
              <a:rPr lang="en-US" altLang="zh-CN"/>
              <a:t>=  P(C = 1) P(0.05&lt;a1&lt;0.2|C = 1)P(0.1&lt;a2&lt;0.8|C = 1)P(a3=0|C = 1)</a:t>
            </a:r>
          </a:p>
          <a:p>
            <a:r>
              <a:rPr lang="en-US" altLang="zh-CN"/>
              <a:t>=  0.11*0.1*0.2*0.9</a:t>
            </a:r>
          </a:p>
          <a:p>
            <a:r>
              <a:rPr lang="en-US" altLang="zh-CN"/>
              <a:t>=  0.00198</a:t>
            </a:r>
            <a:endParaRPr lang="zh-CN" altLang="en-US"/>
          </a:p>
        </p:txBody>
      </p:sp>
      <p:sp>
        <p:nvSpPr>
          <p:cNvPr id="55301" name="TextBox 4"/>
          <p:cNvSpPr txBox="1">
            <a:spLocks noChangeArrowheads="1"/>
          </p:cNvSpPr>
          <p:nvPr/>
        </p:nvSpPr>
        <p:spPr bwMode="auto">
          <a:xfrm>
            <a:off x="928688" y="4786313"/>
            <a:ext cx="7643812" cy="646112"/>
          </a:xfrm>
          <a:prstGeom prst="rect">
            <a:avLst/>
          </a:prstGeom>
          <a:noFill/>
          <a:ln w="9525">
            <a:noFill/>
            <a:miter lim="800000"/>
            <a:headEnd/>
            <a:tailEnd/>
          </a:ln>
        </p:spPr>
        <p:txBody>
          <a:bodyPr>
            <a:spAutoFit/>
          </a:bodyPr>
          <a:lstStyle/>
          <a:p>
            <a:r>
              <a:rPr lang="zh-CN" altLang="en-US"/>
              <a:t>        </a:t>
            </a:r>
            <a:r>
              <a:rPr lang="zh-CN" altLang="en-US" b="1"/>
              <a:t>可以看到，虽然这个用户没有使用真实头像，但是通过分类器的鉴别，更倾向于将此账号归入真实账号类别。 </a:t>
            </a:r>
            <a:endParaRPr lang="zh-CN" altLang="en-US"/>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TextBox 1"/>
          <p:cNvSpPr txBox="1">
            <a:spLocks noChangeArrowheads="1"/>
          </p:cNvSpPr>
          <p:nvPr/>
        </p:nvSpPr>
        <p:spPr bwMode="auto">
          <a:xfrm>
            <a:off x="714375" y="857250"/>
            <a:ext cx="7500938" cy="4216400"/>
          </a:xfrm>
          <a:prstGeom prst="rect">
            <a:avLst/>
          </a:prstGeom>
          <a:noFill/>
          <a:ln w="9525">
            <a:noFill/>
            <a:miter lim="800000"/>
            <a:headEnd/>
            <a:tailEnd/>
          </a:ln>
        </p:spPr>
        <p:txBody>
          <a:bodyPr>
            <a:spAutoFit/>
          </a:bodyPr>
          <a:lstStyle/>
          <a:p>
            <a:r>
              <a:rPr lang="zh-CN" altLang="en-US" sz="2400" b="1"/>
              <a:t>       朴素贝叶斯模型</a:t>
            </a:r>
            <a:r>
              <a:rPr lang="zh-CN" altLang="en-US" sz="2400"/>
              <a:t>发源于古典数学理论，有着坚实的数学基础，以 及稳定的分类效率。同时，</a:t>
            </a:r>
            <a:r>
              <a:rPr lang="en-US" altLang="zh-CN" sz="2400"/>
              <a:t>NBC</a:t>
            </a:r>
            <a:r>
              <a:rPr lang="zh-CN" altLang="en-US" sz="2400"/>
              <a:t>模型所需估计的参数很少，对缺失数据不太敏感，算法也比较简单。理论上，</a:t>
            </a:r>
            <a:r>
              <a:rPr lang="en-US" altLang="zh-CN" sz="2400"/>
              <a:t>NBC</a:t>
            </a:r>
            <a:r>
              <a:rPr lang="zh-CN" altLang="en-US" sz="2400"/>
              <a:t>模型与其他分类方法相比具有最小的误差率。但是朴素贝叶斯分类有一个限制条件，就是特征属性必须有条件独立或基本独立（实际上在现实应用中几乎不可能做到完全独立）。当这个条件成立时，朴素贝叶斯分类法的准确率是最高的，但不幸的是，现实中各个特征属性间往往并不条件独立，而是具有较强的相关性，这样就限制了朴素贝叶斯分类的能力。于是诞生了一种更高级、应用范围更广的</a:t>
            </a:r>
            <a:r>
              <a:rPr lang="en-US" altLang="zh-CN" sz="2400"/>
              <a:t>——</a:t>
            </a:r>
            <a:r>
              <a:rPr lang="zh-CN" altLang="en-US" sz="2800" b="1">
                <a:solidFill>
                  <a:srgbClr val="002060"/>
                </a:solidFill>
              </a:rPr>
              <a:t>贝叶斯网络</a:t>
            </a:r>
            <a:r>
              <a:rPr lang="zh-CN" altLang="en-US" sz="2400" b="1">
                <a:solidFill>
                  <a:srgbClr val="002060"/>
                </a:solidFill>
              </a:rPr>
              <a:t>。</a:t>
            </a:r>
            <a:endParaRPr lang="zh-CN" altLang="en-US" sz="2400"/>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5"/>
          <p:cNvGrpSpPr>
            <a:grpSpLocks/>
          </p:cNvGrpSpPr>
          <p:nvPr/>
        </p:nvGrpSpPr>
        <p:grpSpPr bwMode="auto">
          <a:xfrm>
            <a:off x="1785938" y="1714500"/>
            <a:ext cx="5072062" cy="1309688"/>
            <a:chOff x="303584" y="2214568"/>
            <a:chExt cx="5302469" cy="1395116"/>
          </a:xfrm>
        </p:grpSpPr>
        <p:grpSp>
          <p:nvGrpSpPr>
            <p:cNvPr id="57366" name="AutoShape 8"/>
            <p:cNvGrpSpPr>
              <a:grpSpLocks/>
            </p:cNvGrpSpPr>
            <p:nvPr/>
          </p:nvGrpSpPr>
          <p:grpSpPr bwMode="auto">
            <a:xfrm>
              <a:off x="1369184" y="2366781"/>
              <a:ext cx="4236869" cy="870361"/>
              <a:chOff x="1467419" y="2500299"/>
              <a:chExt cx="3976451" cy="816864"/>
            </a:xfrm>
          </p:grpSpPr>
          <p:pic>
            <p:nvPicPr>
              <p:cNvPr id="57369" name="AutoShape 8"/>
              <p:cNvPicPr>
                <a:picLocks noChangeArrowheads="1"/>
              </p:cNvPicPr>
              <p:nvPr/>
            </p:nvPicPr>
            <p:blipFill>
              <a:blip r:embed="rId2"/>
              <a:srcRect/>
              <a:stretch>
                <a:fillRect/>
              </a:stretch>
            </p:blipFill>
            <p:spPr bwMode="invGray">
              <a:xfrm>
                <a:off x="1467419" y="2500299"/>
                <a:ext cx="3976451" cy="816864"/>
              </a:xfrm>
              <a:prstGeom prst="rect">
                <a:avLst/>
              </a:prstGeom>
              <a:noFill/>
              <a:ln w="9525">
                <a:noFill/>
                <a:miter lim="800000"/>
                <a:headEnd/>
                <a:tailEnd/>
              </a:ln>
            </p:spPr>
          </p:pic>
          <p:sp>
            <p:nvSpPr>
              <p:cNvPr id="57370" name="Text Box 29"/>
              <p:cNvSpPr txBox="1">
                <a:spLocks noChangeArrowheads="1"/>
              </p:cNvSpPr>
              <p:nvPr/>
            </p:nvSpPr>
            <p:spPr bwMode="auto">
              <a:xfrm>
                <a:off x="1538856" y="2571727"/>
                <a:ext cx="3173202" cy="682609"/>
              </a:xfrm>
              <a:prstGeom prst="rect">
                <a:avLst/>
              </a:prstGeom>
              <a:noFill/>
              <a:ln w="9525">
                <a:noFill/>
                <a:miter lim="800000"/>
                <a:headEnd/>
                <a:tailEnd/>
              </a:ln>
            </p:spPr>
            <p:txBody>
              <a:bodyPr wrap="none" anchor="ctr"/>
              <a:lstStyle/>
              <a:p>
                <a:r>
                  <a:rPr lang="en-US" altLang="zh-CN" sz="2800">
                    <a:latin typeface="微软雅黑" pitchFamily="34" charset="-122"/>
                    <a:ea typeface="微软雅黑" pitchFamily="34" charset="-122"/>
                  </a:rPr>
                  <a:t>2.1</a:t>
                </a:r>
                <a:r>
                  <a:rPr lang="zh-CN" altLang="en-US" sz="2800">
                    <a:latin typeface="微软雅黑" pitchFamily="34" charset="-122"/>
                    <a:ea typeface="微软雅黑" pitchFamily="34" charset="-122"/>
                  </a:rPr>
                  <a:t>贝叶斯网络概述</a:t>
                </a:r>
              </a:p>
            </p:txBody>
          </p:sp>
        </p:grpSp>
        <p:pic>
          <p:nvPicPr>
            <p:cNvPr id="57367" name="图片 5" descr="ICON1.png"/>
            <p:cNvPicPr>
              <a:picLocks noChangeAspect="1"/>
            </p:cNvPicPr>
            <p:nvPr/>
          </p:nvPicPr>
          <p:blipFill>
            <a:blip r:embed="rId3"/>
            <a:srcRect/>
            <a:stretch>
              <a:fillRect/>
            </a:stretch>
          </p:blipFill>
          <p:spPr bwMode="auto">
            <a:xfrm>
              <a:off x="303584" y="2214568"/>
              <a:ext cx="1141747" cy="1174370"/>
            </a:xfrm>
            <a:prstGeom prst="rect">
              <a:avLst/>
            </a:prstGeom>
            <a:noFill/>
            <a:ln w="9525">
              <a:noFill/>
              <a:miter lim="800000"/>
              <a:headEnd/>
              <a:tailEnd/>
            </a:ln>
          </p:spPr>
        </p:pic>
        <p:sp>
          <p:nvSpPr>
            <p:cNvPr id="57368"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grpSp>
        <p:nvGrpSpPr>
          <p:cNvPr id="4" name="组合 45"/>
          <p:cNvGrpSpPr>
            <a:grpSpLocks/>
          </p:cNvGrpSpPr>
          <p:nvPr/>
        </p:nvGrpSpPr>
        <p:grpSpPr bwMode="auto">
          <a:xfrm>
            <a:off x="1785938" y="2857500"/>
            <a:ext cx="4929187" cy="1309688"/>
            <a:chOff x="303584" y="2214568"/>
            <a:chExt cx="5251152" cy="1395116"/>
          </a:xfrm>
        </p:grpSpPr>
        <p:grpSp>
          <p:nvGrpSpPr>
            <p:cNvPr id="57361" name="AutoShape 8"/>
            <p:cNvGrpSpPr>
              <a:grpSpLocks/>
            </p:cNvGrpSpPr>
            <p:nvPr/>
          </p:nvGrpSpPr>
          <p:grpSpPr bwMode="auto">
            <a:xfrm>
              <a:off x="1369185" y="2366764"/>
              <a:ext cx="4185551" cy="870378"/>
              <a:chOff x="1467420" y="2500283"/>
              <a:chExt cx="3928287" cy="816880"/>
            </a:xfrm>
          </p:grpSpPr>
          <p:pic>
            <p:nvPicPr>
              <p:cNvPr id="57364" name="AutoShape 8"/>
              <p:cNvPicPr>
                <a:picLocks noChangeArrowheads="1"/>
              </p:cNvPicPr>
              <p:nvPr/>
            </p:nvPicPr>
            <p:blipFill>
              <a:blip r:embed="rId2"/>
              <a:srcRect/>
              <a:stretch>
                <a:fillRect/>
              </a:stretch>
            </p:blipFill>
            <p:spPr bwMode="invGray">
              <a:xfrm>
                <a:off x="1467420" y="2500299"/>
                <a:ext cx="3255265" cy="816864"/>
              </a:xfrm>
              <a:prstGeom prst="rect">
                <a:avLst/>
              </a:prstGeom>
              <a:noFill/>
              <a:ln w="9525">
                <a:noFill/>
                <a:miter lim="800000"/>
                <a:headEnd/>
                <a:tailEnd/>
              </a:ln>
            </p:spPr>
          </p:pic>
          <p:sp>
            <p:nvSpPr>
              <p:cNvPr id="57365" name="Text Box 29"/>
              <p:cNvSpPr txBox="1">
                <a:spLocks noChangeArrowheads="1"/>
              </p:cNvSpPr>
              <p:nvPr/>
            </p:nvSpPr>
            <p:spPr bwMode="auto">
              <a:xfrm>
                <a:off x="1538705" y="2500283"/>
                <a:ext cx="3857002" cy="754029"/>
              </a:xfrm>
              <a:prstGeom prst="rect">
                <a:avLst/>
              </a:prstGeom>
              <a:solidFill>
                <a:srgbClr val="00B0F0"/>
              </a:solidFill>
              <a:ln w="9525">
                <a:noFill/>
                <a:miter lim="800000"/>
                <a:headEnd/>
                <a:tailEnd/>
              </a:ln>
            </p:spPr>
            <p:txBody>
              <a:bodyPr wrap="none" anchor="ctr"/>
              <a:lstStyle/>
              <a:p>
                <a:r>
                  <a:rPr lang="en-US" altLang="zh-CN" sz="2800">
                    <a:latin typeface="微软雅黑" pitchFamily="34" charset="-122"/>
                    <a:ea typeface="微软雅黑" pitchFamily="34" charset="-122"/>
                  </a:rPr>
                  <a:t>2.2</a:t>
                </a:r>
                <a:r>
                  <a:rPr lang="zh-CN" altLang="en-US" sz="2800">
                    <a:latin typeface="微软雅黑" pitchFamily="34" charset="-122"/>
                    <a:ea typeface="微软雅黑" pitchFamily="34" charset="-122"/>
                  </a:rPr>
                  <a:t>贝叶斯网络学习</a:t>
                </a:r>
              </a:p>
            </p:txBody>
          </p:sp>
        </p:grpSp>
        <p:pic>
          <p:nvPicPr>
            <p:cNvPr id="57362" name="图片 5" descr="ICON1.png"/>
            <p:cNvPicPr>
              <a:picLocks noChangeAspect="1"/>
            </p:cNvPicPr>
            <p:nvPr/>
          </p:nvPicPr>
          <p:blipFill>
            <a:blip r:embed="rId3"/>
            <a:srcRect/>
            <a:stretch>
              <a:fillRect/>
            </a:stretch>
          </p:blipFill>
          <p:spPr bwMode="auto">
            <a:xfrm>
              <a:off x="303584" y="2214568"/>
              <a:ext cx="1141747" cy="1174370"/>
            </a:xfrm>
            <a:prstGeom prst="rect">
              <a:avLst/>
            </a:prstGeom>
            <a:noFill/>
            <a:ln w="9525">
              <a:noFill/>
              <a:miter lim="800000"/>
              <a:headEnd/>
              <a:tailEnd/>
            </a:ln>
          </p:spPr>
        </p:pic>
        <p:sp>
          <p:nvSpPr>
            <p:cNvPr id="57363"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grpSp>
        <p:nvGrpSpPr>
          <p:cNvPr id="57348" name="组合 22"/>
          <p:cNvGrpSpPr>
            <a:grpSpLocks/>
          </p:cNvGrpSpPr>
          <p:nvPr/>
        </p:nvGrpSpPr>
        <p:grpSpPr bwMode="auto">
          <a:xfrm>
            <a:off x="1643063" y="571500"/>
            <a:ext cx="5857875" cy="1292225"/>
            <a:chOff x="-376793" y="549348"/>
            <a:chExt cx="6673704" cy="1353900"/>
          </a:xfrm>
        </p:grpSpPr>
        <p:grpSp>
          <p:nvGrpSpPr>
            <p:cNvPr id="57355" name="剪去单角的矩形 23"/>
            <p:cNvGrpSpPr>
              <a:grpSpLocks/>
            </p:cNvGrpSpPr>
            <p:nvPr/>
          </p:nvGrpSpPr>
          <p:grpSpPr bwMode="auto">
            <a:xfrm>
              <a:off x="-376793" y="549348"/>
              <a:ext cx="6673704" cy="1353900"/>
              <a:chOff x="-359664" y="621792"/>
              <a:chExt cx="6370320" cy="1292352"/>
            </a:xfrm>
          </p:grpSpPr>
          <p:pic>
            <p:nvPicPr>
              <p:cNvPr id="57359" name="剪去单角的矩形 23"/>
              <p:cNvPicPr>
                <a:picLocks noChangeArrowheads="1"/>
              </p:cNvPicPr>
              <p:nvPr/>
            </p:nvPicPr>
            <p:blipFill>
              <a:blip r:embed="rId4"/>
              <a:srcRect/>
              <a:stretch>
                <a:fillRect/>
              </a:stretch>
            </p:blipFill>
            <p:spPr bwMode="auto">
              <a:xfrm>
                <a:off x="-359664" y="621792"/>
                <a:ext cx="6370320" cy="1292352"/>
              </a:xfrm>
              <a:prstGeom prst="rect">
                <a:avLst/>
              </a:prstGeom>
              <a:noFill/>
              <a:ln w="9525">
                <a:noFill/>
                <a:miter lim="800000"/>
                <a:headEnd/>
                <a:tailEnd/>
              </a:ln>
            </p:spPr>
          </p:pic>
          <p:sp>
            <p:nvSpPr>
              <p:cNvPr id="33" name="Text Box 8"/>
              <p:cNvSpPr txBox="1">
                <a:spLocks noChangeArrowheads="1"/>
              </p:cNvSpPr>
              <p:nvPr/>
            </p:nvSpPr>
            <p:spPr bwMode="auto">
              <a:xfrm>
                <a:off x="-578" y="621792"/>
                <a:ext cx="5999149" cy="976409"/>
              </a:xfrm>
              <a:prstGeom prst="rect">
                <a:avLst/>
              </a:prstGeom>
              <a:solidFill>
                <a:schemeClr val="accent6">
                  <a:lumMod val="75000"/>
                </a:schemeClr>
              </a:solidFill>
              <a:ln w="9525">
                <a:noFill/>
                <a:miter lim="800000"/>
                <a:headEnd/>
                <a:tailEnd/>
              </a:ln>
            </p:spPr>
            <p:txBody>
              <a:bodyPr anchor="ctr"/>
              <a:lstStyle/>
              <a:p>
                <a:pPr algn="ctr">
                  <a:defRPr/>
                </a:pPr>
                <a:endParaRPr lang="zh-CN" altLang="en-US">
                  <a:solidFill>
                    <a:srgbClr val="FFFFFF"/>
                  </a:solidFill>
                  <a:latin typeface="Calibri" pitchFamily="34" charset="0"/>
                </a:endParaRPr>
              </a:p>
            </p:txBody>
          </p:sp>
        </p:grpSp>
        <p:grpSp>
          <p:nvGrpSpPr>
            <p:cNvPr id="57356" name="组合 7"/>
            <p:cNvGrpSpPr>
              <a:grpSpLocks/>
            </p:cNvGrpSpPr>
            <p:nvPr/>
          </p:nvGrpSpPr>
          <p:grpSpPr bwMode="auto">
            <a:xfrm>
              <a:off x="428596" y="571480"/>
              <a:ext cx="5005446" cy="1085714"/>
              <a:chOff x="714348" y="500042"/>
              <a:chExt cx="5005446" cy="1085714"/>
            </a:xfrm>
          </p:grpSpPr>
          <p:sp>
            <p:nvSpPr>
              <p:cNvPr id="57357" name="TextBox 25"/>
              <p:cNvSpPr txBox="1">
                <a:spLocks noChangeArrowheads="1"/>
              </p:cNvSpPr>
              <p:nvPr/>
            </p:nvSpPr>
            <p:spPr bwMode="auto">
              <a:xfrm>
                <a:off x="1714482" y="571480"/>
                <a:ext cx="4005312" cy="806165"/>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2.</a:t>
                </a:r>
                <a:r>
                  <a:rPr lang="zh-CN" altLang="en-US" sz="4400" b="1">
                    <a:latin typeface="微软雅黑" pitchFamily="34" charset="-122"/>
                    <a:ea typeface="微软雅黑" pitchFamily="34" charset="-122"/>
                  </a:rPr>
                  <a:t>贝叶斯网络</a:t>
                </a:r>
              </a:p>
            </p:txBody>
          </p:sp>
          <p:pic>
            <p:nvPicPr>
              <p:cNvPr id="57358" name="图片 26" descr="ICON2.png"/>
              <p:cNvPicPr>
                <a:picLocks noChangeAspect="1"/>
              </p:cNvPicPr>
              <p:nvPr/>
            </p:nvPicPr>
            <p:blipFill>
              <a:blip r:embed="rId5"/>
              <a:srcRect/>
              <a:stretch>
                <a:fillRect/>
              </a:stretch>
            </p:blipFill>
            <p:spPr bwMode="auto">
              <a:xfrm>
                <a:off x="714348" y="500042"/>
                <a:ext cx="1104762" cy="1085714"/>
              </a:xfrm>
              <a:prstGeom prst="rect">
                <a:avLst/>
              </a:prstGeom>
              <a:noFill/>
              <a:ln w="9525">
                <a:noFill/>
                <a:miter lim="800000"/>
                <a:headEnd/>
                <a:tailEnd/>
              </a:ln>
            </p:spPr>
          </p:pic>
        </p:grpSp>
      </p:grpSp>
      <p:grpSp>
        <p:nvGrpSpPr>
          <p:cNvPr id="9" name="组合 45"/>
          <p:cNvGrpSpPr>
            <a:grpSpLocks/>
          </p:cNvGrpSpPr>
          <p:nvPr/>
        </p:nvGrpSpPr>
        <p:grpSpPr bwMode="auto">
          <a:xfrm>
            <a:off x="1714500" y="3929063"/>
            <a:ext cx="5072063" cy="1309687"/>
            <a:chOff x="303584" y="2214568"/>
            <a:chExt cx="5302469" cy="1395116"/>
          </a:xfrm>
        </p:grpSpPr>
        <p:grpSp>
          <p:nvGrpSpPr>
            <p:cNvPr id="57350" name="AutoShape 8"/>
            <p:cNvGrpSpPr>
              <a:grpSpLocks/>
            </p:cNvGrpSpPr>
            <p:nvPr/>
          </p:nvGrpSpPr>
          <p:grpSpPr bwMode="auto">
            <a:xfrm>
              <a:off x="1369184" y="2366781"/>
              <a:ext cx="4236869" cy="870361"/>
              <a:chOff x="1467419" y="2500299"/>
              <a:chExt cx="3976451" cy="816864"/>
            </a:xfrm>
          </p:grpSpPr>
          <p:pic>
            <p:nvPicPr>
              <p:cNvPr id="57353" name="AutoShape 8"/>
              <p:cNvPicPr>
                <a:picLocks noChangeArrowheads="1"/>
              </p:cNvPicPr>
              <p:nvPr/>
            </p:nvPicPr>
            <p:blipFill>
              <a:blip r:embed="rId2"/>
              <a:srcRect/>
              <a:stretch>
                <a:fillRect/>
              </a:stretch>
            </p:blipFill>
            <p:spPr bwMode="invGray">
              <a:xfrm>
                <a:off x="1467419" y="2500299"/>
                <a:ext cx="3976451" cy="816864"/>
              </a:xfrm>
              <a:prstGeom prst="rect">
                <a:avLst/>
              </a:prstGeom>
              <a:noFill/>
              <a:ln w="9525">
                <a:noFill/>
                <a:miter lim="800000"/>
                <a:headEnd/>
                <a:tailEnd/>
              </a:ln>
            </p:spPr>
          </p:pic>
          <p:sp>
            <p:nvSpPr>
              <p:cNvPr id="57354" name="Text Box 29"/>
              <p:cNvSpPr txBox="1">
                <a:spLocks noChangeArrowheads="1"/>
              </p:cNvSpPr>
              <p:nvPr/>
            </p:nvSpPr>
            <p:spPr bwMode="auto">
              <a:xfrm>
                <a:off x="1538856" y="2571727"/>
                <a:ext cx="3173202" cy="682609"/>
              </a:xfrm>
              <a:prstGeom prst="rect">
                <a:avLst/>
              </a:prstGeom>
              <a:noFill/>
              <a:ln w="9525">
                <a:noFill/>
                <a:miter lim="800000"/>
                <a:headEnd/>
                <a:tailEnd/>
              </a:ln>
            </p:spPr>
            <p:txBody>
              <a:bodyPr wrap="none" anchor="ctr"/>
              <a:lstStyle/>
              <a:p>
                <a:r>
                  <a:rPr lang="en-US" altLang="zh-CN" sz="2800">
                    <a:latin typeface="微软雅黑" pitchFamily="34" charset="-122"/>
                    <a:ea typeface="微软雅黑" pitchFamily="34" charset="-122"/>
                  </a:rPr>
                  <a:t>2.3</a:t>
                </a:r>
                <a:r>
                  <a:rPr lang="zh-CN" altLang="en-US" sz="2800">
                    <a:latin typeface="微软雅黑" pitchFamily="34" charset="-122"/>
                    <a:ea typeface="微软雅黑" pitchFamily="34" charset="-122"/>
                  </a:rPr>
                  <a:t>贝叶斯网络应用</a:t>
                </a:r>
              </a:p>
            </p:txBody>
          </p:sp>
        </p:grpSp>
        <p:pic>
          <p:nvPicPr>
            <p:cNvPr id="57351" name="图片 5" descr="ICON1.png"/>
            <p:cNvPicPr>
              <a:picLocks noChangeAspect="1"/>
            </p:cNvPicPr>
            <p:nvPr/>
          </p:nvPicPr>
          <p:blipFill>
            <a:blip r:embed="rId3"/>
            <a:srcRect/>
            <a:stretch>
              <a:fillRect/>
            </a:stretch>
          </p:blipFill>
          <p:spPr bwMode="auto">
            <a:xfrm>
              <a:off x="303584" y="2214568"/>
              <a:ext cx="1141747" cy="1174370"/>
            </a:xfrm>
            <a:prstGeom prst="rect">
              <a:avLst/>
            </a:prstGeom>
            <a:noFill/>
            <a:ln w="9525">
              <a:noFill/>
              <a:miter lim="800000"/>
              <a:headEnd/>
              <a:tailEnd/>
            </a:ln>
          </p:spPr>
        </p:pic>
        <p:sp>
          <p:nvSpPr>
            <p:cNvPr id="57352"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TextBox 9"/>
          <p:cNvSpPr txBox="1">
            <a:spLocks noChangeArrowheads="1"/>
          </p:cNvSpPr>
          <p:nvPr/>
        </p:nvSpPr>
        <p:spPr bwMode="auto">
          <a:xfrm>
            <a:off x="642938" y="1357313"/>
            <a:ext cx="7500937" cy="1570037"/>
          </a:xfrm>
          <a:prstGeom prst="rect">
            <a:avLst/>
          </a:prstGeom>
          <a:noFill/>
          <a:ln w="9525">
            <a:noFill/>
            <a:miter lim="800000"/>
            <a:headEnd/>
            <a:tailEnd/>
          </a:ln>
        </p:spPr>
        <p:txBody>
          <a:bodyPr>
            <a:spAutoFit/>
          </a:bodyPr>
          <a:lstStyle/>
          <a:p>
            <a:r>
              <a:rPr lang="zh-CN" altLang="en-US" sz="2400"/>
              <a:t>        在上一篇文章中我们讨论了朴素贝叶斯分类。 这一篇文章中，我们接着上一篇文章的例子，讨论贝叶斯分类中更高级、应用范围更广的一种算法</a:t>
            </a:r>
            <a:r>
              <a:rPr lang="en-US" altLang="zh-CN" sz="2400"/>
              <a:t>——</a:t>
            </a:r>
            <a:r>
              <a:rPr lang="zh-CN" altLang="en-US" sz="2400"/>
              <a:t>贝叶斯网络（又称贝叶斯信念网络或信念网络）。</a:t>
            </a:r>
            <a:endParaRPr lang="zh-CN" altLang="en-US"/>
          </a:p>
        </p:txBody>
      </p:sp>
      <p:pic>
        <p:nvPicPr>
          <p:cNvPr id="58371" name="图片 7" descr="20110519182816219.jpg"/>
          <p:cNvPicPr>
            <a:picLocks noChangeAspect="1"/>
          </p:cNvPicPr>
          <p:nvPr/>
        </p:nvPicPr>
        <p:blipFill>
          <a:blip r:embed="rId3"/>
          <a:srcRect/>
          <a:stretch>
            <a:fillRect/>
          </a:stretch>
        </p:blipFill>
        <p:spPr bwMode="auto">
          <a:xfrm>
            <a:off x="1714500" y="2928938"/>
            <a:ext cx="4445000" cy="3644900"/>
          </a:xfrm>
          <a:prstGeom prst="rect">
            <a:avLst/>
          </a:prstGeom>
          <a:noFill/>
          <a:ln w="9525">
            <a:noFill/>
            <a:miter lim="800000"/>
            <a:headEnd/>
            <a:tailEnd/>
          </a:ln>
        </p:spPr>
      </p:pic>
      <p:sp>
        <p:nvSpPr>
          <p:cNvPr id="58372" name="TextBox 8"/>
          <p:cNvSpPr txBox="1">
            <a:spLocks noChangeArrowheads="1"/>
          </p:cNvSpPr>
          <p:nvPr/>
        </p:nvSpPr>
        <p:spPr bwMode="auto">
          <a:xfrm>
            <a:off x="6561138" y="3571875"/>
            <a:ext cx="615950" cy="3000375"/>
          </a:xfrm>
          <a:prstGeom prst="rect">
            <a:avLst/>
          </a:prstGeom>
          <a:noFill/>
          <a:ln w="9525">
            <a:noFill/>
            <a:miter lim="800000"/>
            <a:headEnd/>
            <a:tailEnd/>
          </a:ln>
        </p:spPr>
        <p:txBody>
          <a:bodyPr vert="eaVert">
            <a:spAutoFit/>
          </a:bodyPr>
          <a:lstStyle/>
          <a:p>
            <a:r>
              <a:rPr lang="zh-CN" altLang="en-US" sz="2800">
                <a:solidFill>
                  <a:srgbClr val="002060"/>
                </a:solidFill>
              </a:rPr>
              <a:t>复杂的网络</a:t>
            </a:r>
          </a:p>
        </p:txBody>
      </p:sp>
      <p:grpSp>
        <p:nvGrpSpPr>
          <p:cNvPr id="58373" name="组合 6"/>
          <p:cNvGrpSpPr>
            <a:grpSpLocks/>
          </p:cNvGrpSpPr>
          <p:nvPr/>
        </p:nvGrpSpPr>
        <p:grpSpPr bwMode="auto">
          <a:xfrm>
            <a:off x="1285875" y="214313"/>
            <a:ext cx="6000750" cy="1143000"/>
            <a:chOff x="-526489" y="549348"/>
            <a:chExt cx="6286368" cy="1353900"/>
          </a:xfrm>
        </p:grpSpPr>
        <p:grpSp>
          <p:nvGrpSpPr>
            <p:cNvPr id="58374" name="剪去单角的矩形 7"/>
            <p:cNvGrpSpPr>
              <a:grpSpLocks/>
            </p:cNvGrpSpPr>
            <p:nvPr/>
          </p:nvGrpSpPr>
          <p:grpSpPr bwMode="auto">
            <a:xfrm>
              <a:off x="-526489" y="549348"/>
              <a:ext cx="6286368" cy="1353900"/>
              <a:chOff x="-502555" y="621792"/>
              <a:chExt cx="6000592" cy="1292352"/>
            </a:xfrm>
          </p:grpSpPr>
          <p:pic>
            <p:nvPicPr>
              <p:cNvPr id="58376" name="剪去单角的矩形 7"/>
              <p:cNvPicPr>
                <a:picLocks noChangeArrowheads="1"/>
              </p:cNvPicPr>
              <p:nvPr/>
            </p:nvPicPr>
            <p:blipFill>
              <a:blip r:embed="rId4"/>
              <a:srcRect/>
              <a:stretch>
                <a:fillRect/>
              </a:stretch>
            </p:blipFill>
            <p:spPr bwMode="auto">
              <a:xfrm>
                <a:off x="-359664" y="621792"/>
                <a:ext cx="5500314" cy="1292352"/>
              </a:xfrm>
              <a:prstGeom prst="rect">
                <a:avLst/>
              </a:prstGeom>
              <a:noFill/>
              <a:ln w="9525">
                <a:noFill/>
                <a:miter lim="800000"/>
                <a:headEnd/>
                <a:tailEnd/>
              </a:ln>
            </p:spPr>
          </p:pic>
          <p:sp>
            <p:nvSpPr>
              <p:cNvPr id="58377" name="Text Box 4"/>
              <p:cNvSpPr txBox="1">
                <a:spLocks noChangeArrowheads="1"/>
              </p:cNvSpPr>
              <p:nvPr/>
            </p:nvSpPr>
            <p:spPr bwMode="auto">
              <a:xfrm>
                <a:off x="-502555" y="702539"/>
                <a:ext cx="6000592" cy="1211587"/>
              </a:xfrm>
              <a:prstGeom prst="rect">
                <a:avLst/>
              </a:prstGeom>
              <a:noFill/>
              <a:ln w="9525">
                <a:noFill/>
                <a:miter lim="800000"/>
                <a:headEnd/>
                <a:tailEnd/>
              </a:ln>
            </p:spPr>
            <p:txBody>
              <a:bodyPr anchor="ctr"/>
              <a:lstStyle/>
              <a:p>
                <a:pPr algn="ctr"/>
                <a:endParaRPr lang="zh-CN" altLang="en-US">
                  <a:solidFill>
                    <a:srgbClr val="FFFFFF"/>
                  </a:solidFill>
                  <a:latin typeface="Calibri" pitchFamily="34" charset="0"/>
                </a:endParaRPr>
              </a:p>
            </p:txBody>
          </p:sp>
        </p:grpSp>
        <p:sp>
          <p:nvSpPr>
            <p:cNvPr id="58375" name="TextBox 9"/>
            <p:cNvSpPr txBox="1">
              <a:spLocks noChangeArrowheads="1"/>
            </p:cNvSpPr>
            <p:nvPr/>
          </p:nvSpPr>
          <p:spPr bwMode="auto">
            <a:xfrm>
              <a:off x="-77485" y="718559"/>
              <a:ext cx="5463173" cy="911414"/>
            </a:xfrm>
            <a:prstGeom prst="rect">
              <a:avLst/>
            </a:prstGeom>
            <a:solidFill>
              <a:srgbClr val="00B0F0"/>
            </a:solidFill>
            <a:ln w="9525">
              <a:noFill/>
              <a:miter lim="800000"/>
              <a:headEnd/>
              <a:tailEnd/>
            </a:ln>
          </p:spPr>
          <p:txBody>
            <a:bodyPr>
              <a:spAutoFit/>
            </a:bodyPr>
            <a:lstStyle/>
            <a:p>
              <a:r>
                <a:rPr lang="en-US" altLang="zh-CN" sz="4400" b="1">
                  <a:latin typeface="微软雅黑" pitchFamily="34" charset="-122"/>
                  <a:ea typeface="微软雅黑" pitchFamily="34" charset="-122"/>
                </a:rPr>
                <a:t>2.1</a:t>
              </a:r>
              <a:r>
                <a:rPr lang="zh-CN" altLang="en-US" sz="4400" b="1">
                  <a:latin typeface="微软雅黑" pitchFamily="34" charset="-122"/>
                  <a:ea typeface="微软雅黑" pitchFamily="34" charset="-122"/>
                </a:rPr>
                <a:t>贝叶斯网络概述</a:t>
              </a:r>
            </a:p>
          </p:txBody>
        </p:sp>
      </p:gr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TextBox 1"/>
          <p:cNvSpPr txBox="1">
            <a:spLocks noChangeArrowheads="1"/>
          </p:cNvSpPr>
          <p:nvPr/>
        </p:nvSpPr>
        <p:spPr bwMode="auto">
          <a:xfrm>
            <a:off x="571500" y="714375"/>
            <a:ext cx="8215313" cy="3970338"/>
          </a:xfrm>
          <a:prstGeom prst="rect">
            <a:avLst/>
          </a:prstGeom>
          <a:noFill/>
          <a:ln w="9525">
            <a:noFill/>
            <a:miter lim="800000"/>
            <a:headEnd/>
            <a:tailEnd/>
          </a:ln>
        </p:spPr>
        <p:txBody>
          <a:bodyPr>
            <a:spAutoFit/>
          </a:bodyPr>
          <a:lstStyle/>
          <a:p>
            <a:r>
              <a:rPr lang="zh-CN" altLang="en-US"/>
              <a:t>       上一篇文章我们使用朴素贝叶斯分类实现了</a:t>
            </a:r>
            <a:r>
              <a:rPr lang="en-US" altLang="zh-CN"/>
              <a:t>SNS</a:t>
            </a:r>
            <a:r>
              <a:rPr lang="zh-CN" altLang="en-US"/>
              <a:t>社区中不真实账号的检测。在那个解决方案中，我做了如下假设：</a:t>
            </a:r>
          </a:p>
          <a:p>
            <a:r>
              <a:rPr lang="zh-CN" altLang="en-US"/>
              <a:t>     </a:t>
            </a:r>
            <a:r>
              <a:rPr lang="zh-CN" altLang="en-US">
                <a:solidFill>
                  <a:srgbClr val="002060"/>
                </a:solidFill>
              </a:rPr>
              <a:t> </a:t>
            </a:r>
            <a:r>
              <a:rPr lang="en-US" altLang="zh-CN">
                <a:solidFill>
                  <a:srgbClr val="002060"/>
                </a:solidFill>
              </a:rPr>
              <a:t>i</a:t>
            </a:r>
            <a:r>
              <a:rPr lang="zh-CN" altLang="en-US">
                <a:solidFill>
                  <a:srgbClr val="002060"/>
                </a:solidFill>
              </a:rPr>
              <a:t>、真实账号比非真实账号平均具有更大的日志密度、各大的好友密度以及更多的使用真实头像。</a:t>
            </a:r>
          </a:p>
          <a:p>
            <a:r>
              <a:rPr lang="zh-CN" altLang="en-US">
                <a:solidFill>
                  <a:srgbClr val="002060"/>
                </a:solidFill>
              </a:rPr>
              <a:t>      </a:t>
            </a:r>
            <a:r>
              <a:rPr lang="en-US" altLang="zh-CN">
                <a:solidFill>
                  <a:srgbClr val="002060"/>
                </a:solidFill>
              </a:rPr>
              <a:t>ii</a:t>
            </a:r>
            <a:r>
              <a:rPr lang="zh-CN" altLang="en-US">
                <a:solidFill>
                  <a:srgbClr val="002060"/>
                </a:solidFill>
              </a:rPr>
              <a:t>、日志密度、好友密度和是否使用真实头像在账号真实性给定的条件下是独立的。</a:t>
            </a:r>
          </a:p>
          <a:p>
            <a:r>
              <a:rPr lang="zh-CN" altLang="en-US"/>
              <a:t>      但是，上述第二条假设很可能并不成立。一般来说，好友密度除了与账号是否真实有关，还与是否有真实头像有关，因为真实的头像会吸引更多人加其为好友。因此，我们为了获取更准确的分类，可以将假设修改如下：</a:t>
            </a:r>
          </a:p>
          <a:p>
            <a:r>
              <a:rPr lang="zh-CN" altLang="en-US"/>
              <a:t>     </a:t>
            </a:r>
            <a:r>
              <a:rPr lang="zh-CN" altLang="en-US">
                <a:solidFill>
                  <a:srgbClr val="002060"/>
                </a:solidFill>
              </a:rPr>
              <a:t> </a:t>
            </a:r>
            <a:r>
              <a:rPr lang="en-US" altLang="zh-CN">
                <a:solidFill>
                  <a:srgbClr val="002060"/>
                </a:solidFill>
              </a:rPr>
              <a:t>i</a:t>
            </a:r>
            <a:r>
              <a:rPr lang="zh-CN" altLang="en-US">
                <a:solidFill>
                  <a:srgbClr val="002060"/>
                </a:solidFill>
              </a:rPr>
              <a:t>、真实账号比非真实账号平均具有更大的日志密度、各大的好友密度以及更多的使用真实头像。</a:t>
            </a:r>
          </a:p>
          <a:p>
            <a:r>
              <a:rPr lang="zh-CN" altLang="en-US">
                <a:solidFill>
                  <a:srgbClr val="002060"/>
                </a:solidFill>
              </a:rPr>
              <a:t>      </a:t>
            </a:r>
            <a:r>
              <a:rPr lang="en-US" altLang="zh-CN">
                <a:solidFill>
                  <a:srgbClr val="002060"/>
                </a:solidFill>
              </a:rPr>
              <a:t>ii</a:t>
            </a:r>
            <a:r>
              <a:rPr lang="zh-CN" altLang="en-US">
                <a:solidFill>
                  <a:srgbClr val="002060"/>
                </a:solidFill>
              </a:rPr>
              <a:t>、日志密度与好友密度、日志密度与是否使用真实头像在账号真实性给定的条件下是独立的。</a:t>
            </a:r>
          </a:p>
          <a:p>
            <a:r>
              <a:rPr lang="zh-CN" altLang="en-US">
                <a:solidFill>
                  <a:srgbClr val="002060"/>
                </a:solidFill>
              </a:rPr>
              <a:t>      </a:t>
            </a:r>
            <a:r>
              <a:rPr lang="en-US" altLang="zh-CN">
                <a:solidFill>
                  <a:srgbClr val="002060"/>
                </a:solidFill>
              </a:rPr>
              <a:t>iii</a:t>
            </a:r>
            <a:r>
              <a:rPr lang="zh-CN" altLang="en-US">
                <a:solidFill>
                  <a:srgbClr val="002060"/>
                </a:solidFill>
              </a:rPr>
              <a:t>、使用真实头像的用户比使用非真实头像的用户平均有更大的好友密度。</a:t>
            </a:r>
          </a:p>
        </p:txBody>
      </p:sp>
      <p:sp>
        <p:nvSpPr>
          <p:cNvPr id="59395" name="TextBox 2"/>
          <p:cNvSpPr txBox="1">
            <a:spLocks noChangeArrowheads="1"/>
          </p:cNvSpPr>
          <p:nvPr/>
        </p:nvSpPr>
        <p:spPr bwMode="auto">
          <a:xfrm>
            <a:off x="642938" y="4857750"/>
            <a:ext cx="7715250" cy="923925"/>
          </a:xfrm>
          <a:prstGeom prst="rect">
            <a:avLst/>
          </a:prstGeom>
          <a:noFill/>
          <a:ln w="9525">
            <a:noFill/>
            <a:miter lim="800000"/>
            <a:headEnd/>
            <a:tailEnd/>
          </a:ln>
        </p:spPr>
        <p:txBody>
          <a:bodyPr>
            <a:spAutoFit/>
          </a:bodyPr>
          <a:lstStyle/>
          <a:p>
            <a:r>
              <a:rPr lang="zh-CN" altLang="en-US"/>
              <a:t>上述假设更接近实际情况，但问题随之也来了，由于特征属性间存在依赖关系，使得朴素贝叶斯分类不适用了。既然这样，我去寻找另外的解决方案。</a:t>
            </a:r>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TextBox 1"/>
          <p:cNvSpPr txBox="1">
            <a:spLocks noChangeArrowheads="1"/>
          </p:cNvSpPr>
          <p:nvPr/>
        </p:nvSpPr>
        <p:spPr bwMode="auto">
          <a:xfrm>
            <a:off x="714375" y="428625"/>
            <a:ext cx="5429250" cy="369888"/>
          </a:xfrm>
          <a:prstGeom prst="rect">
            <a:avLst/>
          </a:prstGeom>
          <a:noFill/>
          <a:ln w="9525">
            <a:noFill/>
            <a:miter lim="800000"/>
            <a:headEnd/>
            <a:tailEnd/>
          </a:ln>
        </p:spPr>
        <p:txBody>
          <a:bodyPr>
            <a:spAutoFit/>
          </a:bodyPr>
          <a:lstStyle/>
          <a:p>
            <a:r>
              <a:rPr lang="zh-CN" altLang="en-US"/>
              <a:t>   下图表示特征属性之间的关联：</a:t>
            </a:r>
          </a:p>
        </p:txBody>
      </p:sp>
      <p:pic>
        <p:nvPicPr>
          <p:cNvPr id="60419" name="Picture 2" descr="http://images.cnblogs.com/cnblogs_com/leoo2sk/WindowsLiveWriter/bc64e495f586_139A8/1_3.png"/>
          <p:cNvPicPr>
            <a:picLocks noChangeAspect="1" noChangeArrowheads="1"/>
          </p:cNvPicPr>
          <p:nvPr/>
        </p:nvPicPr>
        <p:blipFill>
          <a:blip r:embed="rId2"/>
          <a:srcRect/>
          <a:stretch>
            <a:fillRect/>
          </a:stretch>
        </p:blipFill>
        <p:spPr bwMode="auto">
          <a:xfrm>
            <a:off x="357188" y="857250"/>
            <a:ext cx="4643437" cy="4184650"/>
          </a:xfrm>
          <a:prstGeom prst="rect">
            <a:avLst/>
          </a:prstGeom>
          <a:noFill/>
          <a:ln w="9525">
            <a:noFill/>
            <a:miter lim="800000"/>
            <a:headEnd/>
            <a:tailEnd/>
          </a:ln>
        </p:spPr>
      </p:pic>
      <p:sp>
        <p:nvSpPr>
          <p:cNvPr id="60420" name="TextBox 3"/>
          <p:cNvSpPr txBox="1">
            <a:spLocks noChangeArrowheads="1"/>
          </p:cNvSpPr>
          <p:nvPr/>
        </p:nvSpPr>
        <p:spPr bwMode="auto">
          <a:xfrm>
            <a:off x="5214938" y="928688"/>
            <a:ext cx="3786187" cy="4194175"/>
          </a:xfrm>
          <a:prstGeom prst="rect">
            <a:avLst/>
          </a:prstGeom>
          <a:noFill/>
          <a:ln w="9525">
            <a:noFill/>
            <a:miter lim="800000"/>
            <a:headEnd/>
            <a:tailEnd/>
          </a:ln>
        </p:spPr>
        <p:txBody>
          <a:bodyPr>
            <a:spAutoFit/>
          </a:bodyPr>
          <a:lstStyle/>
          <a:p>
            <a:pPr>
              <a:lnSpc>
                <a:spcPct val="150000"/>
              </a:lnSpc>
            </a:pPr>
            <a:r>
              <a:rPr lang="zh-CN" altLang="en-US"/>
              <a:t>左图是一个有向无环图，其中每个节点代表一个随机变量，而弧则表示两个随机变量之间的联系，表示指向结点影响被指向结点。不过仅有这个图的话，只能定性给出随机变量间的关系，如果要定量，还需要一些数据，这些数据就是每个节点对其直接前驱节点的条件概率，而没有前驱节点的节点则使用先验概率表示。</a:t>
            </a:r>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矩形 1"/>
          <p:cNvSpPr>
            <a:spLocks noChangeArrowheads="1"/>
          </p:cNvSpPr>
          <p:nvPr/>
        </p:nvSpPr>
        <p:spPr bwMode="auto">
          <a:xfrm>
            <a:off x="1643063" y="500063"/>
            <a:ext cx="4857750" cy="646112"/>
          </a:xfrm>
          <a:prstGeom prst="rect">
            <a:avLst/>
          </a:prstGeom>
          <a:noFill/>
          <a:ln w="9525">
            <a:noFill/>
            <a:miter lim="800000"/>
            <a:headEnd/>
            <a:tailEnd/>
          </a:ln>
        </p:spPr>
        <p:txBody>
          <a:bodyPr>
            <a:spAutoFit/>
          </a:bodyPr>
          <a:lstStyle/>
          <a:p>
            <a:r>
              <a:rPr lang="zh-CN" altLang="en-US"/>
              <a:t> 例如，通过对训练数据集的统计，得到下表（</a:t>
            </a:r>
            <a:r>
              <a:rPr lang="en-US" altLang="zh-CN"/>
              <a:t>R</a:t>
            </a:r>
            <a:r>
              <a:rPr lang="zh-CN" altLang="en-US"/>
              <a:t>表示账号真实性，</a:t>
            </a:r>
            <a:r>
              <a:rPr lang="en-US" altLang="zh-CN"/>
              <a:t>H</a:t>
            </a:r>
            <a:r>
              <a:rPr lang="zh-CN" altLang="en-US"/>
              <a:t>表示头像真实性）：</a:t>
            </a:r>
          </a:p>
        </p:txBody>
      </p:sp>
      <p:pic>
        <p:nvPicPr>
          <p:cNvPr id="61443" name="Picture 2" descr="http://images.cnblogs.com/cnblogs_com/leoo2sk/WindowsLiveWriter/bc64e495f586_139A8/2_3.png"/>
          <p:cNvPicPr>
            <a:picLocks noChangeAspect="1" noChangeArrowheads="1"/>
          </p:cNvPicPr>
          <p:nvPr/>
        </p:nvPicPr>
        <p:blipFill>
          <a:blip r:embed="rId2"/>
          <a:srcRect/>
          <a:stretch>
            <a:fillRect/>
          </a:stretch>
        </p:blipFill>
        <p:spPr bwMode="auto">
          <a:xfrm>
            <a:off x="1285875" y="1214438"/>
            <a:ext cx="5514975" cy="2343150"/>
          </a:xfrm>
          <a:prstGeom prst="rect">
            <a:avLst/>
          </a:prstGeom>
          <a:noFill/>
          <a:ln w="9525">
            <a:noFill/>
            <a:miter lim="800000"/>
            <a:headEnd/>
            <a:tailEnd/>
          </a:ln>
        </p:spPr>
      </p:pic>
      <p:sp>
        <p:nvSpPr>
          <p:cNvPr id="61444" name="TextBox 3"/>
          <p:cNvSpPr txBox="1">
            <a:spLocks noChangeArrowheads="1"/>
          </p:cNvSpPr>
          <p:nvPr/>
        </p:nvSpPr>
        <p:spPr bwMode="auto">
          <a:xfrm>
            <a:off x="1071563" y="3786188"/>
            <a:ext cx="6143625" cy="1754187"/>
          </a:xfrm>
          <a:prstGeom prst="rect">
            <a:avLst/>
          </a:prstGeom>
          <a:noFill/>
          <a:ln w="9525">
            <a:noFill/>
            <a:miter lim="800000"/>
            <a:headEnd/>
            <a:tailEnd/>
          </a:ln>
        </p:spPr>
        <p:txBody>
          <a:bodyPr>
            <a:spAutoFit/>
          </a:bodyPr>
          <a:lstStyle/>
          <a:p>
            <a:pPr>
              <a:lnSpc>
                <a:spcPct val="150000"/>
              </a:lnSpc>
            </a:pPr>
            <a:r>
              <a:rPr lang="zh-CN" altLang="en-US"/>
              <a:t> 纵向表头表示条件变量，横向表头表示随机变量。第一张表为真实账号和非真实账号的概率，而第二张表为头像真实性对于账号真实性的概率。这两张表分别为“账号是否真实”和“头像是否真实”的条件概率表。</a:t>
            </a:r>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1"/>
          <p:cNvSpPr>
            <a:spLocks noChangeArrowheads="1"/>
          </p:cNvSpPr>
          <p:nvPr/>
        </p:nvSpPr>
        <p:spPr bwMode="auto">
          <a:xfrm>
            <a:off x="928688" y="285750"/>
            <a:ext cx="6000750" cy="923925"/>
          </a:xfrm>
          <a:prstGeom prst="rect">
            <a:avLst/>
          </a:prstGeom>
          <a:noFill/>
          <a:ln w="9525">
            <a:noFill/>
            <a:miter lim="800000"/>
            <a:headEnd/>
            <a:tailEnd/>
          </a:ln>
        </p:spPr>
        <p:txBody>
          <a:bodyPr>
            <a:spAutoFit/>
          </a:bodyPr>
          <a:lstStyle/>
          <a:p>
            <a:r>
              <a:rPr lang="zh-CN" altLang="en-US"/>
              <a:t>有了这些数据，不但能顺向推断，还能通过贝叶斯定理进行逆向推断。例如，现随机抽取一个账户，已知其头像为假，求其账号也为假的概率：</a:t>
            </a:r>
          </a:p>
        </p:txBody>
      </p:sp>
      <p:pic>
        <p:nvPicPr>
          <p:cNvPr id="62467" name="Picture 3" descr="C:\Users\lwg\AppData\Roaming\Tencent\Users\724327698\QQ\WinTemp\RichOle\D$QWW$_@{O]KH%DV{6$XV]O.jpg"/>
          <p:cNvPicPr>
            <a:picLocks noChangeAspect="1" noChangeArrowheads="1"/>
          </p:cNvPicPr>
          <p:nvPr/>
        </p:nvPicPr>
        <p:blipFill>
          <a:blip r:embed="rId2"/>
          <a:srcRect/>
          <a:stretch>
            <a:fillRect/>
          </a:stretch>
        </p:blipFill>
        <p:spPr bwMode="auto">
          <a:xfrm>
            <a:off x="357188" y="1500188"/>
            <a:ext cx="8353425" cy="1009650"/>
          </a:xfrm>
          <a:prstGeom prst="rect">
            <a:avLst/>
          </a:prstGeom>
          <a:noFill/>
          <a:ln w="9525">
            <a:noFill/>
            <a:miter lim="800000"/>
            <a:headEnd/>
            <a:tailEnd/>
          </a:ln>
        </p:spPr>
      </p:pic>
      <p:sp>
        <p:nvSpPr>
          <p:cNvPr id="62468" name="TextBox 4"/>
          <p:cNvSpPr txBox="1">
            <a:spLocks noChangeArrowheads="1"/>
          </p:cNvSpPr>
          <p:nvPr/>
        </p:nvSpPr>
        <p:spPr bwMode="auto">
          <a:xfrm>
            <a:off x="1000125" y="2857500"/>
            <a:ext cx="7358063" cy="1200150"/>
          </a:xfrm>
          <a:prstGeom prst="rect">
            <a:avLst/>
          </a:prstGeom>
          <a:noFill/>
          <a:ln w="9525">
            <a:noFill/>
            <a:miter lim="800000"/>
            <a:headEnd/>
            <a:tailEnd/>
          </a:ln>
        </p:spPr>
        <p:txBody>
          <a:bodyPr>
            <a:spAutoFit/>
          </a:bodyPr>
          <a:lstStyle/>
          <a:p>
            <a:r>
              <a:rPr lang="zh-CN" altLang="en-US"/>
              <a:t>        也就是说，在仅知道头像为假的情况下，有大约</a:t>
            </a:r>
            <a:r>
              <a:rPr lang="en-US" altLang="zh-CN"/>
              <a:t>35.7%</a:t>
            </a:r>
            <a:r>
              <a:rPr lang="zh-CN" altLang="en-US"/>
              <a:t>的概率此账户也为假。</a:t>
            </a:r>
            <a:endParaRPr lang="en-US" altLang="zh-CN"/>
          </a:p>
          <a:p>
            <a:r>
              <a:rPr lang="zh-CN" altLang="en-US"/>
              <a:t>       如果给出所有节点的条件概率表，则可以在观察值不完备的情况下对任意随机变量进行统计推断。上述方法就是使用了贝叶斯网络。</a:t>
            </a:r>
          </a:p>
        </p:txBody>
      </p:sp>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1"/>
          <p:cNvSpPr txBox="1">
            <a:spLocks noChangeArrowheads="1"/>
          </p:cNvSpPr>
          <p:nvPr/>
        </p:nvSpPr>
        <p:spPr bwMode="auto">
          <a:xfrm>
            <a:off x="2071688" y="285750"/>
            <a:ext cx="4699000" cy="769938"/>
          </a:xfrm>
          <a:prstGeom prst="rect">
            <a:avLst/>
          </a:prstGeom>
          <a:solidFill>
            <a:schemeClr val="bg1"/>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贝叶斯网络的简介</a:t>
            </a:r>
          </a:p>
        </p:txBody>
      </p:sp>
      <p:sp>
        <p:nvSpPr>
          <p:cNvPr id="63491" name="TextBox 2"/>
          <p:cNvSpPr txBox="1">
            <a:spLocks noChangeArrowheads="1"/>
          </p:cNvSpPr>
          <p:nvPr/>
        </p:nvSpPr>
        <p:spPr bwMode="auto">
          <a:xfrm>
            <a:off x="1285875" y="1143000"/>
            <a:ext cx="2928938" cy="523875"/>
          </a:xfrm>
          <a:prstGeom prst="rect">
            <a:avLst/>
          </a:prstGeom>
          <a:noFill/>
          <a:ln w="9525">
            <a:noFill/>
            <a:miter lim="800000"/>
            <a:headEnd/>
            <a:tailEnd/>
          </a:ln>
        </p:spPr>
        <p:txBody>
          <a:bodyPr>
            <a:spAutoFit/>
          </a:bodyPr>
          <a:lstStyle/>
          <a:p>
            <a:r>
              <a:rPr lang="zh-CN" altLang="en-US" sz="2800">
                <a:solidFill>
                  <a:srgbClr val="FF0000"/>
                </a:solidFill>
              </a:rPr>
              <a:t>简介</a:t>
            </a:r>
          </a:p>
        </p:txBody>
      </p:sp>
      <p:sp>
        <p:nvSpPr>
          <p:cNvPr id="63492" name="TextBox 3"/>
          <p:cNvSpPr txBox="1">
            <a:spLocks noChangeArrowheads="1"/>
          </p:cNvSpPr>
          <p:nvPr/>
        </p:nvSpPr>
        <p:spPr bwMode="auto">
          <a:xfrm>
            <a:off x="928688" y="1714500"/>
            <a:ext cx="7500937" cy="3832225"/>
          </a:xfrm>
          <a:prstGeom prst="rect">
            <a:avLst/>
          </a:prstGeom>
          <a:noFill/>
          <a:ln w="9525">
            <a:noFill/>
            <a:miter lim="800000"/>
            <a:headEnd/>
            <a:tailEnd/>
          </a:ln>
        </p:spPr>
        <p:txBody>
          <a:bodyPr>
            <a:spAutoFit/>
          </a:bodyPr>
          <a:lstStyle/>
          <a:p>
            <a:pPr>
              <a:lnSpc>
                <a:spcPct val="150000"/>
              </a:lnSpc>
            </a:pPr>
            <a:r>
              <a:rPr lang="zh-CN" altLang="en-US"/>
              <a:t>       贝叶斯网络是一种概率网络，它是基于概率推理的图形化网络，而</a:t>
            </a:r>
            <a:r>
              <a:rPr lang="zh-CN" altLang="en-US">
                <a:hlinkClick r:id="rId2"/>
              </a:rPr>
              <a:t>贝叶斯公式</a:t>
            </a:r>
            <a:r>
              <a:rPr lang="zh-CN" altLang="en-US"/>
              <a:t>则是这个概率网络的基础。贝叶斯网络是基于概率推理的数学模型，所谓概率推理就是通过一些变量的信息来获取其他的概率信息的过程，基于概率推理的贝叶斯网络</a:t>
            </a:r>
            <a:r>
              <a:rPr lang="en-US" altLang="zh-CN"/>
              <a:t>(Bayesian network)</a:t>
            </a:r>
            <a:r>
              <a:rPr lang="zh-CN" altLang="en-US"/>
              <a:t>是为了解决不定性和不完整性问题而提出的，它对于解决复杂设备不确定性和关联性引起的故障有很的优势，在多个领域中获得广泛应用。</a:t>
            </a:r>
            <a:endParaRPr lang="en-US" altLang="zh-CN"/>
          </a:p>
          <a:p>
            <a:pPr>
              <a:lnSpc>
                <a:spcPct val="150000"/>
              </a:lnSpc>
            </a:pPr>
            <a:r>
              <a:rPr lang="zh-CN" altLang="en-US"/>
              <a:t>      贝叶斯网络又称信度网络，是</a:t>
            </a:r>
            <a:r>
              <a:rPr lang="en-US" altLang="zh-CN"/>
              <a:t>Bayes</a:t>
            </a:r>
            <a:r>
              <a:rPr lang="zh-CN" altLang="en-US"/>
              <a:t>方法的扩展，目前不确定知识表达和推理领域最有效的理论模型之一。从</a:t>
            </a:r>
            <a:r>
              <a:rPr lang="en-US" altLang="zh-CN"/>
              <a:t>1988</a:t>
            </a:r>
            <a:r>
              <a:rPr lang="zh-CN" altLang="en-US"/>
              <a:t>年提出后，已经成为近几年来研究的热点</a:t>
            </a:r>
            <a:r>
              <a:rPr lang="en-US" altLang="zh-CN"/>
              <a:t>.</a:t>
            </a:r>
            <a:r>
              <a:rPr lang="zh-CN" altLang="en-US"/>
              <a:t>。</a:t>
            </a:r>
          </a:p>
        </p:txBody>
      </p:sp>
    </p:spTree>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9" name="TextBox 1"/>
          <p:cNvSpPr txBox="1">
            <a:spLocks noChangeArrowheads="1"/>
          </p:cNvSpPr>
          <p:nvPr/>
        </p:nvSpPr>
        <p:spPr bwMode="auto">
          <a:xfrm>
            <a:off x="2071688" y="285750"/>
            <a:ext cx="4699000" cy="769938"/>
          </a:xfrm>
          <a:prstGeom prst="rect">
            <a:avLst/>
          </a:prstGeom>
          <a:solidFill>
            <a:schemeClr val="bg1"/>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贝叶斯网络的定义</a:t>
            </a:r>
          </a:p>
        </p:txBody>
      </p:sp>
      <p:sp>
        <p:nvSpPr>
          <p:cNvPr id="8" name="Rectangle 3"/>
          <p:cNvSpPr txBox="1">
            <a:spLocks noChangeArrowheads="1"/>
          </p:cNvSpPr>
          <p:nvPr/>
        </p:nvSpPr>
        <p:spPr>
          <a:xfrm>
            <a:off x="285750" y="1143000"/>
            <a:ext cx="8642350" cy="5400675"/>
          </a:xfrm>
          <a:prstGeom prst="rect">
            <a:avLst/>
          </a:prstGeom>
        </p:spPr>
        <p:txBody>
          <a:bodyPr/>
          <a:lstStyle/>
          <a:p>
            <a:pPr marL="342900" indent="-342900" eaLnBrk="0" hangingPunct="0">
              <a:lnSpc>
                <a:spcPct val="150000"/>
              </a:lnSpc>
              <a:spcBef>
                <a:spcPct val="20000"/>
              </a:spcBef>
              <a:buFont typeface="Arial" pitchFamily="34" charset="0"/>
              <a:buChar char="•"/>
              <a:defRPr/>
            </a:pPr>
            <a:r>
              <a:rPr lang="zh-CN" altLang="en-US" sz="2000" dirty="0">
                <a:latin typeface="+mn-lt"/>
              </a:rPr>
              <a:t>贝叶斯网络是一个二元组，即</a:t>
            </a:r>
            <a:r>
              <a:rPr lang="en-US" altLang="zh-CN" sz="2000" dirty="0">
                <a:latin typeface="+mn-lt"/>
              </a:rPr>
              <a:t>BN=(G,P), G=(V,E),</a:t>
            </a:r>
            <a:r>
              <a:rPr lang="zh-CN" altLang="en-US" sz="2000" dirty="0">
                <a:latin typeface="+mn-lt"/>
              </a:rPr>
              <a:t>为有向无圈图</a:t>
            </a:r>
            <a:r>
              <a:rPr lang="en-US" altLang="zh-CN" sz="2000" dirty="0">
                <a:latin typeface="+mn-lt"/>
              </a:rPr>
              <a:t>(Directed Acyclic Graph) ,</a:t>
            </a:r>
            <a:r>
              <a:rPr lang="zh-CN" altLang="en-US" sz="2000" dirty="0">
                <a:latin typeface="+mn-lt"/>
              </a:rPr>
              <a:t>其中</a:t>
            </a:r>
            <a:r>
              <a:rPr lang="en-US" altLang="zh-CN" sz="2000" dirty="0">
                <a:latin typeface="+mn-lt"/>
              </a:rPr>
              <a:t>V</a:t>
            </a:r>
            <a:r>
              <a:rPr lang="zh-CN" altLang="en-US" sz="2000" dirty="0">
                <a:latin typeface="+mn-lt"/>
              </a:rPr>
              <a:t>为节点集合，与领域的随机变量一一对应，</a:t>
            </a:r>
            <a:r>
              <a:rPr lang="en-US" altLang="zh-CN" sz="2000" dirty="0">
                <a:latin typeface="+mn-lt"/>
              </a:rPr>
              <a:t>E</a:t>
            </a:r>
            <a:r>
              <a:rPr lang="zh-CN" altLang="en-US" sz="2000" dirty="0">
                <a:latin typeface="+mn-lt"/>
              </a:rPr>
              <a:t>为有向边集，反映节点变量之间的因果依赖关系；</a:t>
            </a:r>
            <a:r>
              <a:rPr lang="en-US" altLang="zh-CN" sz="2000" dirty="0">
                <a:latin typeface="+mn-lt"/>
              </a:rPr>
              <a:t>P</a:t>
            </a:r>
            <a:r>
              <a:rPr lang="zh-CN" altLang="en-US" sz="2000" dirty="0">
                <a:latin typeface="+mn-lt"/>
              </a:rPr>
              <a:t>为节点的概率分布，表示节点之间因果影响强度．</a:t>
            </a:r>
          </a:p>
          <a:p>
            <a:pPr marL="342900" indent="-342900" eaLnBrk="0" hangingPunct="0">
              <a:lnSpc>
                <a:spcPct val="150000"/>
              </a:lnSpc>
              <a:spcBef>
                <a:spcPct val="20000"/>
              </a:spcBef>
              <a:buFont typeface="Arial" pitchFamily="34" charset="0"/>
              <a:buChar char="•"/>
              <a:defRPr/>
            </a:pPr>
            <a:r>
              <a:rPr lang="zh-CN" altLang="en-US" sz="2000" dirty="0">
                <a:latin typeface="+mn-lt"/>
              </a:rPr>
              <a:t>从定性和定量两个角度来理解</a:t>
            </a:r>
            <a:endParaRPr lang="en-US" altLang="zh-CN" sz="2000" dirty="0">
              <a:latin typeface="+mn-lt"/>
            </a:endParaRPr>
          </a:p>
          <a:p>
            <a:pPr marL="342900" indent="-342900" eaLnBrk="0" hangingPunct="0">
              <a:lnSpc>
                <a:spcPct val="150000"/>
              </a:lnSpc>
              <a:spcBef>
                <a:spcPct val="20000"/>
              </a:spcBef>
              <a:buFont typeface="Arial" pitchFamily="34" charset="0"/>
              <a:buChar char="•"/>
              <a:defRPr/>
            </a:pPr>
            <a:r>
              <a:rPr lang="zh-CN" altLang="en-US" sz="2000" dirty="0">
                <a:latin typeface="+mn-lt"/>
              </a:rPr>
              <a:t>在定性层面：贝叶斯网络是一个有向无圈图，其中的节点代表随机变量，节点之间的边代表变量之间的直接依赖关系；</a:t>
            </a:r>
            <a:endParaRPr lang="en-US" altLang="zh-CN" sz="2000" dirty="0">
              <a:latin typeface="+mn-lt"/>
            </a:endParaRPr>
          </a:p>
          <a:p>
            <a:pPr marL="342900" indent="-342900" eaLnBrk="0" hangingPunct="0">
              <a:lnSpc>
                <a:spcPct val="150000"/>
              </a:lnSpc>
              <a:spcBef>
                <a:spcPct val="20000"/>
              </a:spcBef>
              <a:buFont typeface="Arial" pitchFamily="34" charset="0"/>
              <a:buChar char="•"/>
              <a:defRPr/>
            </a:pPr>
            <a:r>
              <a:rPr lang="zh-CN" altLang="en-US" sz="2000" dirty="0">
                <a:latin typeface="+mn-lt"/>
              </a:rPr>
              <a:t>在定量层面：每个节点都有一个条件概率表</a:t>
            </a:r>
            <a:r>
              <a:rPr lang="en-US" altLang="zh-CN" sz="2000" dirty="0">
                <a:latin typeface="+mn-lt"/>
              </a:rPr>
              <a:t>(Conditional Probability Table) </a:t>
            </a:r>
            <a:r>
              <a:rPr lang="en-US" altLang="zh-CN" sz="2000" i="1" dirty="0">
                <a:latin typeface="+mn-lt"/>
              </a:rPr>
              <a:t>P(</a:t>
            </a:r>
            <a:r>
              <a:rPr lang="en-US" altLang="zh-CN" sz="2000" i="1" dirty="0" err="1">
                <a:latin typeface="+mn-lt"/>
              </a:rPr>
              <a:t>Xi|Parents</a:t>
            </a:r>
            <a:r>
              <a:rPr lang="en-US" altLang="zh-CN" sz="2000" i="1" dirty="0">
                <a:latin typeface="+mn-lt"/>
              </a:rPr>
              <a:t>(Xi))</a:t>
            </a:r>
            <a:r>
              <a:rPr lang="en-US" altLang="zh-CN" sz="2000" dirty="0">
                <a:latin typeface="+mn-lt"/>
                <a:ea typeface="+mn-ea"/>
              </a:rPr>
              <a:t> ,</a:t>
            </a:r>
            <a:r>
              <a:rPr lang="zh-CN" altLang="en-US" sz="2000" dirty="0">
                <a:latin typeface="+mn-lt"/>
              </a:rPr>
              <a:t>刻画了父变量对子变量的影响程度。</a:t>
            </a:r>
          </a:p>
          <a:p>
            <a:pPr marL="342900" indent="-342900" eaLnBrk="0" hangingPunct="0">
              <a:lnSpc>
                <a:spcPct val="150000"/>
              </a:lnSpc>
              <a:spcBef>
                <a:spcPct val="20000"/>
              </a:spcBef>
              <a:buFont typeface="Arial" pitchFamily="34" charset="0"/>
              <a:buChar char="•"/>
              <a:defRPr/>
            </a:pPr>
            <a:endParaRPr lang="zh-CN" altLang="en-US" sz="2000" dirty="0">
              <a:latin typeface="+mn-lt"/>
            </a:endParaRPr>
          </a:p>
          <a:p>
            <a:pPr marL="342900" indent="-342900" eaLnBrk="0" hangingPunct="0">
              <a:spcBef>
                <a:spcPct val="20000"/>
              </a:spcBef>
              <a:defRPr/>
            </a:pPr>
            <a:endParaRPr lang="zh-CN" altLang="en-US" sz="3200" dirty="0">
              <a:latin typeface="+mn-lt"/>
            </a:endParaRPr>
          </a:p>
        </p:txBody>
      </p:sp>
      <p:graphicFrame>
        <p:nvGraphicFramePr>
          <p:cNvPr id="4098" name="Object 8"/>
          <p:cNvGraphicFramePr>
            <a:graphicFrameLocks noChangeAspect="1"/>
          </p:cNvGraphicFramePr>
          <p:nvPr/>
        </p:nvGraphicFramePr>
        <p:xfrm>
          <a:off x="3286125" y="5786438"/>
          <a:ext cx="1728788" cy="295275"/>
        </p:xfrm>
        <a:graphic>
          <a:graphicData uri="http://schemas.openxmlformats.org/presentationml/2006/ole">
            <p:oleObj spid="_x0000_s4098" name="Equation" r:id="rId3" imgW="1117600" imgH="190500" progId="Equation.DSMT4">
              <p:embed/>
            </p:oleObj>
          </a:graphicData>
        </a:graphic>
      </p:graphicFrame>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50825" y="908050"/>
            <a:ext cx="8642350" cy="5400675"/>
          </a:xfrm>
          <a:prstGeom prst="rect">
            <a:avLst/>
          </a:prstGeom>
        </p:spPr>
        <p:txBody>
          <a:bodyPr/>
          <a:lstStyle/>
          <a:p>
            <a:pPr marL="342900" indent="-342900" eaLnBrk="0" hangingPunct="0">
              <a:spcBef>
                <a:spcPct val="20000"/>
              </a:spcBef>
              <a:buFont typeface="Wingdings" pitchFamily="2" charset="2"/>
              <a:buNone/>
              <a:defRPr/>
            </a:pPr>
            <a:r>
              <a:rPr lang="en-US" altLang="zh-CN" sz="3200">
                <a:latin typeface="+mn-lt"/>
                <a:ea typeface="+mn-ea"/>
              </a:rPr>
              <a:t> </a:t>
            </a:r>
            <a:endParaRPr lang="en-US" altLang="zh-CN" sz="3200" dirty="0">
              <a:latin typeface="+mn-lt"/>
              <a:ea typeface="+mn-ea"/>
            </a:endParaRPr>
          </a:p>
        </p:txBody>
      </p:sp>
      <p:pic>
        <p:nvPicPr>
          <p:cNvPr id="64515" name="Picture 4"/>
          <p:cNvPicPr>
            <a:picLocks noChangeAspect="1" noChangeArrowheads="1"/>
          </p:cNvPicPr>
          <p:nvPr/>
        </p:nvPicPr>
        <p:blipFill>
          <a:blip r:embed="rId2"/>
          <a:srcRect/>
          <a:stretch>
            <a:fillRect/>
          </a:stretch>
        </p:blipFill>
        <p:spPr bwMode="auto">
          <a:xfrm>
            <a:off x="214313" y="1143000"/>
            <a:ext cx="4032250" cy="4970463"/>
          </a:xfrm>
          <a:prstGeom prst="rect">
            <a:avLst/>
          </a:prstGeom>
          <a:noFill/>
          <a:ln w="9525">
            <a:noFill/>
            <a:miter lim="800000"/>
            <a:headEnd/>
            <a:tailEnd/>
          </a:ln>
        </p:spPr>
      </p:pic>
      <p:pic>
        <p:nvPicPr>
          <p:cNvPr id="64516" name="Picture 5"/>
          <p:cNvPicPr>
            <a:picLocks noChangeAspect="1" noChangeArrowheads="1"/>
          </p:cNvPicPr>
          <p:nvPr/>
        </p:nvPicPr>
        <p:blipFill>
          <a:blip r:embed="rId3"/>
          <a:srcRect/>
          <a:stretch>
            <a:fillRect/>
          </a:stretch>
        </p:blipFill>
        <p:spPr bwMode="auto">
          <a:xfrm>
            <a:off x="4286250" y="1143000"/>
            <a:ext cx="4429125" cy="4752975"/>
          </a:xfrm>
          <a:prstGeom prst="rect">
            <a:avLst/>
          </a:prstGeom>
          <a:noFill/>
          <a:ln w="9525">
            <a:noFill/>
            <a:miter lim="800000"/>
            <a:headEnd/>
            <a:tailEnd/>
          </a:ln>
        </p:spPr>
      </p:pic>
      <p:sp>
        <p:nvSpPr>
          <p:cNvPr id="64517" name="TextBox 1"/>
          <p:cNvSpPr txBox="1">
            <a:spLocks noChangeArrowheads="1"/>
          </p:cNvSpPr>
          <p:nvPr/>
        </p:nvSpPr>
        <p:spPr bwMode="auto">
          <a:xfrm>
            <a:off x="2071688" y="285750"/>
            <a:ext cx="5610225"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贝叶斯网络示例（</a:t>
            </a:r>
            <a:r>
              <a:rPr lang="en-US" altLang="zh-CN" sz="4400" b="1">
                <a:latin typeface="微软雅黑" pitchFamily="34" charset="-122"/>
                <a:ea typeface="微软雅黑" pitchFamily="34" charset="-122"/>
              </a:rPr>
              <a:t>1</a:t>
            </a:r>
            <a:r>
              <a:rPr lang="zh-CN" altLang="en-US" sz="4400" b="1">
                <a:latin typeface="微软雅黑" pitchFamily="34" charset="-122"/>
                <a:ea typeface="微软雅黑" pitchFamily="34" charset="-122"/>
              </a:rPr>
              <a:t>）</a:t>
            </a:r>
          </a:p>
        </p:txBody>
      </p:sp>
    </p:spTree>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Box 1"/>
          <p:cNvSpPr txBox="1">
            <a:spLocks noChangeArrowheads="1"/>
          </p:cNvSpPr>
          <p:nvPr/>
        </p:nvSpPr>
        <p:spPr bwMode="auto">
          <a:xfrm>
            <a:off x="2071688" y="285750"/>
            <a:ext cx="5610225"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贝叶斯网络示例（</a:t>
            </a:r>
            <a:r>
              <a:rPr lang="en-US" altLang="zh-CN" sz="4400" b="1">
                <a:latin typeface="微软雅黑" pitchFamily="34" charset="-122"/>
                <a:ea typeface="微软雅黑" pitchFamily="34" charset="-122"/>
              </a:rPr>
              <a:t>2</a:t>
            </a:r>
            <a:r>
              <a:rPr lang="zh-CN" altLang="en-US" sz="4400" b="1">
                <a:latin typeface="微软雅黑" pitchFamily="34" charset="-122"/>
                <a:ea typeface="微软雅黑" pitchFamily="34" charset="-122"/>
              </a:rPr>
              <a:t>）</a:t>
            </a:r>
          </a:p>
        </p:txBody>
      </p:sp>
      <p:pic>
        <p:nvPicPr>
          <p:cNvPr id="65539" name="Picture 4"/>
          <p:cNvPicPr>
            <a:picLocks noChangeAspect="1" noChangeArrowheads="1"/>
          </p:cNvPicPr>
          <p:nvPr/>
        </p:nvPicPr>
        <p:blipFill>
          <a:blip r:embed="rId2"/>
          <a:srcRect/>
          <a:stretch>
            <a:fillRect/>
          </a:stretch>
        </p:blipFill>
        <p:spPr bwMode="auto">
          <a:xfrm>
            <a:off x="857250" y="1143000"/>
            <a:ext cx="7200900" cy="5184775"/>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3"/>
          <p:cNvSpPr txBox="1">
            <a:spLocks noChangeArrowheads="1"/>
          </p:cNvSpPr>
          <p:nvPr/>
        </p:nvSpPr>
        <p:spPr>
          <a:xfrm>
            <a:off x="250825" y="908050"/>
            <a:ext cx="8642350" cy="5400675"/>
          </a:xfrm>
          <a:prstGeom prst="rect">
            <a:avLst/>
          </a:prstGeom>
        </p:spPr>
        <p:txBody>
          <a:bodyPr/>
          <a:lstStyle/>
          <a:p>
            <a:pPr marL="342900" indent="-342900" eaLnBrk="0" hangingPunct="0">
              <a:spcBef>
                <a:spcPct val="20000"/>
              </a:spcBef>
              <a:buFont typeface="Arial" pitchFamily="34" charset="0"/>
              <a:buChar char="•"/>
              <a:defRPr/>
            </a:pPr>
            <a:r>
              <a:rPr lang="zh-CN" altLang="en-US" sz="2000" dirty="0">
                <a:latin typeface="宋体" pitchFamily="2" charset="-122"/>
              </a:rPr>
              <a:t>贝叶斯网络又名：</a:t>
            </a:r>
            <a:r>
              <a:rPr lang="zh-CN" altLang="en-US" sz="2000" dirty="0">
                <a:latin typeface="+mn-lt"/>
              </a:rPr>
              <a:t>信念网</a:t>
            </a:r>
            <a:r>
              <a:rPr lang="en-US" altLang="zh-CN" sz="2000" dirty="0">
                <a:latin typeface="+mn-lt"/>
              </a:rPr>
              <a:t>(Belief Network)</a:t>
            </a:r>
            <a:r>
              <a:rPr lang="zh-CN" altLang="en-US" sz="2000" dirty="0">
                <a:latin typeface="+mn-lt"/>
              </a:rPr>
              <a:t>、概率网络</a:t>
            </a:r>
            <a:r>
              <a:rPr lang="en-US" altLang="zh-CN" sz="2000" dirty="0">
                <a:latin typeface="+mn-lt"/>
              </a:rPr>
              <a:t>(Probability Network)</a:t>
            </a:r>
            <a:r>
              <a:rPr lang="zh-CN" altLang="en-US" sz="2000" dirty="0">
                <a:latin typeface="+mn-lt"/>
              </a:rPr>
              <a:t>、因果网络</a:t>
            </a:r>
            <a:r>
              <a:rPr lang="en-US" altLang="zh-CN" sz="2000" dirty="0">
                <a:latin typeface="+mn-lt"/>
              </a:rPr>
              <a:t>(Causal Network)</a:t>
            </a:r>
            <a:r>
              <a:rPr lang="zh-CN" altLang="en-US" sz="2000" dirty="0">
                <a:latin typeface="+mn-lt"/>
              </a:rPr>
              <a:t>、图模型</a:t>
            </a:r>
            <a:r>
              <a:rPr lang="en-US" altLang="zh-CN" sz="2000" dirty="0">
                <a:latin typeface="+mn-lt"/>
              </a:rPr>
              <a:t>(Graphical Model)</a:t>
            </a:r>
            <a:r>
              <a:rPr lang="zh-CN" altLang="en-US" sz="2000" dirty="0">
                <a:latin typeface="+mn-lt"/>
              </a:rPr>
              <a:t>或概率图模型</a:t>
            </a:r>
            <a:r>
              <a:rPr lang="en-US" altLang="zh-CN" sz="2000" dirty="0">
                <a:latin typeface="+mn-lt"/>
              </a:rPr>
              <a:t>(PGM)</a:t>
            </a:r>
            <a:r>
              <a:rPr lang="zh-CN" altLang="en-US" sz="2000" dirty="0">
                <a:latin typeface="+mn-lt"/>
              </a:rPr>
              <a:t>、决策网络</a:t>
            </a:r>
            <a:r>
              <a:rPr lang="en-US" altLang="zh-CN" sz="2000" dirty="0">
                <a:latin typeface="+mn-lt"/>
              </a:rPr>
              <a:t>(Decision Network)</a:t>
            </a:r>
            <a:r>
              <a:rPr lang="zh-CN" altLang="en-US" sz="2000" dirty="0">
                <a:latin typeface="+mn-lt"/>
              </a:rPr>
              <a:t>、影响图</a:t>
            </a:r>
            <a:r>
              <a:rPr lang="en-US" altLang="zh-CN" sz="2000" dirty="0">
                <a:latin typeface="+mn-lt"/>
              </a:rPr>
              <a:t>(Influence Diagram)</a:t>
            </a:r>
            <a:r>
              <a:rPr lang="zh-CN" altLang="en-US" sz="2000" dirty="0">
                <a:latin typeface="+mn-lt"/>
              </a:rPr>
              <a:t>、知识图</a:t>
            </a:r>
            <a:r>
              <a:rPr lang="en-US" altLang="zh-CN" sz="2000" dirty="0">
                <a:latin typeface="+mn-lt"/>
              </a:rPr>
              <a:t>(Knowledge Map)</a:t>
            </a:r>
          </a:p>
          <a:p>
            <a:pPr marL="342900" indent="-342900" eaLnBrk="0" hangingPunct="0">
              <a:spcBef>
                <a:spcPct val="20000"/>
              </a:spcBef>
              <a:buFont typeface="Arial" pitchFamily="34" charset="0"/>
              <a:buChar char="•"/>
              <a:defRPr/>
            </a:pPr>
            <a:endParaRPr lang="en-US" altLang="zh-CN" sz="2000" dirty="0">
              <a:latin typeface="+mn-lt"/>
            </a:endParaRPr>
          </a:p>
          <a:p>
            <a:pPr marL="342900" indent="-342900" eaLnBrk="0" hangingPunct="0">
              <a:spcBef>
                <a:spcPct val="20000"/>
              </a:spcBef>
              <a:buFont typeface="Arial" pitchFamily="34" charset="0"/>
              <a:buChar char="•"/>
              <a:defRPr/>
            </a:pPr>
            <a:r>
              <a:rPr lang="zh-CN" altLang="en-US" sz="2000" dirty="0">
                <a:latin typeface="+mn-lt"/>
              </a:rPr>
              <a:t>贝叶斯网络作为不确定性知识表示的理想模型，具有以下主要特点：</a:t>
            </a:r>
          </a:p>
          <a:p>
            <a:pPr marL="342900" indent="-342900" eaLnBrk="0" hangingPunct="0">
              <a:spcBef>
                <a:spcPct val="20000"/>
              </a:spcBef>
              <a:buFont typeface="Wingdings" pitchFamily="2" charset="2"/>
              <a:buNone/>
              <a:defRPr/>
            </a:pPr>
            <a:r>
              <a:rPr lang="zh-CN" altLang="en-US" sz="3200" dirty="0">
                <a:latin typeface="+mn-lt"/>
                <a:ea typeface="+mn-ea"/>
              </a:rPr>
              <a:t>    </a:t>
            </a:r>
            <a:r>
              <a:rPr lang="en-US" altLang="zh-CN" sz="2000" dirty="0">
                <a:latin typeface="宋体" pitchFamily="2" charset="-122"/>
              </a:rPr>
              <a:t>1.</a:t>
            </a:r>
            <a:r>
              <a:rPr lang="zh-CN" altLang="en-US" sz="2000" dirty="0">
                <a:latin typeface="宋体" pitchFamily="2" charset="-122"/>
              </a:rPr>
              <a:t>具有坚实的数学基础：贝叶斯理论是贝叶斯概率和经典的统计学理论相结合的结果，它给出了信任函数在数学上的计算方法，刻画了信任度与样本数据的一致性以及信任度随数据而变化的增量学习特性，长期的理论研究和实践应用，证明了其有效性和正确性。</a:t>
            </a:r>
          </a:p>
          <a:p>
            <a:pPr marL="342900" indent="-342900" eaLnBrk="0" hangingPunct="0">
              <a:spcBef>
                <a:spcPct val="20000"/>
              </a:spcBef>
              <a:buFont typeface="Wingdings" pitchFamily="2" charset="2"/>
              <a:buNone/>
              <a:defRPr/>
            </a:pPr>
            <a:r>
              <a:rPr lang="zh-CN" altLang="en-US" sz="2000" dirty="0">
                <a:latin typeface="宋体" pitchFamily="2" charset="-122"/>
              </a:rPr>
              <a:t>    </a:t>
            </a:r>
            <a:r>
              <a:rPr lang="en-US" altLang="zh-CN" sz="2000" dirty="0">
                <a:latin typeface="宋体" pitchFamily="2" charset="-122"/>
              </a:rPr>
              <a:t>2.</a:t>
            </a:r>
            <a:r>
              <a:rPr lang="zh-CN" altLang="en-US" sz="2000" dirty="0">
                <a:latin typeface="+mn-lt"/>
              </a:rPr>
              <a:t>贝叶斯网络是有向无循环图，能够清晰和直观地显示变量之间的因果关系。</a:t>
            </a:r>
          </a:p>
          <a:p>
            <a:pPr marL="342900" indent="-342900" eaLnBrk="0" hangingPunct="0">
              <a:spcBef>
                <a:spcPct val="20000"/>
              </a:spcBef>
              <a:buFont typeface="Wingdings" pitchFamily="2" charset="2"/>
              <a:buNone/>
              <a:defRPr/>
            </a:pPr>
            <a:r>
              <a:rPr lang="zh-CN" altLang="en-US" sz="2000" dirty="0">
                <a:latin typeface="+mn-lt"/>
              </a:rPr>
              <a:t>       </a:t>
            </a:r>
            <a:r>
              <a:rPr lang="en-US" altLang="zh-CN" sz="2000" dirty="0">
                <a:latin typeface="+mn-lt"/>
              </a:rPr>
              <a:t>3.</a:t>
            </a:r>
            <a:r>
              <a:rPr lang="zh-CN" altLang="en-US" sz="2000" dirty="0">
                <a:latin typeface="+mn-lt"/>
              </a:rPr>
              <a:t>贝叶斯网络可以图形化表示随机变量间的联合概率，利用概率理论能够处理各种不确定性信息。</a:t>
            </a:r>
          </a:p>
          <a:p>
            <a:pPr marL="342900" indent="-342900" eaLnBrk="0" hangingPunct="0">
              <a:spcBef>
                <a:spcPct val="20000"/>
              </a:spcBef>
              <a:buFont typeface="Wingdings" pitchFamily="2" charset="2"/>
              <a:buNone/>
              <a:defRPr/>
            </a:pPr>
            <a:r>
              <a:rPr lang="zh-CN" altLang="en-US" sz="2000" dirty="0">
                <a:latin typeface="+mn-lt"/>
              </a:rPr>
              <a:t>       </a:t>
            </a:r>
            <a:r>
              <a:rPr lang="en-US" altLang="zh-CN" sz="2000" dirty="0">
                <a:latin typeface="+mn-lt"/>
              </a:rPr>
              <a:t>4. </a:t>
            </a:r>
            <a:r>
              <a:rPr lang="zh-CN" altLang="en-US" sz="2000" dirty="0">
                <a:latin typeface="+mn-lt"/>
              </a:rPr>
              <a:t>贝叶斯网络可以处理不完整和带噪音的数据集。</a:t>
            </a:r>
            <a:r>
              <a:rPr lang="zh-CN" altLang="en-US" sz="3200" dirty="0">
                <a:latin typeface="+mn-lt"/>
                <a:ea typeface="+mn-ea"/>
              </a:rPr>
              <a:t> </a:t>
            </a:r>
          </a:p>
        </p:txBody>
      </p:sp>
      <p:sp>
        <p:nvSpPr>
          <p:cNvPr id="66563" name="TextBox 3"/>
          <p:cNvSpPr txBox="1">
            <a:spLocks noChangeArrowheads="1"/>
          </p:cNvSpPr>
          <p:nvPr/>
        </p:nvSpPr>
        <p:spPr bwMode="auto">
          <a:xfrm>
            <a:off x="1714500" y="142875"/>
            <a:ext cx="4699000"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贝叶斯网络的特点</a:t>
            </a:r>
          </a:p>
        </p:txBody>
      </p: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TextBox 1"/>
          <p:cNvSpPr txBox="1">
            <a:spLocks noChangeArrowheads="1"/>
          </p:cNvSpPr>
          <p:nvPr/>
        </p:nvSpPr>
        <p:spPr bwMode="auto">
          <a:xfrm>
            <a:off x="1714500" y="142875"/>
            <a:ext cx="58277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贝叶斯网络的研究现状</a:t>
            </a:r>
          </a:p>
        </p:txBody>
      </p:sp>
      <p:sp>
        <p:nvSpPr>
          <p:cNvPr id="67587" name="Rectangle 3"/>
          <p:cNvSpPr txBox="1">
            <a:spLocks noChangeArrowheads="1"/>
          </p:cNvSpPr>
          <p:nvPr/>
        </p:nvSpPr>
        <p:spPr bwMode="auto">
          <a:xfrm>
            <a:off x="250825" y="908050"/>
            <a:ext cx="8642350" cy="5400675"/>
          </a:xfrm>
          <a:prstGeom prst="rect">
            <a:avLst/>
          </a:prstGeom>
          <a:noFill/>
          <a:ln w="9525">
            <a:noFill/>
            <a:miter lim="800000"/>
            <a:headEnd/>
            <a:tailEnd/>
          </a:ln>
        </p:spPr>
        <p:txBody>
          <a:bodyPr/>
          <a:lstStyle/>
          <a:p>
            <a:pPr marL="342900" indent="-342900" eaLnBrk="0" hangingPunct="0">
              <a:lnSpc>
                <a:spcPct val="150000"/>
              </a:lnSpc>
              <a:spcBef>
                <a:spcPct val="20000"/>
              </a:spcBef>
              <a:buFont typeface="Arial" pitchFamily="34" charset="0"/>
              <a:buChar char="•"/>
            </a:pPr>
            <a:r>
              <a:rPr lang="en-US" altLang="zh-CN" sz="2000">
                <a:latin typeface="宋体" pitchFamily="2" charset="-122"/>
              </a:rPr>
              <a:t>20</a:t>
            </a:r>
            <a:r>
              <a:rPr lang="zh-CN" altLang="en-US" sz="2000">
                <a:latin typeface="宋体" pitchFamily="2" charset="-122"/>
              </a:rPr>
              <a:t>世纪</a:t>
            </a:r>
            <a:r>
              <a:rPr lang="en-US" altLang="zh-CN" sz="2000">
                <a:latin typeface="宋体" pitchFamily="2" charset="-122"/>
              </a:rPr>
              <a:t>80</a:t>
            </a:r>
            <a:r>
              <a:rPr lang="zh-CN" altLang="en-US" sz="2000">
                <a:latin typeface="宋体" pitchFamily="2" charset="-122"/>
              </a:rPr>
              <a:t>年代，随着人工智能的发展，尤其是机器学习、数据挖掘等兴起，为贝叶斯理论的发展和应用提供了更为广阔的空间。</a:t>
            </a:r>
            <a:r>
              <a:rPr lang="en-US" altLang="zh-CN" sz="2000">
                <a:latin typeface="宋体" pitchFamily="2" charset="-122"/>
              </a:rPr>
              <a:t>Pearl</a:t>
            </a:r>
            <a:r>
              <a:rPr lang="zh-CN" altLang="en-US" sz="2000">
                <a:latin typeface="宋体" pitchFamily="2" charset="-122"/>
              </a:rPr>
              <a:t>等于</a:t>
            </a:r>
            <a:r>
              <a:rPr lang="en-US" altLang="zh-CN" sz="2000">
                <a:latin typeface="宋体" pitchFamily="2" charset="-122"/>
              </a:rPr>
              <a:t>1988</a:t>
            </a:r>
            <a:r>
              <a:rPr lang="zh-CN" altLang="en-US" sz="2000">
                <a:latin typeface="宋体" pitchFamily="2" charset="-122"/>
              </a:rPr>
              <a:t>年提出贝叶斯网络，并将贝叶斯网络成功地应用于专家系统，成为不确定专家知识和推理的流行方法，</a:t>
            </a:r>
            <a:r>
              <a:rPr lang="en-US" altLang="zh-CN" sz="2000">
                <a:latin typeface="宋体" pitchFamily="2" charset="-122"/>
                <a:cs typeface="Times New Roman" pitchFamily="18" charset="0"/>
              </a:rPr>
              <a:t>90</a:t>
            </a:r>
            <a:r>
              <a:rPr lang="zh-CN" altLang="en-US" sz="2000">
                <a:latin typeface="宋体" pitchFamily="2" charset="-122"/>
              </a:rPr>
              <a:t>年代进一步研究可学习的贝叶斯网络，用于数据采掘和机器学习，近年来，贝叶斯学习理论方面的文章更是层出不穷，内容涵盖了人工智能的大部分领域，包括因果推理、不确定性知识表达、模式识别和聚类分析等。并且出现了专门研究贝叶斯理论的组织和学术刊物</a:t>
            </a:r>
            <a:r>
              <a:rPr lang="en-US" altLang="zh-CN" sz="2000">
                <a:latin typeface="宋体" pitchFamily="2" charset="-122"/>
              </a:rPr>
              <a:t>ISBA</a:t>
            </a:r>
            <a:r>
              <a:rPr lang="zh-CN" altLang="en-US" sz="2000">
                <a:latin typeface="宋体" pitchFamily="2" charset="-122"/>
              </a:rPr>
              <a:t>。随着人工智能的发展，贝叶斯理论的内涵也比以前有了很大的变化。</a:t>
            </a:r>
          </a:p>
          <a:p>
            <a:pPr marL="342900" indent="-342900" eaLnBrk="0" hangingPunct="0">
              <a:lnSpc>
                <a:spcPct val="150000"/>
              </a:lnSpc>
              <a:spcBef>
                <a:spcPct val="20000"/>
              </a:spcBef>
              <a:buFont typeface="Arial" pitchFamily="34" charset="0"/>
              <a:buChar char="•"/>
            </a:pPr>
            <a:r>
              <a:rPr lang="zh-CN" altLang="en-US" sz="2000">
                <a:latin typeface="宋体" pitchFamily="2" charset="-122"/>
              </a:rPr>
              <a:t>目前，贝叶斯网络研究领域主要集中在以下四个方面：贝叶斯网络的学习、利用贝叶斯网络进行推理，计算和基于贝叶斯网络的应用。</a:t>
            </a:r>
          </a:p>
          <a:p>
            <a:pPr marL="342900" indent="-342900" eaLnBrk="0" hangingPunct="0">
              <a:lnSpc>
                <a:spcPct val="150000"/>
              </a:lnSpc>
              <a:spcBef>
                <a:spcPct val="20000"/>
              </a:spcBef>
            </a:pPr>
            <a:endParaRPr lang="zh-CN" altLang="en-US" sz="2000">
              <a:latin typeface="宋体" pitchFamily="2" charset="-122"/>
            </a:endParaRPr>
          </a:p>
        </p:txBody>
      </p:sp>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TextBox 1"/>
          <p:cNvSpPr txBox="1">
            <a:spLocks noChangeArrowheads="1"/>
          </p:cNvSpPr>
          <p:nvPr/>
        </p:nvSpPr>
        <p:spPr bwMode="auto">
          <a:xfrm>
            <a:off x="1714500" y="142875"/>
            <a:ext cx="5556250" cy="769938"/>
          </a:xfrm>
          <a:prstGeom prst="rect">
            <a:avLst/>
          </a:prstGeom>
          <a:solidFill>
            <a:srgbClr val="00B0F0"/>
          </a:solidFill>
          <a:ln w="9525">
            <a:noFill/>
            <a:miter lim="800000"/>
            <a:headEnd/>
            <a:tailEnd/>
          </a:ln>
        </p:spPr>
        <p:txBody>
          <a:bodyPr wrap="none">
            <a:spAutoFit/>
          </a:bodyPr>
          <a:lstStyle/>
          <a:p>
            <a:r>
              <a:rPr lang="en-US" altLang="zh-CN" sz="4400" b="1">
                <a:latin typeface="微软雅黑" pitchFamily="34" charset="-122"/>
                <a:ea typeface="微软雅黑" pitchFamily="34" charset="-122"/>
              </a:rPr>
              <a:t>2.2</a:t>
            </a:r>
            <a:r>
              <a:rPr lang="zh-CN" altLang="en-US" sz="4400" b="1">
                <a:latin typeface="微软雅黑" pitchFamily="34" charset="-122"/>
                <a:ea typeface="微软雅黑" pitchFamily="34" charset="-122"/>
              </a:rPr>
              <a:t>贝叶斯网络的学习</a:t>
            </a:r>
          </a:p>
        </p:txBody>
      </p:sp>
      <p:pic>
        <p:nvPicPr>
          <p:cNvPr id="68611" name="Picture 3"/>
          <p:cNvPicPr>
            <a:picLocks noChangeAspect="1" noChangeArrowheads="1"/>
          </p:cNvPicPr>
          <p:nvPr/>
        </p:nvPicPr>
        <p:blipFill>
          <a:blip r:embed="rId2"/>
          <a:srcRect/>
          <a:stretch>
            <a:fillRect/>
          </a:stretch>
        </p:blipFill>
        <p:spPr bwMode="auto">
          <a:xfrm>
            <a:off x="642938" y="1071563"/>
            <a:ext cx="7429500" cy="3624262"/>
          </a:xfrm>
          <a:prstGeom prst="rect">
            <a:avLst/>
          </a:prstGeom>
          <a:noFill/>
          <a:ln w="12700">
            <a:noFill/>
            <a:miter lim="800000"/>
            <a:headEnd/>
            <a:tailEnd/>
          </a:ln>
        </p:spPr>
      </p:pic>
      <p:sp>
        <p:nvSpPr>
          <p:cNvPr id="4" name="Rectangle 3"/>
          <p:cNvSpPr txBox="1">
            <a:spLocks noChangeArrowheads="1"/>
          </p:cNvSpPr>
          <p:nvPr/>
        </p:nvSpPr>
        <p:spPr>
          <a:xfrm>
            <a:off x="628650" y="5200650"/>
            <a:ext cx="7772400" cy="1470025"/>
          </a:xfrm>
          <a:prstGeom prst="rect">
            <a:avLst/>
          </a:prstGeom>
        </p:spPr>
        <p:txBody>
          <a:bodyPr/>
          <a:lstStyle/>
          <a:p>
            <a:pPr marL="342900" indent="-342900" eaLnBrk="0" hangingPunct="0">
              <a:spcBef>
                <a:spcPct val="20000"/>
              </a:spcBef>
              <a:defRPr/>
            </a:pPr>
            <a:r>
              <a:rPr lang="en-US" altLang="zh-CN" sz="2800" dirty="0">
                <a:latin typeface="+mn-lt"/>
              </a:rPr>
              <a:t>1. </a:t>
            </a:r>
            <a:r>
              <a:rPr lang="zh-CN" altLang="en-US" sz="2800" dirty="0">
                <a:latin typeface="+mn-lt"/>
              </a:rPr>
              <a:t>结构学习：发现变量之间的图关系 </a:t>
            </a:r>
          </a:p>
          <a:p>
            <a:pPr marL="342900" indent="-342900" eaLnBrk="0" hangingPunct="0">
              <a:spcBef>
                <a:spcPct val="20000"/>
              </a:spcBef>
              <a:defRPr/>
            </a:pPr>
            <a:r>
              <a:rPr lang="en-US" altLang="zh-CN" sz="2800" dirty="0">
                <a:latin typeface="+mn-lt"/>
              </a:rPr>
              <a:t>2 .</a:t>
            </a:r>
            <a:r>
              <a:rPr lang="zh-CN" altLang="en-US" sz="2800" dirty="0">
                <a:latin typeface="+mn-lt"/>
              </a:rPr>
              <a:t>参数学习：决定变量之间互相关联的量化关系 </a:t>
            </a:r>
            <a:endParaRPr lang="en-US" altLang="zh-CN" sz="2800" dirty="0">
              <a:latin typeface="+mn-lt"/>
            </a:endParaRPr>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3"/>
          <p:cNvSpPr txBox="1">
            <a:spLocks noChangeArrowheads="1"/>
          </p:cNvSpPr>
          <p:nvPr/>
        </p:nvSpPr>
        <p:spPr>
          <a:xfrm>
            <a:off x="0" y="0"/>
            <a:ext cx="8642350" cy="6858000"/>
          </a:xfrm>
          <a:prstGeom prst="rect">
            <a:avLst/>
          </a:prstGeom>
        </p:spPr>
        <p:txBody>
          <a:bodyPr/>
          <a:lstStyle/>
          <a:p>
            <a:pPr marL="342900" indent="-342900" eaLnBrk="0" hangingPunct="0">
              <a:lnSpc>
                <a:spcPct val="150000"/>
              </a:lnSpc>
              <a:spcBef>
                <a:spcPct val="20000"/>
              </a:spcBef>
              <a:buFont typeface="Arial" pitchFamily="34" charset="0"/>
              <a:buChar char="•"/>
              <a:defRPr/>
            </a:pPr>
            <a:r>
              <a:rPr lang="zh-CN" altLang="en-US" dirty="0">
                <a:latin typeface="+mn-lt"/>
              </a:rPr>
              <a:t>贝叶斯网络的学习是指从大量的样本数据集或应用领域中构造贝叶斯网络，主要涉及三个步骤：分辨出所要建模领域中具有重要性变量的所有可能取值，并以节点表示；判断节点间的依赖或独立关系，并以图方式表示；获得网络定量部分所需要的概率参数。即结构学习和参数学习。</a:t>
            </a:r>
          </a:p>
          <a:p>
            <a:pPr marL="342900" indent="-342900" eaLnBrk="0" hangingPunct="0">
              <a:lnSpc>
                <a:spcPct val="150000"/>
              </a:lnSpc>
              <a:spcBef>
                <a:spcPct val="20000"/>
              </a:spcBef>
              <a:buFont typeface="Arial" pitchFamily="34" charset="0"/>
              <a:buChar char="•"/>
              <a:defRPr/>
            </a:pPr>
            <a:endParaRPr lang="zh-CN" altLang="en-US" dirty="0">
              <a:latin typeface="+mn-lt"/>
            </a:endParaRPr>
          </a:p>
          <a:p>
            <a:pPr marL="342900" indent="-342900" eaLnBrk="0" hangingPunct="0">
              <a:lnSpc>
                <a:spcPct val="150000"/>
              </a:lnSpc>
              <a:spcBef>
                <a:spcPct val="20000"/>
              </a:spcBef>
              <a:buFont typeface="Arial" pitchFamily="34" charset="0"/>
              <a:buChar char="•"/>
              <a:defRPr/>
            </a:pPr>
            <a:r>
              <a:rPr lang="zh-CN" altLang="en-US" dirty="0">
                <a:latin typeface="+mn-lt"/>
              </a:rPr>
              <a:t>参数学习是在给定贝叶斯网络拓扑结构的情况下，确定各节点处的条件概率，分为完备数据集下的参数学习和缺失数据集下的参数学习；</a:t>
            </a:r>
          </a:p>
          <a:p>
            <a:pPr marL="342900" indent="-342900" eaLnBrk="0" hangingPunct="0">
              <a:lnSpc>
                <a:spcPct val="150000"/>
              </a:lnSpc>
              <a:spcBef>
                <a:spcPct val="20000"/>
              </a:spcBef>
              <a:buFont typeface="Arial" pitchFamily="34" charset="0"/>
              <a:buChar char="•"/>
              <a:defRPr/>
            </a:pPr>
            <a:endParaRPr lang="zh-CN" altLang="en-US" dirty="0">
              <a:latin typeface="+mn-lt"/>
            </a:endParaRPr>
          </a:p>
          <a:p>
            <a:pPr marL="342900" indent="-342900" eaLnBrk="0" hangingPunct="0">
              <a:lnSpc>
                <a:spcPct val="150000"/>
              </a:lnSpc>
              <a:spcBef>
                <a:spcPct val="20000"/>
              </a:spcBef>
              <a:buFont typeface="Arial" pitchFamily="34" charset="0"/>
              <a:buChar char="•"/>
              <a:defRPr/>
            </a:pPr>
            <a:r>
              <a:rPr lang="zh-CN" altLang="en-US" dirty="0">
                <a:latin typeface="+mn-lt"/>
              </a:rPr>
              <a:t>结构学习的方法有两种，一种是通过咨询专家进行手工构造，一种是利用计算机从数据集中学习。前者一般不采用，因为当数据量较大时，仅仅依赖于专家知识构造网络是费时费力，甚至是不可能的。因此国内外的学者主要兴趣集中在如何从数据中学习贝叶斯网，并且根据网络结构和数据集就可以确定参数，因此网络结构学习是贝叶斯网络学习的核心，成为当今的一个热门研究领域。</a:t>
            </a:r>
          </a:p>
          <a:p>
            <a:pPr marL="342900" indent="-342900" eaLnBrk="0" hangingPunct="0">
              <a:lnSpc>
                <a:spcPct val="150000"/>
              </a:lnSpc>
              <a:spcBef>
                <a:spcPct val="20000"/>
              </a:spcBef>
              <a:defRPr/>
            </a:pPr>
            <a:r>
              <a:rPr lang="zh-CN" altLang="en-US" sz="2100" dirty="0">
                <a:latin typeface="+mn-lt"/>
              </a:rPr>
              <a:t> </a:t>
            </a:r>
            <a:endParaRPr lang="zh-CN" altLang="en-US" sz="2000" dirty="0">
              <a:latin typeface="+mn-lt"/>
            </a:endParaRPr>
          </a:p>
          <a:p>
            <a:pPr marL="342900" indent="-342900" eaLnBrk="0" hangingPunct="0">
              <a:lnSpc>
                <a:spcPct val="150000"/>
              </a:lnSpc>
              <a:spcBef>
                <a:spcPct val="20000"/>
              </a:spcBef>
              <a:buFont typeface="Arial" pitchFamily="34" charset="0"/>
              <a:buChar char="•"/>
              <a:defRPr/>
            </a:pPr>
            <a:endParaRPr lang="en-US" altLang="zh-CN" sz="1600" dirty="0">
              <a:latin typeface="+mn-lt"/>
            </a:endParaRP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TextBox 1"/>
          <p:cNvSpPr txBox="1">
            <a:spLocks noChangeArrowheads="1"/>
          </p:cNvSpPr>
          <p:nvPr/>
        </p:nvSpPr>
        <p:spPr bwMode="auto">
          <a:xfrm>
            <a:off x="1714500" y="142875"/>
            <a:ext cx="526256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贝叶斯网络结构学习</a:t>
            </a:r>
          </a:p>
        </p:txBody>
      </p:sp>
      <p:sp>
        <p:nvSpPr>
          <p:cNvPr id="3" name="Rectangle 3"/>
          <p:cNvSpPr txBox="1">
            <a:spLocks noChangeArrowheads="1"/>
          </p:cNvSpPr>
          <p:nvPr/>
        </p:nvSpPr>
        <p:spPr>
          <a:xfrm>
            <a:off x="250825" y="908050"/>
            <a:ext cx="8642350" cy="5400675"/>
          </a:xfrm>
          <a:prstGeom prst="rect">
            <a:avLst/>
          </a:prstGeom>
        </p:spPr>
        <p:txBody>
          <a:bodyPr/>
          <a:lstStyle/>
          <a:p>
            <a:pPr marL="342900" indent="-342900" eaLnBrk="0" hangingPunct="0">
              <a:spcBef>
                <a:spcPct val="20000"/>
              </a:spcBef>
              <a:buFont typeface="Arial" pitchFamily="34" charset="0"/>
              <a:buChar char="•"/>
              <a:defRPr/>
            </a:pPr>
            <a:r>
              <a:rPr lang="zh-CN" altLang="en-US" sz="2000" dirty="0">
                <a:latin typeface="+mn-lt"/>
              </a:rPr>
              <a:t>结构学习是利用训练样本集，尽可能结合先验知识，确定和样本数据集合</a:t>
            </a:r>
            <a:r>
              <a:rPr lang="en-US" altLang="zh-CN" sz="2000" dirty="0">
                <a:latin typeface="+mn-lt"/>
              </a:rPr>
              <a:t>D</a:t>
            </a:r>
            <a:r>
              <a:rPr lang="zh-CN" altLang="en-US" sz="2000" dirty="0">
                <a:latin typeface="+mn-lt"/>
              </a:rPr>
              <a:t>匹配最好的的贝叶斯网络拓扑结构；对于含有</a:t>
            </a:r>
            <a:r>
              <a:rPr lang="en-US" altLang="zh-CN" sz="2000" i="1" dirty="0">
                <a:latin typeface="+mn-lt"/>
              </a:rPr>
              <a:t>n</a:t>
            </a:r>
            <a:r>
              <a:rPr lang="zh-CN" altLang="en-US" sz="2000" dirty="0">
                <a:latin typeface="+mn-lt"/>
              </a:rPr>
              <a:t>个变量的数据集进行网络结构学习，可能的结构数目为：</a:t>
            </a: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r>
              <a:rPr lang="zh-CN" altLang="en-US" sz="2000" dirty="0">
                <a:latin typeface="+mn-lt"/>
              </a:rPr>
              <a:t>因此贝叶斯网络结构的学习是一个</a:t>
            </a:r>
            <a:r>
              <a:rPr lang="en-US" altLang="zh-CN" sz="2000" dirty="0">
                <a:latin typeface="+mn-lt"/>
              </a:rPr>
              <a:t>NP</a:t>
            </a:r>
            <a:r>
              <a:rPr lang="zh-CN" altLang="en-US" sz="2000" dirty="0">
                <a:latin typeface="+mn-lt"/>
              </a:rPr>
              <a:t>难问题。</a:t>
            </a:r>
            <a:endParaRPr lang="en-US" altLang="zh-CN" sz="2000" dirty="0">
              <a:latin typeface="+mn-lt"/>
            </a:endParaRPr>
          </a:p>
          <a:p>
            <a:pPr marL="342900" indent="-342900" eaLnBrk="0" hangingPunct="0">
              <a:spcBef>
                <a:spcPct val="20000"/>
              </a:spcBef>
              <a:buFont typeface="Arial" pitchFamily="34" charset="0"/>
              <a:buChar char="•"/>
              <a:defRPr/>
            </a:pPr>
            <a:r>
              <a:rPr lang="zh-CN" altLang="en-US" dirty="0"/>
              <a:t>在计算机学科中，存在多项式时间的算法的一类问题，称之为</a:t>
            </a:r>
            <a:r>
              <a:rPr lang="en-US" altLang="zh-CN" dirty="0"/>
              <a:t>P</a:t>
            </a:r>
            <a:r>
              <a:rPr lang="zh-CN" altLang="en-US" dirty="0"/>
              <a:t>类问题；而像梵塔问题、推销员旅行问题、（命题表达式）可满足问题这类，至今没有找到多项式时间算法解的一类问题，称之为</a:t>
            </a:r>
            <a:r>
              <a:rPr lang="en-US" altLang="zh-CN" dirty="0"/>
              <a:t>NP</a:t>
            </a:r>
            <a:r>
              <a:rPr lang="zh-CN" altLang="en-US" dirty="0"/>
              <a:t>类问题。</a:t>
            </a:r>
            <a:endParaRPr lang="zh-CN" altLang="en-US" dirty="0">
              <a:latin typeface="+mn-lt"/>
            </a:endParaRPr>
          </a:p>
          <a:p>
            <a:pPr marL="342900" indent="-342900" eaLnBrk="0" hangingPunct="0">
              <a:spcBef>
                <a:spcPct val="20000"/>
              </a:spcBef>
              <a:buFont typeface="Arial" pitchFamily="34" charset="0"/>
              <a:buChar char="•"/>
              <a:defRPr/>
            </a:pPr>
            <a:r>
              <a:rPr lang="zh-CN" altLang="en-US" sz="2000" dirty="0">
                <a:latin typeface="+mn-lt"/>
              </a:rPr>
              <a:t>目前贝叶斯网络结构学习方法主要分成两类：基于搜索和评分的方法</a:t>
            </a:r>
            <a:r>
              <a:rPr lang="en-US" altLang="zh-CN" sz="2000" dirty="0">
                <a:latin typeface="+mn-lt"/>
              </a:rPr>
              <a:t>(score and search method</a:t>
            </a:r>
            <a:r>
              <a:rPr lang="zh-CN" altLang="en-US" sz="2000" dirty="0">
                <a:latin typeface="+mn-lt"/>
              </a:rPr>
              <a:t>）；基于约束的方法</a:t>
            </a:r>
            <a:r>
              <a:rPr lang="en-US" altLang="zh-CN" sz="2000" dirty="0">
                <a:latin typeface="+mn-lt"/>
              </a:rPr>
              <a:t>(constraint-based method).</a:t>
            </a:r>
          </a:p>
          <a:p>
            <a:pPr marL="342900" indent="-342900" eaLnBrk="0" hangingPunct="0">
              <a:spcBef>
                <a:spcPct val="20000"/>
              </a:spcBef>
              <a:buFont typeface="Arial" pitchFamily="34" charset="0"/>
              <a:buChar char="•"/>
              <a:defRPr/>
            </a:pPr>
            <a:endParaRPr lang="en-US" altLang="zh-CN" sz="2000" dirty="0">
              <a:latin typeface="+mn-lt"/>
            </a:endParaRPr>
          </a:p>
        </p:txBody>
      </p:sp>
      <p:pic>
        <p:nvPicPr>
          <p:cNvPr id="70660" name="Picture 4"/>
          <p:cNvPicPr>
            <a:picLocks noChangeAspect="1" noChangeArrowheads="1"/>
          </p:cNvPicPr>
          <p:nvPr/>
        </p:nvPicPr>
        <p:blipFill>
          <a:blip r:embed="rId2"/>
          <a:srcRect/>
          <a:stretch>
            <a:fillRect/>
          </a:stretch>
        </p:blipFill>
        <p:spPr bwMode="auto">
          <a:xfrm>
            <a:off x="900113" y="1989138"/>
            <a:ext cx="6842125" cy="1184275"/>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TextBox 1"/>
          <p:cNvSpPr txBox="1">
            <a:spLocks noChangeArrowheads="1"/>
          </p:cNvSpPr>
          <p:nvPr/>
        </p:nvSpPr>
        <p:spPr bwMode="auto">
          <a:xfrm>
            <a:off x="1714500" y="142875"/>
            <a:ext cx="58277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基于评分和搜索的方法</a:t>
            </a:r>
          </a:p>
        </p:txBody>
      </p:sp>
      <p:sp>
        <p:nvSpPr>
          <p:cNvPr id="3" name="Rectangle 3"/>
          <p:cNvSpPr txBox="1">
            <a:spLocks noChangeArrowheads="1"/>
          </p:cNvSpPr>
          <p:nvPr/>
        </p:nvSpPr>
        <p:spPr>
          <a:xfrm>
            <a:off x="250825" y="908050"/>
            <a:ext cx="8642350" cy="5400675"/>
          </a:xfrm>
          <a:prstGeom prst="rect">
            <a:avLst/>
          </a:prstGeom>
        </p:spPr>
        <p:txBody>
          <a:bodyPr/>
          <a:lstStyle/>
          <a:p>
            <a:pPr marL="342900" indent="-342900" eaLnBrk="0" hangingPunct="0">
              <a:spcBef>
                <a:spcPct val="20000"/>
              </a:spcBef>
              <a:buFont typeface="Arial" pitchFamily="34" charset="0"/>
              <a:buChar char="•"/>
              <a:defRPr/>
            </a:pPr>
            <a:r>
              <a:rPr lang="zh-CN" altLang="en-US" sz="2000" dirty="0">
                <a:latin typeface="+mn-lt"/>
              </a:rPr>
              <a:t>将结构学习视为结构优化的过程，即利用一个评分函数寻找与样本数据匹配程度最高的网络结构</a:t>
            </a:r>
            <a:r>
              <a:rPr lang="zh-CN" altLang="en-US" sz="2000" dirty="0">
                <a:latin typeface="+mn-lt"/>
                <a:ea typeface="+mn-ea"/>
              </a:rPr>
              <a:t> ，</a:t>
            </a:r>
            <a:r>
              <a:rPr lang="zh-CN" altLang="en-US" sz="2000" dirty="0">
                <a:latin typeface="+mn-lt"/>
              </a:rPr>
              <a:t>即</a:t>
            </a: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endParaRPr lang="zh-CN" altLang="en-US" sz="2000" dirty="0">
              <a:latin typeface="+mn-lt"/>
              <a:ea typeface="+mn-ea"/>
            </a:endParaRPr>
          </a:p>
          <a:p>
            <a:pPr marL="342900" indent="-342900" eaLnBrk="0" hangingPunct="0">
              <a:spcBef>
                <a:spcPct val="20000"/>
              </a:spcBef>
              <a:buFont typeface="Arial" pitchFamily="34" charset="0"/>
              <a:buChar char="•"/>
              <a:defRPr/>
            </a:pPr>
            <a:endParaRPr lang="zh-CN" altLang="en-US" sz="2000" dirty="0">
              <a:latin typeface="+mn-lt"/>
              <a:ea typeface="+mn-ea"/>
            </a:endParaRPr>
          </a:p>
          <a:p>
            <a:pPr marL="342900" indent="-342900" eaLnBrk="0" hangingPunct="0">
              <a:spcBef>
                <a:spcPct val="20000"/>
              </a:spcBef>
              <a:buFont typeface="Arial" pitchFamily="34" charset="0"/>
              <a:buChar char="•"/>
              <a:defRPr/>
            </a:pPr>
            <a:r>
              <a:rPr lang="zh-CN" altLang="en-US" sz="2000" dirty="0">
                <a:latin typeface="+mn-lt"/>
              </a:rPr>
              <a:t>主要由两部分组成：评分函数和空间搜索策略</a:t>
            </a:r>
            <a:r>
              <a:rPr lang="zh-CN" altLang="en-US" sz="2000" dirty="0">
                <a:latin typeface="+mn-lt"/>
                <a:ea typeface="+mn-ea"/>
              </a:rPr>
              <a:t> </a:t>
            </a:r>
          </a:p>
          <a:p>
            <a:pPr marL="342900" indent="-342900" eaLnBrk="0" hangingPunct="0">
              <a:lnSpc>
                <a:spcPct val="150000"/>
              </a:lnSpc>
              <a:spcBef>
                <a:spcPts val="0"/>
              </a:spcBef>
              <a:buFont typeface="Arial" pitchFamily="34" charset="0"/>
              <a:buChar char="•"/>
              <a:defRPr/>
            </a:pPr>
            <a:r>
              <a:rPr lang="zh-CN" altLang="en-US" sz="2000" dirty="0">
                <a:latin typeface="+mn-lt"/>
              </a:rPr>
              <a:t>该算法的主要思想是从一个给定的网络出发</a:t>
            </a:r>
            <a:r>
              <a:rPr lang="en-US" altLang="zh-CN" sz="2000" dirty="0">
                <a:latin typeface="+mn-lt"/>
              </a:rPr>
              <a:t>(</a:t>
            </a:r>
            <a:r>
              <a:rPr lang="zh-CN" altLang="en-US" sz="2000" dirty="0">
                <a:latin typeface="+mn-lt"/>
              </a:rPr>
              <a:t>比如一个没有任何弧的网络</a:t>
            </a:r>
            <a:r>
              <a:rPr lang="en-US" altLang="zh-CN" sz="2000" dirty="0">
                <a:latin typeface="+mn-lt"/>
              </a:rPr>
              <a:t>),</a:t>
            </a:r>
            <a:r>
              <a:rPr lang="zh-CN" altLang="en-US" sz="2000" dirty="0">
                <a:latin typeface="+mn-lt"/>
              </a:rPr>
              <a:t>利用搜索方法对该网络进行一些操作</a:t>
            </a:r>
            <a:r>
              <a:rPr lang="en-US" altLang="zh-CN" sz="2000" dirty="0">
                <a:latin typeface="+mn-lt"/>
              </a:rPr>
              <a:t>(</a:t>
            </a:r>
            <a:r>
              <a:rPr lang="zh-CN" altLang="en-US" sz="2000" dirty="0">
                <a:latin typeface="+mn-lt"/>
              </a:rPr>
              <a:t>增加边，删除边，逆转边的方向</a:t>
            </a:r>
            <a:r>
              <a:rPr lang="en-US" altLang="zh-CN" sz="2000" dirty="0">
                <a:latin typeface="+mn-lt"/>
              </a:rPr>
              <a:t>)</a:t>
            </a:r>
            <a:r>
              <a:rPr lang="zh-CN" altLang="en-US" sz="2000" dirty="0">
                <a:latin typeface="+mn-lt"/>
              </a:rPr>
              <a:t>，根据评分函数对网络进行评分，计算这一操作对网络评分函数的贡献度，检验新的网络结构是否优于旧的网络结构，如果优于则保留新加入的边并继续该操作，直到找到得分最大的网络结构作为最优的网络结构。</a:t>
            </a:r>
            <a:r>
              <a:rPr lang="zh-CN" altLang="en-US" sz="3400" dirty="0">
                <a:latin typeface="+mn-lt"/>
                <a:ea typeface="+mn-ea"/>
              </a:rPr>
              <a:t> </a:t>
            </a:r>
          </a:p>
        </p:txBody>
      </p:sp>
      <p:pic>
        <p:nvPicPr>
          <p:cNvPr id="71684" name="Picture 4"/>
          <p:cNvPicPr>
            <a:picLocks noChangeAspect="1" noChangeArrowheads="1"/>
          </p:cNvPicPr>
          <p:nvPr/>
        </p:nvPicPr>
        <p:blipFill>
          <a:blip r:embed="rId2"/>
          <a:srcRect/>
          <a:stretch>
            <a:fillRect/>
          </a:stretch>
        </p:blipFill>
        <p:spPr bwMode="auto">
          <a:xfrm>
            <a:off x="2627313" y="1700213"/>
            <a:ext cx="3457575" cy="884237"/>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TextBox 1"/>
          <p:cNvSpPr txBox="1">
            <a:spLocks noChangeArrowheads="1"/>
          </p:cNvSpPr>
          <p:nvPr/>
        </p:nvSpPr>
        <p:spPr bwMode="auto">
          <a:xfrm>
            <a:off x="1143000" y="0"/>
            <a:ext cx="7113588"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主要的评分函数和搜索机制 </a:t>
            </a:r>
          </a:p>
        </p:txBody>
      </p:sp>
      <p:sp>
        <p:nvSpPr>
          <p:cNvPr id="3" name="Rectangle 3"/>
          <p:cNvSpPr txBox="1">
            <a:spLocks noChangeArrowheads="1"/>
          </p:cNvSpPr>
          <p:nvPr/>
        </p:nvSpPr>
        <p:spPr>
          <a:xfrm>
            <a:off x="250825" y="908050"/>
            <a:ext cx="8642350" cy="5400675"/>
          </a:xfrm>
          <a:prstGeom prst="rect">
            <a:avLst/>
          </a:prstGeom>
        </p:spPr>
        <p:txBody>
          <a:bodyPr/>
          <a:lstStyle/>
          <a:p>
            <a:pPr marL="342900" indent="-342900" eaLnBrk="0" hangingPunct="0">
              <a:lnSpc>
                <a:spcPct val="80000"/>
              </a:lnSpc>
              <a:spcBef>
                <a:spcPct val="20000"/>
              </a:spcBef>
              <a:buFont typeface="Arial" pitchFamily="34" charset="0"/>
              <a:buChar char="•"/>
              <a:defRPr/>
            </a:pPr>
            <a:r>
              <a:rPr lang="zh-CN" altLang="en-US" sz="2000" dirty="0">
                <a:latin typeface="+mn-lt"/>
              </a:rPr>
              <a:t>评分函数：最早是由</a:t>
            </a:r>
            <a:r>
              <a:rPr lang="en-US" altLang="zh-CN" sz="2000" dirty="0">
                <a:latin typeface="宋体" pitchFamily="2" charset="-122"/>
              </a:rPr>
              <a:t>Cooper and Herskovits</a:t>
            </a:r>
            <a:r>
              <a:rPr lang="zh-CN" altLang="en-US" sz="2000" dirty="0">
                <a:latin typeface="宋体" pitchFamily="2" charset="-122"/>
              </a:rPr>
              <a:t>等人在</a:t>
            </a:r>
            <a:r>
              <a:rPr lang="en-US" altLang="zh-CN" sz="2000" dirty="0">
                <a:latin typeface="宋体" pitchFamily="2" charset="-122"/>
              </a:rPr>
              <a:t>1992</a:t>
            </a:r>
            <a:r>
              <a:rPr lang="zh-CN" altLang="en-US" sz="2000" dirty="0">
                <a:latin typeface="宋体" pitchFamily="2" charset="-122"/>
              </a:rPr>
              <a:t>年提出的</a:t>
            </a:r>
            <a:r>
              <a:rPr lang="en-US" altLang="zh-CN" sz="2000" dirty="0">
                <a:latin typeface="宋体" pitchFamily="2" charset="-122"/>
              </a:rPr>
              <a:t>K2</a:t>
            </a:r>
            <a:r>
              <a:rPr lang="zh-CN" altLang="en-US" sz="2000" dirty="0">
                <a:latin typeface="宋体" pitchFamily="2" charset="-122"/>
              </a:rPr>
              <a:t>评分函数，</a:t>
            </a:r>
            <a:r>
              <a:rPr lang="en-US" altLang="zh-CN" sz="2000" dirty="0">
                <a:latin typeface="宋体" pitchFamily="2" charset="-122"/>
              </a:rPr>
              <a:t>K2</a:t>
            </a:r>
            <a:r>
              <a:rPr lang="zh-CN" altLang="en-US" sz="2000" dirty="0">
                <a:latin typeface="宋体" pitchFamily="2" charset="-122"/>
              </a:rPr>
              <a:t>评分函数假设观测到的数据是完备的，且服从多项式分布：</a:t>
            </a:r>
          </a:p>
          <a:p>
            <a:pPr marL="342900" indent="-342900" eaLnBrk="0" hangingPunct="0">
              <a:lnSpc>
                <a:spcPct val="80000"/>
              </a:lnSpc>
              <a:spcBef>
                <a:spcPct val="20000"/>
              </a:spcBef>
              <a:buFont typeface="Arial" pitchFamily="34" charset="0"/>
              <a:buChar char="•"/>
              <a:defRPr/>
            </a:pPr>
            <a:endParaRPr lang="zh-CN" altLang="en-US" sz="20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900" dirty="0">
              <a:latin typeface="+mn-lt"/>
            </a:endParaRPr>
          </a:p>
          <a:p>
            <a:pPr marL="342900" indent="-342900" eaLnBrk="0" hangingPunct="0">
              <a:lnSpc>
                <a:spcPct val="80000"/>
              </a:lnSpc>
              <a:spcBef>
                <a:spcPct val="20000"/>
              </a:spcBef>
              <a:buFont typeface="Arial" pitchFamily="34" charset="0"/>
              <a:buChar char="•"/>
              <a:defRPr/>
            </a:pPr>
            <a:endParaRPr lang="zh-CN" altLang="en-US" sz="1900" dirty="0">
              <a:latin typeface="+mn-lt"/>
            </a:endParaRPr>
          </a:p>
          <a:p>
            <a:pPr marL="342900" indent="-342900" eaLnBrk="0" hangingPunct="0">
              <a:lnSpc>
                <a:spcPct val="80000"/>
              </a:lnSpc>
              <a:spcBef>
                <a:spcPct val="20000"/>
              </a:spcBef>
              <a:buFont typeface="Arial" pitchFamily="34" charset="0"/>
              <a:buChar char="•"/>
              <a:defRPr/>
            </a:pPr>
            <a:endParaRPr lang="zh-CN" altLang="en-US" sz="1900" dirty="0">
              <a:latin typeface="+mn-lt"/>
            </a:endParaRPr>
          </a:p>
          <a:p>
            <a:pPr marL="342900" indent="-342900" eaLnBrk="0" hangingPunct="0">
              <a:lnSpc>
                <a:spcPct val="80000"/>
              </a:lnSpc>
              <a:spcBef>
                <a:spcPct val="20000"/>
              </a:spcBef>
              <a:buFont typeface="Arial" pitchFamily="34" charset="0"/>
              <a:buChar char="•"/>
              <a:defRPr/>
            </a:pPr>
            <a:r>
              <a:rPr lang="zh-CN" altLang="en-US" sz="2000" dirty="0">
                <a:latin typeface="宋体" pitchFamily="2" charset="-122"/>
              </a:rPr>
              <a:t>基于</a:t>
            </a:r>
            <a:r>
              <a:rPr lang="en-US" altLang="zh-CN" sz="2000" dirty="0">
                <a:latin typeface="宋体" pitchFamily="2" charset="-122"/>
              </a:rPr>
              <a:t>K2</a:t>
            </a:r>
            <a:r>
              <a:rPr lang="zh-CN" altLang="en-US" sz="2000" dirty="0">
                <a:latin typeface="宋体" pitchFamily="2" charset="-122"/>
              </a:rPr>
              <a:t>评分函数，</a:t>
            </a:r>
            <a:r>
              <a:rPr lang="en-US" altLang="zh-CN" sz="2000" dirty="0">
                <a:latin typeface="宋体" pitchFamily="2" charset="-122"/>
              </a:rPr>
              <a:t>Heckerman</a:t>
            </a:r>
            <a:r>
              <a:rPr lang="zh-CN" altLang="en-US" sz="2000" dirty="0">
                <a:latin typeface="宋体" pitchFamily="2" charset="-122"/>
              </a:rPr>
              <a:t>等人在</a:t>
            </a:r>
            <a:r>
              <a:rPr lang="en-US" altLang="zh-CN" sz="2000" dirty="0">
                <a:latin typeface="宋体" pitchFamily="2" charset="-122"/>
              </a:rPr>
              <a:t>1995</a:t>
            </a:r>
            <a:r>
              <a:rPr lang="zh-CN" altLang="en-US" sz="2000" dirty="0">
                <a:latin typeface="宋体" pitchFamily="2" charset="-122"/>
              </a:rPr>
              <a:t>年，假设观测数据服从</a:t>
            </a:r>
            <a:r>
              <a:rPr lang="en-US" altLang="zh-CN" sz="2000" dirty="0" err="1">
                <a:latin typeface="宋体" pitchFamily="2" charset="-122"/>
              </a:rPr>
              <a:t>Dirichlet</a:t>
            </a:r>
            <a:r>
              <a:rPr lang="zh-CN" altLang="en-US" sz="2000" dirty="0">
                <a:latin typeface="宋体" pitchFamily="2" charset="-122"/>
              </a:rPr>
              <a:t>（狄利克雷）分布，给出了</a:t>
            </a:r>
            <a:r>
              <a:rPr lang="en-US" altLang="zh-CN" sz="2000" dirty="0">
                <a:latin typeface="宋体" pitchFamily="2" charset="-122"/>
              </a:rPr>
              <a:t>BD</a:t>
            </a:r>
            <a:r>
              <a:rPr lang="zh-CN" altLang="en-US" sz="2000" dirty="0">
                <a:latin typeface="宋体" pitchFamily="2" charset="-122"/>
              </a:rPr>
              <a:t>评分函数：</a:t>
            </a: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endParaRPr lang="zh-CN" altLang="en-US" sz="1400" dirty="0">
              <a:latin typeface="宋体" pitchFamily="2" charset="-122"/>
            </a:endParaRPr>
          </a:p>
          <a:p>
            <a:pPr marL="342900" indent="-342900" eaLnBrk="0" hangingPunct="0">
              <a:lnSpc>
                <a:spcPct val="80000"/>
              </a:lnSpc>
              <a:spcBef>
                <a:spcPct val="20000"/>
              </a:spcBef>
              <a:buFont typeface="Arial" pitchFamily="34" charset="0"/>
              <a:buChar char="•"/>
              <a:defRPr/>
            </a:pPr>
            <a:r>
              <a:rPr lang="zh-CN" altLang="en-US" sz="1900" dirty="0">
                <a:latin typeface="+mn-lt"/>
              </a:rPr>
              <a:t>主要的搜索机制：贪婪搜索、模拟退火、最优最先搜索、基于智能优化的搜索等</a:t>
            </a:r>
            <a:r>
              <a:rPr lang="zh-CN" altLang="en-US" sz="1900" dirty="0">
                <a:latin typeface="+mn-lt"/>
                <a:ea typeface="+mn-ea"/>
              </a:rPr>
              <a:t> </a:t>
            </a:r>
            <a:endParaRPr lang="zh-CN" altLang="en-US" sz="1900" dirty="0">
              <a:latin typeface="+mn-lt"/>
            </a:endParaRPr>
          </a:p>
          <a:p>
            <a:pPr marL="342900" indent="-342900" eaLnBrk="0" hangingPunct="0">
              <a:lnSpc>
                <a:spcPct val="80000"/>
              </a:lnSpc>
              <a:spcBef>
                <a:spcPct val="20000"/>
              </a:spcBef>
              <a:buFont typeface="Arial" pitchFamily="34" charset="0"/>
              <a:buChar char="•"/>
              <a:defRPr/>
            </a:pPr>
            <a:endParaRPr lang="zh-CN" altLang="en-US" sz="1900" dirty="0">
              <a:latin typeface="+mn-lt"/>
            </a:endParaRPr>
          </a:p>
          <a:p>
            <a:pPr marL="342900" indent="-342900" eaLnBrk="0" hangingPunct="0">
              <a:lnSpc>
                <a:spcPct val="80000"/>
              </a:lnSpc>
              <a:spcBef>
                <a:spcPct val="20000"/>
              </a:spcBef>
              <a:buFont typeface="Arial" pitchFamily="34" charset="0"/>
              <a:buChar char="•"/>
              <a:defRPr/>
            </a:pPr>
            <a:endParaRPr lang="en-US" altLang="zh-CN" sz="1900" dirty="0">
              <a:latin typeface="+mn-lt"/>
              <a:ea typeface="+mn-ea"/>
            </a:endParaRPr>
          </a:p>
        </p:txBody>
      </p:sp>
      <p:pic>
        <p:nvPicPr>
          <p:cNvPr id="72708" name="Picture 4"/>
          <p:cNvPicPr>
            <a:picLocks noChangeAspect="1" noChangeArrowheads="1"/>
          </p:cNvPicPr>
          <p:nvPr/>
        </p:nvPicPr>
        <p:blipFill>
          <a:blip r:embed="rId2"/>
          <a:srcRect/>
          <a:stretch>
            <a:fillRect/>
          </a:stretch>
        </p:blipFill>
        <p:spPr bwMode="auto">
          <a:xfrm>
            <a:off x="1403350" y="1628775"/>
            <a:ext cx="5930900" cy="747713"/>
          </a:xfrm>
          <a:prstGeom prst="rect">
            <a:avLst/>
          </a:prstGeom>
          <a:noFill/>
          <a:ln w="9525">
            <a:noFill/>
            <a:miter lim="800000"/>
            <a:headEnd/>
            <a:tailEnd/>
          </a:ln>
        </p:spPr>
      </p:pic>
      <p:pic>
        <p:nvPicPr>
          <p:cNvPr id="72709" name="Picture 5"/>
          <p:cNvPicPr>
            <a:picLocks noChangeAspect="1" noChangeArrowheads="1"/>
          </p:cNvPicPr>
          <p:nvPr/>
        </p:nvPicPr>
        <p:blipFill>
          <a:blip r:embed="rId3"/>
          <a:srcRect/>
          <a:stretch>
            <a:fillRect/>
          </a:stretch>
        </p:blipFill>
        <p:spPr bwMode="auto">
          <a:xfrm>
            <a:off x="1116013" y="3573463"/>
            <a:ext cx="6943725" cy="711200"/>
          </a:xfrm>
          <a:prstGeom prst="rect">
            <a:avLst/>
          </a:prstGeom>
          <a:noFill/>
          <a:ln w="9525">
            <a:noFill/>
            <a:miter lim="800000"/>
            <a:headEnd/>
            <a:tailEnd/>
          </a:ln>
        </p:spPr>
      </p:pic>
      <p:pic>
        <p:nvPicPr>
          <p:cNvPr id="72710" name="Picture 6"/>
          <p:cNvPicPr>
            <a:picLocks noChangeAspect="1" noChangeArrowheads="1"/>
          </p:cNvPicPr>
          <p:nvPr/>
        </p:nvPicPr>
        <p:blipFill>
          <a:blip r:embed="rId4"/>
          <a:srcRect/>
          <a:stretch>
            <a:fillRect/>
          </a:stretch>
        </p:blipFill>
        <p:spPr bwMode="auto">
          <a:xfrm>
            <a:off x="1116013" y="4508500"/>
            <a:ext cx="6615112" cy="738188"/>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TextBox 1"/>
          <p:cNvSpPr txBox="1">
            <a:spLocks noChangeArrowheads="1"/>
          </p:cNvSpPr>
          <p:nvPr/>
        </p:nvSpPr>
        <p:spPr bwMode="auto">
          <a:xfrm>
            <a:off x="2000250" y="285750"/>
            <a:ext cx="5695950"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经典算法</a:t>
            </a:r>
            <a:r>
              <a:rPr lang="en-US" altLang="zh-CN" sz="4400" b="1">
                <a:latin typeface="微软雅黑" pitchFamily="34" charset="-122"/>
                <a:ea typeface="微软雅黑" pitchFamily="34" charset="-122"/>
              </a:rPr>
              <a:t>——</a:t>
            </a:r>
            <a:r>
              <a:rPr lang="zh-CN" altLang="en-US" sz="4400" b="1">
                <a:latin typeface="微软雅黑" pitchFamily="34" charset="-122"/>
                <a:ea typeface="微软雅黑" pitchFamily="34" charset="-122"/>
              </a:rPr>
              <a:t> </a:t>
            </a:r>
            <a:r>
              <a:rPr lang="en-US" altLang="zh-CN" sz="4400" b="1">
                <a:latin typeface="微软雅黑" pitchFamily="34" charset="-122"/>
                <a:ea typeface="微软雅黑" pitchFamily="34" charset="-122"/>
              </a:rPr>
              <a:t>K2</a:t>
            </a:r>
            <a:r>
              <a:rPr lang="zh-CN" altLang="en-US" sz="4400" b="1">
                <a:latin typeface="微软雅黑" pitchFamily="34" charset="-122"/>
                <a:ea typeface="微软雅黑" pitchFamily="34" charset="-122"/>
              </a:rPr>
              <a:t>算法</a:t>
            </a:r>
          </a:p>
        </p:txBody>
      </p:sp>
      <p:sp>
        <p:nvSpPr>
          <p:cNvPr id="73731" name="TextBox 2"/>
          <p:cNvSpPr txBox="1">
            <a:spLocks noChangeArrowheads="1"/>
          </p:cNvSpPr>
          <p:nvPr/>
        </p:nvSpPr>
        <p:spPr bwMode="auto">
          <a:xfrm>
            <a:off x="642938" y="1214438"/>
            <a:ext cx="7572375" cy="3409950"/>
          </a:xfrm>
          <a:prstGeom prst="rect">
            <a:avLst/>
          </a:prstGeom>
          <a:noFill/>
          <a:ln w="9525">
            <a:noFill/>
            <a:miter lim="800000"/>
            <a:headEnd/>
            <a:tailEnd/>
          </a:ln>
        </p:spPr>
        <p:txBody>
          <a:bodyPr>
            <a:spAutoFit/>
          </a:bodyPr>
          <a:lstStyle/>
          <a:p>
            <a:pPr>
              <a:lnSpc>
                <a:spcPct val="150000"/>
              </a:lnSpc>
            </a:pPr>
            <a:r>
              <a:rPr lang="en-US" altLang="zh-CN">
                <a:latin typeface="宋体" pitchFamily="2" charset="-122"/>
              </a:rPr>
              <a:t>      </a:t>
            </a:r>
            <a:r>
              <a:rPr lang="en-US" altLang="zh-CN" sz="2100">
                <a:latin typeface="宋体" pitchFamily="2" charset="-122"/>
              </a:rPr>
              <a:t>1992</a:t>
            </a:r>
            <a:r>
              <a:rPr lang="zh-CN" altLang="en-US" sz="2100">
                <a:latin typeface="宋体" pitchFamily="2" charset="-122"/>
              </a:rPr>
              <a:t>年，</a:t>
            </a:r>
            <a:r>
              <a:rPr lang="en-US" altLang="zh-CN" sz="2100">
                <a:latin typeface="宋体" pitchFamily="2" charset="-122"/>
              </a:rPr>
              <a:t>Cooper</a:t>
            </a:r>
            <a:r>
              <a:rPr lang="zh-CN" altLang="en-US" sz="2100">
                <a:latin typeface="宋体" pitchFamily="2" charset="-122"/>
              </a:rPr>
              <a:t>和</a:t>
            </a:r>
            <a:r>
              <a:rPr lang="en-US" altLang="zh-CN" sz="2100">
                <a:latin typeface="宋体" pitchFamily="2" charset="-122"/>
              </a:rPr>
              <a:t>Herskovits</a:t>
            </a:r>
            <a:r>
              <a:rPr lang="zh-CN" altLang="en-US" sz="2100">
                <a:latin typeface="宋体" pitchFamily="2" charset="-122"/>
              </a:rPr>
              <a:t>建立了著名的基于贝叶斯评分函数（</a:t>
            </a:r>
            <a:r>
              <a:rPr lang="en-US" altLang="zh-CN" sz="2100">
                <a:latin typeface="宋体" pitchFamily="2" charset="-122"/>
              </a:rPr>
              <a:t>Bayesian score</a:t>
            </a:r>
            <a:r>
              <a:rPr lang="zh-CN" altLang="en-US" sz="2100">
                <a:latin typeface="宋体" pitchFamily="2" charset="-122"/>
              </a:rPr>
              <a:t>）和爬山法搜索策略的</a:t>
            </a:r>
            <a:r>
              <a:rPr lang="en-US" altLang="zh-CN" sz="2100">
                <a:latin typeface="宋体" pitchFamily="2" charset="-122"/>
              </a:rPr>
              <a:t>K2</a:t>
            </a:r>
            <a:r>
              <a:rPr lang="zh-CN" altLang="en-US" sz="2100">
                <a:latin typeface="宋体" pitchFamily="2" charset="-122"/>
              </a:rPr>
              <a:t>算法。</a:t>
            </a:r>
            <a:r>
              <a:rPr lang="en-US" altLang="zh-CN" sz="2100">
                <a:latin typeface="宋体" pitchFamily="2" charset="-122"/>
              </a:rPr>
              <a:t>K2</a:t>
            </a:r>
            <a:r>
              <a:rPr lang="zh-CN" altLang="en-US" sz="2100">
                <a:latin typeface="宋体" pitchFamily="2" charset="-122"/>
              </a:rPr>
              <a:t>算法要求事先确定节点的次序，应用贝叶斯评分，通过不断向网络中增加能提高评分函数的边的</a:t>
            </a:r>
            <a:r>
              <a:rPr lang="zh-CN" altLang="en-US" sz="2100" b="1">
                <a:latin typeface="宋体" pitchFamily="2" charset="-122"/>
              </a:rPr>
              <a:t>贪婪搜索方法</a:t>
            </a:r>
            <a:r>
              <a:rPr lang="zh-CN" altLang="en-US" sz="2100">
                <a:latin typeface="宋体" pitchFamily="2" charset="-122"/>
              </a:rPr>
              <a:t>发现最评分最高的的信念网络结构，找出最佳网络结构。</a:t>
            </a:r>
            <a:r>
              <a:rPr lang="en-US" altLang="zh-CN" sz="2100">
                <a:latin typeface="宋体" pitchFamily="2" charset="-122"/>
              </a:rPr>
              <a:t>K2</a:t>
            </a:r>
            <a:r>
              <a:rPr lang="zh-CN" altLang="en-US" sz="2100">
                <a:latin typeface="宋体" pitchFamily="2" charset="-122"/>
              </a:rPr>
              <a:t>算法是结合先验信息进行贝叶斯网络结构学习的一个有实际意义的重要算法，在整个贝叶斯网络结构学习算法的研究发展过程中占有重要地位。</a:t>
            </a:r>
          </a:p>
        </p:txBody>
      </p:sp>
      <p:sp>
        <p:nvSpPr>
          <p:cNvPr id="7373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7373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extBox 2"/>
          <p:cNvSpPr txBox="1">
            <a:spLocks noChangeArrowheads="1"/>
          </p:cNvSpPr>
          <p:nvPr/>
        </p:nvSpPr>
        <p:spPr bwMode="auto">
          <a:xfrm>
            <a:off x="3286125" y="214313"/>
            <a:ext cx="2441575" cy="769937"/>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贪婪搜索</a:t>
            </a:r>
          </a:p>
        </p:txBody>
      </p:sp>
      <p:pic>
        <p:nvPicPr>
          <p:cNvPr id="74755" name="Picture 4"/>
          <p:cNvPicPr>
            <a:picLocks noChangeAspect="1" noChangeArrowheads="1"/>
          </p:cNvPicPr>
          <p:nvPr/>
        </p:nvPicPr>
        <p:blipFill>
          <a:blip r:embed="rId2"/>
          <a:srcRect/>
          <a:stretch>
            <a:fillRect/>
          </a:stretch>
        </p:blipFill>
        <p:spPr bwMode="auto">
          <a:xfrm>
            <a:off x="857250" y="1100138"/>
            <a:ext cx="7675563" cy="5338762"/>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3" name="TextBox 1"/>
          <p:cNvSpPr txBox="1">
            <a:spLocks noChangeArrowheads="1"/>
          </p:cNvSpPr>
          <p:nvPr/>
        </p:nvSpPr>
        <p:spPr bwMode="auto">
          <a:xfrm>
            <a:off x="2428875" y="142875"/>
            <a:ext cx="42910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基于约束的方法 </a:t>
            </a:r>
          </a:p>
        </p:txBody>
      </p:sp>
      <p:sp>
        <p:nvSpPr>
          <p:cNvPr id="3" name="Rectangle 3"/>
          <p:cNvSpPr txBox="1">
            <a:spLocks noChangeArrowheads="1"/>
          </p:cNvSpPr>
          <p:nvPr/>
        </p:nvSpPr>
        <p:spPr>
          <a:xfrm>
            <a:off x="250825" y="908050"/>
            <a:ext cx="8642350" cy="5400675"/>
          </a:xfrm>
          <a:prstGeom prst="rect">
            <a:avLst/>
          </a:prstGeom>
        </p:spPr>
        <p:txBody>
          <a:bodyPr/>
          <a:lstStyle/>
          <a:p>
            <a:pPr marL="342900" indent="-342900" eaLnBrk="0" hangingPunct="0">
              <a:spcBef>
                <a:spcPct val="20000"/>
              </a:spcBef>
              <a:buFont typeface="Arial" pitchFamily="34" charset="0"/>
              <a:buChar char="•"/>
              <a:defRPr/>
            </a:pPr>
            <a:r>
              <a:rPr lang="zh-CN" altLang="en-US" sz="2000" dirty="0">
                <a:latin typeface="+mn-lt"/>
              </a:rPr>
              <a:t>将结构学习视为约束满足问题，即通过卡方假设检验或互信息量对变量间的条件独立性关系进行测试来构造贝叶斯网络结构</a:t>
            </a:r>
            <a:r>
              <a:rPr lang="zh-CN" altLang="en-US" sz="2000" dirty="0">
                <a:latin typeface="+mn-lt"/>
                <a:ea typeface="+mn-ea"/>
              </a:rPr>
              <a:t> </a:t>
            </a:r>
            <a:r>
              <a:rPr lang="en-US" altLang="zh-CN" sz="2000" dirty="0">
                <a:latin typeface="+mn-lt"/>
                <a:ea typeface="+mn-ea"/>
              </a:rPr>
              <a:t>.</a:t>
            </a:r>
            <a:endParaRPr lang="zh-CN" altLang="en-US" sz="2000" dirty="0">
              <a:latin typeface="+mn-lt"/>
              <a:ea typeface="+mn-ea"/>
            </a:endParaRPr>
          </a:p>
          <a:p>
            <a:pPr marL="342900" indent="-342900" eaLnBrk="0" hangingPunct="0">
              <a:spcBef>
                <a:spcPct val="20000"/>
              </a:spcBef>
              <a:buFont typeface="Arial" pitchFamily="34" charset="0"/>
              <a:buChar char="•"/>
              <a:defRPr/>
            </a:pPr>
            <a:r>
              <a:rPr lang="zh-CN" altLang="en-US" sz="2000" dirty="0">
                <a:latin typeface="+mn-lt"/>
              </a:rPr>
              <a:t>核心思想是：</a:t>
            </a:r>
            <a:r>
              <a:rPr lang="zh-CN" altLang="en-US" sz="2000" dirty="0"/>
              <a:t>通过样本集</a:t>
            </a:r>
            <a:r>
              <a:rPr lang="en-US" sz="2000" dirty="0"/>
              <a:t>D</a:t>
            </a:r>
            <a:r>
              <a:rPr lang="zh-CN" altLang="en-US" sz="2000" dirty="0"/>
              <a:t>验证条件独立性</a:t>
            </a:r>
            <a:r>
              <a:rPr lang="en-US" sz="2000" dirty="0"/>
              <a:t>I</a:t>
            </a:r>
            <a:r>
              <a:rPr lang="zh-CN" altLang="en-US" sz="2000" dirty="0"/>
              <a:t>（</a:t>
            </a:r>
            <a:r>
              <a:rPr lang="en-US" sz="2000" dirty="0"/>
              <a:t>Xi</a:t>
            </a:r>
            <a:r>
              <a:rPr lang="zh-CN" altLang="en-US" sz="2000" dirty="0"/>
              <a:t>，</a:t>
            </a:r>
            <a:r>
              <a:rPr lang="en-US" sz="2000" dirty="0" err="1"/>
              <a:t>Xj|C</a:t>
            </a:r>
            <a:r>
              <a:rPr lang="zh-CN" altLang="en-US" sz="2000" dirty="0"/>
              <a:t>）是否成立，若成立，则在网络</a:t>
            </a:r>
            <a:r>
              <a:rPr lang="en-US" sz="2000" dirty="0"/>
              <a:t>S</a:t>
            </a:r>
            <a:r>
              <a:rPr lang="zh-CN" altLang="en-US" sz="2000" dirty="0"/>
              <a:t>中节点</a:t>
            </a:r>
            <a:r>
              <a:rPr lang="en-US" sz="2000" dirty="0"/>
              <a:t>Xi</a:t>
            </a:r>
            <a:r>
              <a:rPr lang="zh-CN" altLang="en-US" sz="2000" dirty="0"/>
              <a:t>和</a:t>
            </a:r>
            <a:r>
              <a:rPr lang="en-US" sz="2000" dirty="0" err="1"/>
              <a:t>Xj</a:t>
            </a:r>
            <a:r>
              <a:rPr lang="zh-CN" altLang="en-US" sz="2000" dirty="0"/>
              <a:t>被</a:t>
            </a:r>
            <a:r>
              <a:rPr lang="en-US" sz="2000" dirty="0"/>
              <a:t>C</a:t>
            </a:r>
            <a:r>
              <a:rPr lang="zh-CN" altLang="en-US" sz="2000" dirty="0"/>
              <a:t>有向分割，节点</a:t>
            </a:r>
            <a:r>
              <a:rPr lang="en-US" sz="2000" dirty="0"/>
              <a:t>Xi</a:t>
            </a:r>
            <a:r>
              <a:rPr lang="zh-CN" altLang="en-US" sz="2000" dirty="0"/>
              <a:t>和</a:t>
            </a:r>
            <a:r>
              <a:rPr lang="en-US" sz="2000" dirty="0" err="1"/>
              <a:t>Xj</a:t>
            </a:r>
            <a:r>
              <a:rPr lang="en-US" sz="2000" dirty="0"/>
              <a:t> </a:t>
            </a:r>
            <a:r>
              <a:rPr lang="zh-CN" altLang="en-US" sz="2000" dirty="0"/>
              <a:t>之间不存在边，若不成立，变量</a:t>
            </a:r>
            <a:r>
              <a:rPr lang="en-US" sz="2000" dirty="0"/>
              <a:t>Xi</a:t>
            </a:r>
            <a:r>
              <a:rPr lang="zh-CN" altLang="en-US" sz="2000" dirty="0"/>
              <a:t>和</a:t>
            </a:r>
            <a:r>
              <a:rPr lang="en-US" sz="2000" dirty="0" err="1"/>
              <a:t>Xj</a:t>
            </a:r>
            <a:r>
              <a:rPr lang="zh-CN" altLang="en-US" sz="2000" dirty="0"/>
              <a:t>是依赖的，网络中节点</a:t>
            </a:r>
            <a:r>
              <a:rPr lang="en-US" sz="2000" dirty="0"/>
              <a:t>Xi</a:t>
            </a:r>
            <a:r>
              <a:rPr lang="zh-CN" altLang="en-US" sz="2000" dirty="0"/>
              <a:t>和</a:t>
            </a:r>
            <a:r>
              <a:rPr lang="en-US" sz="2000" dirty="0" err="1"/>
              <a:t>Xj</a:t>
            </a:r>
            <a:r>
              <a:rPr lang="en-US" sz="2000" dirty="0"/>
              <a:t> </a:t>
            </a:r>
            <a:r>
              <a:rPr lang="zh-CN" altLang="en-US" sz="2000" dirty="0"/>
              <a:t>之间存在边。然后，利用节点集之间的条件独立性，建造一个有向无环图，以尽可能多地覆盖这些条件独立性</a:t>
            </a:r>
            <a:r>
              <a:rPr lang="en-US" altLang="zh-CN" sz="2000" dirty="0"/>
              <a:t>.</a:t>
            </a:r>
            <a:endParaRPr lang="zh-CN" altLang="en-US" sz="2000" dirty="0">
              <a:latin typeface="+mn-lt"/>
            </a:endParaRPr>
          </a:p>
          <a:p>
            <a:pPr marL="342900" indent="-342900" eaLnBrk="0" hangingPunct="0">
              <a:spcBef>
                <a:spcPct val="20000"/>
              </a:spcBef>
              <a:buFont typeface="Arial" pitchFamily="34" charset="0"/>
              <a:buChar char="•"/>
              <a:defRPr/>
            </a:pPr>
            <a:endParaRPr lang="zh-CN" altLang="en-US" sz="2000" dirty="0">
              <a:latin typeface="+mn-lt"/>
            </a:endParaRPr>
          </a:p>
          <a:p>
            <a:pPr marL="342900" indent="-342900" eaLnBrk="0" hangingPunct="0">
              <a:spcBef>
                <a:spcPct val="20000"/>
              </a:spcBef>
              <a:buFont typeface="Arial" pitchFamily="34" charset="0"/>
              <a:buChar char="•"/>
              <a:defRPr/>
            </a:pPr>
            <a:r>
              <a:rPr lang="zh-CN" altLang="en-US" sz="2000" dirty="0"/>
              <a:t>每一点对之间的互信息</a:t>
            </a:r>
            <a:endParaRPr lang="zh-CN" altLang="en-US" sz="2000" dirty="0">
              <a:latin typeface="+mn-lt"/>
            </a:endParaRPr>
          </a:p>
        </p:txBody>
      </p:sp>
      <p:graphicFrame>
        <p:nvGraphicFramePr>
          <p:cNvPr id="5122" name="Object 4"/>
          <p:cNvGraphicFramePr>
            <a:graphicFrameLocks noChangeAspect="1"/>
          </p:cNvGraphicFramePr>
          <p:nvPr/>
        </p:nvGraphicFramePr>
        <p:xfrm>
          <a:off x="1000125" y="4143375"/>
          <a:ext cx="5429250" cy="1085850"/>
        </p:xfrm>
        <a:graphic>
          <a:graphicData uri="http://schemas.openxmlformats.org/presentationml/2006/ole">
            <p:oleObj spid="_x0000_s5122" name="Equation" r:id="rId3" imgW="1943100" imgH="406400" progId="Equation.3">
              <p:embed/>
            </p:oleObj>
          </a:graphicData>
        </a:graphic>
      </p:graphicFrame>
    </p:spTree>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TextBox 1"/>
          <p:cNvSpPr txBox="1">
            <a:spLocks noChangeArrowheads="1"/>
          </p:cNvSpPr>
          <p:nvPr/>
        </p:nvSpPr>
        <p:spPr bwMode="auto">
          <a:xfrm>
            <a:off x="1857375" y="428625"/>
            <a:ext cx="5583238"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经典算法</a:t>
            </a:r>
            <a:r>
              <a:rPr lang="en-US" altLang="zh-CN" sz="4400" b="1">
                <a:latin typeface="微软雅黑" pitchFamily="34" charset="-122"/>
                <a:ea typeface="微软雅黑" pitchFamily="34" charset="-122"/>
              </a:rPr>
              <a:t>——</a:t>
            </a:r>
            <a:r>
              <a:rPr lang="zh-CN" altLang="en-US" sz="4400" b="1">
                <a:latin typeface="微软雅黑" pitchFamily="34" charset="-122"/>
                <a:ea typeface="微软雅黑" pitchFamily="34" charset="-122"/>
              </a:rPr>
              <a:t> </a:t>
            </a:r>
            <a:r>
              <a:rPr lang="en-US" altLang="zh-CN" sz="4400" b="1">
                <a:latin typeface="微软雅黑" pitchFamily="34" charset="-122"/>
                <a:ea typeface="微软雅黑" pitchFamily="34" charset="-122"/>
              </a:rPr>
              <a:t> TPDA</a:t>
            </a:r>
            <a:endParaRPr lang="zh-CN" altLang="en-US" sz="4400" b="1">
              <a:latin typeface="微软雅黑" pitchFamily="34" charset="-122"/>
              <a:ea typeface="微软雅黑" pitchFamily="34" charset="-122"/>
            </a:endParaRPr>
          </a:p>
        </p:txBody>
      </p:sp>
      <p:sp>
        <p:nvSpPr>
          <p:cNvPr id="75779" name="TextBox 2"/>
          <p:cNvSpPr txBox="1">
            <a:spLocks noChangeArrowheads="1"/>
          </p:cNvSpPr>
          <p:nvPr/>
        </p:nvSpPr>
        <p:spPr bwMode="auto">
          <a:xfrm>
            <a:off x="642938" y="3214688"/>
            <a:ext cx="7572375" cy="2949575"/>
          </a:xfrm>
          <a:prstGeom prst="rect">
            <a:avLst/>
          </a:prstGeom>
          <a:noFill/>
          <a:ln w="9525">
            <a:noFill/>
            <a:miter lim="800000"/>
            <a:headEnd/>
            <a:tailEnd/>
          </a:ln>
        </p:spPr>
        <p:txBody>
          <a:bodyPr>
            <a:spAutoFit/>
          </a:bodyPr>
          <a:lstStyle/>
          <a:p>
            <a:pPr>
              <a:lnSpc>
                <a:spcPct val="150000"/>
              </a:lnSpc>
            </a:pPr>
            <a:r>
              <a:rPr lang="zh-CN" altLang="en-US"/>
              <a:t>第一阶段：</a:t>
            </a:r>
            <a:r>
              <a:rPr lang="en-US" altLang="zh-CN"/>
              <a:t>Drafting</a:t>
            </a:r>
            <a:r>
              <a:rPr lang="zh-CN" altLang="en-US"/>
              <a:t>，计算每对节点间的互信息，建立完整的无向图；</a:t>
            </a:r>
          </a:p>
          <a:p>
            <a:pPr>
              <a:lnSpc>
                <a:spcPct val="150000"/>
              </a:lnSpc>
            </a:pPr>
            <a:r>
              <a:rPr lang="zh-CN" altLang="en-US"/>
              <a:t>第二阶段：</a:t>
            </a:r>
            <a:r>
              <a:rPr lang="en-US" altLang="zh-CN"/>
              <a:t>Thickening</a:t>
            </a:r>
            <a:r>
              <a:rPr lang="zh-CN" altLang="en-US"/>
              <a:t>，如果节点对不是</a:t>
            </a:r>
            <a:r>
              <a:rPr lang="en-US" altLang="zh-CN"/>
              <a:t>d-</a:t>
            </a:r>
            <a:r>
              <a:rPr lang="zh-CN" altLang="en-US"/>
              <a:t>分割的话，把这一点对加入到边集中；</a:t>
            </a:r>
          </a:p>
          <a:p>
            <a:pPr>
              <a:lnSpc>
                <a:spcPct val="150000"/>
              </a:lnSpc>
            </a:pPr>
            <a:r>
              <a:rPr lang="zh-CN" altLang="en-US"/>
              <a:t>第三阶段：</a:t>
            </a:r>
            <a:r>
              <a:rPr lang="en-US" altLang="zh-CN"/>
              <a:t>Thinning</a:t>
            </a:r>
            <a:r>
              <a:rPr lang="zh-CN" altLang="en-US"/>
              <a:t>，检察边集中的每个点对，如果两个节点是</a:t>
            </a:r>
            <a:r>
              <a:rPr lang="en-US" altLang="zh-CN"/>
              <a:t>d-</a:t>
            </a:r>
            <a:r>
              <a:rPr lang="zh-CN" altLang="en-US"/>
              <a:t>分割的，则移走这条边。</a:t>
            </a:r>
          </a:p>
          <a:p>
            <a:pPr>
              <a:lnSpc>
                <a:spcPct val="150000"/>
              </a:lnSpc>
            </a:pPr>
            <a:r>
              <a:rPr lang="en-US" altLang="zh-CN" b="1"/>
              <a:t> </a:t>
            </a:r>
            <a:endParaRPr lang="zh-CN" altLang="en-US"/>
          </a:p>
          <a:p>
            <a:pPr>
              <a:lnSpc>
                <a:spcPct val="150000"/>
              </a:lnSpc>
            </a:pPr>
            <a:endParaRPr lang="zh-CN" altLang="en-US"/>
          </a:p>
        </p:txBody>
      </p:sp>
      <p:sp>
        <p:nvSpPr>
          <p:cNvPr id="75780" name="TextBox 3"/>
          <p:cNvSpPr txBox="1">
            <a:spLocks noChangeArrowheads="1"/>
          </p:cNvSpPr>
          <p:nvPr/>
        </p:nvSpPr>
        <p:spPr bwMode="auto">
          <a:xfrm>
            <a:off x="857250" y="1428750"/>
            <a:ext cx="7286625" cy="1754188"/>
          </a:xfrm>
          <a:prstGeom prst="rect">
            <a:avLst/>
          </a:prstGeom>
          <a:noFill/>
          <a:ln w="9525">
            <a:noFill/>
            <a:miter lim="800000"/>
            <a:headEnd/>
            <a:tailEnd/>
          </a:ln>
        </p:spPr>
        <p:txBody>
          <a:bodyPr>
            <a:spAutoFit/>
          </a:bodyPr>
          <a:lstStyle/>
          <a:p>
            <a:pPr>
              <a:lnSpc>
                <a:spcPct val="150000"/>
              </a:lnSpc>
            </a:pPr>
            <a:r>
              <a:rPr lang="en-US" altLang="zh-CN">
                <a:latin typeface="宋体" pitchFamily="2" charset="-122"/>
              </a:rPr>
              <a:t>    2002</a:t>
            </a:r>
            <a:r>
              <a:rPr lang="zh-CN" altLang="en-US">
                <a:latin typeface="宋体" pitchFamily="2" charset="-122"/>
              </a:rPr>
              <a:t>年，</a:t>
            </a:r>
            <a:r>
              <a:rPr lang="en-US" altLang="zh-CN">
                <a:latin typeface="宋体" pitchFamily="2" charset="-122"/>
              </a:rPr>
              <a:t>Cheng</a:t>
            </a:r>
            <a:r>
              <a:rPr lang="zh-CN" altLang="en-US">
                <a:latin typeface="宋体" pitchFamily="2" charset="-122"/>
              </a:rPr>
              <a:t>将信息论与统计测试相结合，使用相互信息代替了条件独立测试，经过</a:t>
            </a:r>
            <a:r>
              <a:rPr lang="en-US" altLang="zh-CN">
                <a:latin typeface="宋体" pitchFamily="2" charset="-122"/>
              </a:rPr>
              <a:t>Drafting</a:t>
            </a:r>
            <a:r>
              <a:rPr lang="zh-CN" altLang="en-US">
                <a:latin typeface="宋体" pitchFamily="2" charset="-122"/>
              </a:rPr>
              <a:t>、</a:t>
            </a:r>
            <a:r>
              <a:rPr lang="en-US" altLang="zh-CN">
                <a:latin typeface="宋体" pitchFamily="2" charset="-122"/>
              </a:rPr>
              <a:t>Thickening</a:t>
            </a:r>
            <a:r>
              <a:rPr lang="zh-CN" altLang="en-US">
                <a:latin typeface="宋体" pitchFamily="2" charset="-122"/>
              </a:rPr>
              <a:t>、</a:t>
            </a:r>
            <a:r>
              <a:rPr lang="en-US" altLang="zh-CN">
                <a:latin typeface="宋体" pitchFamily="2" charset="-122"/>
              </a:rPr>
              <a:t>Thinning</a:t>
            </a:r>
            <a:r>
              <a:rPr lang="zh-CN" altLang="en-US">
                <a:latin typeface="宋体" pitchFamily="2" charset="-122"/>
              </a:rPr>
              <a:t>三个步骤，通过计算相互信息量</a:t>
            </a:r>
            <a:r>
              <a:rPr lang="en-US" altLang="zh-CN">
                <a:latin typeface="宋体" pitchFamily="2" charset="-122"/>
              </a:rPr>
              <a:t>(Mutual Information)</a:t>
            </a:r>
            <a:r>
              <a:rPr lang="zh-CN" altLang="en-US">
                <a:latin typeface="宋体" pitchFamily="2" charset="-122"/>
              </a:rPr>
              <a:t>来确定结点间的条件独立性，从而构造多连接有向图模型。被称为</a:t>
            </a:r>
            <a:r>
              <a:rPr lang="en-US" altLang="zh-CN">
                <a:latin typeface="宋体" pitchFamily="2" charset="-122"/>
              </a:rPr>
              <a:t>TPDA</a:t>
            </a:r>
            <a:r>
              <a:rPr lang="zh-CN" altLang="en-US">
                <a:latin typeface="宋体" pitchFamily="2" charset="-122"/>
              </a:rPr>
              <a:t>算法。</a:t>
            </a:r>
          </a:p>
        </p:txBody>
      </p:sp>
    </p:spTree>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8" name="TextBox 1"/>
          <p:cNvSpPr txBox="1">
            <a:spLocks noChangeArrowheads="1"/>
          </p:cNvSpPr>
          <p:nvPr/>
        </p:nvSpPr>
        <p:spPr bwMode="auto">
          <a:xfrm>
            <a:off x="1714500" y="142875"/>
            <a:ext cx="58277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贝叶斯网络的参数学习</a:t>
            </a:r>
          </a:p>
        </p:txBody>
      </p:sp>
      <p:sp>
        <p:nvSpPr>
          <p:cNvPr id="6149" name="TextBox 3"/>
          <p:cNvSpPr txBox="1">
            <a:spLocks noChangeArrowheads="1"/>
          </p:cNvSpPr>
          <p:nvPr/>
        </p:nvSpPr>
        <p:spPr bwMode="auto">
          <a:xfrm>
            <a:off x="1000125" y="1214438"/>
            <a:ext cx="7572375" cy="4376737"/>
          </a:xfrm>
          <a:prstGeom prst="rect">
            <a:avLst/>
          </a:prstGeom>
          <a:noFill/>
          <a:ln w="9525">
            <a:noFill/>
            <a:miter lim="800000"/>
            <a:headEnd/>
            <a:tailEnd/>
          </a:ln>
        </p:spPr>
        <p:txBody>
          <a:bodyPr>
            <a:spAutoFit/>
          </a:bodyPr>
          <a:lstStyle/>
          <a:p>
            <a:pPr>
              <a:lnSpc>
                <a:spcPct val="130000"/>
              </a:lnSpc>
            </a:pPr>
            <a:r>
              <a:rPr lang="zh-CN" altLang="en-US"/>
              <a:t>贝叶斯网络的参数学习实质上就是在已知网络结构的条件下，通过样本学习获取每个节点的概率分布表。</a:t>
            </a:r>
            <a:endParaRPr lang="en-US" altLang="zh-CN"/>
          </a:p>
          <a:p>
            <a:pPr>
              <a:lnSpc>
                <a:spcPct val="130000"/>
              </a:lnSpc>
            </a:pPr>
            <a:r>
              <a:rPr lang="zh-CN" altLang="en-US"/>
              <a:t>针对完整数据与不完整数据，贝叶斯网络的参数学习也分为两种不同的情况。</a:t>
            </a:r>
            <a:endParaRPr lang="en-US" altLang="zh-CN"/>
          </a:p>
          <a:p>
            <a:pPr>
              <a:lnSpc>
                <a:spcPct val="130000"/>
              </a:lnSpc>
            </a:pPr>
            <a:r>
              <a:rPr lang="en-US" altLang="zh-CN"/>
              <a:t>  </a:t>
            </a:r>
            <a:r>
              <a:rPr lang="zh-CN" altLang="en-US"/>
              <a:t>第一，基于完整数据的贝叶斯网络参数学习</a:t>
            </a:r>
            <a:endParaRPr lang="en-US" altLang="zh-CN"/>
          </a:p>
          <a:p>
            <a:pPr>
              <a:lnSpc>
                <a:spcPct val="130000"/>
              </a:lnSpc>
            </a:pPr>
            <a:r>
              <a:rPr lang="en-US" altLang="zh-CN"/>
              <a:t>             </a:t>
            </a:r>
            <a:r>
              <a:rPr lang="zh-CN" altLang="en-US"/>
              <a:t>对完备数据集</a:t>
            </a:r>
            <a:r>
              <a:rPr lang="en-US" altLang="zh-CN"/>
              <a:t>D</a:t>
            </a:r>
            <a:r>
              <a:rPr lang="zh-CN" altLang="en-US"/>
              <a:t>进行条件概率学习的目标是找到能以概率形式</a:t>
            </a:r>
            <a:r>
              <a:rPr lang="en-US" altLang="zh-CN"/>
              <a:t>p(x|  )</a:t>
            </a:r>
            <a:r>
              <a:rPr lang="zh-CN" altLang="en-US"/>
              <a:t>概括样本</a:t>
            </a:r>
            <a:r>
              <a:rPr lang="en-US" altLang="zh-CN"/>
              <a:t>D</a:t>
            </a:r>
            <a:r>
              <a:rPr lang="zh-CN" altLang="en-US"/>
              <a:t>的参数     。</a:t>
            </a:r>
            <a:endParaRPr lang="en-US" altLang="zh-CN"/>
          </a:p>
          <a:p>
            <a:pPr>
              <a:lnSpc>
                <a:spcPct val="130000"/>
              </a:lnSpc>
            </a:pPr>
            <a:r>
              <a:rPr lang="en-US" altLang="zh-CN"/>
              <a:t>             </a:t>
            </a:r>
            <a:r>
              <a:rPr lang="zh-CN" altLang="en-US"/>
              <a:t>通常有两种学习方法：最大似然估计</a:t>
            </a:r>
            <a:r>
              <a:rPr lang="en-US" altLang="zh-CN"/>
              <a:t>MLE</a:t>
            </a:r>
            <a:r>
              <a:rPr lang="zh-CN" altLang="en-US"/>
              <a:t>方法和贝叶斯方法。</a:t>
            </a:r>
            <a:endParaRPr lang="en-US" altLang="zh-CN"/>
          </a:p>
          <a:p>
            <a:pPr>
              <a:lnSpc>
                <a:spcPct val="130000"/>
              </a:lnSpc>
            </a:pPr>
            <a:r>
              <a:rPr lang="en-US" altLang="zh-CN"/>
              <a:t>  </a:t>
            </a:r>
            <a:r>
              <a:rPr lang="zh-CN" altLang="en-US"/>
              <a:t>第二，不完整数据下的参数学习</a:t>
            </a:r>
            <a:endParaRPr lang="en-US" altLang="zh-CN"/>
          </a:p>
          <a:p>
            <a:pPr>
              <a:lnSpc>
                <a:spcPct val="130000"/>
              </a:lnSpc>
            </a:pPr>
            <a:r>
              <a:rPr lang="en-US" altLang="zh-CN"/>
              <a:t>              </a:t>
            </a:r>
            <a:r>
              <a:rPr lang="zh-CN" altLang="en-US"/>
              <a:t>当训练样本集不是完整的情况下，一般借助近似方法，目前比较流行的学习算法是</a:t>
            </a:r>
            <a:r>
              <a:rPr lang="en-US" altLang="zh-CN"/>
              <a:t>Gibbs</a:t>
            </a:r>
            <a:r>
              <a:rPr lang="zh-CN" altLang="en-US"/>
              <a:t>抽样算法和</a:t>
            </a:r>
            <a:r>
              <a:rPr lang="en-US" altLang="zh-CN"/>
              <a:t>EM</a:t>
            </a:r>
            <a:r>
              <a:rPr lang="zh-CN" altLang="en-US"/>
              <a:t>算法。</a:t>
            </a:r>
            <a:endParaRPr lang="en-US" altLang="zh-CN"/>
          </a:p>
          <a:p>
            <a:pPr>
              <a:lnSpc>
                <a:spcPct val="130000"/>
              </a:lnSpc>
            </a:pPr>
            <a:endParaRPr lang="en-US" altLang="zh-CN"/>
          </a:p>
        </p:txBody>
      </p:sp>
      <p:graphicFrame>
        <p:nvGraphicFramePr>
          <p:cNvPr id="6146" name="Object 3"/>
          <p:cNvGraphicFramePr>
            <a:graphicFrameLocks noChangeAspect="1"/>
          </p:cNvGraphicFramePr>
          <p:nvPr/>
        </p:nvGraphicFramePr>
        <p:xfrm>
          <a:off x="1428750" y="3429000"/>
          <a:ext cx="214313" cy="300038"/>
        </p:xfrm>
        <a:graphic>
          <a:graphicData uri="http://schemas.openxmlformats.org/presentationml/2006/ole">
            <p:oleObj spid="_x0000_s6146" name="Equation" r:id="rId3" imgW="126720" imgH="177480" progId="Equation.DSMT4">
              <p:embed/>
            </p:oleObj>
          </a:graphicData>
        </a:graphic>
      </p:graphicFrame>
      <p:graphicFrame>
        <p:nvGraphicFramePr>
          <p:cNvPr id="6147" name="Object 4"/>
          <p:cNvGraphicFramePr>
            <a:graphicFrameLocks noChangeAspect="1"/>
          </p:cNvGraphicFramePr>
          <p:nvPr/>
        </p:nvGraphicFramePr>
        <p:xfrm>
          <a:off x="3429000" y="3429000"/>
          <a:ext cx="214313" cy="300038"/>
        </p:xfrm>
        <a:graphic>
          <a:graphicData uri="http://schemas.openxmlformats.org/presentationml/2006/ole">
            <p:oleObj spid="_x0000_s6147" name="Equation" r:id="rId4" imgW="126720" imgH="177480" progId="Equation.DSMT4">
              <p:embed/>
            </p:oleObj>
          </a:graphicData>
        </a:graphic>
      </p:graphicFrame>
    </p:spTree>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Box 1"/>
          <p:cNvSpPr txBox="1">
            <a:spLocks noChangeArrowheads="1"/>
          </p:cNvSpPr>
          <p:nvPr/>
        </p:nvSpPr>
        <p:spPr bwMode="auto">
          <a:xfrm>
            <a:off x="1714500" y="142875"/>
            <a:ext cx="58277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贝叶斯网络的参数学习</a:t>
            </a:r>
          </a:p>
        </p:txBody>
      </p:sp>
      <p:sp>
        <p:nvSpPr>
          <p:cNvPr id="76803" name="Rectangle 2"/>
          <p:cNvSpPr>
            <a:spLocks noChangeArrowheads="1"/>
          </p:cNvSpPr>
          <p:nvPr/>
        </p:nvSpPr>
        <p:spPr bwMode="auto">
          <a:xfrm>
            <a:off x="400050" y="1157288"/>
            <a:ext cx="7772400" cy="4941887"/>
          </a:xfrm>
          <a:prstGeom prst="rect">
            <a:avLst/>
          </a:prstGeom>
          <a:noFill/>
          <a:ln w="9525">
            <a:noFill/>
            <a:miter lim="800000"/>
            <a:headEnd/>
            <a:tailEnd/>
          </a:ln>
        </p:spPr>
        <p:txBody>
          <a:bodyPr/>
          <a:lstStyle/>
          <a:p>
            <a:pPr marL="342900" indent="-342900" algn="just">
              <a:spcBef>
                <a:spcPct val="20000"/>
              </a:spcBef>
              <a:buFont typeface="Wingdings" pitchFamily="2" charset="2"/>
              <a:buChar char="u"/>
            </a:pPr>
            <a:r>
              <a:rPr lang="zh-CN" altLang="en-US" b="1">
                <a:solidFill>
                  <a:srgbClr val="FF0000"/>
                </a:solidFill>
              </a:rPr>
              <a:t>最大似然估计</a:t>
            </a:r>
            <a:endParaRPr lang="en-US" altLang="zh-CN" b="1">
              <a:solidFill>
                <a:srgbClr val="FF0000"/>
              </a:solidFill>
            </a:endParaRPr>
          </a:p>
          <a:p>
            <a:pPr marL="342900" indent="-342900" algn="just">
              <a:lnSpc>
                <a:spcPct val="150000"/>
              </a:lnSpc>
              <a:spcBef>
                <a:spcPct val="20000"/>
              </a:spcBef>
              <a:buFont typeface="Wingdings" pitchFamily="2" charset="2"/>
              <a:buChar char="u"/>
            </a:pPr>
            <a:r>
              <a:rPr lang="zh-CN" altLang="en-US" b="1"/>
              <a:t>在已知试验结果的情况下，用来估计满足这些样本分布的参数，把可能性最大的那个参数 </a:t>
            </a:r>
            <a:r>
              <a:rPr lang="en-US" altLang="zh-CN" b="1"/>
              <a:t>Ɵ</a:t>
            </a:r>
            <a:r>
              <a:rPr lang="zh-CN" altLang="en-US" b="1"/>
              <a:t>作为 真实</a:t>
            </a:r>
            <a:r>
              <a:rPr lang="en-US" altLang="zh-CN" b="1"/>
              <a:t>Ɵ</a:t>
            </a:r>
            <a:r>
              <a:rPr lang="zh-CN" altLang="en-US" b="1"/>
              <a:t>的参数估计。</a:t>
            </a:r>
          </a:p>
          <a:p>
            <a:pPr marL="342900" indent="-342900" algn="just">
              <a:spcBef>
                <a:spcPct val="20000"/>
              </a:spcBef>
              <a:buFont typeface="Wingdings" pitchFamily="2" charset="2"/>
              <a:buNone/>
            </a:pPr>
            <a:r>
              <a:rPr lang="zh-CN" altLang="en-US" b="1"/>
              <a:t>    </a:t>
            </a:r>
            <a:endParaRPr lang="en-US" altLang="zh-CN" b="1"/>
          </a:p>
          <a:p>
            <a:pPr marL="342900" indent="-342900" algn="just">
              <a:spcBef>
                <a:spcPct val="20000"/>
              </a:spcBef>
              <a:buFont typeface="Wingdings" pitchFamily="2" charset="2"/>
              <a:buNone/>
            </a:pPr>
            <a:endParaRPr lang="en-US" altLang="zh-CN" b="1"/>
          </a:p>
          <a:p>
            <a:pPr marL="342900" indent="-342900" algn="just">
              <a:spcBef>
                <a:spcPct val="20000"/>
              </a:spcBef>
              <a:buFont typeface="Wingdings" pitchFamily="2" charset="2"/>
              <a:buNone/>
            </a:pPr>
            <a:endParaRPr lang="en-US" altLang="zh-CN" b="1"/>
          </a:p>
          <a:p>
            <a:pPr marL="342900" indent="-342900" algn="just">
              <a:lnSpc>
                <a:spcPct val="150000"/>
              </a:lnSpc>
              <a:spcBef>
                <a:spcPct val="20000"/>
              </a:spcBef>
              <a:buFont typeface="Wingdings" pitchFamily="2" charset="2"/>
              <a:buNone/>
            </a:pPr>
            <a:r>
              <a:rPr lang="zh-CN" altLang="en-US" b="1"/>
              <a:t>     完全基于数据，忽略参数的先验概率，实质上就是通过计算给定父节点集合的值时，节点不同取值的出现概率，并将其作为该节点的条件概率。</a:t>
            </a:r>
          </a:p>
          <a:p>
            <a:pPr marL="342900" indent="-342900" algn="just">
              <a:lnSpc>
                <a:spcPct val="150000"/>
              </a:lnSpc>
              <a:spcBef>
                <a:spcPct val="20000"/>
              </a:spcBef>
              <a:buFont typeface="Wingdings" pitchFamily="2" charset="2"/>
              <a:buNone/>
            </a:pPr>
            <a:r>
              <a:rPr lang="zh-CN" altLang="en-US" b="1"/>
              <a:t> </a:t>
            </a:r>
          </a:p>
          <a:p>
            <a:pPr marL="342900" indent="-342900" algn="just">
              <a:spcBef>
                <a:spcPct val="20000"/>
              </a:spcBef>
              <a:buFont typeface="Wingdings" pitchFamily="2" charset="2"/>
              <a:buNone/>
            </a:pPr>
            <a:endParaRPr lang="zh-CN" altLang="en-US" b="1"/>
          </a:p>
          <a:p>
            <a:pPr marL="342900" indent="-342900" algn="just">
              <a:spcBef>
                <a:spcPct val="20000"/>
              </a:spcBef>
            </a:pPr>
            <a:endParaRPr lang="en-US" altLang="zh-CN" b="1"/>
          </a:p>
          <a:p>
            <a:pPr marL="342900" indent="-342900" algn="just">
              <a:spcBef>
                <a:spcPct val="20000"/>
              </a:spcBef>
            </a:pPr>
            <a:r>
              <a:rPr lang="en-US" altLang="zh-CN" b="1"/>
              <a:t>              </a:t>
            </a:r>
            <a:endParaRPr lang="zh-CN" altLang="en-US" b="1"/>
          </a:p>
          <a:p>
            <a:pPr marL="342900" indent="-342900" algn="just">
              <a:spcBef>
                <a:spcPct val="20000"/>
              </a:spcBef>
              <a:buFont typeface="Wingdings" pitchFamily="2" charset="2"/>
              <a:buNone/>
            </a:pPr>
            <a:r>
              <a:rPr lang="zh-CN" altLang="en-US" b="1"/>
              <a:t>     </a:t>
            </a:r>
            <a:r>
              <a:rPr lang="en-US" altLang="zh-CN" b="1"/>
              <a:t> </a:t>
            </a:r>
            <a:endParaRPr lang="zh-CN" altLang="en-US" b="1"/>
          </a:p>
          <a:p>
            <a:pPr marL="342900" indent="-342900" algn="just">
              <a:spcBef>
                <a:spcPct val="20000"/>
              </a:spcBef>
              <a:buFont typeface="Wingdings" pitchFamily="2" charset="2"/>
              <a:buNone/>
            </a:pPr>
            <a:endParaRPr lang="en-US" altLang="zh-CN" b="1"/>
          </a:p>
        </p:txBody>
      </p:sp>
      <p:pic>
        <p:nvPicPr>
          <p:cNvPr id="76804" name="Picture 3"/>
          <p:cNvPicPr>
            <a:picLocks noChangeAspect="1" noChangeArrowheads="1"/>
          </p:cNvPicPr>
          <p:nvPr/>
        </p:nvPicPr>
        <p:blipFill>
          <a:blip r:embed="rId2"/>
          <a:srcRect/>
          <a:stretch>
            <a:fillRect/>
          </a:stretch>
        </p:blipFill>
        <p:spPr bwMode="auto">
          <a:xfrm>
            <a:off x="1643063" y="2571750"/>
            <a:ext cx="4929187" cy="638175"/>
          </a:xfrm>
          <a:prstGeom prst="rect">
            <a:avLst/>
          </a:prstGeom>
          <a:noFill/>
          <a:ln w="12700">
            <a:noFill/>
            <a:miter lim="800000"/>
            <a:headEnd/>
            <a:tailEnd/>
          </a:ln>
        </p:spPr>
      </p:pic>
      <p:pic>
        <p:nvPicPr>
          <p:cNvPr id="76805" name="Picture 8" descr="clip_image002">
            <a:hlinkClick r:id="rId3"/>
          </p:cNvPr>
          <p:cNvPicPr>
            <a:picLocks noChangeAspect="1" noChangeArrowheads="1"/>
          </p:cNvPicPr>
          <p:nvPr/>
        </p:nvPicPr>
        <p:blipFill>
          <a:blip r:embed="rId4"/>
          <a:srcRect/>
          <a:stretch>
            <a:fillRect/>
          </a:stretch>
        </p:blipFill>
        <p:spPr bwMode="auto">
          <a:xfrm>
            <a:off x="5711825" y="-90488"/>
            <a:ext cx="76200" cy="200026"/>
          </a:xfrm>
          <a:prstGeom prst="rect">
            <a:avLst/>
          </a:prstGeom>
          <a:noFill/>
          <a:ln w="9525">
            <a:noFill/>
            <a:miter lim="800000"/>
            <a:headEnd/>
            <a:tailEnd/>
          </a:ln>
        </p:spPr>
      </p:pic>
      <p:pic>
        <p:nvPicPr>
          <p:cNvPr id="76806" name="Picture 9" descr="clip_image004">
            <a:hlinkClick r:id="rId5"/>
          </p:cNvPr>
          <p:cNvPicPr>
            <a:picLocks noChangeAspect="1" noChangeArrowheads="1"/>
          </p:cNvPicPr>
          <p:nvPr/>
        </p:nvPicPr>
        <p:blipFill>
          <a:blip r:embed="rId6"/>
          <a:srcRect/>
          <a:stretch>
            <a:fillRect/>
          </a:stretch>
        </p:blipFill>
        <p:spPr bwMode="auto">
          <a:xfrm>
            <a:off x="6308725" y="-90488"/>
            <a:ext cx="133350" cy="200026"/>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400050" y="1157288"/>
            <a:ext cx="8486775" cy="5700712"/>
          </a:xfrm>
          <a:prstGeom prst="rect">
            <a:avLst/>
          </a:prstGeom>
          <a:noFill/>
          <a:ln w="9525">
            <a:noFill/>
            <a:miter lim="800000"/>
            <a:headEnd/>
            <a:tailEnd/>
          </a:ln>
        </p:spPr>
        <p:txBody>
          <a:bodyPr/>
          <a:lstStyle/>
          <a:p>
            <a:pPr marL="342900" indent="-342900" algn="just">
              <a:spcBef>
                <a:spcPct val="20000"/>
              </a:spcBef>
              <a:buFont typeface="Wingdings" pitchFamily="2" charset="2"/>
              <a:buChar char="u"/>
            </a:pPr>
            <a:r>
              <a:rPr lang="zh-CN" altLang="en-US" b="1"/>
              <a:t>缺值数据最大似然估计：</a:t>
            </a:r>
            <a:r>
              <a:rPr lang="en-US" altLang="zh-CN" b="1">
                <a:solidFill>
                  <a:srgbClr val="FF6600"/>
                </a:solidFill>
              </a:rPr>
              <a:t>EM</a:t>
            </a:r>
            <a:r>
              <a:rPr lang="zh-CN" altLang="en-US" b="1">
                <a:solidFill>
                  <a:srgbClr val="FF6600"/>
                </a:solidFill>
              </a:rPr>
              <a:t>算法</a:t>
            </a:r>
            <a:r>
              <a:rPr lang="zh-CN" altLang="en-US" b="1"/>
              <a:t> （迭代算法）</a:t>
            </a:r>
          </a:p>
          <a:p>
            <a:pPr marL="342900" indent="-342900" algn="just">
              <a:spcBef>
                <a:spcPct val="20000"/>
              </a:spcBef>
              <a:buFont typeface="Wingdings" pitchFamily="2" charset="2"/>
              <a:buNone/>
            </a:pPr>
            <a:r>
              <a:rPr lang="en-US" altLang="zh-CN" b="1"/>
              <a:t> 1  </a:t>
            </a:r>
            <a:r>
              <a:rPr lang="zh-CN" altLang="en-US" b="1"/>
              <a:t>期望（</a:t>
            </a:r>
            <a:r>
              <a:rPr lang="en-US" altLang="zh-CN" b="1"/>
              <a:t>Expectation Step</a:t>
            </a:r>
            <a:r>
              <a:rPr lang="zh-CN" altLang="en-US" b="1"/>
              <a:t>）用现有的参数来估计未观察参数 </a:t>
            </a:r>
            <a:endParaRPr lang="en-US" altLang="zh-CN" b="1"/>
          </a:p>
          <a:p>
            <a:pPr marL="342900" indent="-342900" algn="just">
              <a:spcBef>
                <a:spcPct val="20000"/>
              </a:spcBef>
              <a:buFont typeface="Wingdings" pitchFamily="2" charset="2"/>
              <a:buNone/>
            </a:pPr>
            <a:r>
              <a:rPr lang="en-US" altLang="zh-CN" b="1"/>
              <a:t> 2  </a:t>
            </a:r>
            <a:r>
              <a:rPr lang="zh-CN" altLang="en-US" b="1"/>
              <a:t>最大化</a:t>
            </a:r>
            <a:r>
              <a:rPr lang="en-US" altLang="zh-CN" b="1"/>
              <a:t> </a:t>
            </a:r>
            <a:r>
              <a:rPr lang="zh-CN" altLang="en-US" b="1"/>
              <a:t>（</a:t>
            </a:r>
            <a:r>
              <a:rPr lang="en-US" altLang="zh-CN" b="1"/>
              <a:t>Maximization Step</a:t>
            </a:r>
            <a:r>
              <a:rPr lang="zh-CN" altLang="en-US" b="1"/>
              <a:t>）</a:t>
            </a:r>
            <a:r>
              <a:rPr lang="en-US" altLang="zh-CN" b="1"/>
              <a:t> </a:t>
            </a:r>
            <a:r>
              <a:rPr lang="zh-CN" altLang="en-US" b="1"/>
              <a:t>利用估计参数进行参数的</a:t>
            </a:r>
            <a:r>
              <a:rPr lang="en-US" altLang="zh-CN" b="1"/>
              <a:t>ML(</a:t>
            </a:r>
            <a:r>
              <a:rPr lang="zh-CN" altLang="en-US" b="1"/>
              <a:t>最大似然</a:t>
            </a:r>
            <a:r>
              <a:rPr lang="en-US" altLang="zh-CN" b="1"/>
              <a:t>)</a:t>
            </a:r>
            <a:r>
              <a:rPr lang="zh-CN" altLang="en-US" b="1"/>
              <a:t>或者</a:t>
            </a:r>
            <a:r>
              <a:rPr lang="en-US" altLang="zh-CN" b="1"/>
              <a:t>MAP</a:t>
            </a:r>
            <a:r>
              <a:rPr lang="zh-CN" altLang="en-US" b="1"/>
              <a:t>（极大后验概率）估计，将估计值赋给参数。</a:t>
            </a:r>
            <a:endParaRPr lang="en-US" altLang="zh-CN" b="1"/>
          </a:p>
          <a:p>
            <a:pPr marL="342900" indent="-342900" algn="just">
              <a:spcBef>
                <a:spcPct val="20000"/>
              </a:spcBef>
              <a:buFont typeface="Wingdings" pitchFamily="2" charset="2"/>
              <a:buNone/>
            </a:pPr>
            <a:r>
              <a:rPr lang="en-US" altLang="zh-CN" b="1"/>
              <a:t>3    </a:t>
            </a:r>
            <a:r>
              <a:rPr lang="zh-CN" altLang="en-US" b="1"/>
              <a:t>重复</a:t>
            </a:r>
            <a:r>
              <a:rPr lang="en-US" altLang="zh-CN" b="1"/>
              <a:t>EM</a:t>
            </a:r>
            <a:r>
              <a:rPr lang="zh-CN" altLang="en-US" b="1"/>
              <a:t>操作，直到收敛</a:t>
            </a:r>
            <a:r>
              <a:rPr lang="en-US" altLang="zh-CN" b="1"/>
              <a:t> </a:t>
            </a:r>
            <a:r>
              <a:rPr lang="zh-CN" altLang="en-US" b="1"/>
              <a:t>于本地最大可能假设。</a:t>
            </a:r>
            <a:endParaRPr lang="en-US" altLang="zh-CN" b="1"/>
          </a:p>
          <a:p>
            <a:pPr marL="342900" indent="-342900">
              <a:spcBef>
                <a:spcPct val="20000"/>
              </a:spcBef>
            </a:pPr>
            <a:endParaRPr lang="en-US" altLang="zh-CN" b="1"/>
          </a:p>
          <a:p>
            <a:pPr marL="342900" indent="-342900">
              <a:spcBef>
                <a:spcPct val="20000"/>
              </a:spcBef>
            </a:pPr>
            <a:endParaRPr lang="en-US" altLang="zh-CN" b="1"/>
          </a:p>
          <a:p>
            <a:pPr marL="342900" indent="-342900">
              <a:spcBef>
                <a:spcPct val="20000"/>
              </a:spcBef>
            </a:pPr>
            <a:endParaRPr lang="en-US" altLang="zh-CN" b="1"/>
          </a:p>
          <a:p>
            <a:pPr marL="342900" indent="-342900">
              <a:spcBef>
                <a:spcPct val="20000"/>
              </a:spcBef>
            </a:pPr>
            <a:endParaRPr lang="en-US" altLang="zh-CN" b="1"/>
          </a:p>
          <a:p>
            <a:pPr marL="342900" indent="-342900">
              <a:spcBef>
                <a:spcPct val="20000"/>
              </a:spcBef>
            </a:pPr>
            <a:endParaRPr lang="en-US" altLang="zh-CN" b="1"/>
          </a:p>
          <a:p>
            <a:pPr marL="342900" indent="-342900">
              <a:spcBef>
                <a:spcPct val="20000"/>
              </a:spcBef>
            </a:pPr>
            <a:endParaRPr lang="zh-CN" altLang="en-US" b="1"/>
          </a:p>
          <a:p>
            <a:pPr marL="342900" indent="-342900">
              <a:spcBef>
                <a:spcPct val="20000"/>
              </a:spcBef>
            </a:pPr>
            <a:endParaRPr lang="zh-CN" altLang="en-US" b="1"/>
          </a:p>
          <a:p>
            <a:pPr marL="342900" indent="-342900">
              <a:spcBef>
                <a:spcPct val="20000"/>
              </a:spcBef>
            </a:pPr>
            <a:endParaRPr lang="zh-CN" altLang="en-US" b="1"/>
          </a:p>
          <a:p>
            <a:pPr marL="342900" indent="-342900">
              <a:spcBef>
                <a:spcPct val="20000"/>
              </a:spcBef>
            </a:pPr>
            <a:endParaRPr lang="en-US" altLang="zh-CN" b="1"/>
          </a:p>
          <a:p>
            <a:pPr marL="342900" indent="-342900">
              <a:spcBef>
                <a:spcPct val="20000"/>
              </a:spcBef>
            </a:pPr>
            <a:endParaRPr lang="en-US" altLang="zh-CN" b="1"/>
          </a:p>
          <a:p>
            <a:pPr marL="342900" indent="-342900">
              <a:spcBef>
                <a:spcPct val="20000"/>
              </a:spcBef>
            </a:pPr>
            <a:r>
              <a:rPr lang="en-US" altLang="zh-CN" b="1"/>
              <a:t> </a:t>
            </a:r>
            <a:endParaRPr lang="zh-CN" altLang="en-US" b="1"/>
          </a:p>
        </p:txBody>
      </p:sp>
      <p:sp>
        <p:nvSpPr>
          <p:cNvPr id="77827" name="TextBox 3"/>
          <p:cNvSpPr txBox="1">
            <a:spLocks noChangeArrowheads="1"/>
          </p:cNvSpPr>
          <p:nvPr/>
        </p:nvSpPr>
        <p:spPr bwMode="auto">
          <a:xfrm>
            <a:off x="1714500" y="142875"/>
            <a:ext cx="5827713"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贝叶斯网络的参数学习</a:t>
            </a:r>
          </a:p>
        </p:txBody>
      </p:sp>
      <p:sp>
        <p:nvSpPr>
          <p:cNvPr id="77828" name="矩形 5"/>
          <p:cNvSpPr>
            <a:spLocks noChangeArrowheads="1"/>
          </p:cNvSpPr>
          <p:nvPr/>
        </p:nvSpPr>
        <p:spPr bwMode="auto">
          <a:xfrm>
            <a:off x="428625" y="3000375"/>
            <a:ext cx="8001000" cy="3294063"/>
          </a:xfrm>
          <a:prstGeom prst="rect">
            <a:avLst/>
          </a:prstGeom>
          <a:noFill/>
          <a:ln w="9525">
            <a:noFill/>
            <a:miter lim="800000"/>
            <a:headEnd/>
            <a:tailEnd/>
          </a:ln>
        </p:spPr>
        <p:txBody>
          <a:bodyPr>
            <a:spAutoFit/>
          </a:bodyPr>
          <a:lstStyle/>
          <a:p>
            <a:pPr>
              <a:lnSpc>
                <a:spcPct val="130000"/>
              </a:lnSpc>
            </a:pPr>
            <a:r>
              <a:rPr lang="zh-CN" altLang="en-US"/>
              <a:t>        可以有一些比较形象的比喻说法把这个算法讲清楚。比如说食堂的大师傅炒了一份菜，要等分成两份给两个人吃，显然没有必要拿来天平一点一点的精确的去称分量，最简单的办法是先随意的把菜分到两个碗中，然后观察是否一样多，把比较多的那一份取出一点放到另一个碗中，这个过程一直迭代地执行下去，直到大家看不出两个碗所容纳的菜有什么分量上的不同为止。</a:t>
            </a:r>
            <a:endParaRPr lang="en-US" altLang="zh-CN"/>
          </a:p>
          <a:p>
            <a:pPr>
              <a:lnSpc>
                <a:spcPct val="130000"/>
              </a:lnSpc>
            </a:pPr>
            <a:r>
              <a:rPr lang="en-US" altLang="zh-CN"/>
              <a:t>       EM</a:t>
            </a:r>
            <a:r>
              <a:rPr lang="zh-CN" altLang="en-US"/>
              <a:t>算法就是这样，假设我们估计知道</a:t>
            </a:r>
            <a:r>
              <a:rPr lang="en-US" altLang="zh-CN"/>
              <a:t>A</a:t>
            </a:r>
            <a:r>
              <a:rPr lang="zh-CN" altLang="en-US"/>
              <a:t>和</a:t>
            </a:r>
            <a:r>
              <a:rPr lang="en-US" altLang="zh-CN"/>
              <a:t>B</a:t>
            </a:r>
            <a:r>
              <a:rPr lang="zh-CN" altLang="en-US"/>
              <a:t>两个参数，在开始状态下二者都是未知的，并且知道了</a:t>
            </a:r>
            <a:r>
              <a:rPr lang="en-US" altLang="zh-CN"/>
              <a:t>A</a:t>
            </a:r>
            <a:r>
              <a:rPr lang="zh-CN" altLang="en-US"/>
              <a:t>的信息就可以得到</a:t>
            </a:r>
            <a:r>
              <a:rPr lang="en-US" altLang="zh-CN"/>
              <a:t>B</a:t>
            </a:r>
            <a:r>
              <a:rPr lang="zh-CN" altLang="en-US"/>
              <a:t>的信息，反过来知道了</a:t>
            </a:r>
            <a:r>
              <a:rPr lang="en-US" altLang="zh-CN"/>
              <a:t>B</a:t>
            </a:r>
            <a:r>
              <a:rPr lang="zh-CN" altLang="en-US"/>
              <a:t>也就得到了</a:t>
            </a:r>
            <a:r>
              <a:rPr lang="en-US" altLang="zh-CN"/>
              <a:t>A</a:t>
            </a:r>
            <a:r>
              <a:rPr lang="zh-CN" altLang="en-US"/>
              <a:t>。可以考虑首先赋予</a:t>
            </a:r>
            <a:r>
              <a:rPr lang="en-US" altLang="zh-CN"/>
              <a:t>A</a:t>
            </a:r>
            <a:r>
              <a:rPr lang="zh-CN" altLang="en-US"/>
              <a:t>某种初值，以此得到</a:t>
            </a:r>
            <a:r>
              <a:rPr lang="en-US" altLang="zh-CN"/>
              <a:t>B</a:t>
            </a:r>
            <a:r>
              <a:rPr lang="zh-CN" altLang="en-US"/>
              <a:t>的估计值，然后从</a:t>
            </a:r>
            <a:r>
              <a:rPr lang="en-US" altLang="zh-CN"/>
              <a:t>B</a:t>
            </a:r>
            <a:r>
              <a:rPr lang="zh-CN" altLang="en-US"/>
              <a:t>的当前值出发，重新估计</a:t>
            </a:r>
            <a:r>
              <a:rPr lang="en-US" altLang="zh-CN"/>
              <a:t>A</a:t>
            </a:r>
            <a:r>
              <a:rPr lang="zh-CN" altLang="en-US"/>
              <a:t>的取值，这个过程一直持续到收敛为止。</a:t>
            </a:r>
          </a:p>
        </p:txBody>
      </p:sp>
    </p:spTree>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extBox 1"/>
          <p:cNvSpPr txBox="1">
            <a:spLocks noChangeArrowheads="1"/>
          </p:cNvSpPr>
          <p:nvPr/>
        </p:nvSpPr>
        <p:spPr bwMode="auto">
          <a:xfrm>
            <a:off x="2143125" y="214313"/>
            <a:ext cx="4133850" cy="769937"/>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贝叶斯网络举例</a:t>
            </a:r>
          </a:p>
        </p:txBody>
      </p:sp>
      <p:sp>
        <p:nvSpPr>
          <p:cNvPr id="78851" name="TextBox 3"/>
          <p:cNvSpPr txBox="1">
            <a:spLocks noChangeArrowheads="1"/>
          </p:cNvSpPr>
          <p:nvPr/>
        </p:nvSpPr>
        <p:spPr bwMode="auto">
          <a:xfrm>
            <a:off x="642938" y="1000125"/>
            <a:ext cx="8001000" cy="1477963"/>
          </a:xfrm>
          <a:prstGeom prst="rect">
            <a:avLst/>
          </a:prstGeom>
          <a:noFill/>
          <a:ln w="9525">
            <a:noFill/>
            <a:miter lim="800000"/>
            <a:headEnd/>
            <a:tailEnd/>
          </a:ln>
        </p:spPr>
        <p:txBody>
          <a:bodyPr>
            <a:spAutoFit/>
          </a:bodyPr>
          <a:lstStyle/>
          <a:p>
            <a:r>
              <a:rPr lang="zh-CN" altLang="en-US"/>
              <a:t>给定下表的训练集，数据样本属性为</a:t>
            </a:r>
            <a:r>
              <a:rPr lang="en-US" altLang="zh-CN"/>
              <a:t>X0 = age</a:t>
            </a:r>
            <a:r>
              <a:rPr lang="zh-CN" altLang="en-US"/>
              <a:t>，</a:t>
            </a:r>
            <a:r>
              <a:rPr lang="en-US" altLang="zh-CN"/>
              <a:t>X1= income</a:t>
            </a:r>
            <a:r>
              <a:rPr lang="zh-CN" altLang="en-US"/>
              <a:t>， </a:t>
            </a:r>
            <a:r>
              <a:rPr lang="en-US" altLang="zh-CN"/>
              <a:t>X2= student</a:t>
            </a:r>
            <a:r>
              <a:rPr lang="zh-CN" altLang="en-US"/>
              <a:t>，</a:t>
            </a:r>
            <a:r>
              <a:rPr lang="en-US" altLang="zh-CN"/>
              <a:t>X3=credit_rating</a:t>
            </a:r>
            <a:r>
              <a:rPr lang="zh-CN" altLang="en-US"/>
              <a:t>描述。类别标号属性</a:t>
            </a:r>
            <a:r>
              <a:rPr lang="en-US" altLang="zh-CN"/>
              <a:t>C=buy_computer,</a:t>
            </a:r>
            <a:r>
              <a:rPr lang="zh-CN" altLang="en-US"/>
              <a:t>且有两个不同值（</a:t>
            </a:r>
            <a:r>
              <a:rPr lang="en-US" altLang="zh-CN"/>
              <a:t>{yes</a:t>
            </a:r>
            <a:r>
              <a:rPr lang="zh-CN" altLang="en-US"/>
              <a:t>，</a:t>
            </a:r>
            <a:r>
              <a:rPr lang="en-US" altLang="zh-CN"/>
              <a:t>no}</a:t>
            </a:r>
            <a:r>
              <a:rPr lang="zh-CN" altLang="en-US"/>
              <a:t>）。设</a:t>
            </a:r>
            <a:r>
              <a:rPr lang="en-US" altLang="zh-CN"/>
              <a:t>C0</a:t>
            </a:r>
            <a:r>
              <a:rPr lang="zh-CN" altLang="en-US"/>
              <a:t>对应于类</a:t>
            </a:r>
            <a:r>
              <a:rPr lang="en-US" altLang="zh-CN"/>
              <a:t>buy_computer=</a:t>
            </a:r>
            <a:r>
              <a:rPr lang="zh-CN" altLang="en-US"/>
              <a:t>‘</a:t>
            </a:r>
            <a:r>
              <a:rPr lang="en-US" altLang="zh-CN"/>
              <a:t>yes</a:t>
            </a:r>
            <a:r>
              <a:rPr lang="zh-CN" altLang="en-US"/>
              <a:t>’，</a:t>
            </a:r>
            <a:r>
              <a:rPr lang="en-US" altLang="zh-CN"/>
              <a:t>C1</a:t>
            </a:r>
            <a:r>
              <a:rPr lang="zh-CN" altLang="en-US"/>
              <a:t>对应与‘</a:t>
            </a:r>
            <a:r>
              <a:rPr lang="en-US" altLang="zh-CN"/>
              <a:t>no</a:t>
            </a:r>
            <a:r>
              <a:rPr lang="zh-CN" altLang="en-US"/>
              <a:t>’。</a:t>
            </a:r>
            <a:endParaRPr lang="en-US" altLang="zh-CN"/>
          </a:p>
          <a:p>
            <a:r>
              <a:rPr lang="zh-CN" altLang="en-US"/>
              <a:t> 待分类样本为（</a:t>
            </a:r>
            <a:r>
              <a:rPr lang="en-US" altLang="zh-CN"/>
              <a:t>age = </a:t>
            </a:r>
            <a:r>
              <a:rPr lang="zh-CN" altLang="en-US"/>
              <a:t>“</a:t>
            </a:r>
            <a:r>
              <a:rPr lang="en-US" altLang="zh-CN"/>
              <a:t>&lt; = 30”, income = “medium”,  student = “yes”,</a:t>
            </a:r>
          </a:p>
          <a:p>
            <a:r>
              <a:rPr lang="en-US" altLang="zh-CN"/>
              <a:t>    credit_rating =  “fair” </a:t>
            </a:r>
            <a:r>
              <a:rPr lang="zh-CN" altLang="en-US"/>
              <a:t>），判断他是否会买电脑。</a:t>
            </a:r>
          </a:p>
        </p:txBody>
      </p:sp>
      <p:pic>
        <p:nvPicPr>
          <p:cNvPr id="78852" name="Picture 2"/>
          <p:cNvPicPr>
            <a:picLocks noChangeAspect="1" noChangeArrowheads="1"/>
          </p:cNvPicPr>
          <p:nvPr/>
        </p:nvPicPr>
        <p:blipFill>
          <a:blip r:embed="rId2"/>
          <a:srcRect/>
          <a:stretch>
            <a:fillRect/>
          </a:stretch>
        </p:blipFill>
        <p:spPr bwMode="auto">
          <a:xfrm>
            <a:off x="857250" y="2428875"/>
            <a:ext cx="6786563" cy="4291013"/>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Box 1"/>
          <p:cNvSpPr txBox="1">
            <a:spLocks noChangeArrowheads="1"/>
          </p:cNvSpPr>
          <p:nvPr/>
        </p:nvSpPr>
        <p:spPr bwMode="auto">
          <a:xfrm>
            <a:off x="1214438" y="928688"/>
            <a:ext cx="6929437" cy="923925"/>
          </a:xfrm>
          <a:prstGeom prst="rect">
            <a:avLst/>
          </a:prstGeom>
          <a:noFill/>
          <a:ln w="9525">
            <a:noFill/>
            <a:miter lim="800000"/>
            <a:headEnd/>
            <a:tailEnd/>
          </a:ln>
        </p:spPr>
        <p:txBody>
          <a:bodyPr>
            <a:spAutoFit/>
          </a:bodyPr>
          <a:lstStyle/>
          <a:p>
            <a:r>
              <a:rPr lang="zh-CN" altLang="en-US"/>
              <a:t>由于贝叶斯网络建立过程计算量比较大，这里应用数据挖掘软件</a:t>
            </a:r>
            <a:r>
              <a:rPr lang="en-US" altLang="zh-CN"/>
              <a:t>weka</a:t>
            </a:r>
            <a:r>
              <a:rPr lang="zh-CN" altLang="en-US"/>
              <a:t>进行结构学习。</a:t>
            </a:r>
            <a:endParaRPr lang="en-US" altLang="zh-CN"/>
          </a:p>
          <a:p>
            <a:r>
              <a:rPr lang="zh-CN" altLang="en-US"/>
              <a:t>利用</a:t>
            </a:r>
            <a:r>
              <a:rPr lang="en-US" altLang="zh-CN"/>
              <a:t>weka</a:t>
            </a:r>
            <a:r>
              <a:rPr lang="zh-CN" altLang="en-US"/>
              <a:t>得到的贝叶斯网络结构如下</a:t>
            </a:r>
          </a:p>
        </p:txBody>
      </p:sp>
      <p:pic>
        <p:nvPicPr>
          <p:cNvPr id="79875" name="Picture 2"/>
          <p:cNvPicPr>
            <a:picLocks noChangeAspect="1" noChangeArrowheads="1"/>
          </p:cNvPicPr>
          <p:nvPr/>
        </p:nvPicPr>
        <p:blipFill>
          <a:blip r:embed="rId2"/>
          <a:srcRect/>
          <a:stretch>
            <a:fillRect/>
          </a:stretch>
        </p:blipFill>
        <p:spPr bwMode="auto">
          <a:xfrm>
            <a:off x="1071563" y="2143125"/>
            <a:ext cx="6596062" cy="3357563"/>
          </a:xfrm>
          <a:prstGeom prst="rect">
            <a:avLst/>
          </a:prstGeom>
          <a:noFill/>
          <a:ln w="9525">
            <a:noFill/>
            <a:miter lim="800000"/>
            <a:headEnd/>
            <a:tailEnd/>
          </a:ln>
        </p:spPr>
      </p:pic>
      <p:sp>
        <p:nvSpPr>
          <p:cNvPr id="79876" name="TextBox 3"/>
          <p:cNvSpPr txBox="1">
            <a:spLocks noChangeArrowheads="1"/>
          </p:cNvSpPr>
          <p:nvPr/>
        </p:nvSpPr>
        <p:spPr bwMode="auto">
          <a:xfrm>
            <a:off x="1714500" y="357188"/>
            <a:ext cx="1357313" cy="400050"/>
          </a:xfrm>
          <a:prstGeom prst="rect">
            <a:avLst/>
          </a:prstGeom>
          <a:solidFill>
            <a:schemeClr val="accent2"/>
          </a:solidFill>
          <a:ln w="9525">
            <a:noFill/>
            <a:miter lim="800000"/>
            <a:headEnd/>
            <a:tailEnd/>
          </a:ln>
        </p:spPr>
        <p:txBody>
          <a:bodyPr>
            <a:spAutoFit/>
          </a:bodyPr>
          <a:lstStyle/>
          <a:p>
            <a:r>
              <a:rPr lang="zh-CN" altLang="en-US" sz="2000"/>
              <a:t>结构学习</a:t>
            </a:r>
          </a:p>
        </p:txBody>
      </p:sp>
      <p:sp>
        <p:nvSpPr>
          <p:cNvPr id="5" name="线形标注 1 4"/>
          <p:cNvSpPr/>
          <p:nvPr/>
        </p:nvSpPr>
        <p:spPr>
          <a:xfrm>
            <a:off x="4000500" y="1785938"/>
            <a:ext cx="914400" cy="612775"/>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income</a:t>
            </a:r>
            <a:endParaRPr lang="zh-CN" altLang="en-US" dirty="0"/>
          </a:p>
        </p:txBody>
      </p:sp>
      <p:sp>
        <p:nvSpPr>
          <p:cNvPr id="6" name="线形标注 1 5"/>
          <p:cNvSpPr/>
          <p:nvPr/>
        </p:nvSpPr>
        <p:spPr>
          <a:xfrm>
            <a:off x="6572250" y="2643188"/>
            <a:ext cx="914400" cy="612775"/>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student</a:t>
            </a:r>
            <a:endParaRPr lang="zh-CN" altLang="en-US" dirty="0"/>
          </a:p>
        </p:txBody>
      </p:sp>
      <p:sp>
        <p:nvSpPr>
          <p:cNvPr id="7" name="线形标注 1 6"/>
          <p:cNvSpPr/>
          <p:nvPr/>
        </p:nvSpPr>
        <p:spPr>
          <a:xfrm>
            <a:off x="7215188" y="3857625"/>
            <a:ext cx="1785937" cy="612775"/>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err="1"/>
              <a:t>Buy_computer</a:t>
            </a:r>
            <a:endParaRPr lang="zh-CN" altLang="en-US" dirty="0"/>
          </a:p>
        </p:txBody>
      </p:sp>
      <p:sp>
        <p:nvSpPr>
          <p:cNvPr id="8" name="线形标注 1 7"/>
          <p:cNvSpPr/>
          <p:nvPr/>
        </p:nvSpPr>
        <p:spPr>
          <a:xfrm>
            <a:off x="4286250" y="3571875"/>
            <a:ext cx="914400" cy="612775"/>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age</a:t>
            </a:r>
            <a:endParaRPr lang="zh-CN" altLang="en-US" dirty="0"/>
          </a:p>
        </p:txBody>
      </p:sp>
      <p:sp>
        <p:nvSpPr>
          <p:cNvPr id="9" name="线形标注 1 8"/>
          <p:cNvSpPr/>
          <p:nvPr/>
        </p:nvSpPr>
        <p:spPr>
          <a:xfrm>
            <a:off x="2214563" y="3071813"/>
            <a:ext cx="1571625" cy="612775"/>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err="1"/>
              <a:t>credit_rating</a:t>
            </a:r>
            <a:endParaRPr lang="zh-CN" altLang="en-US" dirty="0"/>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Box 1"/>
          <p:cNvSpPr txBox="1">
            <a:spLocks noChangeArrowheads="1"/>
          </p:cNvSpPr>
          <p:nvPr/>
        </p:nvSpPr>
        <p:spPr bwMode="auto">
          <a:xfrm>
            <a:off x="1714500" y="357188"/>
            <a:ext cx="1357313" cy="400050"/>
          </a:xfrm>
          <a:prstGeom prst="rect">
            <a:avLst/>
          </a:prstGeom>
          <a:solidFill>
            <a:schemeClr val="accent2"/>
          </a:solidFill>
          <a:ln w="9525">
            <a:noFill/>
            <a:miter lim="800000"/>
            <a:headEnd/>
            <a:tailEnd/>
          </a:ln>
        </p:spPr>
        <p:txBody>
          <a:bodyPr>
            <a:spAutoFit/>
          </a:bodyPr>
          <a:lstStyle/>
          <a:p>
            <a:r>
              <a:rPr lang="zh-CN" altLang="en-US" sz="2000"/>
              <a:t>参数学习</a:t>
            </a:r>
          </a:p>
        </p:txBody>
      </p:sp>
      <p:sp>
        <p:nvSpPr>
          <p:cNvPr id="80899" name="TextBox 2"/>
          <p:cNvSpPr txBox="1">
            <a:spLocks noChangeArrowheads="1"/>
          </p:cNvSpPr>
          <p:nvPr/>
        </p:nvSpPr>
        <p:spPr bwMode="auto">
          <a:xfrm>
            <a:off x="1071563" y="1071563"/>
            <a:ext cx="6286500" cy="646112"/>
          </a:xfrm>
          <a:prstGeom prst="rect">
            <a:avLst/>
          </a:prstGeom>
          <a:noFill/>
          <a:ln w="9525">
            <a:noFill/>
            <a:miter lim="800000"/>
            <a:headEnd/>
            <a:tailEnd/>
          </a:ln>
        </p:spPr>
        <p:txBody>
          <a:bodyPr>
            <a:spAutoFit/>
          </a:bodyPr>
          <a:lstStyle/>
          <a:p>
            <a:r>
              <a:rPr lang="zh-CN" altLang="en-US"/>
              <a:t>建立贝叶斯网络的参数</a:t>
            </a:r>
            <a:endParaRPr lang="en-US" altLang="zh-CN"/>
          </a:p>
          <a:p>
            <a:r>
              <a:rPr lang="zh-CN" altLang="en-US"/>
              <a:t>分别建立各节点的条件概率表，即</a:t>
            </a:r>
            <a:r>
              <a:rPr lang="en-US" altLang="zh-CN"/>
              <a:t>CPT</a:t>
            </a:r>
            <a:r>
              <a:rPr lang="zh-CN" altLang="en-US"/>
              <a:t>。</a:t>
            </a:r>
          </a:p>
        </p:txBody>
      </p:sp>
      <p:pic>
        <p:nvPicPr>
          <p:cNvPr id="80900" name="Picture 2"/>
          <p:cNvPicPr>
            <a:picLocks noChangeAspect="1" noChangeArrowheads="1"/>
          </p:cNvPicPr>
          <p:nvPr/>
        </p:nvPicPr>
        <p:blipFill>
          <a:blip r:embed="rId2"/>
          <a:srcRect/>
          <a:stretch>
            <a:fillRect/>
          </a:stretch>
        </p:blipFill>
        <p:spPr bwMode="auto">
          <a:xfrm>
            <a:off x="571500" y="1857375"/>
            <a:ext cx="8313738" cy="3776663"/>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2"/>
          <a:srcRect/>
          <a:stretch>
            <a:fillRect/>
          </a:stretch>
        </p:blipFill>
        <p:spPr bwMode="auto">
          <a:xfrm>
            <a:off x="357188" y="928688"/>
            <a:ext cx="8429625" cy="4500562"/>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2"/>
          <a:srcRect/>
          <a:stretch>
            <a:fillRect/>
          </a:stretch>
        </p:blipFill>
        <p:spPr bwMode="auto">
          <a:xfrm>
            <a:off x="5572125" y="428625"/>
            <a:ext cx="3289300" cy="3357563"/>
          </a:xfrm>
          <a:prstGeom prst="rect">
            <a:avLst/>
          </a:prstGeom>
          <a:noFill/>
          <a:ln w="9525">
            <a:noFill/>
            <a:miter lim="800000"/>
            <a:headEnd/>
            <a:tailEnd/>
          </a:ln>
        </p:spPr>
      </p:pic>
      <p:sp>
        <p:nvSpPr>
          <p:cNvPr id="82947" name="TextBox 3"/>
          <p:cNvSpPr txBox="1">
            <a:spLocks noChangeArrowheads="1"/>
          </p:cNvSpPr>
          <p:nvPr/>
        </p:nvSpPr>
        <p:spPr bwMode="auto">
          <a:xfrm>
            <a:off x="1428750" y="285750"/>
            <a:ext cx="3000375" cy="400050"/>
          </a:xfrm>
          <a:prstGeom prst="rect">
            <a:avLst/>
          </a:prstGeom>
          <a:solidFill>
            <a:schemeClr val="accent2"/>
          </a:solidFill>
          <a:ln w="9525">
            <a:noFill/>
            <a:miter lim="800000"/>
            <a:headEnd/>
            <a:tailEnd/>
          </a:ln>
        </p:spPr>
        <p:txBody>
          <a:bodyPr>
            <a:spAutoFit/>
          </a:bodyPr>
          <a:lstStyle/>
          <a:p>
            <a:r>
              <a:rPr lang="zh-CN" altLang="en-US" sz="2000"/>
              <a:t>贝叶斯网络的知识推理</a:t>
            </a:r>
          </a:p>
        </p:txBody>
      </p:sp>
      <p:sp>
        <p:nvSpPr>
          <p:cNvPr id="82948" name="TextBox 4"/>
          <p:cNvSpPr txBox="1">
            <a:spLocks noChangeArrowheads="1"/>
          </p:cNvSpPr>
          <p:nvPr/>
        </p:nvSpPr>
        <p:spPr bwMode="auto">
          <a:xfrm>
            <a:off x="285750" y="928688"/>
            <a:ext cx="5357813" cy="1754187"/>
          </a:xfrm>
          <a:prstGeom prst="rect">
            <a:avLst/>
          </a:prstGeom>
          <a:noFill/>
          <a:ln w="9525">
            <a:noFill/>
            <a:miter lim="800000"/>
            <a:headEnd/>
            <a:tailEnd/>
          </a:ln>
        </p:spPr>
        <p:txBody>
          <a:bodyPr>
            <a:spAutoFit/>
          </a:bodyPr>
          <a:lstStyle/>
          <a:p>
            <a:r>
              <a:rPr lang="zh-CN" altLang="en-US"/>
              <a:t>待分类样本为</a:t>
            </a:r>
            <a:r>
              <a:rPr lang="en-US" altLang="zh-CN"/>
              <a:t>age = </a:t>
            </a:r>
            <a:r>
              <a:rPr lang="zh-CN" altLang="en-US"/>
              <a:t>“</a:t>
            </a:r>
            <a:r>
              <a:rPr lang="en-US" altLang="zh-CN"/>
              <a:t>&lt; = 30”, income = “medium”,      student = “yes”,    credit_rating =  “fair” </a:t>
            </a:r>
            <a:r>
              <a:rPr lang="zh-CN" altLang="en-US"/>
              <a:t>）</a:t>
            </a:r>
            <a:endParaRPr lang="en-US" altLang="zh-CN"/>
          </a:p>
          <a:p>
            <a:r>
              <a:rPr lang="zh-CN" altLang="en-US"/>
              <a:t>由于</a:t>
            </a:r>
            <a:r>
              <a:rPr lang="en-US" altLang="zh-CN"/>
              <a:t>P(C|X) = P(C,X)/P(X) </a:t>
            </a:r>
            <a:r>
              <a:rPr lang="zh-CN" altLang="en-US"/>
              <a:t>。所以分类时只需要计算</a:t>
            </a:r>
            <a:r>
              <a:rPr lang="en-US" altLang="zh-CN"/>
              <a:t>P(C0,X)</a:t>
            </a:r>
            <a:r>
              <a:rPr lang="zh-CN" altLang="en-US"/>
              <a:t>和</a:t>
            </a:r>
            <a:r>
              <a:rPr lang="en-US" altLang="zh-CN"/>
              <a:t>P(C1,X).</a:t>
            </a:r>
          </a:p>
          <a:p>
            <a:r>
              <a:rPr lang="en-US" altLang="zh-CN"/>
              <a:t>   </a:t>
            </a:r>
            <a:endParaRPr lang="zh-CN" altLang="en-US"/>
          </a:p>
          <a:p>
            <a:endParaRPr lang="zh-CN" altLang="en-US"/>
          </a:p>
        </p:txBody>
      </p:sp>
      <p:pic>
        <p:nvPicPr>
          <p:cNvPr id="82949" name="Picture 2"/>
          <p:cNvPicPr>
            <a:picLocks noChangeAspect="1" noChangeArrowheads="1"/>
          </p:cNvPicPr>
          <p:nvPr/>
        </p:nvPicPr>
        <p:blipFill>
          <a:blip r:embed="rId3"/>
          <a:srcRect/>
          <a:stretch>
            <a:fillRect/>
          </a:stretch>
        </p:blipFill>
        <p:spPr bwMode="auto">
          <a:xfrm>
            <a:off x="500063" y="2571750"/>
            <a:ext cx="5067300" cy="2600325"/>
          </a:xfrm>
          <a:prstGeom prst="rect">
            <a:avLst/>
          </a:prstGeom>
          <a:noFill/>
          <a:ln w="9525">
            <a:noFill/>
            <a:miter lim="800000"/>
            <a:headEnd/>
            <a:tailEnd/>
          </a:ln>
        </p:spPr>
      </p:pic>
      <p:sp>
        <p:nvSpPr>
          <p:cNvPr id="82950" name="TextBox 6"/>
          <p:cNvSpPr txBox="1">
            <a:spLocks noChangeArrowheads="1"/>
          </p:cNvSpPr>
          <p:nvPr/>
        </p:nvSpPr>
        <p:spPr bwMode="auto">
          <a:xfrm>
            <a:off x="571500" y="5500688"/>
            <a:ext cx="6858000" cy="369887"/>
          </a:xfrm>
          <a:prstGeom prst="rect">
            <a:avLst/>
          </a:prstGeom>
          <a:noFill/>
          <a:ln w="9525">
            <a:noFill/>
            <a:miter lim="800000"/>
            <a:headEnd/>
            <a:tailEnd/>
          </a:ln>
        </p:spPr>
        <p:txBody>
          <a:bodyPr>
            <a:spAutoFit/>
          </a:bodyPr>
          <a:lstStyle/>
          <a:p>
            <a:r>
              <a:rPr lang="zh-CN" altLang="en-US"/>
              <a:t>因此，对于样本</a:t>
            </a:r>
            <a:r>
              <a:rPr lang="en-US" altLang="zh-CN"/>
              <a:t>X</a:t>
            </a:r>
            <a:r>
              <a:rPr lang="zh-CN" altLang="en-US"/>
              <a:t>，贝叶斯网络分类器预测 </a:t>
            </a:r>
            <a:r>
              <a:rPr lang="en-US" altLang="zh-CN"/>
              <a:t>buy_computer = “yes”.</a:t>
            </a:r>
            <a:endParaRPr lang="zh-CN" altLang="en-US"/>
          </a:p>
        </p:txBody>
      </p:sp>
    </p:spTree>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txBox="1">
            <a:spLocks noChangeArrowheads="1"/>
          </p:cNvSpPr>
          <p:nvPr/>
        </p:nvSpPr>
        <p:spPr>
          <a:xfrm>
            <a:off x="714375" y="1428750"/>
            <a:ext cx="7591425" cy="6076950"/>
          </a:xfrm>
          <a:prstGeom prst="rect">
            <a:avLst/>
          </a:prstGeom>
          <a:noFill/>
          <a:ln/>
        </p:spPr>
        <p:txBody>
          <a:bodyPr lIns="90488" tIns="44450" rIns="90488" bIns="44450"/>
          <a:lstStyle/>
          <a:p>
            <a:pPr marL="342900" indent="-342900" eaLnBrk="0" hangingPunct="0">
              <a:buFont typeface="Wingdings" pitchFamily="2" charset="2"/>
              <a:buChar char="l"/>
              <a:defRPr/>
            </a:pPr>
            <a:r>
              <a:rPr lang="zh-CN" altLang="en-US" sz="2400" dirty="0">
                <a:latin typeface="+mn-lt"/>
              </a:rPr>
              <a:t>医疗诊断，</a:t>
            </a:r>
          </a:p>
          <a:p>
            <a:pPr marL="342900" indent="-342900" eaLnBrk="0" hangingPunct="0">
              <a:buFont typeface="Wingdings" pitchFamily="2" charset="2"/>
              <a:buChar char="l"/>
              <a:defRPr/>
            </a:pPr>
            <a:r>
              <a:rPr lang="zh-CN" altLang="en-US" sz="2400" dirty="0">
                <a:latin typeface="+mn-lt"/>
              </a:rPr>
              <a:t>工业，</a:t>
            </a:r>
          </a:p>
          <a:p>
            <a:pPr marL="342900" indent="-342900" eaLnBrk="0" hangingPunct="0">
              <a:buFont typeface="Wingdings" pitchFamily="2" charset="2"/>
              <a:buChar char="l"/>
              <a:defRPr/>
            </a:pPr>
            <a:r>
              <a:rPr lang="zh-CN" altLang="en-US" sz="2400" dirty="0">
                <a:latin typeface="+mn-lt"/>
              </a:rPr>
              <a:t>金融分析，</a:t>
            </a:r>
          </a:p>
          <a:p>
            <a:pPr marL="342900" indent="-342900" eaLnBrk="0" hangingPunct="0">
              <a:buFont typeface="Wingdings" pitchFamily="2" charset="2"/>
              <a:buChar char="l"/>
              <a:defRPr/>
            </a:pPr>
            <a:r>
              <a:rPr lang="zh-CN" altLang="en-US" sz="2400" dirty="0">
                <a:latin typeface="+mn-lt"/>
              </a:rPr>
              <a:t>计算机（微软</a:t>
            </a:r>
            <a:r>
              <a:rPr lang="en-US" altLang="zh-CN" sz="2400" dirty="0" err="1">
                <a:latin typeface="+mn-lt"/>
              </a:rPr>
              <a:t>Windows,Office</a:t>
            </a:r>
            <a:r>
              <a:rPr lang="zh-CN" altLang="en-US" sz="2400" dirty="0">
                <a:latin typeface="+mn-lt"/>
              </a:rPr>
              <a:t>），</a:t>
            </a:r>
          </a:p>
          <a:p>
            <a:pPr marL="342900" indent="-342900" eaLnBrk="0" hangingPunct="0">
              <a:buFont typeface="Wingdings" pitchFamily="2" charset="2"/>
              <a:buChar char="l"/>
              <a:defRPr/>
            </a:pPr>
            <a:r>
              <a:rPr lang="zh-CN" altLang="en-US" sz="2400" dirty="0">
                <a:latin typeface="+mn-lt"/>
              </a:rPr>
              <a:t>模式识别：分类，语义理解</a:t>
            </a:r>
          </a:p>
          <a:p>
            <a:pPr marL="342900" indent="-342900" eaLnBrk="0" hangingPunct="0">
              <a:buFont typeface="Wingdings" pitchFamily="2" charset="2"/>
              <a:buChar char="l"/>
              <a:defRPr/>
            </a:pPr>
            <a:r>
              <a:rPr lang="zh-CN" altLang="en-US" sz="2400" dirty="0">
                <a:latin typeface="+mn-lt"/>
              </a:rPr>
              <a:t>军事（目标识别，多目标跟踪，战争身份识别等），</a:t>
            </a:r>
          </a:p>
          <a:p>
            <a:pPr marL="342900" indent="-342900" eaLnBrk="0" hangingPunct="0">
              <a:buFont typeface="Wingdings" pitchFamily="2" charset="2"/>
              <a:buChar char="l"/>
              <a:defRPr/>
            </a:pPr>
            <a:r>
              <a:rPr lang="zh-CN" altLang="en-US" sz="2400" dirty="0">
                <a:latin typeface="+mn-lt"/>
              </a:rPr>
              <a:t>生态学，</a:t>
            </a:r>
          </a:p>
          <a:p>
            <a:pPr marL="342900" indent="-342900" eaLnBrk="0" hangingPunct="0">
              <a:buFont typeface="Wingdings" pitchFamily="2" charset="2"/>
              <a:buChar char="l"/>
              <a:defRPr/>
            </a:pPr>
            <a:r>
              <a:rPr lang="zh-CN" altLang="en-US" sz="2400" dirty="0">
                <a:latin typeface="+mn-lt"/>
              </a:rPr>
              <a:t>生物信息学（贝叶斯网络在基因连锁分析中应用），</a:t>
            </a:r>
          </a:p>
          <a:p>
            <a:pPr marL="342900" indent="-342900" eaLnBrk="0" hangingPunct="0">
              <a:buFont typeface="Wingdings" pitchFamily="2" charset="2"/>
              <a:buChar char="l"/>
              <a:defRPr/>
            </a:pPr>
            <a:r>
              <a:rPr lang="zh-CN" altLang="en-US" sz="2400" dirty="0">
                <a:latin typeface="+mn-lt"/>
              </a:rPr>
              <a:t>编码学，</a:t>
            </a:r>
          </a:p>
          <a:p>
            <a:pPr marL="342900" indent="-342900" eaLnBrk="0" hangingPunct="0">
              <a:buFont typeface="Wingdings" pitchFamily="2" charset="2"/>
              <a:buChar char="l"/>
              <a:defRPr/>
            </a:pPr>
            <a:r>
              <a:rPr lang="zh-CN" altLang="en-US" sz="2400" dirty="0">
                <a:latin typeface="+mn-lt"/>
              </a:rPr>
              <a:t>分类聚类，</a:t>
            </a:r>
          </a:p>
          <a:p>
            <a:pPr marL="342900" indent="-342900" eaLnBrk="0" hangingPunct="0">
              <a:buFont typeface="Wingdings" pitchFamily="2" charset="2"/>
              <a:buChar char="l"/>
              <a:defRPr/>
            </a:pPr>
            <a:r>
              <a:rPr lang="zh-CN" altLang="en-US" sz="2400" dirty="0">
                <a:latin typeface="+mn-lt"/>
              </a:rPr>
              <a:t>时序数据和动态模型</a:t>
            </a:r>
          </a:p>
        </p:txBody>
      </p:sp>
      <p:sp>
        <p:nvSpPr>
          <p:cNvPr id="83971" name="TextBox 2"/>
          <p:cNvSpPr txBox="1">
            <a:spLocks noChangeArrowheads="1"/>
          </p:cNvSpPr>
          <p:nvPr/>
        </p:nvSpPr>
        <p:spPr bwMode="auto">
          <a:xfrm>
            <a:off x="1857375" y="285750"/>
            <a:ext cx="4992688" cy="769938"/>
          </a:xfrm>
          <a:prstGeom prst="rect">
            <a:avLst/>
          </a:prstGeom>
          <a:solidFill>
            <a:srgbClr val="00B0F0"/>
          </a:solidFill>
          <a:ln w="9525">
            <a:noFill/>
            <a:miter lim="800000"/>
            <a:headEnd/>
            <a:tailEnd/>
          </a:ln>
        </p:spPr>
        <p:txBody>
          <a:bodyPr wrap="none">
            <a:spAutoFit/>
          </a:bodyPr>
          <a:lstStyle/>
          <a:p>
            <a:r>
              <a:rPr lang="en-US" altLang="zh-CN" sz="4400" b="1">
                <a:latin typeface="微软雅黑" pitchFamily="34" charset="-122"/>
                <a:ea typeface="微软雅黑" pitchFamily="34" charset="-122"/>
              </a:rPr>
              <a:t>2.3</a:t>
            </a:r>
            <a:r>
              <a:rPr lang="zh-CN" altLang="en-US" sz="4400" b="1">
                <a:latin typeface="微软雅黑" pitchFamily="34" charset="-122"/>
                <a:ea typeface="微软雅黑" pitchFamily="34" charset="-122"/>
              </a:rPr>
              <a:t>贝叶斯网络应用</a:t>
            </a:r>
          </a:p>
        </p:txBody>
      </p:sp>
    </p:spTree>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矩形 1"/>
          <p:cNvSpPr>
            <a:spLocks noChangeArrowheads="1"/>
          </p:cNvSpPr>
          <p:nvPr/>
        </p:nvSpPr>
        <p:spPr bwMode="auto">
          <a:xfrm>
            <a:off x="642938" y="428625"/>
            <a:ext cx="7215187" cy="5110163"/>
          </a:xfrm>
          <a:prstGeom prst="rect">
            <a:avLst/>
          </a:prstGeom>
          <a:noFill/>
          <a:ln w="9525">
            <a:noFill/>
            <a:miter lim="800000"/>
            <a:headEnd/>
            <a:tailEnd/>
          </a:ln>
        </p:spPr>
        <p:txBody>
          <a:bodyPr>
            <a:spAutoFit/>
          </a:bodyPr>
          <a:lstStyle/>
          <a:p>
            <a:pPr>
              <a:lnSpc>
                <a:spcPct val="150000"/>
              </a:lnSpc>
            </a:pPr>
            <a:r>
              <a:rPr lang="zh-CN" altLang="en-US" sz="2000"/>
              <a:t>        贝叶斯网络已经在故障诊断、通信行业、金融风险预测、生物医学等众多领域内得到成功的应用，如微软公司在产品</a:t>
            </a:r>
            <a:r>
              <a:rPr lang="en-US" altLang="zh-CN" sz="2000"/>
              <a:t>Windows 2000</a:t>
            </a:r>
            <a:r>
              <a:rPr lang="zh-CN" altLang="en-US" sz="2000"/>
              <a:t>和</a:t>
            </a:r>
            <a:r>
              <a:rPr lang="en-US" altLang="zh-CN" sz="2000"/>
              <a:t>0ffice</a:t>
            </a:r>
            <a:r>
              <a:rPr lang="zh-CN" altLang="en-US" sz="2000"/>
              <a:t>系列中已经在很多方面应用了贝叶斯网络，将贝叶斯网络成功地用于软件智能化。</a:t>
            </a:r>
            <a:r>
              <a:rPr lang="en-US" altLang="zh-CN" sz="2000"/>
              <a:t>sillanp</a:t>
            </a:r>
            <a:r>
              <a:rPr lang="zh-CN" altLang="en-US" sz="2000"/>
              <a:t>龃等将贝叶斯网络模型应用到生物邻域中</a:t>
            </a:r>
            <a:r>
              <a:rPr lang="en-US" altLang="zh-CN" sz="2000"/>
              <a:t>DINA</a:t>
            </a:r>
            <a:r>
              <a:rPr lang="zh-CN" altLang="en-US" sz="2000"/>
              <a:t>图谱的研究分析工作。</a:t>
            </a:r>
            <a:r>
              <a:rPr lang="en-US" altLang="zh-CN" sz="2000"/>
              <a:t>Giudici</a:t>
            </a:r>
            <a:r>
              <a:rPr lang="zh-CN" altLang="en-US" sz="2000"/>
              <a:t>将贝叶斯方法应用到金融风险评估等邻域，进行信用等级评分等工作。</a:t>
            </a:r>
            <a:r>
              <a:rPr lang="en-US" altLang="zh-CN" sz="2000"/>
              <a:t>Rodrigues</a:t>
            </a:r>
            <a:r>
              <a:rPr lang="zh-CN" altLang="en-US" sz="2000"/>
              <a:t>等将贝叶斯网络用于制造过程中故障快速诊断等邻。</a:t>
            </a:r>
            <a:r>
              <a:rPr lang="en-US" altLang="zh-CN" sz="2000"/>
              <a:t>Wooff</a:t>
            </a:r>
            <a:r>
              <a:rPr lang="zh-CN" altLang="en-US" sz="2000"/>
              <a:t>等人利用贝叶斯图模型进行软测试。我国在贝叶斯网络研究领域仍属起步阶段，国内关于贝叶斯网络的应用较国外方面的应用稍晚一些，一些科研院所和高等院校对贝叶斯网络进行了大量研究，取得了不少成果。 </a:t>
            </a:r>
          </a:p>
        </p:txBody>
      </p:sp>
    </p:spTree>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6018" name="组合 22"/>
          <p:cNvGrpSpPr>
            <a:grpSpLocks/>
          </p:cNvGrpSpPr>
          <p:nvPr/>
        </p:nvGrpSpPr>
        <p:grpSpPr bwMode="auto">
          <a:xfrm>
            <a:off x="0" y="285750"/>
            <a:ext cx="8704263" cy="1292225"/>
            <a:chOff x="-376793" y="549327"/>
            <a:chExt cx="9917177" cy="1353921"/>
          </a:xfrm>
        </p:grpSpPr>
        <p:grpSp>
          <p:nvGrpSpPr>
            <p:cNvPr id="86031" name="剪去单角的矩形 23"/>
            <p:cNvGrpSpPr>
              <a:grpSpLocks/>
            </p:cNvGrpSpPr>
            <p:nvPr/>
          </p:nvGrpSpPr>
          <p:grpSpPr bwMode="auto">
            <a:xfrm>
              <a:off x="-376793" y="549327"/>
              <a:ext cx="9766259" cy="1353921"/>
              <a:chOff x="-359664" y="621772"/>
              <a:chExt cx="9322288" cy="1292372"/>
            </a:xfrm>
          </p:grpSpPr>
          <p:pic>
            <p:nvPicPr>
              <p:cNvPr id="86035" name="剪去单角的矩形 23"/>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8" name="Text Box 8"/>
              <p:cNvSpPr txBox="1">
                <a:spLocks noChangeArrowheads="1"/>
              </p:cNvSpPr>
              <p:nvPr/>
            </p:nvSpPr>
            <p:spPr bwMode="auto">
              <a:xfrm>
                <a:off x="-554" y="621772"/>
                <a:ext cx="8963936" cy="976424"/>
              </a:xfrm>
              <a:prstGeom prst="rect">
                <a:avLst/>
              </a:prstGeom>
              <a:solidFill>
                <a:schemeClr val="accent6">
                  <a:lumMod val="75000"/>
                </a:schemeClr>
              </a:solidFill>
              <a:ln w="9525">
                <a:noFill/>
                <a:miter lim="800000"/>
                <a:headEnd/>
                <a:tailEnd/>
              </a:ln>
            </p:spPr>
            <p:txBody>
              <a:bodyPr anchor="ctr"/>
              <a:lstStyle/>
              <a:p>
                <a:pPr algn="ctr">
                  <a:defRPr/>
                </a:pPr>
                <a:endParaRPr lang="zh-CN" altLang="en-US">
                  <a:solidFill>
                    <a:srgbClr val="FFFFFF"/>
                  </a:solidFill>
                  <a:latin typeface="Calibri" pitchFamily="34" charset="0"/>
                </a:endParaRPr>
              </a:p>
            </p:txBody>
          </p:sp>
        </p:grpSp>
        <p:grpSp>
          <p:nvGrpSpPr>
            <p:cNvPr id="86032" name="组合 7"/>
            <p:cNvGrpSpPr>
              <a:grpSpLocks/>
            </p:cNvGrpSpPr>
            <p:nvPr/>
          </p:nvGrpSpPr>
          <p:grpSpPr bwMode="auto">
            <a:xfrm>
              <a:off x="-295430" y="549327"/>
              <a:ext cx="9835814" cy="1085714"/>
              <a:chOff x="-9678" y="477889"/>
              <a:chExt cx="9835814" cy="1085714"/>
            </a:xfrm>
          </p:grpSpPr>
          <p:sp>
            <p:nvSpPr>
              <p:cNvPr id="86033" name="TextBox 25"/>
              <p:cNvSpPr txBox="1">
                <a:spLocks noChangeArrowheads="1"/>
              </p:cNvSpPr>
              <p:nvPr/>
            </p:nvSpPr>
            <p:spPr bwMode="auto">
              <a:xfrm>
                <a:off x="804194" y="552737"/>
                <a:ext cx="9021942" cy="806177"/>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3.</a:t>
                </a:r>
                <a:r>
                  <a:rPr lang="zh-CN" altLang="en-US" sz="4400" b="1">
                    <a:latin typeface="微软雅黑" pitchFamily="34" charset="-122"/>
                    <a:ea typeface="微软雅黑" pitchFamily="34" charset="-122"/>
                  </a:rPr>
                  <a:t>基于</a:t>
                </a:r>
                <a:r>
                  <a:rPr lang="en-US" altLang="zh-CN" sz="4400" b="1">
                    <a:latin typeface="微软雅黑" pitchFamily="34" charset="-122"/>
                    <a:ea typeface="微软雅黑" pitchFamily="34" charset="-122"/>
                  </a:rPr>
                  <a:t>Weka</a:t>
                </a:r>
                <a:r>
                  <a:rPr lang="zh-CN" altLang="en-US" sz="4400" b="1">
                    <a:latin typeface="微软雅黑" pitchFamily="34" charset="-122"/>
                    <a:ea typeface="微软雅黑" pitchFamily="34" charset="-122"/>
                  </a:rPr>
                  <a:t>的贝叶斯实例仿真</a:t>
                </a:r>
              </a:p>
            </p:txBody>
          </p:sp>
          <p:pic>
            <p:nvPicPr>
              <p:cNvPr id="86034" name="图片 26" descr="ICON2.png"/>
              <p:cNvPicPr>
                <a:picLocks noChangeAspect="1"/>
              </p:cNvPicPr>
              <p:nvPr/>
            </p:nvPicPr>
            <p:blipFill>
              <a:blip r:embed="rId3"/>
              <a:srcRect/>
              <a:stretch>
                <a:fillRect/>
              </a:stretch>
            </p:blipFill>
            <p:spPr bwMode="auto">
              <a:xfrm>
                <a:off x="-9678" y="477889"/>
                <a:ext cx="1104762" cy="1085714"/>
              </a:xfrm>
              <a:prstGeom prst="rect">
                <a:avLst/>
              </a:prstGeom>
              <a:noFill/>
              <a:ln w="9525">
                <a:noFill/>
                <a:miter lim="800000"/>
                <a:headEnd/>
                <a:tailEnd/>
              </a:ln>
            </p:spPr>
          </p:pic>
        </p:grpSp>
      </p:grpSp>
      <p:grpSp>
        <p:nvGrpSpPr>
          <p:cNvPr id="5" name="组合 45"/>
          <p:cNvGrpSpPr>
            <a:grpSpLocks/>
          </p:cNvGrpSpPr>
          <p:nvPr/>
        </p:nvGrpSpPr>
        <p:grpSpPr bwMode="auto">
          <a:xfrm>
            <a:off x="1857375" y="1785938"/>
            <a:ext cx="5072063" cy="1309687"/>
            <a:chOff x="303584" y="2214568"/>
            <a:chExt cx="5302469" cy="1395116"/>
          </a:xfrm>
        </p:grpSpPr>
        <p:grpSp>
          <p:nvGrpSpPr>
            <p:cNvPr id="86026" name="AutoShape 8"/>
            <p:cNvGrpSpPr>
              <a:grpSpLocks/>
            </p:cNvGrpSpPr>
            <p:nvPr/>
          </p:nvGrpSpPr>
          <p:grpSpPr bwMode="auto">
            <a:xfrm>
              <a:off x="1369184" y="2366781"/>
              <a:ext cx="4236869" cy="870361"/>
              <a:chOff x="1467419" y="2500299"/>
              <a:chExt cx="3976451" cy="816864"/>
            </a:xfrm>
          </p:grpSpPr>
          <p:pic>
            <p:nvPicPr>
              <p:cNvPr id="86029" name="AutoShape 8"/>
              <p:cNvPicPr>
                <a:picLocks noChangeArrowheads="1"/>
              </p:cNvPicPr>
              <p:nvPr/>
            </p:nvPicPr>
            <p:blipFill>
              <a:blip r:embed="rId4"/>
              <a:srcRect/>
              <a:stretch>
                <a:fillRect/>
              </a:stretch>
            </p:blipFill>
            <p:spPr bwMode="invGray">
              <a:xfrm>
                <a:off x="1467419" y="2500299"/>
                <a:ext cx="3976451" cy="816864"/>
              </a:xfrm>
              <a:prstGeom prst="rect">
                <a:avLst/>
              </a:prstGeom>
              <a:noFill/>
              <a:ln w="9525">
                <a:noFill/>
                <a:miter lim="800000"/>
                <a:headEnd/>
                <a:tailEnd/>
              </a:ln>
            </p:spPr>
          </p:pic>
          <p:sp>
            <p:nvSpPr>
              <p:cNvPr id="86030" name="Text Box 29"/>
              <p:cNvSpPr txBox="1">
                <a:spLocks noChangeArrowheads="1"/>
              </p:cNvSpPr>
              <p:nvPr/>
            </p:nvSpPr>
            <p:spPr bwMode="auto">
              <a:xfrm>
                <a:off x="1538856" y="2571727"/>
                <a:ext cx="3173202" cy="682609"/>
              </a:xfrm>
              <a:prstGeom prst="rect">
                <a:avLst/>
              </a:prstGeom>
              <a:noFill/>
              <a:ln w="9525">
                <a:noFill/>
                <a:miter lim="800000"/>
                <a:headEnd/>
                <a:tailEnd/>
              </a:ln>
            </p:spPr>
            <p:txBody>
              <a:bodyPr wrap="none" anchor="ctr"/>
              <a:lstStyle/>
              <a:p>
                <a:r>
                  <a:rPr lang="en-US" altLang="zh-CN" sz="2800">
                    <a:latin typeface="微软雅黑" pitchFamily="34" charset="-122"/>
                    <a:ea typeface="微软雅黑" pitchFamily="34" charset="-122"/>
                  </a:rPr>
                  <a:t>3.1</a:t>
                </a:r>
                <a:r>
                  <a:rPr lang="zh-CN" altLang="en-US" sz="2800">
                    <a:latin typeface="微软雅黑" pitchFamily="34" charset="-122"/>
                    <a:ea typeface="微软雅黑" pitchFamily="34" charset="-122"/>
                  </a:rPr>
                  <a:t>贝叶斯网络实例描述</a:t>
                </a:r>
              </a:p>
            </p:txBody>
          </p:sp>
        </p:grpSp>
        <p:pic>
          <p:nvPicPr>
            <p:cNvPr id="86027" name="图片 5" descr="ICON1.png"/>
            <p:cNvPicPr>
              <a:picLocks noChangeAspect="1"/>
            </p:cNvPicPr>
            <p:nvPr/>
          </p:nvPicPr>
          <p:blipFill>
            <a:blip r:embed="rId5"/>
            <a:srcRect/>
            <a:stretch>
              <a:fillRect/>
            </a:stretch>
          </p:blipFill>
          <p:spPr bwMode="auto">
            <a:xfrm>
              <a:off x="303584" y="2214568"/>
              <a:ext cx="1141747" cy="1174370"/>
            </a:xfrm>
            <a:prstGeom prst="rect">
              <a:avLst/>
            </a:prstGeom>
            <a:noFill/>
            <a:ln w="9525">
              <a:noFill/>
              <a:miter lim="800000"/>
              <a:headEnd/>
              <a:tailEnd/>
            </a:ln>
          </p:spPr>
        </p:pic>
        <p:sp>
          <p:nvSpPr>
            <p:cNvPr id="86028"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grpSp>
        <p:nvGrpSpPr>
          <p:cNvPr id="7" name="组合 45"/>
          <p:cNvGrpSpPr>
            <a:grpSpLocks/>
          </p:cNvGrpSpPr>
          <p:nvPr/>
        </p:nvGrpSpPr>
        <p:grpSpPr bwMode="auto">
          <a:xfrm>
            <a:off x="1857375" y="3143250"/>
            <a:ext cx="5072063" cy="1309688"/>
            <a:chOff x="303584" y="2214568"/>
            <a:chExt cx="5302469" cy="1395116"/>
          </a:xfrm>
        </p:grpSpPr>
        <p:grpSp>
          <p:nvGrpSpPr>
            <p:cNvPr id="86021" name="AutoShape 8"/>
            <p:cNvGrpSpPr>
              <a:grpSpLocks/>
            </p:cNvGrpSpPr>
            <p:nvPr/>
          </p:nvGrpSpPr>
          <p:grpSpPr bwMode="auto">
            <a:xfrm>
              <a:off x="1369184" y="2366781"/>
              <a:ext cx="4236869" cy="870361"/>
              <a:chOff x="1467419" y="2500299"/>
              <a:chExt cx="3976451" cy="816864"/>
            </a:xfrm>
          </p:grpSpPr>
          <p:pic>
            <p:nvPicPr>
              <p:cNvPr id="86024" name="AutoShape 8"/>
              <p:cNvPicPr>
                <a:picLocks noChangeArrowheads="1"/>
              </p:cNvPicPr>
              <p:nvPr/>
            </p:nvPicPr>
            <p:blipFill>
              <a:blip r:embed="rId4"/>
              <a:srcRect/>
              <a:stretch>
                <a:fillRect/>
              </a:stretch>
            </p:blipFill>
            <p:spPr bwMode="invGray">
              <a:xfrm>
                <a:off x="1467419" y="2500299"/>
                <a:ext cx="3976451" cy="816864"/>
              </a:xfrm>
              <a:prstGeom prst="rect">
                <a:avLst/>
              </a:prstGeom>
              <a:noFill/>
              <a:ln w="9525">
                <a:noFill/>
                <a:miter lim="800000"/>
                <a:headEnd/>
                <a:tailEnd/>
              </a:ln>
            </p:spPr>
          </p:pic>
          <p:sp>
            <p:nvSpPr>
              <p:cNvPr id="86025" name="Text Box 29"/>
              <p:cNvSpPr txBox="1">
                <a:spLocks noChangeArrowheads="1"/>
              </p:cNvSpPr>
              <p:nvPr/>
            </p:nvSpPr>
            <p:spPr bwMode="auto">
              <a:xfrm>
                <a:off x="1538856" y="2571727"/>
                <a:ext cx="3173202" cy="682609"/>
              </a:xfrm>
              <a:prstGeom prst="rect">
                <a:avLst/>
              </a:prstGeom>
              <a:noFill/>
              <a:ln w="9525">
                <a:noFill/>
                <a:miter lim="800000"/>
                <a:headEnd/>
                <a:tailEnd/>
              </a:ln>
            </p:spPr>
            <p:txBody>
              <a:bodyPr wrap="none" anchor="ctr"/>
              <a:lstStyle/>
              <a:p>
                <a:r>
                  <a:rPr lang="en-US" altLang="zh-CN" sz="2800">
                    <a:latin typeface="微软雅黑" pitchFamily="34" charset="-122"/>
                    <a:ea typeface="微软雅黑" pitchFamily="34" charset="-122"/>
                  </a:rPr>
                  <a:t>3.2</a:t>
                </a:r>
                <a:r>
                  <a:rPr lang="zh-CN" altLang="en-US" sz="2800">
                    <a:latin typeface="微软雅黑" pitchFamily="34" charset="-122"/>
                    <a:ea typeface="微软雅黑" pitchFamily="34" charset="-122"/>
                  </a:rPr>
                  <a:t>贝叶斯网络仿真实现</a:t>
                </a:r>
              </a:p>
            </p:txBody>
          </p:sp>
        </p:grpSp>
        <p:pic>
          <p:nvPicPr>
            <p:cNvPr id="86022" name="图片 5" descr="ICON1.png"/>
            <p:cNvPicPr>
              <a:picLocks noChangeAspect="1"/>
            </p:cNvPicPr>
            <p:nvPr/>
          </p:nvPicPr>
          <p:blipFill>
            <a:blip r:embed="rId5"/>
            <a:srcRect/>
            <a:stretch>
              <a:fillRect/>
            </a:stretch>
          </p:blipFill>
          <p:spPr bwMode="auto">
            <a:xfrm>
              <a:off x="303584" y="2214568"/>
              <a:ext cx="1141747" cy="1174370"/>
            </a:xfrm>
            <a:prstGeom prst="rect">
              <a:avLst/>
            </a:prstGeom>
            <a:noFill/>
            <a:ln w="9525">
              <a:noFill/>
              <a:miter lim="800000"/>
              <a:headEnd/>
              <a:tailEnd/>
            </a:ln>
          </p:spPr>
        </p:pic>
        <p:sp>
          <p:nvSpPr>
            <p:cNvPr id="86023" name="TextBox 43"/>
            <p:cNvSpPr txBox="1">
              <a:spLocks noChangeArrowheads="1"/>
            </p:cNvSpPr>
            <p:nvPr/>
          </p:nvSpPr>
          <p:spPr bwMode="auto">
            <a:xfrm>
              <a:off x="2089017" y="3052033"/>
              <a:ext cx="196814" cy="557651"/>
            </a:xfrm>
            <a:prstGeom prst="rect">
              <a:avLst/>
            </a:prstGeom>
            <a:noFill/>
            <a:ln w="9525">
              <a:noFill/>
              <a:miter lim="800000"/>
              <a:headEnd/>
              <a:tailEnd/>
            </a:ln>
          </p:spPr>
          <p:txBody>
            <a:bodyPr wrap="none">
              <a:spAutoFit/>
            </a:bodyPr>
            <a:lstStyle/>
            <a:p>
              <a:endParaRPr lang="zh-CN" altLang="en-US" sz="2800">
                <a:latin typeface="微软雅黑" pitchFamily="34" charset="-122"/>
                <a:ea typeface="微软雅黑" pitchFamily="34"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TextBox 2"/>
          <p:cNvSpPr txBox="1">
            <a:spLocks noChangeArrowheads="1"/>
          </p:cNvSpPr>
          <p:nvPr/>
        </p:nvSpPr>
        <p:spPr bwMode="auto">
          <a:xfrm>
            <a:off x="1857375" y="285750"/>
            <a:ext cx="6119813" cy="769938"/>
          </a:xfrm>
          <a:prstGeom prst="rect">
            <a:avLst/>
          </a:prstGeom>
          <a:solidFill>
            <a:srgbClr val="00B0F0"/>
          </a:solidFill>
          <a:ln w="9525">
            <a:noFill/>
            <a:miter lim="800000"/>
            <a:headEnd/>
            <a:tailEnd/>
          </a:ln>
        </p:spPr>
        <p:txBody>
          <a:bodyPr wrap="none">
            <a:spAutoFit/>
          </a:bodyPr>
          <a:lstStyle/>
          <a:p>
            <a:r>
              <a:rPr lang="en-US" altLang="zh-CN" sz="4400" b="1">
                <a:latin typeface="微软雅黑" pitchFamily="34" charset="-122"/>
                <a:ea typeface="微软雅黑" pitchFamily="34" charset="-122"/>
              </a:rPr>
              <a:t>3.1</a:t>
            </a:r>
            <a:r>
              <a:rPr lang="zh-CN" altLang="en-US" sz="4400" b="1">
                <a:latin typeface="微软雅黑" pitchFamily="34" charset="-122"/>
                <a:ea typeface="微软雅黑" pitchFamily="34" charset="-122"/>
              </a:rPr>
              <a:t>贝叶斯网络实例描述</a:t>
            </a:r>
          </a:p>
        </p:txBody>
      </p:sp>
      <p:sp>
        <p:nvSpPr>
          <p:cNvPr id="87043" name="TextBox 2"/>
          <p:cNvSpPr txBox="1">
            <a:spLocks noChangeArrowheads="1"/>
          </p:cNvSpPr>
          <p:nvPr/>
        </p:nvSpPr>
        <p:spPr bwMode="auto">
          <a:xfrm>
            <a:off x="785813" y="1214438"/>
            <a:ext cx="7500937" cy="4662487"/>
          </a:xfrm>
          <a:prstGeom prst="rect">
            <a:avLst/>
          </a:prstGeom>
          <a:noFill/>
          <a:ln w="9525">
            <a:noFill/>
            <a:miter lim="800000"/>
            <a:headEnd/>
            <a:tailEnd/>
          </a:ln>
        </p:spPr>
        <p:txBody>
          <a:bodyPr>
            <a:spAutoFit/>
          </a:bodyPr>
          <a:lstStyle/>
          <a:p>
            <a:pPr>
              <a:lnSpc>
                <a:spcPct val="150000"/>
              </a:lnSpc>
            </a:pPr>
            <a:r>
              <a:rPr lang="zh-CN" altLang="en-US"/>
              <a:t>        交易方式的演变是经济发展的重要标志之一。从原始的物物交换到货币、票据的流通，再到发达国家普遍流行的信用消费，交易成本随着交易方式的进步不断降低。近年来，随着我国经济的飞速发展，信用消费已逐步浮出水面，住房按揭、汽车贷款、信用卡等各种个人消费贷款都亟待信用作保。信用评估的主要目的就是对可能引起信用风险的因素进行定性分析、定量计算，以测量消费者的违约概率，为授信方决策提供依据。</a:t>
            </a:r>
            <a:endParaRPr lang="en-US" altLang="zh-CN"/>
          </a:p>
          <a:p>
            <a:pPr>
              <a:lnSpc>
                <a:spcPct val="150000"/>
              </a:lnSpc>
            </a:pPr>
            <a:r>
              <a:rPr lang="zh-CN" altLang="en-US"/>
              <a:t>        国外商业银行通常采用所谓的“经验主义方法论”，即把信用评估看成是模式识别中的分类问题，将贷款人划分为能够按期还本付息和违约两类。其具体做法是根据历史上每个类别（按期还本付息、违约）的若干样本，从已知的数据中发现其规律，从而总结出分类的规则，建立判别模型，用于对新样本的识别。</a:t>
            </a:r>
          </a:p>
        </p:txBody>
      </p:sp>
    </p:spTree>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TextBox 2"/>
          <p:cNvSpPr txBox="1">
            <a:spLocks noChangeArrowheads="1"/>
          </p:cNvSpPr>
          <p:nvPr/>
        </p:nvSpPr>
        <p:spPr bwMode="auto">
          <a:xfrm>
            <a:off x="857250" y="0"/>
            <a:ext cx="8083550" cy="769938"/>
          </a:xfrm>
          <a:prstGeom prst="rect">
            <a:avLst/>
          </a:prstGeom>
          <a:solidFill>
            <a:srgbClr val="00B0F0"/>
          </a:solidFill>
          <a:ln w="9525">
            <a:noFill/>
            <a:miter lim="800000"/>
            <a:headEnd/>
            <a:tailEnd/>
          </a:ln>
        </p:spPr>
        <p:txBody>
          <a:bodyPr wrap="none">
            <a:spAutoFit/>
          </a:bodyPr>
          <a:lstStyle/>
          <a:p>
            <a:r>
              <a:rPr lang="zh-CN" altLang="en-US" sz="4400" b="1">
                <a:latin typeface="微软雅黑" pitchFamily="34" charset="-122"/>
                <a:ea typeface="微软雅黑" pitchFamily="34" charset="-122"/>
              </a:rPr>
              <a:t>贝叶斯网络的个人信用分类模型</a:t>
            </a:r>
          </a:p>
        </p:txBody>
      </p:sp>
      <p:sp>
        <p:nvSpPr>
          <p:cNvPr id="88067" name="TextBox 3"/>
          <p:cNvSpPr txBox="1">
            <a:spLocks noChangeArrowheads="1"/>
          </p:cNvSpPr>
          <p:nvPr/>
        </p:nvSpPr>
        <p:spPr bwMode="auto">
          <a:xfrm>
            <a:off x="285750" y="785813"/>
            <a:ext cx="8715375" cy="5494337"/>
          </a:xfrm>
          <a:prstGeom prst="rect">
            <a:avLst/>
          </a:prstGeom>
          <a:noFill/>
          <a:ln w="9525">
            <a:noFill/>
            <a:miter lim="800000"/>
            <a:headEnd/>
            <a:tailEnd/>
          </a:ln>
        </p:spPr>
        <p:txBody>
          <a:bodyPr>
            <a:spAutoFit/>
          </a:bodyPr>
          <a:lstStyle/>
          <a:p>
            <a:pPr>
              <a:lnSpc>
                <a:spcPct val="150000"/>
              </a:lnSpc>
            </a:pPr>
            <a:r>
              <a:rPr lang="zh-CN" altLang="en-US"/>
              <a:t>        目前常用的方法有：统计方法、专家系统、数学规划、决策树、Ｋ邻近方法和神经网络等。</a:t>
            </a:r>
            <a:endParaRPr lang="en-US" altLang="zh-CN"/>
          </a:p>
          <a:p>
            <a:pPr>
              <a:lnSpc>
                <a:spcPct val="150000"/>
              </a:lnSpc>
            </a:pPr>
            <a:r>
              <a:rPr lang="en-US" altLang="zh-CN"/>
              <a:t>        </a:t>
            </a:r>
            <a:r>
              <a:rPr lang="zh-CN" altLang="en-US"/>
              <a:t>由于信用评估通常被认为是非线性问题，而神经网络又适于描述指标间的非线性特征。</a:t>
            </a:r>
            <a:endParaRPr lang="en-US" altLang="zh-CN"/>
          </a:p>
          <a:p>
            <a:pPr>
              <a:lnSpc>
                <a:spcPct val="150000"/>
              </a:lnSpc>
            </a:pPr>
            <a:r>
              <a:rPr lang="zh-CN" altLang="en-US"/>
              <a:t>        虽然神经网络用于信用等级分类取得了一定的效果，但网络结构设计的不确定性、复杂性以及模型本身缺乏较好的可解释性和理解性造成了使用上的困难，并且一个好的神经网络搭建往往过分依赖于技巧，也容易产生过学习问题，作为分类模型通常在训练集上表现较好而测试集上分类精度较低。基于上述原因，迫切需要一种新的方法来弥补神经网络作为信用评估工具的缺陷，为信用评估提供更科学的工具。</a:t>
            </a:r>
            <a:endParaRPr lang="en-US" altLang="zh-CN"/>
          </a:p>
          <a:p>
            <a:pPr>
              <a:lnSpc>
                <a:spcPct val="150000"/>
              </a:lnSpc>
            </a:pPr>
            <a:r>
              <a:rPr lang="zh-CN" altLang="en-US"/>
              <a:t>      贝叶斯网络分类模型继承了贝叶斯网络的优点并具有良好的分类精度正受到越来越多的研究者关注，并积极拓展它的应用领域。现已广泛应用于模式识别、数据挖掘、垃圾邮件处理和医学诊断。 </a:t>
            </a:r>
            <a:endParaRPr lang="en-US" altLang="zh-CN"/>
          </a:p>
          <a:p>
            <a:pPr>
              <a:lnSpc>
                <a:spcPct val="150000"/>
              </a:lnSpc>
            </a:pPr>
            <a:r>
              <a:rPr lang="zh-CN" altLang="en-US"/>
              <a:t>    本次针对现有信用评估模型存在的问题，结合贝叶斯网络对信用评估问题进行研究。</a:t>
            </a:r>
          </a:p>
        </p:txBody>
      </p:sp>
    </p:spTree>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TextBox 2"/>
          <p:cNvSpPr txBox="1">
            <a:spLocks noChangeArrowheads="1"/>
          </p:cNvSpPr>
          <p:nvPr/>
        </p:nvSpPr>
        <p:spPr bwMode="auto">
          <a:xfrm>
            <a:off x="1857375" y="285750"/>
            <a:ext cx="6119813" cy="769938"/>
          </a:xfrm>
          <a:prstGeom prst="rect">
            <a:avLst/>
          </a:prstGeom>
          <a:solidFill>
            <a:srgbClr val="00B0F0"/>
          </a:solidFill>
          <a:ln w="9525">
            <a:noFill/>
            <a:miter lim="800000"/>
            <a:headEnd/>
            <a:tailEnd/>
          </a:ln>
        </p:spPr>
        <p:txBody>
          <a:bodyPr wrap="none">
            <a:spAutoFit/>
          </a:bodyPr>
          <a:lstStyle/>
          <a:p>
            <a:r>
              <a:rPr lang="en-US" altLang="zh-CN" sz="4400" b="1">
                <a:latin typeface="微软雅黑" pitchFamily="34" charset="-122"/>
                <a:ea typeface="微软雅黑" pitchFamily="34" charset="-122"/>
              </a:rPr>
              <a:t>3.2</a:t>
            </a:r>
            <a:r>
              <a:rPr lang="zh-CN" altLang="en-US" sz="4400" b="1">
                <a:latin typeface="微软雅黑" pitchFamily="34" charset="-122"/>
                <a:ea typeface="微软雅黑" pitchFamily="34" charset="-122"/>
              </a:rPr>
              <a:t>贝叶斯网络仿真实现</a:t>
            </a:r>
          </a:p>
        </p:txBody>
      </p:sp>
      <p:sp>
        <p:nvSpPr>
          <p:cNvPr id="89091" name="TextBox 4"/>
          <p:cNvSpPr txBox="1">
            <a:spLocks noChangeArrowheads="1"/>
          </p:cNvSpPr>
          <p:nvPr/>
        </p:nvSpPr>
        <p:spPr bwMode="auto">
          <a:xfrm>
            <a:off x="1143000" y="1357313"/>
            <a:ext cx="6858000" cy="461962"/>
          </a:xfrm>
          <a:prstGeom prst="rect">
            <a:avLst/>
          </a:prstGeom>
          <a:noFill/>
          <a:ln w="9525">
            <a:noFill/>
            <a:miter lim="800000"/>
            <a:headEnd/>
            <a:tailEnd/>
          </a:ln>
        </p:spPr>
        <p:txBody>
          <a:bodyPr>
            <a:spAutoFit/>
          </a:bodyPr>
          <a:lstStyle/>
          <a:p>
            <a:r>
              <a:rPr lang="zh-CN" altLang="en-US" sz="2400"/>
              <a:t>                     仿真软件</a:t>
            </a:r>
            <a:r>
              <a:rPr lang="en-US" altLang="zh-CN" sz="2400"/>
              <a:t>------Weka</a:t>
            </a:r>
            <a:endParaRPr lang="zh-CN" altLang="en-US" sz="2400"/>
          </a:p>
        </p:txBody>
      </p:sp>
      <p:pic>
        <p:nvPicPr>
          <p:cNvPr id="89092" name="图片 5" descr="b7bc4c66510c4e37ab184c0a.jpg"/>
          <p:cNvPicPr>
            <a:picLocks noChangeAspect="1"/>
          </p:cNvPicPr>
          <p:nvPr/>
        </p:nvPicPr>
        <p:blipFill>
          <a:blip r:embed="rId2"/>
          <a:srcRect/>
          <a:stretch>
            <a:fillRect/>
          </a:stretch>
        </p:blipFill>
        <p:spPr bwMode="auto">
          <a:xfrm>
            <a:off x="2428875" y="1857375"/>
            <a:ext cx="3798888" cy="1995488"/>
          </a:xfrm>
          <a:prstGeom prst="rect">
            <a:avLst/>
          </a:prstGeom>
          <a:noFill/>
          <a:ln w="9525">
            <a:noFill/>
            <a:miter lim="800000"/>
            <a:headEnd/>
            <a:tailEnd/>
          </a:ln>
        </p:spPr>
      </p:pic>
      <p:sp>
        <p:nvSpPr>
          <p:cNvPr id="89093" name="TextBox 6"/>
          <p:cNvSpPr txBox="1">
            <a:spLocks noChangeArrowheads="1"/>
          </p:cNvSpPr>
          <p:nvPr/>
        </p:nvSpPr>
        <p:spPr bwMode="auto">
          <a:xfrm>
            <a:off x="714375" y="4071938"/>
            <a:ext cx="8215313" cy="2532062"/>
          </a:xfrm>
          <a:prstGeom prst="rect">
            <a:avLst/>
          </a:prstGeom>
          <a:noFill/>
          <a:ln w="9525">
            <a:noFill/>
            <a:miter lim="800000"/>
            <a:headEnd/>
            <a:tailEnd/>
          </a:ln>
        </p:spPr>
        <p:txBody>
          <a:bodyPr>
            <a:spAutoFit/>
          </a:bodyPr>
          <a:lstStyle/>
          <a:p>
            <a:pPr latinLnBrk="1">
              <a:lnSpc>
                <a:spcPct val="150000"/>
              </a:lnSpc>
            </a:pPr>
            <a:r>
              <a:rPr lang="en-US" altLang="zh-CN"/>
              <a:t>     WEKA</a:t>
            </a:r>
            <a:r>
              <a:rPr lang="zh-CN" altLang="en-US"/>
              <a:t>的全名是怀卡托智能分析环境（</a:t>
            </a:r>
            <a:r>
              <a:rPr lang="en-US" altLang="zh-CN"/>
              <a:t>Waikato Environment for Knowledge Analysis</a:t>
            </a:r>
            <a:r>
              <a:rPr lang="zh-CN" altLang="en-US"/>
              <a:t>），同时</a:t>
            </a:r>
            <a:r>
              <a:rPr lang="en-US" altLang="zh-CN"/>
              <a:t>weka</a:t>
            </a:r>
            <a:r>
              <a:rPr lang="zh-CN" altLang="en-US"/>
              <a:t>也是新西兰的一种鸟名，而</a:t>
            </a:r>
            <a:r>
              <a:rPr lang="en-US" altLang="zh-CN"/>
              <a:t>WEKA</a:t>
            </a:r>
            <a:r>
              <a:rPr lang="zh-CN" altLang="en-US"/>
              <a:t>的主要开发者来自</a:t>
            </a:r>
            <a:r>
              <a:rPr lang="zh-CN" altLang="en-US">
                <a:hlinkClick r:id="rId3"/>
              </a:rPr>
              <a:t>新西兰</a:t>
            </a:r>
            <a:r>
              <a:rPr lang="zh-CN" altLang="en-US"/>
              <a:t>。</a:t>
            </a:r>
            <a:endParaRPr lang="en-US" altLang="zh-CN"/>
          </a:p>
          <a:p>
            <a:pPr>
              <a:lnSpc>
                <a:spcPct val="150000"/>
              </a:lnSpc>
            </a:pPr>
            <a:r>
              <a:rPr lang="en-US" altLang="zh-CN"/>
              <a:t>     WEKA</a:t>
            </a:r>
            <a:r>
              <a:rPr lang="zh-CN" altLang="en-US"/>
              <a:t>作为一个公开的数据挖掘工作平台，集合了大量能承担数据挖掘任务的机器学习算法，包括对数据进行预处理，分类，回归、聚类、</a:t>
            </a:r>
            <a:r>
              <a:rPr lang="zh-CN" altLang="en-US">
                <a:hlinkClick r:id="rId4"/>
              </a:rPr>
              <a:t>关联规则</a:t>
            </a:r>
            <a:r>
              <a:rPr lang="zh-CN" altLang="en-US"/>
              <a:t>以及在新的交互式界面上的可视化。</a:t>
            </a:r>
          </a:p>
        </p:txBody>
      </p:sp>
    </p:spTree>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TextBox 1"/>
          <p:cNvSpPr txBox="1">
            <a:spLocks noChangeArrowheads="1"/>
          </p:cNvSpPr>
          <p:nvPr/>
        </p:nvSpPr>
        <p:spPr bwMode="auto">
          <a:xfrm>
            <a:off x="500063" y="428625"/>
            <a:ext cx="1857375" cy="461963"/>
          </a:xfrm>
          <a:prstGeom prst="rect">
            <a:avLst/>
          </a:prstGeom>
          <a:solidFill>
            <a:schemeClr val="accent2"/>
          </a:solidFill>
          <a:ln w="9525">
            <a:noFill/>
            <a:miter lim="800000"/>
            <a:headEnd/>
            <a:tailEnd/>
          </a:ln>
        </p:spPr>
        <p:txBody>
          <a:bodyPr>
            <a:spAutoFit/>
          </a:bodyPr>
          <a:lstStyle/>
          <a:p>
            <a:r>
              <a:rPr lang="zh-CN" altLang="en-US" sz="2400"/>
              <a:t>数据描述</a:t>
            </a:r>
          </a:p>
        </p:txBody>
      </p:sp>
      <p:sp>
        <p:nvSpPr>
          <p:cNvPr id="90115" name="TextBox 2"/>
          <p:cNvSpPr txBox="1">
            <a:spLocks noChangeArrowheads="1"/>
          </p:cNvSpPr>
          <p:nvPr/>
        </p:nvSpPr>
        <p:spPr bwMode="auto">
          <a:xfrm>
            <a:off x="428625" y="1071563"/>
            <a:ext cx="7358063" cy="1754187"/>
          </a:xfrm>
          <a:prstGeom prst="rect">
            <a:avLst/>
          </a:prstGeom>
          <a:noFill/>
          <a:ln w="9525">
            <a:noFill/>
            <a:miter lim="800000"/>
            <a:headEnd/>
            <a:tailEnd/>
          </a:ln>
        </p:spPr>
        <p:txBody>
          <a:bodyPr>
            <a:spAutoFit/>
          </a:bodyPr>
          <a:lstStyle/>
          <a:p>
            <a:r>
              <a:rPr lang="zh-CN" altLang="en-US"/>
              <a:t>     以德国为例进行实证研究。其中，德国信用数据记录</a:t>
            </a:r>
            <a:r>
              <a:rPr lang="en-US" altLang="zh-CN"/>
              <a:t>1000</a:t>
            </a:r>
            <a:r>
              <a:rPr lang="zh-CN" altLang="en-US"/>
              <a:t>条，定义了两类人，第一类</a:t>
            </a:r>
            <a:r>
              <a:rPr lang="en-US" altLang="zh-CN"/>
              <a:t>(GoodCredit)</a:t>
            </a:r>
            <a:r>
              <a:rPr lang="zh-CN" altLang="en-US"/>
              <a:t>样本</a:t>
            </a:r>
            <a:r>
              <a:rPr lang="en-US" altLang="zh-CN"/>
              <a:t>700</a:t>
            </a:r>
            <a:r>
              <a:rPr lang="zh-CN" altLang="en-US"/>
              <a:t>个，第二类（</a:t>
            </a:r>
            <a:r>
              <a:rPr lang="en-US" altLang="zh-CN"/>
              <a:t>BadCredit</a:t>
            </a:r>
            <a:r>
              <a:rPr lang="zh-CN" altLang="en-US"/>
              <a:t>）样本</a:t>
            </a:r>
            <a:r>
              <a:rPr lang="en-US" altLang="zh-CN"/>
              <a:t>300</a:t>
            </a:r>
            <a:r>
              <a:rPr lang="zh-CN" altLang="en-US"/>
              <a:t>个，每个样本用</a:t>
            </a:r>
            <a:r>
              <a:rPr lang="en-US" altLang="zh-CN"/>
              <a:t>21</a:t>
            </a:r>
            <a:r>
              <a:rPr lang="zh-CN" altLang="en-US"/>
              <a:t>个变量描述，表１给出了数据矩阵结构。其中１个是二值变量Ｃ，表示信用的可信任度（Ｃ＝０，表示信任，Ｃ＝１，表示不信任），将其作为响应变量或目标变量，其余的变量为信用指标集，即特征属性变量。详细指标如表２所示。</a:t>
            </a:r>
          </a:p>
        </p:txBody>
      </p:sp>
      <p:pic>
        <p:nvPicPr>
          <p:cNvPr id="90116" name="图片 3" descr="RJJMLE$[{X{DVL[Q~{WKQ}E.jpg"/>
          <p:cNvPicPr>
            <a:picLocks noChangeAspect="1"/>
          </p:cNvPicPr>
          <p:nvPr/>
        </p:nvPicPr>
        <p:blipFill>
          <a:blip r:embed="rId2"/>
          <a:srcRect/>
          <a:stretch>
            <a:fillRect/>
          </a:stretch>
        </p:blipFill>
        <p:spPr bwMode="auto">
          <a:xfrm>
            <a:off x="1714500" y="3286125"/>
            <a:ext cx="4743450" cy="2076450"/>
          </a:xfrm>
          <a:prstGeom prst="rect">
            <a:avLst/>
          </a:prstGeom>
          <a:noFill/>
          <a:ln w="9525">
            <a:noFill/>
            <a:miter lim="800000"/>
            <a:headEnd/>
            <a:tailEnd/>
          </a:ln>
        </p:spPr>
      </p:pic>
      <p:sp>
        <p:nvSpPr>
          <p:cNvPr id="90117" name="TextBox 4"/>
          <p:cNvSpPr txBox="1">
            <a:spLocks noChangeArrowheads="1"/>
          </p:cNvSpPr>
          <p:nvPr/>
        </p:nvSpPr>
        <p:spPr bwMode="auto">
          <a:xfrm>
            <a:off x="2428875" y="2928938"/>
            <a:ext cx="3143250" cy="369887"/>
          </a:xfrm>
          <a:prstGeom prst="rect">
            <a:avLst/>
          </a:prstGeom>
          <a:noFill/>
          <a:ln w="9525">
            <a:noFill/>
            <a:miter lim="800000"/>
            <a:headEnd/>
            <a:tailEnd/>
          </a:ln>
        </p:spPr>
        <p:txBody>
          <a:bodyPr>
            <a:spAutoFit/>
          </a:bodyPr>
          <a:lstStyle/>
          <a:p>
            <a:r>
              <a:rPr lang="zh-CN" altLang="en-US"/>
              <a:t>表</a:t>
            </a:r>
            <a:r>
              <a:rPr lang="en-US" altLang="zh-CN"/>
              <a:t>1   </a:t>
            </a:r>
            <a:r>
              <a:rPr lang="zh-CN" altLang="en-US"/>
              <a:t>数据结构矩阵</a:t>
            </a:r>
          </a:p>
        </p:txBody>
      </p:sp>
    </p:spTree>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Box 1"/>
          <p:cNvSpPr txBox="1">
            <a:spLocks noChangeArrowheads="1"/>
          </p:cNvSpPr>
          <p:nvPr/>
        </p:nvSpPr>
        <p:spPr bwMode="auto">
          <a:xfrm>
            <a:off x="2000250" y="142875"/>
            <a:ext cx="4429125" cy="369888"/>
          </a:xfrm>
          <a:prstGeom prst="rect">
            <a:avLst/>
          </a:prstGeom>
          <a:noFill/>
          <a:ln w="9525">
            <a:noFill/>
            <a:miter lim="800000"/>
            <a:headEnd/>
            <a:tailEnd/>
          </a:ln>
        </p:spPr>
        <p:txBody>
          <a:bodyPr>
            <a:spAutoFit/>
          </a:bodyPr>
          <a:lstStyle/>
          <a:p>
            <a:r>
              <a:rPr lang="zh-CN" altLang="en-US"/>
              <a:t>表</a:t>
            </a:r>
            <a:r>
              <a:rPr lang="en-US" altLang="zh-CN"/>
              <a:t>2  </a:t>
            </a:r>
            <a:r>
              <a:rPr lang="zh-CN" altLang="en-US"/>
              <a:t>德国信用数据集指标（属性）名称</a:t>
            </a:r>
          </a:p>
        </p:txBody>
      </p:sp>
      <p:pic>
        <p:nvPicPr>
          <p:cNvPr id="91139" name="图片 2" descr="VT7E(45I1EQ1M`@7NMUL{HY.jpg"/>
          <p:cNvPicPr>
            <a:picLocks noChangeAspect="1"/>
          </p:cNvPicPr>
          <p:nvPr/>
        </p:nvPicPr>
        <p:blipFill>
          <a:blip r:embed="rId2"/>
          <a:srcRect/>
          <a:stretch>
            <a:fillRect/>
          </a:stretch>
        </p:blipFill>
        <p:spPr bwMode="auto">
          <a:xfrm>
            <a:off x="2071688" y="571500"/>
            <a:ext cx="4943475" cy="6000750"/>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Box 1"/>
          <p:cNvSpPr txBox="1">
            <a:spLocks noChangeArrowheads="1"/>
          </p:cNvSpPr>
          <p:nvPr/>
        </p:nvSpPr>
        <p:spPr bwMode="auto">
          <a:xfrm>
            <a:off x="1143000" y="285750"/>
            <a:ext cx="4714875" cy="369888"/>
          </a:xfrm>
          <a:prstGeom prst="rect">
            <a:avLst/>
          </a:prstGeom>
          <a:noFill/>
          <a:ln w="9525">
            <a:noFill/>
            <a:miter lim="800000"/>
            <a:headEnd/>
            <a:tailEnd/>
          </a:ln>
        </p:spPr>
        <p:txBody>
          <a:bodyPr>
            <a:spAutoFit/>
          </a:bodyPr>
          <a:lstStyle/>
          <a:p>
            <a:r>
              <a:rPr lang="zh-CN" altLang="en-US"/>
              <a:t>用贝叶斯算法对上述数据集进行训练，仿真</a:t>
            </a:r>
          </a:p>
        </p:txBody>
      </p:sp>
      <p:pic>
        <p:nvPicPr>
          <p:cNvPr id="92163" name="图片 2" descr="XOX6Z(3HB66N]E6C8B(AW1L.jpg"/>
          <p:cNvPicPr>
            <a:picLocks noChangeAspect="1"/>
          </p:cNvPicPr>
          <p:nvPr/>
        </p:nvPicPr>
        <p:blipFill>
          <a:blip r:embed="rId2"/>
          <a:srcRect/>
          <a:stretch>
            <a:fillRect/>
          </a:stretch>
        </p:blipFill>
        <p:spPr bwMode="auto">
          <a:xfrm>
            <a:off x="857250" y="642938"/>
            <a:ext cx="7737475" cy="5214937"/>
          </a:xfrm>
          <a:prstGeom prst="rect">
            <a:avLst/>
          </a:prstGeom>
          <a:noFill/>
          <a:ln w="9525">
            <a:noFill/>
            <a:miter lim="800000"/>
            <a:headEnd/>
            <a:tailEnd/>
          </a:ln>
        </p:spPr>
      </p:pic>
      <p:sp>
        <p:nvSpPr>
          <p:cNvPr id="4" name="线形标注 2 3"/>
          <p:cNvSpPr/>
          <p:nvPr/>
        </p:nvSpPr>
        <p:spPr>
          <a:xfrm>
            <a:off x="3429000" y="714375"/>
            <a:ext cx="2428875" cy="428625"/>
          </a:xfrm>
          <a:prstGeom prst="borderCallout2">
            <a:avLst>
              <a:gd name="adj1" fmla="val 59110"/>
              <a:gd name="adj2" fmla="val -2737"/>
              <a:gd name="adj3" fmla="val 64876"/>
              <a:gd name="adj4" fmla="val -15141"/>
              <a:gd name="adj5" fmla="val 72140"/>
              <a:gd name="adj6" fmla="val -4717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dirty="0"/>
              <a:t>一系列统计量，描述分类器预测属性的准确程度</a:t>
            </a:r>
          </a:p>
        </p:txBody>
      </p:sp>
      <p:sp>
        <p:nvSpPr>
          <p:cNvPr id="5" name="线形标注 2 4"/>
          <p:cNvSpPr/>
          <p:nvPr/>
        </p:nvSpPr>
        <p:spPr>
          <a:xfrm>
            <a:off x="4929188" y="2928938"/>
            <a:ext cx="2428875" cy="428625"/>
          </a:xfrm>
          <a:prstGeom prst="borderCallout2">
            <a:avLst>
              <a:gd name="adj1" fmla="val 59110"/>
              <a:gd name="adj2" fmla="val -2737"/>
              <a:gd name="adj3" fmla="val 64876"/>
              <a:gd name="adj4" fmla="val -15141"/>
              <a:gd name="adj5" fmla="val 72140"/>
              <a:gd name="adj6" fmla="val -4717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dirty="0"/>
              <a:t>更详细地给出了关于每一类的预测准确度的描述</a:t>
            </a:r>
          </a:p>
        </p:txBody>
      </p:sp>
      <p:sp>
        <p:nvSpPr>
          <p:cNvPr id="6" name="线形标注 2 5"/>
          <p:cNvSpPr/>
          <p:nvPr/>
        </p:nvSpPr>
        <p:spPr>
          <a:xfrm>
            <a:off x="4071938" y="4429125"/>
            <a:ext cx="2428875" cy="428625"/>
          </a:xfrm>
          <a:prstGeom prst="borderCallout2">
            <a:avLst>
              <a:gd name="adj1" fmla="val 59110"/>
              <a:gd name="adj2" fmla="val -2737"/>
              <a:gd name="adj3" fmla="val 64876"/>
              <a:gd name="adj4" fmla="val -15141"/>
              <a:gd name="adj5" fmla="val 72140"/>
              <a:gd name="adj6" fmla="val -4717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dirty="0"/>
              <a:t>给出了预测结果中每个类的实例数</a:t>
            </a:r>
          </a:p>
        </p:txBody>
      </p:sp>
      <p:sp>
        <p:nvSpPr>
          <p:cNvPr id="7" name="线形标注 2 6"/>
          <p:cNvSpPr/>
          <p:nvPr/>
        </p:nvSpPr>
        <p:spPr>
          <a:xfrm>
            <a:off x="4286250" y="5143500"/>
            <a:ext cx="2428875" cy="428625"/>
          </a:xfrm>
          <a:prstGeom prst="borderCallout2">
            <a:avLst>
              <a:gd name="adj1" fmla="val 59110"/>
              <a:gd name="adj2" fmla="val -2737"/>
              <a:gd name="adj3" fmla="val 64876"/>
              <a:gd name="adj4" fmla="val -15141"/>
              <a:gd name="adj5" fmla="val 72140"/>
              <a:gd name="adj6" fmla="val -4717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dirty="0"/>
              <a:t>矩阵的行是实际的类</a:t>
            </a:r>
            <a:endParaRPr lang="en-US" altLang="zh-CN" sz="1400" dirty="0"/>
          </a:p>
          <a:p>
            <a:pPr algn="ctr">
              <a:defRPr/>
            </a:pPr>
            <a:r>
              <a:rPr lang="zh-CN" altLang="en-US" sz="1400" dirty="0"/>
              <a:t>列为预测的类</a:t>
            </a:r>
          </a:p>
        </p:txBody>
      </p:sp>
    </p:spTree>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TextBox 1"/>
          <p:cNvSpPr txBox="1">
            <a:spLocks noChangeArrowheads="1"/>
          </p:cNvSpPr>
          <p:nvPr/>
        </p:nvSpPr>
        <p:spPr bwMode="auto">
          <a:xfrm>
            <a:off x="1857375" y="571500"/>
            <a:ext cx="5000625" cy="369888"/>
          </a:xfrm>
          <a:prstGeom prst="rect">
            <a:avLst/>
          </a:prstGeom>
          <a:noFill/>
          <a:ln w="9525">
            <a:noFill/>
            <a:miter lim="800000"/>
            <a:headEnd/>
            <a:tailEnd/>
          </a:ln>
        </p:spPr>
        <p:txBody>
          <a:bodyPr>
            <a:spAutoFit/>
          </a:bodyPr>
          <a:lstStyle/>
          <a:p>
            <a:r>
              <a:rPr lang="en-US" altLang="zh-CN"/>
              <a:t>ROC</a:t>
            </a:r>
            <a:r>
              <a:rPr lang="zh-CN" altLang="en-US"/>
              <a:t>曲线</a:t>
            </a:r>
          </a:p>
        </p:txBody>
      </p:sp>
      <p:pic>
        <p:nvPicPr>
          <p:cNvPr id="93187" name="图片 2" descr="N2MU@DR4[KLZ@N`EL9YP2LN.jpg"/>
          <p:cNvPicPr>
            <a:picLocks noChangeAspect="1"/>
          </p:cNvPicPr>
          <p:nvPr/>
        </p:nvPicPr>
        <p:blipFill>
          <a:blip r:embed="rId2"/>
          <a:srcRect/>
          <a:stretch>
            <a:fillRect/>
          </a:stretch>
        </p:blipFill>
        <p:spPr bwMode="auto">
          <a:xfrm>
            <a:off x="428625" y="1000125"/>
            <a:ext cx="6121400" cy="4333875"/>
          </a:xfrm>
          <a:prstGeom prst="rect">
            <a:avLst/>
          </a:prstGeom>
          <a:noFill/>
          <a:ln w="9525">
            <a:noFill/>
            <a:miter lim="800000"/>
            <a:headEnd/>
            <a:tailEnd/>
          </a:ln>
        </p:spPr>
      </p:pic>
      <p:sp>
        <p:nvSpPr>
          <p:cNvPr id="93188" name="TextBox 3"/>
          <p:cNvSpPr txBox="1">
            <a:spLocks noChangeArrowheads="1"/>
          </p:cNvSpPr>
          <p:nvPr/>
        </p:nvSpPr>
        <p:spPr bwMode="auto">
          <a:xfrm>
            <a:off x="6786563" y="1428750"/>
            <a:ext cx="1928812" cy="3170238"/>
          </a:xfrm>
          <a:prstGeom prst="rect">
            <a:avLst/>
          </a:prstGeom>
          <a:noFill/>
          <a:ln w="9525">
            <a:noFill/>
            <a:miter lim="800000"/>
            <a:headEnd/>
            <a:tailEnd/>
          </a:ln>
        </p:spPr>
        <p:txBody>
          <a:bodyPr>
            <a:spAutoFit/>
          </a:bodyPr>
          <a:lstStyle/>
          <a:p>
            <a:r>
              <a:rPr lang="en-US" altLang="zh-CN" sz="2000"/>
              <a:t>ROC</a:t>
            </a:r>
            <a:r>
              <a:rPr lang="zh-CN" altLang="en-US" sz="2000"/>
              <a:t>曲线越靠近左上角，说明模型的准确度越高，这个模型的</a:t>
            </a:r>
            <a:r>
              <a:rPr lang="en-US" altLang="zh-CN" sz="2000"/>
              <a:t>ROC</a:t>
            </a:r>
            <a:r>
              <a:rPr lang="zh-CN" altLang="en-US" sz="2000"/>
              <a:t>值位</a:t>
            </a:r>
            <a:r>
              <a:rPr lang="en-US" altLang="zh-CN" sz="2000"/>
              <a:t>0.7796</a:t>
            </a:r>
            <a:r>
              <a:rPr lang="zh-CN" altLang="en-US" sz="2000"/>
              <a:t>，模型的准确率较强，但或许还不是最佳的模型。</a:t>
            </a:r>
          </a:p>
        </p:txBody>
      </p:sp>
      <p:sp>
        <p:nvSpPr>
          <p:cNvPr id="6" name="线形标注 1 5"/>
          <p:cNvSpPr/>
          <p:nvPr/>
        </p:nvSpPr>
        <p:spPr>
          <a:xfrm>
            <a:off x="7072313" y="4714875"/>
            <a:ext cx="928687" cy="428625"/>
          </a:xfrm>
          <a:prstGeom prst="borderCallout1">
            <a:avLst>
              <a:gd name="adj1" fmla="val 18750"/>
              <a:gd name="adj2" fmla="val -8333"/>
              <a:gd name="adj3" fmla="val 15687"/>
              <a:gd name="adj4" fmla="val -7481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FPR</a:t>
            </a:r>
            <a:endParaRPr lang="zh-CN" altLang="en-US" dirty="0"/>
          </a:p>
        </p:txBody>
      </p:sp>
      <p:sp>
        <p:nvSpPr>
          <p:cNvPr id="7" name="线形标注 1 6"/>
          <p:cNvSpPr/>
          <p:nvPr/>
        </p:nvSpPr>
        <p:spPr>
          <a:xfrm>
            <a:off x="1571625" y="1428750"/>
            <a:ext cx="928688" cy="428625"/>
          </a:xfrm>
          <a:prstGeom prst="borderCallout1">
            <a:avLst>
              <a:gd name="adj1" fmla="val 18750"/>
              <a:gd name="adj2" fmla="val -8333"/>
              <a:gd name="adj3" fmla="val 15687"/>
              <a:gd name="adj4" fmla="val -7481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TPR</a:t>
            </a:r>
            <a:endParaRPr lang="zh-CN" altLang="en-US" dirty="0"/>
          </a:p>
        </p:txBody>
      </p:sp>
    </p:spTree>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TextBox 1"/>
          <p:cNvSpPr txBox="1">
            <a:spLocks noChangeArrowheads="1"/>
          </p:cNvSpPr>
          <p:nvPr/>
        </p:nvSpPr>
        <p:spPr bwMode="auto">
          <a:xfrm>
            <a:off x="785813" y="285750"/>
            <a:ext cx="6929437" cy="369888"/>
          </a:xfrm>
          <a:prstGeom prst="rect">
            <a:avLst/>
          </a:prstGeom>
          <a:noFill/>
          <a:ln w="9525">
            <a:noFill/>
            <a:miter lim="800000"/>
            <a:headEnd/>
            <a:tailEnd/>
          </a:ln>
        </p:spPr>
        <p:txBody>
          <a:bodyPr>
            <a:spAutoFit/>
          </a:bodyPr>
          <a:lstStyle/>
          <a:p>
            <a:r>
              <a:rPr lang="zh-CN" altLang="en-US"/>
              <a:t>我们试下其他模型的仿真</a:t>
            </a:r>
          </a:p>
        </p:txBody>
      </p:sp>
      <p:pic>
        <p:nvPicPr>
          <p:cNvPr id="94211" name="Picture 2"/>
          <p:cNvPicPr>
            <a:picLocks noChangeAspect="1" noChangeArrowheads="1"/>
          </p:cNvPicPr>
          <p:nvPr/>
        </p:nvPicPr>
        <p:blipFill>
          <a:blip r:embed="rId3"/>
          <a:srcRect/>
          <a:stretch>
            <a:fillRect/>
          </a:stretch>
        </p:blipFill>
        <p:spPr bwMode="auto">
          <a:xfrm>
            <a:off x="285750" y="1143000"/>
            <a:ext cx="4000500" cy="5286375"/>
          </a:xfrm>
          <a:prstGeom prst="rect">
            <a:avLst/>
          </a:prstGeom>
          <a:noFill/>
          <a:ln w="9525">
            <a:noFill/>
            <a:miter lim="800000"/>
            <a:headEnd/>
            <a:tailEnd/>
          </a:ln>
        </p:spPr>
      </p:pic>
      <p:sp>
        <p:nvSpPr>
          <p:cNvPr id="94212" name="TextBox 3"/>
          <p:cNvSpPr txBox="1">
            <a:spLocks noChangeArrowheads="1"/>
          </p:cNvSpPr>
          <p:nvPr/>
        </p:nvSpPr>
        <p:spPr bwMode="auto">
          <a:xfrm>
            <a:off x="1214438" y="785813"/>
            <a:ext cx="1571625" cy="369887"/>
          </a:xfrm>
          <a:prstGeom prst="rect">
            <a:avLst/>
          </a:prstGeom>
          <a:noFill/>
          <a:ln w="9525">
            <a:noFill/>
            <a:miter lim="800000"/>
            <a:headEnd/>
            <a:tailEnd/>
          </a:ln>
        </p:spPr>
        <p:txBody>
          <a:bodyPr>
            <a:spAutoFit/>
          </a:bodyPr>
          <a:lstStyle/>
          <a:p>
            <a:r>
              <a:rPr lang="en-US" altLang="zh-CN"/>
              <a:t>J48</a:t>
            </a:r>
            <a:r>
              <a:rPr lang="zh-CN" altLang="en-US"/>
              <a:t>决策树</a:t>
            </a:r>
          </a:p>
        </p:txBody>
      </p:sp>
      <p:pic>
        <p:nvPicPr>
          <p:cNvPr id="94213" name="Picture 3"/>
          <p:cNvPicPr>
            <a:picLocks noChangeAspect="1" noChangeArrowheads="1"/>
          </p:cNvPicPr>
          <p:nvPr/>
        </p:nvPicPr>
        <p:blipFill>
          <a:blip r:embed="rId4"/>
          <a:srcRect/>
          <a:stretch>
            <a:fillRect/>
          </a:stretch>
        </p:blipFill>
        <p:spPr bwMode="auto">
          <a:xfrm>
            <a:off x="4500563" y="1139825"/>
            <a:ext cx="4286250" cy="5292725"/>
          </a:xfrm>
          <a:prstGeom prst="rect">
            <a:avLst/>
          </a:prstGeom>
          <a:noFill/>
          <a:ln w="9525">
            <a:noFill/>
            <a:miter lim="800000"/>
            <a:headEnd/>
            <a:tailEnd/>
          </a:ln>
        </p:spPr>
      </p:pic>
      <p:sp>
        <p:nvSpPr>
          <p:cNvPr id="94214" name="TextBox 5"/>
          <p:cNvSpPr txBox="1">
            <a:spLocks noChangeArrowheads="1"/>
          </p:cNvSpPr>
          <p:nvPr/>
        </p:nvSpPr>
        <p:spPr bwMode="auto">
          <a:xfrm>
            <a:off x="5214938" y="785813"/>
            <a:ext cx="2857500" cy="369887"/>
          </a:xfrm>
          <a:prstGeom prst="rect">
            <a:avLst/>
          </a:prstGeom>
          <a:noFill/>
          <a:ln w="9525">
            <a:noFill/>
            <a:miter lim="800000"/>
            <a:headEnd/>
            <a:tailEnd/>
          </a:ln>
        </p:spPr>
        <p:txBody>
          <a:bodyPr>
            <a:spAutoFit/>
          </a:bodyPr>
          <a:lstStyle/>
          <a:p>
            <a:r>
              <a:rPr lang="en-US" altLang="zh-CN"/>
              <a:t>rules.ZeroR</a:t>
            </a:r>
            <a:r>
              <a:rPr lang="zh-CN" altLang="en-US"/>
              <a:t>算法</a:t>
            </a:r>
          </a:p>
        </p:txBody>
      </p:sp>
    </p:spTree>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TextBox 1"/>
          <p:cNvSpPr txBox="1">
            <a:spLocks noChangeArrowheads="1"/>
          </p:cNvSpPr>
          <p:nvPr/>
        </p:nvSpPr>
        <p:spPr bwMode="auto">
          <a:xfrm>
            <a:off x="1143000" y="1928813"/>
            <a:ext cx="7000875" cy="4246562"/>
          </a:xfrm>
          <a:prstGeom prst="rect">
            <a:avLst/>
          </a:prstGeom>
          <a:noFill/>
          <a:ln w="9525">
            <a:noFill/>
            <a:miter lim="800000"/>
            <a:headEnd/>
            <a:tailEnd/>
          </a:ln>
        </p:spPr>
        <p:txBody>
          <a:bodyPr>
            <a:spAutoFit/>
          </a:bodyPr>
          <a:lstStyle/>
          <a:p>
            <a:pPr>
              <a:lnSpc>
                <a:spcPct val="150000"/>
              </a:lnSpc>
            </a:pPr>
            <a:r>
              <a:rPr lang="zh-CN" altLang="en-US" sz="2000"/>
              <a:t>         观察上述三个模型，相比较而言，还是</a:t>
            </a:r>
            <a:r>
              <a:rPr lang="en-US" altLang="zh-CN" sz="2000"/>
              <a:t>BayesNet</a:t>
            </a:r>
            <a:r>
              <a:rPr lang="zh-CN" altLang="en-US" sz="2000"/>
              <a:t>训练得到的模型较为准确。</a:t>
            </a:r>
            <a:endParaRPr lang="en-US" altLang="zh-CN" sz="2000"/>
          </a:p>
          <a:p>
            <a:pPr>
              <a:lnSpc>
                <a:spcPct val="150000"/>
              </a:lnSpc>
            </a:pPr>
            <a:r>
              <a:rPr lang="zh-CN" altLang="en-US" sz="2000"/>
              <a:t>        同时贝叶斯网络分类模型具有处理混合属性变量的能力，便于在个人信用数据中采用混合属性（连续的和离散的指标变量）对分类对象进行更全面的描述，是信用分类问题的理想选择模型。</a:t>
            </a:r>
            <a:endParaRPr lang="en-US" altLang="zh-CN" sz="2000"/>
          </a:p>
          <a:p>
            <a:pPr>
              <a:lnSpc>
                <a:spcPct val="150000"/>
              </a:lnSpc>
            </a:pPr>
            <a:r>
              <a:rPr lang="en-US" altLang="zh-CN" sz="2000"/>
              <a:t>        </a:t>
            </a:r>
            <a:r>
              <a:rPr lang="zh-CN" altLang="en-US" sz="2000"/>
              <a:t>较高的分类准确率说明贝叶斯网络分类器适合用于解决类似信用评价这样的具有复杂非线性关系的分类问题，在个人信用评估领域具有广阔的应用前景。</a:t>
            </a:r>
          </a:p>
        </p:txBody>
      </p:sp>
      <p:graphicFrame>
        <p:nvGraphicFramePr>
          <p:cNvPr id="3" name="表格 2"/>
          <p:cNvGraphicFramePr>
            <a:graphicFrameLocks noGrp="1"/>
          </p:cNvGraphicFramePr>
          <p:nvPr/>
        </p:nvGraphicFramePr>
        <p:xfrm>
          <a:off x="1428750" y="285750"/>
          <a:ext cx="6096000" cy="1482725"/>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zh-CN" altLang="en-US" dirty="0" smtClean="0"/>
                        <a:t>        模型</a:t>
                      </a:r>
                      <a:endParaRPr lang="zh-CN" altLang="en-US" dirty="0"/>
                    </a:p>
                  </a:txBody>
                  <a:tcPr/>
                </a:tc>
                <a:tc>
                  <a:txBody>
                    <a:bodyPr/>
                    <a:lstStyle/>
                    <a:p>
                      <a:r>
                        <a:rPr lang="en-US" altLang="zh-CN" dirty="0" smtClean="0"/>
                        <a:t>            </a:t>
                      </a:r>
                      <a:r>
                        <a:rPr lang="zh-CN" altLang="en-US" dirty="0" smtClean="0"/>
                        <a:t>准确率</a:t>
                      </a:r>
                      <a:endParaRPr lang="zh-CN" altLang="en-US" dirty="0"/>
                    </a:p>
                  </a:txBody>
                  <a:tcPr/>
                </a:tc>
                <a:tc>
                  <a:txBody>
                    <a:bodyPr/>
                    <a:lstStyle/>
                    <a:p>
                      <a:r>
                        <a:rPr lang="en-US" altLang="zh-CN" dirty="0" smtClean="0"/>
                        <a:t>           ROC</a:t>
                      </a:r>
                      <a:endParaRPr lang="zh-CN" altLang="en-US" dirty="0"/>
                    </a:p>
                  </a:txBody>
                  <a:tcPr/>
                </a:tc>
              </a:tr>
              <a:tr h="370840">
                <a:tc>
                  <a:txBody>
                    <a:bodyPr/>
                    <a:lstStyle/>
                    <a:p>
                      <a:r>
                        <a:rPr lang="en-US" altLang="zh-CN" dirty="0" smtClean="0"/>
                        <a:t>    </a:t>
                      </a:r>
                      <a:r>
                        <a:rPr lang="en-US" altLang="zh-CN" sz="1800" dirty="0" err="1" smtClean="0"/>
                        <a:t>BayesNet</a:t>
                      </a:r>
                      <a:endParaRPr lang="zh-CN" altLang="en-US" dirty="0"/>
                    </a:p>
                  </a:txBody>
                  <a:tcPr/>
                </a:tc>
                <a:tc>
                  <a:txBody>
                    <a:bodyPr/>
                    <a:lstStyle/>
                    <a:p>
                      <a:r>
                        <a:rPr lang="en-US" altLang="zh-CN" dirty="0" smtClean="0"/>
                        <a:t>           75.5%</a:t>
                      </a:r>
                      <a:endParaRPr lang="zh-CN" altLang="en-US" dirty="0"/>
                    </a:p>
                  </a:txBody>
                  <a:tcPr/>
                </a:tc>
                <a:tc>
                  <a:txBody>
                    <a:bodyPr/>
                    <a:lstStyle/>
                    <a:p>
                      <a:r>
                        <a:rPr lang="en-US" altLang="zh-CN" dirty="0" smtClean="0"/>
                        <a:t>           0.7769</a:t>
                      </a:r>
                      <a:endParaRPr lang="zh-CN" altLang="en-US" dirty="0"/>
                    </a:p>
                  </a:txBody>
                  <a:tcPr/>
                </a:tc>
              </a:tr>
              <a:tr h="370840">
                <a:tc>
                  <a:txBody>
                    <a:bodyPr/>
                    <a:lstStyle/>
                    <a:p>
                      <a:r>
                        <a:rPr lang="en-US" altLang="zh-CN" dirty="0" smtClean="0"/>
                        <a:t>    </a:t>
                      </a:r>
                      <a:r>
                        <a:rPr lang="zh-CN" altLang="en-US" dirty="0" smtClean="0"/>
                        <a:t>决策树</a:t>
                      </a:r>
                      <a:r>
                        <a:rPr lang="en-US" altLang="zh-CN" dirty="0" smtClean="0"/>
                        <a:t>J48</a:t>
                      </a:r>
                      <a:endParaRPr lang="zh-CN" altLang="en-US" dirty="0"/>
                    </a:p>
                  </a:txBody>
                  <a:tcPr/>
                </a:tc>
                <a:tc>
                  <a:txBody>
                    <a:bodyPr/>
                    <a:lstStyle/>
                    <a:p>
                      <a:r>
                        <a:rPr lang="en-US" altLang="zh-CN" dirty="0" smtClean="0"/>
                        <a:t>            70.5%</a:t>
                      </a:r>
                      <a:endParaRPr lang="zh-CN" altLang="en-US" dirty="0"/>
                    </a:p>
                  </a:txBody>
                  <a:tcPr/>
                </a:tc>
                <a:tc>
                  <a:txBody>
                    <a:bodyPr/>
                    <a:lstStyle/>
                    <a:p>
                      <a:r>
                        <a:rPr lang="en-US" altLang="zh-CN" dirty="0" smtClean="0"/>
                        <a:t>            0.639</a:t>
                      </a:r>
                      <a:endParaRPr lang="zh-CN" altLang="en-US" dirty="0"/>
                    </a:p>
                  </a:txBody>
                  <a:tcPr/>
                </a:tc>
              </a:tr>
              <a:tr h="370840">
                <a:tc>
                  <a:txBody>
                    <a:bodyPr/>
                    <a:lstStyle/>
                    <a:p>
                      <a:r>
                        <a:rPr lang="en-US" altLang="zh-CN" dirty="0" smtClean="0"/>
                        <a:t>    </a:t>
                      </a:r>
                      <a:r>
                        <a:rPr lang="en-US" altLang="zh-CN" dirty="0" err="1" smtClean="0"/>
                        <a:t>rule.Zeros</a:t>
                      </a:r>
                      <a:endParaRPr lang="zh-CN" altLang="en-US" dirty="0"/>
                    </a:p>
                  </a:txBody>
                  <a:tcPr/>
                </a:tc>
                <a:tc>
                  <a:txBody>
                    <a:bodyPr/>
                    <a:lstStyle/>
                    <a:p>
                      <a:r>
                        <a:rPr lang="en-US" altLang="zh-CN" dirty="0" smtClean="0"/>
                        <a:t>             70%</a:t>
                      </a:r>
                      <a:endParaRPr lang="zh-CN" altLang="en-US" dirty="0"/>
                    </a:p>
                  </a:txBody>
                  <a:tcPr/>
                </a:tc>
                <a:tc>
                  <a:txBody>
                    <a:bodyPr/>
                    <a:lstStyle/>
                    <a:p>
                      <a:r>
                        <a:rPr lang="en-US" altLang="zh-CN" dirty="0" smtClean="0"/>
                        <a:t>             0.5</a:t>
                      </a:r>
                      <a:endParaRPr lang="zh-CN" altLang="en-US" dirty="0"/>
                    </a:p>
                  </a:txBody>
                  <a:tcPr/>
                </a:tc>
              </a:tr>
            </a:tbl>
          </a:graphicData>
        </a:graphic>
      </p:graphicFrame>
    </p:spTree>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6258" name="组合 22"/>
          <p:cNvGrpSpPr>
            <a:grpSpLocks/>
          </p:cNvGrpSpPr>
          <p:nvPr/>
        </p:nvGrpSpPr>
        <p:grpSpPr bwMode="auto">
          <a:xfrm>
            <a:off x="1500188" y="214313"/>
            <a:ext cx="5857875" cy="1292225"/>
            <a:chOff x="-376793" y="549302"/>
            <a:chExt cx="6673727" cy="1353946"/>
          </a:xfrm>
        </p:grpSpPr>
        <p:grpSp>
          <p:nvGrpSpPr>
            <p:cNvPr id="96260" name="剪去单角的矩形 23"/>
            <p:cNvGrpSpPr>
              <a:grpSpLocks/>
            </p:cNvGrpSpPr>
            <p:nvPr/>
          </p:nvGrpSpPr>
          <p:grpSpPr bwMode="auto">
            <a:xfrm>
              <a:off x="-376793" y="549302"/>
              <a:ext cx="6673727" cy="1353946"/>
              <a:chOff x="-359664" y="621748"/>
              <a:chExt cx="6370342" cy="1292396"/>
            </a:xfrm>
          </p:grpSpPr>
          <p:pic>
            <p:nvPicPr>
              <p:cNvPr id="96264" name="剪去单角的矩形 23"/>
              <p:cNvPicPr>
                <a:picLocks noChangeArrowheads="1"/>
              </p:cNvPicPr>
              <p:nvPr/>
            </p:nvPicPr>
            <p:blipFill>
              <a:blip r:embed="rId2"/>
              <a:srcRect/>
              <a:stretch>
                <a:fillRect/>
              </a:stretch>
            </p:blipFill>
            <p:spPr bwMode="auto">
              <a:xfrm>
                <a:off x="-359664" y="621792"/>
                <a:ext cx="6370320" cy="1292352"/>
              </a:xfrm>
              <a:prstGeom prst="rect">
                <a:avLst/>
              </a:prstGeom>
              <a:noFill/>
              <a:ln w="9525">
                <a:noFill/>
                <a:miter lim="800000"/>
                <a:headEnd/>
                <a:tailEnd/>
              </a:ln>
            </p:spPr>
          </p:pic>
          <p:sp>
            <p:nvSpPr>
              <p:cNvPr id="8" name="Text Box 8"/>
              <p:cNvSpPr txBox="1">
                <a:spLocks noChangeArrowheads="1"/>
              </p:cNvSpPr>
              <p:nvPr/>
            </p:nvSpPr>
            <p:spPr bwMode="auto">
              <a:xfrm>
                <a:off x="-48916" y="621748"/>
                <a:ext cx="6059594" cy="976441"/>
              </a:xfrm>
              <a:prstGeom prst="rect">
                <a:avLst/>
              </a:prstGeom>
              <a:solidFill>
                <a:schemeClr val="accent6">
                  <a:lumMod val="75000"/>
                </a:schemeClr>
              </a:solidFill>
              <a:ln w="9525">
                <a:noFill/>
                <a:miter lim="800000"/>
                <a:headEnd/>
                <a:tailEnd/>
              </a:ln>
            </p:spPr>
            <p:txBody>
              <a:bodyPr anchor="ctr"/>
              <a:lstStyle/>
              <a:p>
                <a:pPr algn="ctr">
                  <a:defRPr/>
                </a:pPr>
                <a:endParaRPr lang="zh-CN" altLang="en-US">
                  <a:solidFill>
                    <a:srgbClr val="FFFFFF"/>
                  </a:solidFill>
                  <a:latin typeface="Calibri" pitchFamily="34" charset="0"/>
                </a:endParaRPr>
              </a:p>
            </p:txBody>
          </p:sp>
        </p:grpSp>
        <p:grpSp>
          <p:nvGrpSpPr>
            <p:cNvPr id="96261" name="组合 7"/>
            <p:cNvGrpSpPr>
              <a:grpSpLocks/>
            </p:cNvGrpSpPr>
            <p:nvPr/>
          </p:nvGrpSpPr>
          <p:grpSpPr bwMode="auto">
            <a:xfrm>
              <a:off x="-295430" y="549327"/>
              <a:ext cx="5941266" cy="1085714"/>
              <a:chOff x="-9678" y="477889"/>
              <a:chExt cx="5941266" cy="1085714"/>
            </a:xfrm>
          </p:grpSpPr>
          <p:sp>
            <p:nvSpPr>
              <p:cNvPr id="96262" name="TextBox 25"/>
              <p:cNvSpPr txBox="1">
                <a:spLocks noChangeArrowheads="1"/>
              </p:cNvSpPr>
              <p:nvPr/>
            </p:nvSpPr>
            <p:spPr bwMode="auto">
              <a:xfrm>
                <a:off x="966968" y="552714"/>
                <a:ext cx="4964620" cy="806177"/>
              </a:xfrm>
              <a:prstGeom prst="rect">
                <a:avLst/>
              </a:prstGeom>
              <a:noFill/>
              <a:ln w="9525">
                <a:noFill/>
                <a:miter lim="800000"/>
                <a:headEnd/>
                <a:tailEnd/>
              </a:ln>
            </p:spPr>
            <p:txBody>
              <a:bodyPr>
                <a:spAutoFit/>
              </a:bodyPr>
              <a:lstStyle/>
              <a:p>
                <a:pPr algn="ctr"/>
                <a:r>
                  <a:rPr lang="en-US" altLang="zh-CN" sz="4400" b="1">
                    <a:latin typeface="微软雅黑" pitchFamily="34" charset="-122"/>
                    <a:ea typeface="微软雅黑" pitchFamily="34" charset="-122"/>
                  </a:rPr>
                  <a:t>4.</a:t>
                </a:r>
                <a:r>
                  <a:rPr lang="zh-CN" altLang="en-US" sz="4400" b="1">
                    <a:latin typeface="微软雅黑" pitchFamily="34" charset="-122"/>
                    <a:ea typeface="微软雅黑" pitchFamily="34" charset="-122"/>
                  </a:rPr>
                  <a:t> 总结</a:t>
                </a:r>
              </a:p>
            </p:txBody>
          </p:sp>
          <p:pic>
            <p:nvPicPr>
              <p:cNvPr id="96263" name="图片 26" descr="ICON2.png"/>
              <p:cNvPicPr>
                <a:picLocks noChangeAspect="1"/>
              </p:cNvPicPr>
              <p:nvPr/>
            </p:nvPicPr>
            <p:blipFill>
              <a:blip r:embed="rId3"/>
              <a:srcRect/>
              <a:stretch>
                <a:fillRect/>
              </a:stretch>
            </p:blipFill>
            <p:spPr bwMode="auto">
              <a:xfrm>
                <a:off x="-9678" y="477889"/>
                <a:ext cx="1104762" cy="1085714"/>
              </a:xfrm>
              <a:prstGeom prst="rect">
                <a:avLst/>
              </a:prstGeom>
              <a:noFill/>
              <a:ln w="9525">
                <a:noFill/>
                <a:miter lim="800000"/>
                <a:headEnd/>
                <a:tailEnd/>
              </a:ln>
            </p:spPr>
          </p:pic>
        </p:grpSp>
      </p:grpSp>
      <p:sp>
        <p:nvSpPr>
          <p:cNvPr id="96259" name="TextBox 8"/>
          <p:cNvSpPr txBox="1">
            <a:spLocks noChangeArrowheads="1"/>
          </p:cNvSpPr>
          <p:nvPr/>
        </p:nvSpPr>
        <p:spPr bwMode="auto">
          <a:xfrm>
            <a:off x="1285875" y="1357313"/>
            <a:ext cx="6429375" cy="4608512"/>
          </a:xfrm>
          <a:prstGeom prst="rect">
            <a:avLst/>
          </a:prstGeom>
          <a:noFill/>
          <a:ln w="9525">
            <a:noFill/>
            <a:miter lim="800000"/>
            <a:headEnd/>
            <a:tailEnd/>
          </a:ln>
        </p:spPr>
        <p:txBody>
          <a:bodyPr>
            <a:spAutoFit/>
          </a:bodyPr>
          <a:lstStyle/>
          <a:p>
            <a:pPr>
              <a:lnSpc>
                <a:spcPct val="150000"/>
              </a:lnSpc>
            </a:pPr>
            <a:r>
              <a:rPr lang="zh-CN" altLang="en-US"/>
              <a:t>        贝叶斯</a:t>
            </a:r>
            <a:r>
              <a:rPr lang="en-US" altLang="zh-CN"/>
              <a:t>(Bayesian)</a:t>
            </a:r>
            <a:r>
              <a:rPr lang="zh-CN" altLang="en-US"/>
              <a:t>网络近年成为数据采掘引人注目的研究方向。通过剖析</a:t>
            </a:r>
            <a:r>
              <a:rPr lang="en-US" altLang="zh-CN"/>
              <a:t>Bayesian</a:t>
            </a:r>
            <a:r>
              <a:rPr lang="zh-CN" altLang="en-US"/>
              <a:t>网络的结构和建造步骤，着重讨论用</a:t>
            </a:r>
            <a:r>
              <a:rPr lang="en-US" altLang="zh-CN"/>
              <a:t>Bayesian</a:t>
            </a:r>
            <a:r>
              <a:rPr lang="zh-CN" altLang="en-US"/>
              <a:t>方法从先验信息和样本数据进行学习以确定网络的结构和概率分布的基本方法，分析</a:t>
            </a:r>
            <a:r>
              <a:rPr lang="en-US" altLang="zh-CN"/>
              <a:t>Bayesian</a:t>
            </a:r>
            <a:r>
              <a:rPr lang="zh-CN" altLang="en-US"/>
              <a:t>网络学习的特点，探讨</a:t>
            </a:r>
            <a:r>
              <a:rPr lang="en-US" altLang="zh-CN"/>
              <a:t>Bayesian</a:t>
            </a:r>
            <a:r>
              <a:rPr lang="zh-CN" altLang="en-US"/>
              <a:t>网络的适用性。</a:t>
            </a:r>
            <a:endParaRPr lang="en-US" altLang="zh-CN"/>
          </a:p>
          <a:p>
            <a:pPr>
              <a:lnSpc>
                <a:spcPct val="150000"/>
              </a:lnSpc>
            </a:pPr>
            <a:r>
              <a:rPr lang="en-US" altLang="zh-CN"/>
              <a:t>        </a:t>
            </a:r>
            <a:r>
              <a:rPr lang="zh-CN" altLang="en-US"/>
              <a:t>与数据采掘的其它方法相比， </a:t>
            </a:r>
            <a:r>
              <a:rPr lang="en-US" altLang="zh-CN"/>
              <a:t>Bayesian</a:t>
            </a:r>
            <a:r>
              <a:rPr lang="zh-CN" altLang="en-US"/>
              <a:t>网络的优点是可以综合先验信息和样本信息，这在样本难得时特别有用； 可以发现数据之间的因果关系，</a:t>
            </a:r>
            <a:r>
              <a:rPr lang="zh-CN" altLang="en-US" b="1"/>
              <a:t>适合于处理不完整数据集，这是其它模型难以做到的</a:t>
            </a:r>
            <a:r>
              <a:rPr lang="zh-CN" altLang="en-US"/>
              <a:t>。其缺点是计算开销较大； 确定合理的先验密度比较困难； 如何判定实际问题是否满足所要求的假设，没有现成的规则。</a:t>
            </a:r>
          </a:p>
        </p:txBody>
      </p:sp>
    </p:spTree>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矩形 3"/>
          <p:cNvSpPr>
            <a:spLocks noChangeArrowheads="1"/>
          </p:cNvSpPr>
          <p:nvPr/>
        </p:nvSpPr>
        <p:spPr bwMode="auto">
          <a:xfrm>
            <a:off x="1857375" y="1071563"/>
            <a:ext cx="6072188" cy="3970337"/>
          </a:xfrm>
          <a:prstGeom prst="rect">
            <a:avLst/>
          </a:prstGeom>
          <a:noFill/>
          <a:ln w="9525">
            <a:noFill/>
            <a:miter lim="800000"/>
            <a:headEnd/>
            <a:tailEnd/>
          </a:ln>
        </p:spPr>
        <p:txBody>
          <a:bodyPr>
            <a:spAutoFit/>
          </a:bodyPr>
          <a:lstStyle/>
          <a:p>
            <a:r>
              <a:rPr lang="zh-CN" altLang="en-US"/>
              <a:t>任职要求：</a:t>
            </a:r>
            <a:endParaRPr lang="en-US" altLang="zh-CN"/>
          </a:p>
          <a:p>
            <a:r>
              <a:rPr lang="en-US" altLang="zh-CN"/>
              <a:t>1</a:t>
            </a:r>
            <a:r>
              <a:rPr lang="zh-CN" altLang="en-US"/>
              <a:t>、熟悉数据挖掘常用的算法和工具</a:t>
            </a:r>
            <a:r>
              <a:rPr lang="en-US" altLang="zh-CN"/>
              <a:t>,</a:t>
            </a:r>
            <a:r>
              <a:rPr lang="zh-CN" altLang="en-US"/>
              <a:t>对机器学习算法和相  </a:t>
            </a:r>
            <a:endParaRPr lang="en-US" altLang="zh-CN"/>
          </a:p>
          <a:p>
            <a:r>
              <a:rPr lang="en-US" altLang="zh-CN"/>
              <a:t>       </a:t>
            </a:r>
            <a:r>
              <a:rPr lang="zh-CN" altLang="en-US"/>
              <a:t>关理论有深入的了解和掌握      </a:t>
            </a:r>
            <a:endParaRPr lang="en-US" altLang="zh-CN"/>
          </a:p>
          <a:p>
            <a:r>
              <a:rPr lang="en-US" altLang="zh-CN"/>
              <a:t>2</a:t>
            </a:r>
            <a:r>
              <a:rPr lang="zh-CN" altLang="en-US"/>
              <a:t>、 熟练的数据库知识和经验，至少熟悉</a:t>
            </a:r>
            <a:r>
              <a:rPr lang="en-US" altLang="zh-CN"/>
              <a:t>mysql</a:t>
            </a:r>
            <a:r>
              <a:rPr lang="zh-CN" altLang="en-US"/>
              <a:t>、</a:t>
            </a:r>
            <a:r>
              <a:rPr lang="en-US" altLang="zh-CN"/>
              <a:t>oracle </a:t>
            </a:r>
          </a:p>
          <a:p>
            <a:r>
              <a:rPr lang="zh-CN" altLang="en-US"/>
              <a:t>       数据库的使用，并了解一定的技巧</a:t>
            </a:r>
            <a:endParaRPr lang="en-US" altLang="zh-CN"/>
          </a:p>
          <a:p>
            <a:r>
              <a:rPr lang="en-US" altLang="zh-CN"/>
              <a:t>3</a:t>
            </a:r>
            <a:r>
              <a:rPr lang="zh-CN" altLang="en-US"/>
              <a:t>、</a:t>
            </a:r>
            <a:r>
              <a:rPr lang="en-US" altLang="zh-CN"/>
              <a:t> </a:t>
            </a:r>
            <a:r>
              <a:rPr lang="zh-CN" altLang="en-US"/>
              <a:t>扎实的数学知识基础，深厚的模式识别功底</a:t>
            </a:r>
            <a:endParaRPr lang="en-US" altLang="zh-CN"/>
          </a:p>
          <a:p>
            <a:r>
              <a:rPr lang="en-US" altLang="zh-CN"/>
              <a:t>4</a:t>
            </a:r>
            <a:r>
              <a:rPr lang="zh-CN" altLang="en-US"/>
              <a:t>、熟悉一门开发语言，熟悉</a:t>
            </a:r>
            <a:r>
              <a:rPr lang="en-US" altLang="zh-CN"/>
              <a:t>SQL</a:t>
            </a:r>
            <a:r>
              <a:rPr lang="zh-CN" altLang="en-US"/>
              <a:t>语句的编写及性能分析</a:t>
            </a:r>
            <a:endParaRPr lang="en-US" altLang="zh-CN"/>
          </a:p>
          <a:p>
            <a:r>
              <a:rPr lang="en-US" altLang="zh-CN"/>
              <a:t>5</a:t>
            </a:r>
            <a:r>
              <a:rPr lang="zh-CN" altLang="en-US"/>
              <a:t>、 熟练掌握一门</a:t>
            </a:r>
            <a:r>
              <a:rPr lang="en-US" altLang="zh-CN"/>
              <a:t>BI</a:t>
            </a:r>
            <a:r>
              <a:rPr lang="zh-CN" altLang="en-US"/>
              <a:t>工具的搭建和管理使用；</a:t>
            </a:r>
            <a:endParaRPr lang="en-US" altLang="zh-CN"/>
          </a:p>
          <a:p>
            <a:r>
              <a:rPr lang="en-US" altLang="zh-CN"/>
              <a:t>6</a:t>
            </a:r>
            <a:r>
              <a:rPr lang="zh-CN" altLang="en-US"/>
              <a:t>、</a:t>
            </a:r>
            <a:r>
              <a:rPr lang="en-US" altLang="zh-CN"/>
              <a:t> </a:t>
            </a:r>
            <a:r>
              <a:rPr lang="zh-CN" altLang="en-US"/>
              <a:t>计算机或者相关专业毕业，五年以上工作经验。</a:t>
            </a:r>
            <a:endParaRPr lang="en-US" altLang="zh-CN"/>
          </a:p>
          <a:p>
            <a:r>
              <a:rPr lang="zh-CN" altLang="en-US"/>
              <a:t/>
            </a:r>
            <a:br>
              <a:rPr lang="zh-CN" altLang="en-US"/>
            </a:br>
            <a:r>
              <a:rPr lang="en-US" altLang="zh-CN"/>
              <a:t>7</a:t>
            </a:r>
            <a:r>
              <a:rPr lang="zh-CN" altLang="en-US"/>
              <a:t>、有大规模数据分析的经验 </a:t>
            </a:r>
            <a:br>
              <a:rPr lang="zh-CN" altLang="en-US"/>
            </a:br>
            <a:r>
              <a:rPr lang="en-US" altLang="zh-CN"/>
              <a:t>8</a:t>
            </a:r>
            <a:r>
              <a:rPr lang="zh-CN" altLang="en-US"/>
              <a:t>、有分布式计算方面的开发经验</a:t>
            </a:r>
            <a:endParaRPr lang="en-US" altLang="zh-CN"/>
          </a:p>
          <a:p>
            <a:r>
              <a:rPr lang="zh-CN" altLang="en-US"/>
              <a:t>。。。。。。。。。。。。。。。。。。。。。。。</a:t>
            </a:r>
            <a:endParaRPr lang="en-US" altLang="zh-CN"/>
          </a:p>
          <a:p>
            <a:r>
              <a:rPr lang="zh-CN" altLang="en-US"/>
              <a:t>。。。。。。。。。。。。。。。。。。。。。。。</a:t>
            </a:r>
          </a:p>
        </p:txBody>
      </p:sp>
      <p:sp>
        <p:nvSpPr>
          <p:cNvPr id="97283" name="TextBox 4"/>
          <p:cNvSpPr txBox="1">
            <a:spLocks noChangeArrowheads="1"/>
          </p:cNvSpPr>
          <p:nvPr/>
        </p:nvSpPr>
        <p:spPr bwMode="auto">
          <a:xfrm>
            <a:off x="571500" y="5357813"/>
            <a:ext cx="1500188" cy="369887"/>
          </a:xfrm>
          <a:prstGeom prst="rect">
            <a:avLst/>
          </a:prstGeom>
          <a:solidFill>
            <a:schemeClr val="accent2"/>
          </a:solidFill>
          <a:ln w="9525">
            <a:noFill/>
            <a:miter lim="800000"/>
            <a:headEnd/>
            <a:tailEnd/>
          </a:ln>
        </p:spPr>
        <p:txBody>
          <a:bodyPr>
            <a:spAutoFit/>
          </a:bodyPr>
          <a:lstStyle/>
          <a:p>
            <a:r>
              <a:rPr lang="zh-CN" altLang="en-US"/>
              <a:t>数据分析员</a:t>
            </a:r>
          </a:p>
        </p:txBody>
      </p:sp>
      <p:sp>
        <p:nvSpPr>
          <p:cNvPr id="97284" name="TextBox 5"/>
          <p:cNvSpPr txBox="1">
            <a:spLocks noChangeArrowheads="1"/>
          </p:cNvSpPr>
          <p:nvPr/>
        </p:nvSpPr>
        <p:spPr bwMode="auto">
          <a:xfrm>
            <a:off x="3071813" y="5357813"/>
            <a:ext cx="2071687" cy="369887"/>
          </a:xfrm>
          <a:prstGeom prst="rect">
            <a:avLst/>
          </a:prstGeom>
          <a:solidFill>
            <a:schemeClr val="accent2"/>
          </a:solidFill>
          <a:ln w="9525">
            <a:noFill/>
            <a:miter lim="800000"/>
            <a:headEnd/>
            <a:tailEnd/>
          </a:ln>
        </p:spPr>
        <p:txBody>
          <a:bodyPr>
            <a:spAutoFit/>
          </a:bodyPr>
          <a:lstStyle/>
          <a:p>
            <a:r>
              <a:rPr lang="zh-CN" altLang="en-US"/>
              <a:t>数据挖掘工程师</a:t>
            </a:r>
          </a:p>
        </p:txBody>
      </p:sp>
      <p:sp>
        <p:nvSpPr>
          <p:cNvPr id="97285" name="TextBox 6"/>
          <p:cNvSpPr txBox="1">
            <a:spLocks noChangeArrowheads="1"/>
          </p:cNvSpPr>
          <p:nvPr/>
        </p:nvSpPr>
        <p:spPr bwMode="auto">
          <a:xfrm>
            <a:off x="6143625" y="5357813"/>
            <a:ext cx="1714500" cy="369887"/>
          </a:xfrm>
          <a:prstGeom prst="rect">
            <a:avLst/>
          </a:prstGeom>
          <a:solidFill>
            <a:schemeClr val="accent2"/>
          </a:solidFill>
          <a:ln w="9525">
            <a:noFill/>
            <a:miter lim="800000"/>
            <a:headEnd/>
            <a:tailEnd/>
          </a:ln>
        </p:spPr>
        <p:txBody>
          <a:bodyPr>
            <a:spAutoFit/>
          </a:bodyPr>
          <a:lstStyle/>
          <a:p>
            <a:r>
              <a:rPr lang="zh-CN" altLang="en-US"/>
              <a:t>数据挖掘专家</a:t>
            </a:r>
          </a:p>
        </p:txBody>
      </p:sp>
      <p:sp>
        <p:nvSpPr>
          <p:cNvPr id="8" name="右箭头 7"/>
          <p:cNvSpPr/>
          <p:nvPr/>
        </p:nvSpPr>
        <p:spPr>
          <a:xfrm>
            <a:off x="2071688" y="5286375"/>
            <a:ext cx="977900" cy="484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右箭头 8"/>
          <p:cNvSpPr/>
          <p:nvPr/>
        </p:nvSpPr>
        <p:spPr>
          <a:xfrm>
            <a:off x="5143500" y="5286375"/>
            <a:ext cx="977900" cy="484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97288" name="图片 9" descr="QQ图片20130929162001.png"/>
          <p:cNvPicPr>
            <a:picLocks noChangeAspect="1"/>
          </p:cNvPicPr>
          <p:nvPr/>
        </p:nvPicPr>
        <p:blipFill>
          <a:blip r:embed="rId2"/>
          <a:srcRect/>
          <a:stretch>
            <a:fillRect/>
          </a:stretch>
        </p:blipFill>
        <p:spPr bwMode="auto">
          <a:xfrm>
            <a:off x="928688" y="6000750"/>
            <a:ext cx="571500" cy="571500"/>
          </a:xfrm>
          <a:prstGeom prst="rect">
            <a:avLst/>
          </a:prstGeom>
          <a:noFill/>
          <a:ln w="9525">
            <a:noFill/>
            <a:miter lim="800000"/>
            <a:headEnd/>
            <a:tailEnd/>
          </a:ln>
        </p:spPr>
      </p:pic>
      <p:pic>
        <p:nvPicPr>
          <p:cNvPr id="97289" name="图片 10" descr="QQ图片20130929162016.png"/>
          <p:cNvPicPr>
            <a:picLocks noChangeAspect="1"/>
          </p:cNvPicPr>
          <p:nvPr/>
        </p:nvPicPr>
        <p:blipFill>
          <a:blip r:embed="rId3"/>
          <a:srcRect/>
          <a:stretch>
            <a:fillRect/>
          </a:stretch>
        </p:blipFill>
        <p:spPr bwMode="auto">
          <a:xfrm>
            <a:off x="1000125" y="5715000"/>
            <a:ext cx="500063" cy="500063"/>
          </a:xfrm>
          <a:prstGeom prst="rect">
            <a:avLst/>
          </a:prstGeom>
          <a:noFill/>
          <a:ln w="9525">
            <a:noFill/>
            <a:miter lim="800000"/>
            <a:headEnd/>
            <a:tailEnd/>
          </a:ln>
        </p:spPr>
      </p:pic>
      <p:pic>
        <p:nvPicPr>
          <p:cNvPr id="97290" name="图片 11" descr="QQ图片20130929162113.png"/>
          <p:cNvPicPr>
            <a:picLocks noChangeAspect="1"/>
          </p:cNvPicPr>
          <p:nvPr/>
        </p:nvPicPr>
        <p:blipFill>
          <a:blip r:embed="rId4"/>
          <a:srcRect/>
          <a:stretch>
            <a:fillRect/>
          </a:stretch>
        </p:blipFill>
        <p:spPr bwMode="auto">
          <a:xfrm>
            <a:off x="3643313" y="6067425"/>
            <a:ext cx="790575" cy="790575"/>
          </a:xfrm>
          <a:prstGeom prst="rect">
            <a:avLst/>
          </a:prstGeom>
          <a:noFill/>
          <a:ln w="9525">
            <a:noFill/>
            <a:miter lim="800000"/>
            <a:headEnd/>
            <a:tailEnd/>
          </a:ln>
        </p:spPr>
      </p:pic>
      <p:pic>
        <p:nvPicPr>
          <p:cNvPr id="97291" name="图片 12" descr="QQ图片20130929162038.png"/>
          <p:cNvPicPr>
            <a:picLocks noChangeAspect="1"/>
          </p:cNvPicPr>
          <p:nvPr/>
        </p:nvPicPr>
        <p:blipFill>
          <a:blip r:embed="rId5"/>
          <a:srcRect/>
          <a:stretch>
            <a:fillRect/>
          </a:stretch>
        </p:blipFill>
        <p:spPr bwMode="auto">
          <a:xfrm>
            <a:off x="3786188" y="5715000"/>
            <a:ext cx="500062" cy="500063"/>
          </a:xfrm>
          <a:prstGeom prst="rect">
            <a:avLst/>
          </a:prstGeom>
          <a:noFill/>
          <a:ln w="9525">
            <a:noFill/>
            <a:miter lim="800000"/>
            <a:headEnd/>
            <a:tailEnd/>
          </a:ln>
        </p:spPr>
      </p:pic>
      <p:pic>
        <p:nvPicPr>
          <p:cNvPr id="97292" name="图片 13" descr="QQ图片20130929162123.png"/>
          <p:cNvPicPr>
            <a:picLocks noChangeAspect="1"/>
          </p:cNvPicPr>
          <p:nvPr/>
        </p:nvPicPr>
        <p:blipFill>
          <a:blip r:embed="rId6"/>
          <a:srcRect/>
          <a:stretch>
            <a:fillRect/>
          </a:stretch>
        </p:blipFill>
        <p:spPr bwMode="auto">
          <a:xfrm>
            <a:off x="6786563" y="6281738"/>
            <a:ext cx="576262" cy="576262"/>
          </a:xfrm>
          <a:prstGeom prst="rect">
            <a:avLst/>
          </a:prstGeom>
          <a:noFill/>
          <a:ln w="9525">
            <a:noFill/>
            <a:miter lim="800000"/>
            <a:headEnd/>
            <a:tailEnd/>
          </a:ln>
        </p:spPr>
      </p:pic>
      <p:pic>
        <p:nvPicPr>
          <p:cNvPr id="97293" name="图片 14" descr="QQ图片20130929162057.png"/>
          <p:cNvPicPr>
            <a:picLocks noChangeAspect="1"/>
          </p:cNvPicPr>
          <p:nvPr/>
        </p:nvPicPr>
        <p:blipFill>
          <a:blip r:embed="rId7"/>
          <a:srcRect/>
          <a:stretch>
            <a:fillRect/>
          </a:stretch>
        </p:blipFill>
        <p:spPr bwMode="auto">
          <a:xfrm>
            <a:off x="7072313" y="5786438"/>
            <a:ext cx="500062" cy="500062"/>
          </a:xfrm>
          <a:prstGeom prst="rect">
            <a:avLst/>
          </a:prstGeom>
          <a:noFill/>
          <a:ln w="9525">
            <a:noFill/>
            <a:miter lim="800000"/>
            <a:headEnd/>
            <a:tailEnd/>
          </a:ln>
        </p:spPr>
      </p:pic>
      <p:sp>
        <p:nvSpPr>
          <p:cNvPr id="17" name="右箭头 16"/>
          <p:cNvSpPr/>
          <p:nvPr/>
        </p:nvSpPr>
        <p:spPr>
          <a:xfrm>
            <a:off x="1714500" y="5929313"/>
            <a:ext cx="1857375" cy="484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右箭头 17"/>
          <p:cNvSpPr/>
          <p:nvPr/>
        </p:nvSpPr>
        <p:spPr>
          <a:xfrm>
            <a:off x="4500563" y="5929313"/>
            <a:ext cx="2071687" cy="4841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97296" name="图片 18" descr="QQ图片20130929162509.png"/>
          <p:cNvPicPr>
            <a:picLocks noChangeAspect="1"/>
          </p:cNvPicPr>
          <p:nvPr/>
        </p:nvPicPr>
        <p:blipFill>
          <a:blip r:embed="rId8"/>
          <a:srcRect/>
          <a:stretch>
            <a:fillRect/>
          </a:stretch>
        </p:blipFill>
        <p:spPr bwMode="auto">
          <a:xfrm>
            <a:off x="6572250" y="5786438"/>
            <a:ext cx="500063" cy="500062"/>
          </a:xfrm>
          <a:prstGeom prst="rect">
            <a:avLst/>
          </a:prstGeom>
          <a:noFill/>
          <a:ln w="9525">
            <a:noFill/>
            <a:miter lim="800000"/>
            <a:headEnd/>
            <a:tailEnd/>
          </a:ln>
        </p:spPr>
      </p:pic>
      <p:sp>
        <p:nvSpPr>
          <p:cNvPr id="20" name="TextBox 19"/>
          <p:cNvSpPr txBox="1"/>
          <p:nvPr/>
        </p:nvSpPr>
        <p:spPr>
          <a:xfrm>
            <a:off x="3214688" y="357188"/>
            <a:ext cx="2357437" cy="461962"/>
          </a:xfrm>
          <a:prstGeom prst="rect">
            <a:avLst/>
          </a:prstGeom>
          <a:solidFill>
            <a:schemeClr val="tx2">
              <a:lumMod val="60000"/>
              <a:lumOff val="40000"/>
            </a:schemeClr>
          </a:solidFill>
        </p:spPr>
        <p:txBody>
          <a:bodyPr>
            <a:spAutoFit/>
          </a:bodyPr>
          <a:lstStyle/>
          <a:p>
            <a:pPr>
              <a:defRPr/>
            </a:pPr>
            <a:r>
              <a:rPr lang="zh-CN" altLang="en-US" sz="2400" dirty="0"/>
              <a:t>数据挖掘之路</a:t>
            </a:r>
          </a:p>
        </p:txBody>
      </p:sp>
      <p:sp>
        <p:nvSpPr>
          <p:cNvPr id="19" name="左大括号 18"/>
          <p:cNvSpPr/>
          <p:nvPr/>
        </p:nvSpPr>
        <p:spPr>
          <a:xfrm>
            <a:off x="1428750" y="1428750"/>
            <a:ext cx="500063" cy="1500188"/>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7299" name="TextBox 20"/>
          <p:cNvSpPr txBox="1">
            <a:spLocks noChangeArrowheads="1"/>
          </p:cNvSpPr>
          <p:nvPr/>
        </p:nvSpPr>
        <p:spPr bwMode="auto">
          <a:xfrm>
            <a:off x="928688" y="1500188"/>
            <a:ext cx="492125" cy="1285875"/>
          </a:xfrm>
          <a:prstGeom prst="rect">
            <a:avLst/>
          </a:prstGeom>
          <a:solidFill>
            <a:schemeClr val="accent2"/>
          </a:solidFill>
          <a:ln w="9525">
            <a:noFill/>
            <a:miter lim="800000"/>
            <a:headEnd/>
            <a:tailEnd/>
          </a:ln>
        </p:spPr>
        <p:txBody>
          <a:bodyPr vert="eaVert">
            <a:spAutoFit/>
          </a:bodyPr>
          <a:lstStyle/>
          <a:p>
            <a:r>
              <a:rPr lang="zh-CN" altLang="en-US" sz="2000"/>
              <a:t>刚毕业时</a:t>
            </a:r>
          </a:p>
        </p:txBody>
      </p:sp>
      <p:sp>
        <p:nvSpPr>
          <p:cNvPr id="22" name="左大括号 21"/>
          <p:cNvSpPr/>
          <p:nvPr/>
        </p:nvSpPr>
        <p:spPr>
          <a:xfrm>
            <a:off x="1357313" y="3071813"/>
            <a:ext cx="500062" cy="428625"/>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7301" name="TextBox 23"/>
          <p:cNvSpPr txBox="1">
            <a:spLocks noChangeArrowheads="1"/>
          </p:cNvSpPr>
          <p:nvPr/>
        </p:nvSpPr>
        <p:spPr bwMode="auto">
          <a:xfrm>
            <a:off x="357188" y="2928938"/>
            <a:ext cx="1000125" cy="646112"/>
          </a:xfrm>
          <a:prstGeom prst="rect">
            <a:avLst/>
          </a:prstGeom>
          <a:solidFill>
            <a:schemeClr val="accent2"/>
          </a:solidFill>
          <a:ln w="9525">
            <a:noFill/>
            <a:miter lim="800000"/>
            <a:headEnd/>
            <a:tailEnd/>
          </a:ln>
        </p:spPr>
        <p:txBody>
          <a:bodyPr>
            <a:spAutoFit/>
          </a:bodyPr>
          <a:lstStyle/>
          <a:p>
            <a:r>
              <a:rPr lang="zh-CN" altLang="en-US"/>
              <a:t>毕业后</a:t>
            </a:r>
            <a:r>
              <a:rPr lang="en-US" altLang="zh-CN"/>
              <a:t>5</a:t>
            </a:r>
            <a:r>
              <a:rPr lang="zh-CN" altLang="en-US"/>
              <a:t>年</a:t>
            </a:r>
          </a:p>
        </p:txBody>
      </p:sp>
      <p:sp>
        <p:nvSpPr>
          <p:cNvPr id="25" name="左大括号 24"/>
          <p:cNvSpPr/>
          <p:nvPr/>
        </p:nvSpPr>
        <p:spPr>
          <a:xfrm>
            <a:off x="1357313" y="3929063"/>
            <a:ext cx="500062" cy="1071562"/>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97303" name="TextBox 26"/>
          <p:cNvSpPr txBox="1">
            <a:spLocks noChangeArrowheads="1"/>
          </p:cNvSpPr>
          <p:nvPr/>
        </p:nvSpPr>
        <p:spPr bwMode="auto">
          <a:xfrm>
            <a:off x="142875" y="3857625"/>
            <a:ext cx="1214438" cy="923925"/>
          </a:xfrm>
          <a:prstGeom prst="rect">
            <a:avLst/>
          </a:prstGeom>
          <a:solidFill>
            <a:schemeClr val="accent2"/>
          </a:solidFill>
          <a:ln w="9525">
            <a:noFill/>
            <a:miter lim="800000"/>
            <a:headEnd/>
            <a:tailEnd/>
          </a:ln>
        </p:spPr>
        <p:txBody>
          <a:bodyPr>
            <a:spAutoFit/>
          </a:bodyPr>
          <a:lstStyle/>
          <a:p>
            <a:r>
              <a:rPr lang="zh-CN" altLang="en-US"/>
              <a:t>毕业后</a:t>
            </a:r>
            <a:r>
              <a:rPr lang="en-US" altLang="zh-CN"/>
              <a:t>10</a:t>
            </a:r>
            <a:r>
              <a:rPr lang="zh-CN" altLang="en-US"/>
              <a:t>年</a:t>
            </a:r>
            <a:r>
              <a:rPr lang="en-US" altLang="zh-CN"/>
              <a:t>,20</a:t>
            </a:r>
            <a:r>
              <a:rPr lang="zh-CN" altLang="en-US"/>
              <a:t>年，</a:t>
            </a:r>
            <a:r>
              <a:rPr lang="en-US" altLang="zh-CN"/>
              <a:t>N</a:t>
            </a:r>
            <a:r>
              <a:rPr lang="zh-CN" altLang="en-US"/>
              <a:t>年。。。</a:t>
            </a:r>
          </a:p>
        </p:txBody>
      </p:sp>
    </p:spTree>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THANK YOU.png"/>
          <p:cNvPicPr>
            <a:picLocks noChangeAspect="1"/>
          </p:cNvPicPr>
          <p:nvPr/>
        </p:nvPicPr>
        <p:blipFill>
          <a:blip r:embed="rId3"/>
          <a:srcRect/>
          <a:stretch>
            <a:fillRect/>
          </a:stretch>
        </p:blipFill>
        <p:spPr bwMode="auto">
          <a:xfrm>
            <a:off x="0" y="1938338"/>
            <a:ext cx="9144000" cy="2124075"/>
          </a:xfrm>
          <a:prstGeom prst="rect">
            <a:avLst/>
          </a:prstGeom>
          <a:noFill/>
          <a:ln w="9525">
            <a:noFill/>
            <a:miter lim="800000"/>
            <a:headEnd/>
            <a:tailEnd/>
          </a:ln>
        </p:spPr>
      </p:pic>
      <p:pic>
        <p:nvPicPr>
          <p:cNvPr id="6" name="图片 5" descr="THANK YOU!!!.png"/>
          <p:cNvPicPr>
            <a:picLocks noChangeAspect="1"/>
          </p:cNvPicPr>
          <p:nvPr/>
        </p:nvPicPr>
        <p:blipFill>
          <a:blip r:embed="rId4"/>
          <a:srcRect/>
          <a:stretch>
            <a:fillRect/>
          </a:stretch>
        </p:blipFill>
        <p:spPr bwMode="auto">
          <a:xfrm>
            <a:off x="0" y="1928813"/>
            <a:ext cx="9142413" cy="2124075"/>
          </a:xfrm>
          <a:prstGeom prst="rect">
            <a:avLst/>
          </a:prstGeom>
          <a:noFill/>
          <a:ln w="9525">
            <a:noFill/>
            <a:miter lim="800000"/>
            <a:headEnd/>
            <a:tailEnd/>
          </a:ln>
        </p:spPr>
      </p:pic>
      <p:sp>
        <p:nvSpPr>
          <p:cNvPr id="98308" name="TextBox 12"/>
          <p:cNvSpPr txBox="1">
            <a:spLocks noChangeArrowheads="1"/>
          </p:cNvSpPr>
          <p:nvPr/>
        </p:nvSpPr>
        <p:spPr bwMode="auto">
          <a:xfrm>
            <a:off x="1285875" y="1500188"/>
            <a:ext cx="6786563" cy="523875"/>
          </a:xfrm>
          <a:prstGeom prst="rect">
            <a:avLst/>
          </a:prstGeom>
          <a:noFill/>
          <a:ln w="9525">
            <a:noFill/>
            <a:miter lim="800000"/>
            <a:headEnd/>
            <a:tailEnd/>
          </a:ln>
        </p:spPr>
        <p:txBody>
          <a:bodyPr>
            <a:spAutoFit/>
          </a:bodyPr>
          <a:lstStyle/>
          <a:p>
            <a:r>
              <a:rPr lang="zh-CN" altLang="en-US" sz="2800"/>
              <a:t>非常感谢大家的耐心倾听，道一声 谢谢！</a:t>
            </a:r>
          </a:p>
        </p:txBody>
      </p:sp>
      <p:grpSp>
        <p:nvGrpSpPr>
          <p:cNvPr id="98309" name="组合 22"/>
          <p:cNvGrpSpPr>
            <a:grpSpLocks/>
          </p:cNvGrpSpPr>
          <p:nvPr/>
        </p:nvGrpSpPr>
        <p:grpSpPr bwMode="auto">
          <a:xfrm>
            <a:off x="3286125" y="285750"/>
            <a:ext cx="2643188" cy="1292225"/>
            <a:chOff x="-376792" y="549327"/>
            <a:chExt cx="3011302" cy="1353921"/>
          </a:xfrm>
        </p:grpSpPr>
        <p:grpSp>
          <p:nvGrpSpPr>
            <p:cNvPr id="98310" name="剪去单角的矩形 23"/>
            <p:cNvGrpSpPr>
              <a:grpSpLocks/>
            </p:cNvGrpSpPr>
            <p:nvPr/>
          </p:nvGrpSpPr>
          <p:grpSpPr bwMode="auto">
            <a:xfrm>
              <a:off x="-376792" y="549327"/>
              <a:ext cx="3011302" cy="1353921"/>
              <a:chOff x="-359663" y="621772"/>
              <a:chExt cx="2874409" cy="1292372"/>
            </a:xfrm>
          </p:grpSpPr>
          <p:pic>
            <p:nvPicPr>
              <p:cNvPr id="98314" name="剪去单角的矩形 23"/>
              <p:cNvPicPr>
                <a:picLocks noChangeArrowheads="1"/>
              </p:cNvPicPr>
              <p:nvPr/>
            </p:nvPicPr>
            <p:blipFill>
              <a:blip r:embed="rId5"/>
              <a:srcRect/>
              <a:stretch>
                <a:fillRect/>
              </a:stretch>
            </p:blipFill>
            <p:spPr bwMode="auto">
              <a:xfrm>
                <a:off x="-359663" y="621792"/>
                <a:ext cx="2874409" cy="1292352"/>
              </a:xfrm>
              <a:prstGeom prst="rect">
                <a:avLst/>
              </a:prstGeom>
              <a:noFill/>
              <a:ln w="9525">
                <a:noFill/>
                <a:miter lim="800000"/>
                <a:headEnd/>
                <a:tailEnd/>
              </a:ln>
            </p:spPr>
          </p:pic>
          <p:sp>
            <p:nvSpPr>
              <p:cNvPr id="18" name="Text Box 8"/>
              <p:cNvSpPr txBox="1">
                <a:spLocks noChangeArrowheads="1"/>
              </p:cNvSpPr>
              <p:nvPr/>
            </p:nvSpPr>
            <p:spPr bwMode="auto">
              <a:xfrm>
                <a:off x="-204290" y="621772"/>
                <a:ext cx="2719036" cy="976424"/>
              </a:xfrm>
              <a:prstGeom prst="rect">
                <a:avLst/>
              </a:prstGeom>
              <a:solidFill>
                <a:schemeClr val="accent6">
                  <a:lumMod val="75000"/>
                </a:schemeClr>
              </a:solidFill>
              <a:ln w="9525">
                <a:noFill/>
                <a:miter lim="800000"/>
                <a:headEnd/>
                <a:tailEnd/>
              </a:ln>
            </p:spPr>
            <p:txBody>
              <a:bodyPr anchor="ctr"/>
              <a:lstStyle/>
              <a:p>
                <a:pPr algn="ctr">
                  <a:defRPr/>
                </a:pPr>
                <a:endParaRPr lang="zh-CN" altLang="en-US">
                  <a:solidFill>
                    <a:srgbClr val="FFFFFF"/>
                  </a:solidFill>
                  <a:latin typeface="Calibri" pitchFamily="34" charset="0"/>
                </a:endParaRPr>
              </a:p>
            </p:txBody>
          </p:sp>
        </p:grpSp>
        <p:grpSp>
          <p:nvGrpSpPr>
            <p:cNvPr id="98311" name="组合 7"/>
            <p:cNvGrpSpPr>
              <a:grpSpLocks/>
            </p:cNvGrpSpPr>
            <p:nvPr/>
          </p:nvGrpSpPr>
          <p:grpSpPr bwMode="auto">
            <a:xfrm>
              <a:off x="-295430" y="549327"/>
              <a:ext cx="2890688" cy="1085714"/>
              <a:chOff x="-9678" y="477889"/>
              <a:chExt cx="2890688" cy="1085714"/>
            </a:xfrm>
          </p:grpSpPr>
          <p:sp>
            <p:nvSpPr>
              <p:cNvPr id="98312" name="TextBox 25"/>
              <p:cNvSpPr txBox="1">
                <a:spLocks noChangeArrowheads="1"/>
              </p:cNvSpPr>
              <p:nvPr/>
            </p:nvSpPr>
            <p:spPr bwMode="auto">
              <a:xfrm>
                <a:off x="804194" y="552737"/>
                <a:ext cx="2076816" cy="806177"/>
              </a:xfrm>
              <a:prstGeom prst="rect">
                <a:avLst/>
              </a:prstGeom>
              <a:noFill/>
              <a:ln w="9525">
                <a:noFill/>
                <a:miter lim="800000"/>
                <a:headEnd/>
                <a:tailEnd/>
              </a:ln>
            </p:spPr>
            <p:txBody>
              <a:bodyPr wrap="none">
                <a:spAutoFit/>
              </a:bodyPr>
              <a:lstStyle/>
              <a:p>
                <a:r>
                  <a:rPr lang="en-US" altLang="zh-CN" sz="4400" b="1">
                    <a:latin typeface="微软雅黑" pitchFamily="34" charset="-122"/>
                    <a:ea typeface="微软雅黑" pitchFamily="34" charset="-122"/>
                  </a:rPr>
                  <a:t>5.</a:t>
                </a:r>
                <a:r>
                  <a:rPr lang="zh-CN" altLang="en-US" sz="4400" b="1">
                    <a:latin typeface="微软雅黑" pitchFamily="34" charset="-122"/>
                    <a:ea typeface="微软雅黑" pitchFamily="34" charset="-122"/>
                  </a:rPr>
                  <a:t>致谢</a:t>
                </a:r>
              </a:p>
            </p:txBody>
          </p:sp>
          <p:pic>
            <p:nvPicPr>
              <p:cNvPr id="98313" name="图片 26" descr="ICON2.png"/>
              <p:cNvPicPr>
                <a:picLocks noChangeAspect="1"/>
              </p:cNvPicPr>
              <p:nvPr/>
            </p:nvPicPr>
            <p:blipFill>
              <a:blip r:embed="rId6"/>
              <a:srcRect/>
              <a:stretch>
                <a:fillRect/>
              </a:stretch>
            </p:blipFill>
            <p:spPr bwMode="auto">
              <a:xfrm>
                <a:off x="-9678" y="477889"/>
                <a:ext cx="1104762" cy="1085714"/>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5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500" decel="50000" fill="hold">
                                          <p:stCondLst>
                                            <p:cond delay="0"/>
                                          </p:stCondLst>
                                        </p:cTn>
                                        <p:tgtEl>
                                          <p:spTgt spid="5"/>
                                        </p:tgtEl>
                                        <p:attrNameLst>
                                          <p:attrName>ppt_x</p:attrName>
                                          <p:attrName>ppt_y</p:attrName>
                                        </p:attrNameLst>
                                      </p:cBhvr>
                                    </p:animMotion>
                                    <p:animEffect transition="in" filter="fade">
                                      <p:cBhvr>
                                        <p:cTn id="9" dur="500"/>
                                        <p:tgtEl>
                                          <p:spTgt spid="5"/>
                                        </p:tgtEl>
                                      </p:cBhvr>
                                    </p:animEffect>
                                  </p:childTnLst>
                                </p:cTn>
                              </p:par>
                              <p:par>
                                <p:cTn id="10" presetID="50" presetClass="entr" presetSubtype="0" decel="100000" fill="hold" nodeType="withEffect">
                                  <p:stCondLst>
                                    <p:cond delay="500"/>
                                  </p:stCondLst>
                                  <p:childTnLst>
                                    <p:set>
                                      <p:cBhvr>
                                        <p:cTn id="11" dur="1" fill="hold">
                                          <p:stCondLst>
                                            <p:cond delay="0"/>
                                          </p:stCondLst>
                                        </p:cTn>
                                        <p:tgtEl>
                                          <p:spTgt spid="6"/>
                                        </p:tgtEl>
                                        <p:attrNameLst>
                                          <p:attrName>style.visibility</p:attrName>
                                        </p:attrNameLst>
                                      </p:cBhvr>
                                      <p:to>
                                        <p:strVal val="visible"/>
                                      </p:to>
                                    </p:set>
                                    <p:anim calcmode="lin" valueType="num">
                                      <p:cBhvr>
                                        <p:cTn id="12" dur="900" fill="hold"/>
                                        <p:tgtEl>
                                          <p:spTgt spid="6"/>
                                        </p:tgtEl>
                                        <p:attrNameLst>
                                          <p:attrName>ppt_w</p:attrName>
                                        </p:attrNameLst>
                                      </p:cBhvr>
                                      <p:tavLst>
                                        <p:tav tm="0">
                                          <p:val>
                                            <p:strVal val="#ppt_w+.3"/>
                                          </p:val>
                                        </p:tav>
                                        <p:tav tm="100000">
                                          <p:val>
                                            <p:strVal val="#ppt_w"/>
                                          </p:val>
                                        </p:tav>
                                      </p:tavLst>
                                    </p:anim>
                                    <p:anim calcmode="lin" valueType="num">
                                      <p:cBhvr>
                                        <p:cTn id="13" dur="900" fill="hold"/>
                                        <p:tgtEl>
                                          <p:spTgt spid="6"/>
                                        </p:tgtEl>
                                        <p:attrNameLst>
                                          <p:attrName>ppt_h</p:attrName>
                                        </p:attrNameLst>
                                      </p:cBhvr>
                                      <p:tavLst>
                                        <p:tav tm="0">
                                          <p:val>
                                            <p:strVal val="#ppt_h"/>
                                          </p:val>
                                        </p:tav>
                                        <p:tav tm="100000">
                                          <p:val>
                                            <p:strVal val="#ppt_h"/>
                                          </p:val>
                                        </p:tav>
                                      </p:tavLst>
                                    </p:anim>
                                    <p:animEffect transition="in" filter="fade">
                                      <p:cBhvr>
                                        <p:cTn id="14" dur="900"/>
                                        <p:tgtEl>
                                          <p:spTgt spid="6"/>
                                        </p:tgtEl>
                                      </p:cBhvr>
                                    </p:animEffect>
                                  </p:childTnLst>
                                </p:cTn>
                              </p:par>
                              <p:par>
                                <p:cTn id="15" presetID="10" presetClass="exit" presetSubtype="0" fill="hold" nodeType="withEffect">
                                  <p:stCondLst>
                                    <p:cond delay="1900"/>
                                  </p:stCondLst>
                                  <p:childTnLst>
                                    <p:animEffect transition="out" filter="fade">
                                      <p:cBhvr>
                                        <p:cTn id="16" dur="2000"/>
                                        <p:tgtEl>
                                          <p:spTgt spid="6"/>
                                        </p:tgtEl>
                                      </p:cBhvr>
                                    </p:animEffect>
                                    <p:set>
                                      <p:cBhvr>
                                        <p:cTn id="17" dur="1" fill="hold">
                                          <p:stCondLst>
                                            <p:cond delay="1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5492</TotalTime>
  <Words>6170</Words>
  <Application>Microsoft Office PowerPoint</Application>
  <PresentationFormat>全屏显示(4:3)</PresentationFormat>
  <Paragraphs>739</Paragraphs>
  <Slides>70</Slides>
  <Notes>10</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3</vt:i4>
      </vt:variant>
      <vt:variant>
        <vt:lpstr>幻灯片标题</vt:lpstr>
      </vt:variant>
      <vt:variant>
        <vt:i4>70</vt:i4>
      </vt:variant>
    </vt:vector>
  </HeadingPairs>
  <TitlesOfParts>
    <vt:vector size="85" baseType="lpstr">
      <vt:lpstr>Arial</vt:lpstr>
      <vt:lpstr>宋体</vt:lpstr>
      <vt:lpstr>Calibri</vt:lpstr>
      <vt:lpstr>微软雅黑</vt:lpstr>
      <vt:lpstr>楷体_GB2312</vt:lpstr>
      <vt:lpstr>Wingdings</vt:lpstr>
      <vt:lpstr>华文新魏</vt:lpstr>
      <vt:lpstr>Tahoma</vt:lpstr>
      <vt:lpstr>Times New Roman</vt:lpstr>
      <vt:lpstr>1_自定义设计方案</vt:lpstr>
      <vt:lpstr>自定义设计方案</vt:lpstr>
      <vt:lpstr>2_自定义设计方案</vt:lpstr>
      <vt:lpstr>MathType 5.0 Equation</vt:lpstr>
      <vt:lpstr>Microsoft 公式 3.0</vt:lpstr>
      <vt:lpstr>MathType 6.0 Equation</vt:lpstr>
      <vt:lpstr>数据挖掘分类之</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ppt.glzy8.com提供海量PPT模板免费下载！</dc:title>
  <dc:creator>lwg</dc:creator>
  <cp:lastModifiedBy>lwg</cp:lastModifiedBy>
  <cp:revision>404</cp:revision>
  <dcterms:created xsi:type="dcterms:W3CDTF">2010-04-24T05:42:58Z</dcterms:created>
  <dcterms:modified xsi:type="dcterms:W3CDTF">2013-10-28T06:25:38Z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000800da72000000000001024140</vt:lpwstr>
  </property>
</Properties>
</file>