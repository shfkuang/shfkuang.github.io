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8" r:id="rId3"/>
    <p:sldId id="28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41" autoAdjust="0"/>
  </p:normalViewPr>
  <p:slideViewPr>
    <p:cSldViewPr>
      <p:cViewPr varScale="1">
        <p:scale>
          <a:sx n="126" d="100"/>
          <a:sy n="126" d="100"/>
        </p:scale>
        <p:origin x="1784" y="20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305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366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40BC319-57D1-4C3E-872E-9C9766FF72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08C2EA63-F63D-4F8A-AAD9-B9DA3FF924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8A8E4-B29C-4DCA-8C9C-9AFBD383962E}" type="datetimeFigureOut">
              <a:rPr lang="zh-CN" altLang="en-US" smtClean="0"/>
              <a:t>2019/8/27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E193AC67-93CB-4D43-B0D6-7E0D33E48C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6120756-8171-4793-86D2-EE0F00A074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206CF-B5E0-4047-8F35-B6A7861A1F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22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99493-4FEB-4759-967F-8230039AEC48}" type="datetimeFigureOut">
              <a:rPr lang="zh-CN" altLang="en-US" smtClean="0"/>
              <a:t>2019/8/27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9D32C-814B-4344-9229-7F7A90368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6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19800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97D44-1C03-0443-B01C-0B9CE87EC1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712832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 userDrawn="1"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657975"/>
            <a:ext cx="8207375" cy="0"/>
          </a:xfrm>
          <a:custGeom>
            <a:avLst/>
            <a:gdLst/>
            <a:ahLst/>
            <a:cxnLst/>
            <a:rect l="l" t="t" r="r" b="b"/>
            <a:pathLst>
              <a:path w="8207375">
                <a:moveTo>
                  <a:pt x="0" y="0"/>
                </a:moveTo>
                <a:lnTo>
                  <a:pt x="8207375" y="0"/>
                </a:lnTo>
              </a:path>
            </a:pathLst>
          </a:custGeom>
          <a:ln w="9525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50825" y="260350"/>
            <a:ext cx="1008062" cy="8540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5872" y="358902"/>
            <a:ext cx="457225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016" y="2255486"/>
            <a:ext cx="5855334" cy="2074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940" y="6409562"/>
            <a:ext cx="719455" cy="204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71840" y="6428459"/>
            <a:ext cx="24955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1928" y="1224175"/>
            <a:ext cx="5486022" cy="3161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3"/>
            <a:ext cx="9144000" cy="11350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3559" y="4249039"/>
            <a:ext cx="8425815" cy="20466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664210">
              <a:lnSpc>
                <a:spcPct val="100899"/>
              </a:lnSpc>
              <a:spcBef>
                <a:spcPts val="25"/>
              </a:spcBef>
            </a:pPr>
            <a:r>
              <a:rPr sz="6600" dirty="0">
                <a:solidFill>
                  <a:srgbClr val="FF0000"/>
                </a:solidFill>
                <a:latin typeface="华文新魏"/>
                <a:cs typeface="华文新魏"/>
              </a:rPr>
              <a:t>很高兴与各位共同 </a:t>
            </a:r>
            <a:r>
              <a:rPr sz="6600" spc="5" dirty="0">
                <a:solidFill>
                  <a:srgbClr val="FF0000"/>
                </a:solidFill>
                <a:latin typeface="华文新魏"/>
                <a:cs typeface="华文新魏"/>
              </a:rPr>
              <a:t>分享回归分析的乐趣！</a:t>
            </a:r>
            <a:endParaRPr sz="6600" dirty="0">
              <a:latin typeface="华文新魏"/>
              <a:cs typeface="华文新魏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533400"/>
            <a:ext cx="8576310" cy="546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3470">
              <a:lnSpc>
                <a:spcPct val="100000"/>
              </a:lnSpc>
              <a:spcBef>
                <a:spcPts val="105"/>
              </a:spcBef>
              <a:tabLst>
                <a:tab pos="1436370" algn="l"/>
              </a:tabLst>
            </a:pPr>
            <a:r>
              <a:rPr sz="4400" spc="5" dirty="0">
                <a:solidFill>
                  <a:srgbClr val="FFFFFF"/>
                </a:solidFill>
                <a:latin typeface="黑体"/>
                <a:cs typeface="黑体"/>
              </a:rPr>
              <a:t>应</a:t>
            </a:r>
            <a:r>
              <a:rPr sz="4400" spc="15" dirty="0">
                <a:solidFill>
                  <a:srgbClr val="FFFFFF"/>
                </a:solidFill>
                <a:latin typeface="黑体"/>
                <a:cs typeface="黑体"/>
              </a:rPr>
              <a:t>用</a:t>
            </a:r>
            <a:r>
              <a:rPr sz="4400" spc="5" dirty="0">
                <a:solidFill>
                  <a:srgbClr val="FFFFFF"/>
                </a:solidFill>
                <a:latin typeface="黑体"/>
                <a:cs typeface="黑体"/>
              </a:rPr>
              <a:t>回归</a:t>
            </a:r>
            <a:r>
              <a:rPr sz="4400" spc="-15" dirty="0">
                <a:solidFill>
                  <a:srgbClr val="FFFFFF"/>
                </a:solidFill>
                <a:latin typeface="黑体"/>
                <a:cs typeface="黑体"/>
              </a:rPr>
              <a:t>分</a:t>
            </a:r>
            <a:r>
              <a:rPr sz="4400" spc="5" dirty="0">
                <a:solidFill>
                  <a:srgbClr val="FFFFFF"/>
                </a:solidFill>
                <a:latin typeface="黑体"/>
                <a:cs typeface="黑体"/>
              </a:rPr>
              <a:t>析</a:t>
            </a:r>
            <a:r>
              <a:rPr sz="4400" spc="-10" dirty="0">
                <a:solidFill>
                  <a:srgbClr val="FFFFFF"/>
                </a:solidFill>
                <a:latin typeface="黑体"/>
                <a:cs typeface="黑体"/>
              </a:rPr>
              <a:t>（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400" dirty="0">
                <a:solidFill>
                  <a:srgbClr val="FFFFFF"/>
                </a:solidFill>
                <a:latin typeface="黑体"/>
                <a:cs typeface="黑体"/>
              </a:rPr>
              <a:t>语言版）</a:t>
            </a:r>
            <a:endParaRPr sz="4400" dirty="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3700"/>
              </a:spcBef>
              <a:tabLst>
                <a:tab pos="355600" algn="l"/>
              </a:tabLst>
            </a:pP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Applied Regression Analysis</a:t>
            </a:r>
            <a:r>
              <a:rPr sz="4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(ARA</a:t>
            </a:r>
            <a:r>
              <a:rPr sz="4400" dirty="0" smtClean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lang="en-US" sz="4400" dirty="0" smtClean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700"/>
              </a:spcBef>
              <a:tabLst>
                <a:tab pos="355600" algn="l"/>
              </a:tabLst>
            </a:pPr>
            <a:endParaRPr lang="en-US" altLang="zh-CN" sz="2800" b="1" dirty="0" smtClean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700"/>
              </a:spcBef>
              <a:tabLst>
                <a:tab pos="355600" algn="l"/>
              </a:tabLst>
            </a:pPr>
            <a:r>
              <a:rPr lang="zh-CN" altLang="en-US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任课教师：邝神芬</a:t>
            </a:r>
            <a:endParaRPr lang="en-US" altLang="zh-CN" sz="2800" b="1" dirty="0" smtClean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700"/>
              </a:spcBef>
              <a:tabLst>
                <a:tab pos="355600" algn="l"/>
              </a:tabLst>
            </a:pPr>
            <a:r>
              <a:rPr lang="en-US" altLang="zh-CN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TEL</a:t>
            </a:r>
            <a:r>
              <a:rPr lang="zh-CN" altLang="en-US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：</a:t>
            </a:r>
            <a:r>
              <a:rPr lang="en-US" altLang="zh-CN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15820110875(</a:t>
            </a:r>
            <a:r>
              <a:rPr lang="zh-CN" altLang="en-US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短</a:t>
            </a:r>
            <a:r>
              <a:rPr lang="en-US" altLang="zh-CN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64875</a:t>
            </a:r>
            <a:r>
              <a:rPr lang="zh-CN" altLang="en-US" sz="2800" b="1" dirty="0" smtClean="0">
                <a:solidFill>
                  <a:srgbClr val="FFFFFF"/>
                </a:solidFill>
                <a:latin typeface="Times New Roman"/>
                <a:cs typeface="Times New Roman"/>
              </a:rPr>
              <a:t>）</a:t>
            </a:r>
            <a:endParaRPr lang="en-US" altLang="zh-CN" sz="2800" b="1" dirty="0" smtClean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700"/>
              </a:spcBef>
              <a:tabLst>
                <a:tab pos="355600" algn="l"/>
              </a:tabLst>
            </a:pPr>
            <a:r>
              <a:rPr lang="en-US" altLang="zh-CN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EMAIL:shfkuang@vip.163.com</a:t>
            </a:r>
            <a:endParaRPr sz="28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reeform 2"/>
          <p:cNvSpPr>
            <a:spLocks/>
          </p:cNvSpPr>
          <p:nvPr/>
        </p:nvSpPr>
        <p:spPr bwMode="auto">
          <a:xfrm>
            <a:off x="0" y="260648"/>
            <a:ext cx="9144000" cy="6858000"/>
          </a:xfrm>
          <a:custGeom>
            <a:avLst/>
            <a:gdLst>
              <a:gd name="T0" fmla="*/ 0 w 5760"/>
              <a:gd name="T1" fmla="*/ 2147483646 h 4320"/>
              <a:gd name="T2" fmla="*/ 2147483646 w 5760"/>
              <a:gd name="T3" fmla="*/ 2147483646 h 4320"/>
              <a:gd name="T4" fmla="*/ 2147483646 w 5760"/>
              <a:gd name="T5" fmla="*/ 0 h 4320"/>
              <a:gd name="T6" fmla="*/ 0 w 5760"/>
              <a:gd name="T7" fmla="*/ 0 h 4320"/>
              <a:gd name="T8" fmla="*/ 0 w 5760"/>
              <a:gd name="T9" fmla="*/ 2147483646 h 4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0"/>
              <a:gd name="T16" fmla="*/ 0 h 4320"/>
              <a:gd name="T17" fmla="*/ 5760 w 5760"/>
              <a:gd name="T18" fmla="*/ 4320 h 4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0" h="4320">
                <a:moveTo>
                  <a:pt x="0" y="4320"/>
                </a:move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lnTo>
                  <a:pt x="0" y="432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4" name="Freeform 3"/>
          <p:cNvSpPr>
            <a:spLocks/>
          </p:cNvSpPr>
          <p:nvPr/>
        </p:nvSpPr>
        <p:spPr bwMode="auto">
          <a:xfrm>
            <a:off x="417513" y="1098550"/>
            <a:ext cx="438150" cy="474663"/>
          </a:xfrm>
          <a:custGeom>
            <a:avLst/>
            <a:gdLst>
              <a:gd name="T0" fmla="*/ 0 w 276"/>
              <a:gd name="T1" fmla="*/ 2147483646 h 299"/>
              <a:gd name="T2" fmla="*/ 2147483646 w 276"/>
              <a:gd name="T3" fmla="*/ 2147483646 h 299"/>
              <a:gd name="T4" fmla="*/ 2147483646 w 276"/>
              <a:gd name="T5" fmla="*/ 0 h 299"/>
              <a:gd name="T6" fmla="*/ 0 w 276"/>
              <a:gd name="T7" fmla="*/ 0 h 299"/>
              <a:gd name="T8" fmla="*/ 0 w 276"/>
              <a:gd name="T9" fmla="*/ 214748364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6"/>
              <a:gd name="T16" fmla="*/ 0 h 299"/>
              <a:gd name="T17" fmla="*/ 276 w 276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6" h="299">
                <a:moveTo>
                  <a:pt x="0" y="299"/>
                </a:moveTo>
                <a:lnTo>
                  <a:pt x="276" y="299"/>
                </a:lnTo>
                <a:lnTo>
                  <a:pt x="276" y="0"/>
                </a:lnTo>
                <a:lnTo>
                  <a:pt x="0" y="0"/>
                </a:lnTo>
                <a:lnTo>
                  <a:pt x="0" y="299"/>
                </a:lnTo>
                <a:close/>
              </a:path>
            </a:pathLst>
          </a:custGeom>
          <a:solidFill>
            <a:srgbClr val="FFCF01"/>
          </a:solidFill>
          <a:ln w="12700">
            <a:solidFill>
              <a:srgbClr val="000000">
                <a:alpha val="0"/>
              </a:srgb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Freeform 4"/>
          <p:cNvSpPr>
            <a:spLocks/>
          </p:cNvSpPr>
          <p:nvPr/>
        </p:nvSpPr>
        <p:spPr bwMode="auto">
          <a:xfrm>
            <a:off x="541338" y="1520825"/>
            <a:ext cx="422275" cy="474663"/>
          </a:xfrm>
          <a:custGeom>
            <a:avLst/>
            <a:gdLst>
              <a:gd name="T0" fmla="*/ 0 w 266"/>
              <a:gd name="T1" fmla="*/ 2147483646 h 299"/>
              <a:gd name="T2" fmla="*/ 2147483646 w 266"/>
              <a:gd name="T3" fmla="*/ 2147483646 h 299"/>
              <a:gd name="T4" fmla="*/ 2147483646 w 266"/>
              <a:gd name="T5" fmla="*/ 0 h 299"/>
              <a:gd name="T6" fmla="*/ 0 w 266"/>
              <a:gd name="T7" fmla="*/ 0 h 299"/>
              <a:gd name="T8" fmla="*/ 0 w 266"/>
              <a:gd name="T9" fmla="*/ 214748364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6"/>
              <a:gd name="T16" fmla="*/ 0 h 299"/>
              <a:gd name="T17" fmla="*/ 266 w 266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6" h="299">
                <a:moveTo>
                  <a:pt x="0" y="299"/>
                </a:moveTo>
                <a:lnTo>
                  <a:pt x="266" y="299"/>
                </a:lnTo>
                <a:lnTo>
                  <a:pt x="266" y="0"/>
                </a:lnTo>
                <a:lnTo>
                  <a:pt x="0" y="0"/>
                </a:lnTo>
                <a:lnTo>
                  <a:pt x="0" y="299"/>
                </a:lnTo>
                <a:close/>
              </a:path>
            </a:pathLst>
          </a:custGeom>
          <a:solidFill>
            <a:srgbClr val="3333CC"/>
          </a:solidFill>
          <a:ln w="12700">
            <a:solidFill>
              <a:srgbClr val="000000">
                <a:alpha val="0"/>
              </a:srgbClr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Line 5"/>
          <p:cNvSpPr>
            <a:spLocks noChangeShapeType="1"/>
          </p:cNvSpPr>
          <p:nvPr/>
        </p:nvSpPr>
        <p:spPr bwMode="auto">
          <a:xfrm>
            <a:off x="777875" y="990600"/>
            <a:ext cx="1588" cy="1052513"/>
          </a:xfrm>
          <a:prstGeom prst="line">
            <a:avLst/>
          </a:prstGeom>
          <a:noFill/>
          <a:ln w="38100">
            <a:solidFill>
              <a:srgbClr val="1C1C1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8437" name="Picture 6" descr="ws_D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092200"/>
            <a:ext cx="8623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3398838" y="785813"/>
            <a:ext cx="20542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algn="ctr" eaLnBrk="1" hangingPunct="1">
              <a:lnSpc>
                <a:spcPts val="4013"/>
              </a:lnSpc>
            </a:pPr>
            <a:r>
              <a:rPr lang="zh-CN" altLang="en-US" sz="4000">
                <a:solidFill>
                  <a:srgbClr val="333399"/>
                </a:solidFill>
              </a:rPr>
              <a:t>教学要求</a:t>
            </a:r>
          </a:p>
        </p:txBody>
      </p:sp>
      <p:sp>
        <p:nvSpPr>
          <p:cNvPr id="18439" name="Text Box 9"/>
          <p:cNvSpPr txBox="1">
            <a:spLocks noChangeArrowheads="1"/>
          </p:cNvSpPr>
          <p:nvPr/>
        </p:nvSpPr>
        <p:spPr bwMode="auto">
          <a:xfrm>
            <a:off x="1116013" y="2636838"/>
            <a:ext cx="832802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eaLnBrk="1" hangingPunct="1">
              <a:lnSpc>
                <a:spcPts val="3025"/>
              </a:lnSpc>
            </a:pPr>
            <a:r>
              <a:rPr lang="en-US" altLang="zh-CN" sz="2800" dirty="0">
                <a:latin typeface="Arial" charset="0"/>
              </a:rPr>
              <a:t>• </a:t>
            </a:r>
            <a:r>
              <a:rPr lang="zh-CN" altLang="en-US" sz="2800" dirty="0">
                <a:latin typeface="Arial" charset="0"/>
              </a:rPr>
              <a:t>出勤，</a:t>
            </a:r>
            <a:r>
              <a:rPr lang="zh-CN" altLang="en-US" sz="2800" dirty="0">
                <a:solidFill>
                  <a:srgbClr val="FF0000"/>
                </a:solidFill>
                <a:latin typeface="Arial" charset="0"/>
              </a:rPr>
              <a:t>非请假不能缺课</a:t>
            </a:r>
            <a:r>
              <a:rPr lang="zh-CN" altLang="en-US" sz="2800" dirty="0">
                <a:latin typeface="Arial" charset="0"/>
              </a:rPr>
              <a:t>！！！； </a:t>
            </a:r>
            <a:endParaRPr lang="en-US" altLang="zh-CN" sz="2800" dirty="0">
              <a:latin typeface="Arial" charset="0"/>
            </a:endParaRPr>
          </a:p>
          <a:p>
            <a:pPr eaLnBrk="1" hangingPunct="1">
              <a:lnSpc>
                <a:spcPts val="3025"/>
              </a:lnSpc>
            </a:pPr>
            <a:endParaRPr lang="en-US" altLang="zh-CN" sz="2800" dirty="0">
              <a:latin typeface="Arial" charset="0"/>
            </a:endParaRPr>
          </a:p>
          <a:p>
            <a:pPr eaLnBrk="1" hangingPunct="1">
              <a:lnSpc>
                <a:spcPts val="3025"/>
              </a:lnSpc>
            </a:pPr>
            <a:r>
              <a:rPr lang="en-US" altLang="zh-CN" sz="2800" dirty="0">
                <a:latin typeface="Arial" charset="0"/>
              </a:rPr>
              <a:t>• </a:t>
            </a:r>
            <a:r>
              <a:rPr lang="zh-CN" altLang="en-US" sz="2800" dirty="0" smtClean="0">
                <a:latin typeface="Arial" charset="0"/>
              </a:rPr>
              <a:t>作业与实验报告（</a:t>
            </a:r>
            <a:r>
              <a:rPr lang="zh-CN" altLang="en-US" sz="2800" dirty="0">
                <a:latin typeface="Arial" charset="0"/>
              </a:rPr>
              <a:t>只用</a:t>
            </a:r>
            <a:r>
              <a:rPr lang="en-US" altLang="zh-CN" sz="2800" dirty="0">
                <a:latin typeface="Arial" charset="0"/>
              </a:rPr>
              <a:t>R</a:t>
            </a:r>
            <a:r>
              <a:rPr lang="zh-CN" altLang="en-US" sz="2800" dirty="0">
                <a:latin typeface="Arial" charset="0"/>
              </a:rPr>
              <a:t>语言）； </a:t>
            </a:r>
            <a:endParaRPr lang="en-US" altLang="zh-CN" sz="2800" dirty="0">
              <a:latin typeface="Arial" charset="0"/>
            </a:endParaRPr>
          </a:p>
          <a:p>
            <a:pPr eaLnBrk="1" hangingPunct="1">
              <a:lnSpc>
                <a:spcPts val="3025"/>
              </a:lnSpc>
            </a:pPr>
            <a:endParaRPr lang="en-US" altLang="zh-CN" sz="2800" dirty="0">
              <a:latin typeface="Arial" charset="0"/>
            </a:endParaRPr>
          </a:p>
          <a:p>
            <a:pPr eaLnBrk="1" hangingPunct="1">
              <a:lnSpc>
                <a:spcPts val="3025"/>
              </a:lnSpc>
            </a:pPr>
            <a:r>
              <a:rPr lang="en-US" altLang="zh-CN" sz="2800" dirty="0">
                <a:latin typeface="Arial" charset="0"/>
              </a:rPr>
              <a:t>• </a:t>
            </a:r>
            <a:r>
              <a:rPr lang="zh-CN" altLang="en-US" sz="2800" dirty="0" smtClean="0">
                <a:latin typeface="Arial" charset="0"/>
              </a:rPr>
              <a:t>自行完成课后习题（期末考试相关）。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98620"/>
      </p:ext>
    </p:extLst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6901" y="693546"/>
            <a:ext cx="3900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关于</a:t>
            </a:r>
            <a:r>
              <a:rPr spc="-5" dirty="0">
                <a:latin typeface="Times New Roman"/>
                <a:cs typeface="Times New Roman"/>
              </a:rPr>
              <a:t>RA</a:t>
            </a:r>
            <a:r>
              <a:rPr spc="-5" dirty="0"/>
              <a:t>的发展情况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47191" y="2030958"/>
            <a:ext cx="7875905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604" indent="-342900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如果从高斯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(Gauss,1777-1855)1809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年提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最小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乘法 为回归分析的开端到今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正好</a:t>
            </a:r>
            <a:r>
              <a:rPr sz="2600" spc="-5" dirty="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208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周年。</a:t>
            </a:r>
            <a:endParaRPr sz="2600" dirty="0">
              <a:latin typeface="宋体"/>
              <a:cs typeface="宋体"/>
            </a:endParaRPr>
          </a:p>
          <a:p>
            <a:pPr marL="355600" marR="5080" indent="-342900">
              <a:lnSpc>
                <a:spcPct val="120000"/>
              </a:lnSpc>
              <a:spcBef>
                <a:spcPts val="625"/>
              </a:spcBef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Gal</a:t>
            </a:r>
            <a:r>
              <a:rPr sz="2600" spc="-1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600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(182</a:t>
            </a:r>
            <a:r>
              <a:rPr sz="2600" spc="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600" spc="5" dirty="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sz="2600" spc="5" dirty="0">
                <a:solidFill>
                  <a:srgbClr val="FFFFFF"/>
                </a:solidFill>
                <a:latin typeface="宋体"/>
                <a:cs typeface="宋体"/>
              </a:rPr>
              <a:t>表了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sz="2600" spc="5" dirty="0">
                <a:solidFill>
                  <a:srgbClr val="FFFFFF"/>
                </a:solidFill>
                <a:latin typeface="宋体"/>
                <a:cs typeface="宋体"/>
              </a:rPr>
              <a:t>于回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sz="2600" spc="5" dirty="0">
                <a:solidFill>
                  <a:srgbClr val="FFFFFF"/>
                </a:solidFill>
                <a:latin typeface="宋体"/>
                <a:cs typeface="宋体"/>
              </a:rPr>
              <a:t>的开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山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论 文《遗传结构中向中心</a:t>
            </a:r>
            <a:r>
              <a:rPr sz="2600" spc="-15" dirty="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sz="2600" spc="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(Regression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towards  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mediocrity</a:t>
            </a:r>
            <a:r>
              <a:rPr sz="2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heredity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structure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）》到现在是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131</a:t>
            </a:r>
            <a:r>
              <a:rPr sz="2600" dirty="0">
                <a:solidFill>
                  <a:srgbClr val="FFFFFF"/>
                </a:solidFill>
                <a:latin typeface="宋体"/>
                <a:cs typeface="宋体"/>
              </a:rPr>
              <a:t>年。</a:t>
            </a:r>
            <a:endParaRPr sz="2600" dirty="0">
              <a:latin typeface="宋体"/>
              <a:cs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660" y="1213230"/>
            <a:ext cx="4105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参考文</a:t>
            </a:r>
            <a:r>
              <a:rPr spc="-15" dirty="0"/>
              <a:t>献</a:t>
            </a:r>
            <a:r>
              <a:rPr spc="-960" dirty="0"/>
              <a:t> </a:t>
            </a:r>
            <a:r>
              <a:rPr spc="-5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58594" y="2427858"/>
            <a:ext cx="5995035" cy="19837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marR="5080" indent="-342900">
              <a:lnSpc>
                <a:spcPct val="79000"/>
              </a:lnSpc>
              <a:spcBef>
                <a:spcPts val="800"/>
              </a:spcBef>
              <a:buFont typeface="Times New Roman"/>
              <a:buChar char="•"/>
              <a:tabLst>
                <a:tab pos="354965" algn="l"/>
                <a:tab pos="355600" algn="l"/>
                <a:tab pos="3387725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Seber,</a:t>
            </a:r>
            <a:r>
              <a:rPr sz="2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G.A.F.	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Linear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Regression  Analysis,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John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Wiley,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1977.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Times New Roman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355600" marR="76835" indent="-342900">
              <a:lnSpc>
                <a:spcPct val="78900"/>
              </a:lnSpc>
              <a:spcBef>
                <a:spcPts val="5"/>
              </a:spcBef>
              <a:buFont typeface="Times New Roman"/>
              <a:buChar char="•"/>
              <a:tabLst>
                <a:tab pos="354965" algn="l"/>
                <a:tab pos="355600" algn="l"/>
                <a:tab pos="3169285" algn="l"/>
                <a:tab pos="4630420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N.R.Draper,	H.Smith.	Applied  Regression Analysis, New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York,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1981.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968" y="2095906"/>
            <a:ext cx="3396615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］陈希孺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王松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桂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近代回归分析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合肥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安徽教育出版 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1987.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56100" y="60325"/>
            <a:ext cx="4679950" cy="6165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240" y="2326154"/>
            <a:ext cx="313182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0" spc="-5" dirty="0">
                <a:latin typeface="宋体"/>
                <a:cs typeface="宋体"/>
              </a:rPr>
              <a:t>［</a:t>
            </a:r>
            <a:r>
              <a:rPr sz="2800" b="0" spc="-5" dirty="0">
                <a:latin typeface="Times New Roman"/>
                <a:cs typeface="Times New Roman"/>
              </a:rPr>
              <a:t>4</a:t>
            </a:r>
            <a:r>
              <a:rPr sz="2800" b="0" spc="-5" dirty="0">
                <a:latin typeface="宋体"/>
                <a:cs typeface="宋体"/>
              </a:rPr>
              <a:t>］方开</a:t>
            </a:r>
            <a:r>
              <a:rPr sz="2800" b="0" spc="-15" dirty="0">
                <a:latin typeface="宋体"/>
                <a:cs typeface="宋体"/>
              </a:rPr>
              <a:t>泰</a:t>
            </a:r>
            <a:r>
              <a:rPr sz="2800" b="0" spc="-5" dirty="0">
                <a:latin typeface="Times New Roman"/>
                <a:cs typeface="Times New Roman"/>
              </a:rPr>
              <a:t>,</a:t>
            </a:r>
            <a:r>
              <a:rPr sz="2800" b="0" spc="-15" dirty="0">
                <a:latin typeface="Times New Roman"/>
                <a:cs typeface="Times New Roman"/>
              </a:rPr>
              <a:t> </a:t>
            </a:r>
            <a:r>
              <a:rPr sz="2800" b="0" spc="-5" dirty="0">
                <a:latin typeface="宋体"/>
                <a:cs typeface="宋体"/>
              </a:rPr>
              <a:t>实 用回归分</a:t>
            </a:r>
            <a:r>
              <a:rPr sz="2800" b="0" spc="-15" dirty="0">
                <a:latin typeface="宋体"/>
                <a:cs typeface="宋体"/>
              </a:rPr>
              <a:t>析</a:t>
            </a:r>
            <a:r>
              <a:rPr sz="2800" b="0" spc="-5" dirty="0">
                <a:latin typeface="Times New Roman"/>
                <a:cs typeface="Times New Roman"/>
              </a:rPr>
              <a:t>,</a:t>
            </a:r>
            <a:r>
              <a:rPr sz="2800" b="0" spc="-65" dirty="0">
                <a:latin typeface="Times New Roman"/>
                <a:cs typeface="Times New Roman"/>
              </a:rPr>
              <a:t> </a:t>
            </a:r>
            <a:r>
              <a:rPr sz="2800" b="0" spc="-5" dirty="0">
                <a:latin typeface="宋体"/>
                <a:cs typeface="宋体"/>
              </a:rPr>
              <a:t>北</a:t>
            </a:r>
            <a:r>
              <a:rPr sz="2800" b="0" spc="-10" dirty="0">
                <a:latin typeface="宋体"/>
                <a:cs typeface="宋体"/>
              </a:rPr>
              <a:t>京</a:t>
            </a:r>
            <a:r>
              <a:rPr sz="2800" b="0" spc="-5" dirty="0">
                <a:latin typeface="Times New Roman"/>
                <a:cs typeface="Times New Roman"/>
              </a:rPr>
              <a:t>:  </a:t>
            </a:r>
            <a:r>
              <a:rPr sz="2800" b="0" spc="-5" dirty="0">
                <a:latin typeface="宋体"/>
                <a:cs typeface="宋体"/>
              </a:rPr>
              <a:t>科学出版</a:t>
            </a:r>
            <a:r>
              <a:rPr sz="2800" b="0" spc="-15" dirty="0">
                <a:latin typeface="宋体"/>
                <a:cs typeface="宋体"/>
              </a:rPr>
              <a:t>社</a:t>
            </a:r>
            <a:r>
              <a:rPr sz="2800" b="0" spc="-5" dirty="0">
                <a:latin typeface="Times New Roman"/>
                <a:cs typeface="Times New Roman"/>
              </a:rPr>
              <a:t>,</a:t>
            </a:r>
            <a:r>
              <a:rPr sz="2800" b="0" spc="-85" dirty="0">
                <a:latin typeface="Times New Roman"/>
                <a:cs typeface="Times New Roman"/>
              </a:rPr>
              <a:t> </a:t>
            </a:r>
            <a:r>
              <a:rPr sz="2800" b="0" dirty="0">
                <a:latin typeface="Times New Roman"/>
                <a:cs typeface="Times New Roman"/>
              </a:rPr>
              <a:t>1988.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7473" y="61976"/>
            <a:ext cx="4459224" cy="6275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168" y="1749828"/>
            <a:ext cx="3300095" cy="309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］张勇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王国明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赵秀珍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［美］约 </a:t>
            </a:r>
            <a:r>
              <a:rPr sz="2800" spc="15" dirty="0">
                <a:solidFill>
                  <a:srgbClr val="FFFFFF"/>
                </a:solidFill>
                <a:latin typeface="宋体"/>
                <a:cs typeface="宋体"/>
              </a:rPr>
              <a:t>翰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内特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应用线性 回归模型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北京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国统计出版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1990.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7601" y="88900"/>
            <a:ext cx="4521200" cy="6165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224557"/>
            <a:ext cx="3576954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］周纪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芗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回归分 析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海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华东师范大 学出版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1993.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0" y="153987"/>
            <a:ext cx="4270375" cy="612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0442" y="1432201"/>
            <a:ext cx="3040380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2065" indent="-342265">
              <a:lnSpc>
                <a:spcPct val="12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[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]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S.Weisberg 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著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王静龙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梁小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筠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李宝慧译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应 用线性回归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北京</a:t>
            </a:r>
            <a:endParaRPr sz="2800">
              <a:latin typeface="宋体"/>
              <a:cs typeface="宋体"/>
            </a:endParaRPr>
          </a:p>
          <a:p>
            <a:pPr marL="354965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中国统计出版社</a:t>
            </a:r>
            <a:endParaRPr sz="2800">
              <a:latin typeface="宋体"/>
              <a:cs typeface="宋体"/>
            </a:endParaRPr>
          </a:p>
          <a:p>
            <a:pPr marL="354965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1998.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32273" y="133350"/>
            <a:ext cx="4160774" cy="61753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716" y="1932200"/>
            <a:ext cx="375031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［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］何晓群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回归分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析与经济数据建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 京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中国人民大学出版 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1997.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2551" y="138112"/>
            <a:ext cx="4157599" cy="6099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815" y="2080031"/>
            <a:ext cx="3120390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[9]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何晓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群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刘文 卿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应用回归分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 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京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中国人民大 学出版</a:t>
            </a:r>
            <a:r>
              <a:rPr sz="2800" spc="-15" dirty="0">
                <a:solidFill>
                  <a:srgbClr val="FFFFFF"/>
                </a:solidFill>
                <a:latin typeface="宋体"/>
                <a:cs typeface="宋体"/>
              </a:rPr>
              <a:t>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27473" y="376237"/>
            <a:ext cx="4537075" cy="5759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4034" y="115951"/>
            <a:ext cx="4620514" cy="6049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4644" y="1965414"/>
            <a:ext cx="313118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5410" indent="-342900">
              <a:lnSpc>
                <a:spcPct val="12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[10]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何晓群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刘文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卿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应用回归分析</a:t>
            </a:r>
            <a:endParaRPr sz="2800">
              <a:latin typeface="宋体"/>
              <a:cs typeface="宋体"/>
            </a:endParaRPr>
          </a:p>
          <a:p>
            <a:pPr marL="355600" marR="5080">
              <a:lnSpc>
                <a:spcPct val="120000"/>
              </a:lnSpc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（第二版）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北京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 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中国人民大学出 版社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2007.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3501" y="223837"/>
            <a:ext cx="4249674" cy="6013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119" y="1937156"/>
            <a:ext cx="3005455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000"/>
              </a:lnSpc>
              <a:spcBef>
                <a:spcPts val="100"/>
              </a:spcBef>
              <a:buChar char="•"/>
              <a:tabLst>
                <a:tab pos="354965" algn="l"/>
                <a:tab pos="356235" algn="l"/>
              </a:tabLst>
            </a:pPr>
            <a:r>
              <a:rPr sz="2800" b="0" spc="-5" dirty="0">
                <a:latin typeface="Times New Roman"/>
                <a:cs typeface="Times New Roman"/>
              </a:rPr>
              <a:t>[11]</a:t>
            </a:r>
            <a:r>
              <a:rPr sz="2800" b="0" spc="-35" dirty="0">
                <a:latin typeface="Times New Roman"/>
                <a:cs typeface="Times New Roman"/>
              </a:rPr>
              <a:t> </a:t>
            </a:r>
            <a:r>
              <a:rPr sz="2800" b="0" spc="-5" dirty="0">
                <a:latin typeface="宋体"/>
                <a:cs typeface="宋体"/>
              </a:rPr>
              <a:t>何晓群</a:t>
            </a:r>
            <a:r>
              <a:rPr sz="2800" b="0" spc="-5" dirty="0">
                <a:latin typeface="Times New Roman"/>
                <a:cs typeface="Times New Roman"/>
              </a:rPr>
              <a:t>,</a:t>
            </a:r>
            <a:r>
              <a:rPr sz="2800" b="0" spc="-25" dirty="0">
                <a:latin typeface="Times New Roman"/>
                <a:cs typeface="Times New Roman"/>
              </a:rPr>
              <a:t> </a:t>
            </a:r>
            <a:r>
              <a:rPr sz="2800" b="0" spc="-5" dirty="0">
                <a:latin typeface="宋体"/>
                <a:cs typeface="宋体"/>
              </a:rPr>
              <a:t>实用 回归分析</a:t>
            </a:r>
            <a:r>
              <a:rPr sz="2800" b="0" spc="-5" dirty="0">
                <a:latin typeface="Times New Roman"/>
                <a:cs typeface="Times New Roman"/>
              </a:rPr>
              <a:t>,</a:t>
            </a:r>
            <a:r>
              <a:rPr sz="2800" b="0" spc="-20" dirty="0">
                <a:latin typeface="Times New Roman"/>
                <a:cs typeface="Times New Roman"/>
              </a:rPr>
              <a:t> </a:t>
            </a:r>
            <a:r>
              <a:rPr sz="2800" b="0" spc="-5" dirty="0">
                <a:latin typeface="宋体"/>
                <a:cs typeface="宋体"/>
              </a:rPr>
              <a:t>北京</a:t>
            </a:r>
            <a:r>
              <a:rPr sz="2800" b="0" spc="-5" dirty="0">
                <a:latin typeface="Times New Roman"/>
                <a:cs typeface="Times New Roman"/>
              </a:rPr>
              <a:t>:  </a:t>
            </a:r>
            <a:r>
              <a:rPr sz="2800" b="0" spc="-10" dirty="0">
                <a:latin typeface="宋体"/>
                <a:cs typeface="宋体"/>
              </a:rPr>
              <a:t>高等教育出版社</a:t>
            </a:r>
            <a:r>
              <a:rPr sz="2800" b="0" spc="-5" dirty="0">
                <a:latin typeface="Times New Roman"/>
                <a:cs typeface="Times New Roman"/>
              </a:rPr>
              <a:t>,  </a:t>
            </a:r>
            <a:r>
              <a:rPr sz="2800" b="0" dirty="0">
                <a:latin typeface="Times New Roman"/>
                <a:cs typeface="Times New Roman"/>
              </a:rPr>
              <a:t>2008.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0626" y="325437"/>
            <a:ext cx="4340225" cy="5911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3016" y="1749828"/>
            <a:ext cx="313182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5410" indent="-342900">
              <a:lnSpc>
                <a:spcPct val="1201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[12]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何晓群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刘文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卿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应用回归分析</a:t>
            </a:r>
            <a:endParaRPr sz="2800">
              <a:latin typeface="宋体"/>
              <a:cs typeface="宋体"/>
            </a:endParaRPr>
          </a:p>
          <a:p>
            <a:pPr marL="355600" marR="5080">
              <a:lnSpc>
                <a:spcPct val="120000"/>
              </a:lnSpc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（第三版）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北京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  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中国人民大学出 </a:t>
            </a: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版社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2011.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6571" y="1489678"/>
            <a:ext cx="6325235" cy="361061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4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年代计算机的发展促进</a:t>
            </a:r>
            <a:r>
              <a:rPr sz="2800" b="1" dirty="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RA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的应用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宋体"/>
                <a:cs typeface="宋体"/>
              </a:rPr>
              <a:t>年代中国应用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90</a:t>
            </a: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年代中国开始广泛应用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经济领域中的应用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自然科学中的应用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34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社会科学中的应用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2595" y="571880"/>
            <a:ext cx="3898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有关</a:t>
            </a:r>
            <a:r>
              <a:rPr spc="-5" dirty="0">
                <a:latin typeface="Times New Roman"/>
                <a:cs typeface="Times New Roman"/>
              </a:rPr>
              <a:t>RA</a:t>
            </a:r>
            <a:r>
              <a:rPr spc="-5" dirty="0"/>
              <a:t>应用的情况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2307" y="1037081"/>
            <a:ext cx="459613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33880" algn="just">
              <a:lnSpc>
                <a:spcPct val="14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回归分析概述 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一元线性回归 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多元线性回归</a:t>
            </a:r>
            <a:endParaRPr sz="2400">
              <a:latin typeface="宋体"/>
              <a:cs typeface="宋体"/>
            </a:endParaRPr>
          </a:p>
          <a:p>
            <a:pPr marL="12700" marR="309880">
              <a:lnSpc>
                <a:spcPct val="140000"/>
              </a:lnSpc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违背基本假设的几种情况 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4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自变量选择与逐步回归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40000"/>
              </a:lnSpc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多重共线性的情形及其处理 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岭回归</a:t>
            </a:r>
            <a:endParaRPr sz="2400">
              <a:latin typeface="宋体"/>
              <a:cs typeface="宋体"/>
            </a:endParaRPr>
          </a:p>
          <a:p>
            <a:pPr marL="12700" marR="309880">
              <a:lnSpc>
                <a:spcPts val="4029"/>
              </a:lnSpc>
              <a:spcBef>
                <a:spcPts val="33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11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主成分回归与偏最小二乘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2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非线性回归</a:t>
            </a:r>
            <a:endParaRPr sz="2400">
              <a:latin typeface="宋体"/>
              <a:cs typeface="宋体"/>
            </a:endParaRPr>
          </a:p>
          <a:p>
            <a:pPr marL="12700" algn="just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章</a:t>
            </a:r>
            <a:r>
              <a:rPr sz="2400" spc="-35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含定性变量的回归模型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9925" y="328676"/>
            <a:ext cx="1860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主要内容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7061" y="793750"/>
            <a:ext cx="4201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第</a:t>
            </a:r>
            <a:r>
              <a:rPr spc="-5" dirty="0">
                <a:latin typeface="Arial"/>
                <a:cs typeface="Arial"/>
              </a:rPr>
              <a:t>1</a:t>
            </a:r>
            <a:r>
              <a:rPr spc="-15" dirty="0"/>
              <a:t>章</a:t>
            </a:r>
            <a:r>
              <a:rPr spc="95" dirty="0"/>
              <a:t> </a:t>
            </a:r>
            <a:r>
              <a:rPr spc="-5" dirty="0"/>
              <a:t>回归分析概述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47722" y="1806854"/>
            <a:ext cx="5973445" cy="301371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632460" lvl="1" indent="-619760">
              <a:lnSpc>
                <a:spcPct val="100000"/>
              </a:lnSpc>
              <a:spcBef>
                <a:spcPts val="1445"/>
              </a:spcBef>
              <a:buFont typeface="Times New Roman"/>
              <a:buAutoNum type="arabicPeriod"/>
              <a:tabLst>
                <a:tab pos="632460" algn="l"/>
                <a:tab pos="633095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变量间的相关关系</a:t>
            </a:r>
            <a:endParaRPr sz="2800">
              <a:latin typeface="宋体"/>
              <a:cs typeface="宋体"/>
            </a:endParaRPr>
          </a:p>
          <a:p>
            <a:pPr marL="632460" lvl="1" indent="-619760">
              <a:lnSpc>
                <a:spcPct val="100000"/>
              </a:lnSpc>
              <a:spcBef>
                <a:spcPts val="1350"/>
              </a:spcBef>
              <a:buFont typeface="Times New Roman"/>
              <a:buAutoNum type="arabicPeriod"/>
              <a:tabLst>
                <a:tab pos="632460" algn="l"/>
                <a:tab pos="633095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“回归”思想及名称的由来</a:t>
            </a:r>
            <a:endParaRPr sz="2800">
              <a:latin typeface="宋体"/>
              <a:cs typeface="宋体"/>
            </a:endParaRPr>
          </a:p>
          <a:p>
            <a:pPr marL="632460" lvl="1" indent="-619760">
              <a:lnSpc>
                <a:spcPct val="100000"/>
              </a:lnSpc>
              <a:spcBef>
                <a:spcPts val="1340"/>
              </a:spcBef>
              <a:buFont typeface="Times New Roman"/>
              <a:buAutoNum type="arabicPeriod"/>
              <a:tabLst>
                <a:tab pos="632460" algn="l"/>
                <a:tab pos="633095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回归分析的主要内容及其</a:t>
            </a:r>
            <a:r>
              <a:rPr sz="2800" dirty="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般模型</a:t>
            </a:r>
            <a:endParaRPr sz="2800">
              <a:latin typeface="宋体"/>
              <a:cs typeface="宋体"/>
            </a:endParaRPr>
          </a:p>
          <a:p>
            <a:pPr marL="632460" lvl="1" indent="-619760">
              <a:lnSpc>
                <a:spcPct val="100000"/>
              </a:lnSpc>
              <a:spcBef>
                <a:spcPts val="1345"/>
              </a:spcBef>
              <a:buFont typeface="Times New Roman"/>
              <a:buAutoNum type="arabicPeriod"/>
              <a:tabLst>
                <a:tab pos="632460" algn="l"/>
                <a:tab pos="633095" algn="l"/>
              </a:tabLst>
            </a:pPr>
            <a:r>
              <a:rPr sz="2800" spc="-5" dirty="0">
                <a:solidFill>
                  <a:srgbClr val="FFFFFF"/>
                </a:solidFill>
                <a:latin typeface="宋体"/>
                <a:cs typeface="宋体"/>
              </a:rPr>
              <a:t>回归模型的建立过程</a:t>
            </a:r>
            <a:endParaRPr sz="2800">
              <a:latin typeface="宋体"/>
              <a:cs typeface="宋体"/>
            </a:endParaRPr>
          </a:p>
          <a:p>
            <a:pPr marL="632460" lvl="1" indent="-619760">
              <a:lnSpc>
                <a:spcPct val="100000"/>
              </a:lnSpc>
              <a:spcBef>
                <a:spcPts val="1345"/>
              </a:spcBef>
              <a:buFont typeface="Times New Roman"/>
              <a:buAutoNum type="arabicPeriod"/>
              <a:tabLst>
                <a:tab pos="632460" algn="l"/>
                <a:tab pos="633095" algn="l"/>
              </a:tabLst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回归分析应用与发展简评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  <a:tabLst>
                <a:tab pos="886460" algn="l"/>
              </a:tabLst>
            </a:pPr>
            <a:r>
              <a:rPr dirty="0">
                <a:latin typeface="Times New Roman"/>
                <a:cs typeface="Times New Roman"/>
              </a:rPr>
              <a:t>1.1	</a:t>
            </a:r>
            <a:r>
              <a:rPr spc="-5" dirty="0"/>
              <a:t>变量间的相关关系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50442" y="1024589"/>
            <a:ext cx="6971665" cy="482917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函数关系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685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商品的销售额与销售量之间的关系</a:t>
            </a:r>
            <a:endParaRPr sz="2400">
              <a:latin typeface="宋体"/>
              <a:cs typeface="宋体"/>
            </a:endParaRPr>
          </a:p>
          <a:p>
            <a:pPr marL="454025" algn="ctr">
              <a:lnSpc>
                <a:spcPct val="100000"/>
              </a:lnSpc>
              <a:spcBef>
                <a:spcPts val="2014"/>
              </a:spcBef>
            </a:pPr>
            <a:r>
              <a:rPr sz="2400" b="1" i="1" dirty="0">
                <a:solidFill>
                  <a:srgbClr val="FFFFFF"/>
                </a:solidFill>
                <a:latin typeface="Times New Roman"/>
                <a:cs typeface="Times New Roman"/>
              </a:rPr>
              <a:t>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FFFF"/>
                </a:solidFill>
                <a:latin typeface="Times New Roman"/>
                <a:cs typeface="Times New Roman"/>
              </a:rPr>
              <a:t>px</a:t>
            </a:r>
            <a:endParaRPr sz="240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202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圆的面积与半径之间的关系</a:t>
            </a:r>
            <a:endParaRPr sz="2400">
              <a:latin typeface="宋体"/>
              <a:cs typeface="宋体"/>
            </a:endParaRPr>
          </a:p>
          <a:p>
            <a:pPr marL="452755" algn="ctr">
              <a:lnSpc>
                <a:spcPct val="100000"/>
              </a:lnSpc>
              <a:spcBef>
                <a:spcPts val="1914"/>
              </a:spcBef>
            </a:pPr>
            <a:r>
              <a:rPr sz="24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500" b="1" i="1" spc="-20" dirty="0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sz="24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b="1" i="1" spc="-30" baseline="2430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 baseline="24305">
              <a:latin typeface="Times New Roman"/>
              <a:cs typeface="Times New Roman"/>
            </a:endParaRPr>
          </a:p>
          <a:p>
            <a:pPr marL="756285" marR="5080" indent="-287020">
              <a:lnSpc>
                <a:spcPct val="120100"/>
              </a:lnSpc>
              <a:spcBef>
                <a:spcPts val="142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60" dirty="0">
                <a:solidFill>
                  <a:srgbClr val="FFFFFF"/>
                </a:solidFill>
                <a:latin typeface="宋体"/>
                <a:cs typeface="宋体"/>
              </a:rPr>
              <a:t>原材料消耗额与产</a:t>
            </a:r>
            <a:r>
              <a:rPr sz="2400" spc="6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60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400" spc="45" dirty="0">
                <a:solidFill>
                  <a:srgbClr val="FFFFFF"/>
                </a:solidFill>
                <a:latin typeface="宋体"/>
                <a:cs typeface="宋体"/>
              </a:rPr>
              <a:t>单</a:t>
            </a:r>
            <a:r>
              <a:rPr sz="2400" spc="55" dirty="0">
                <a:solidFill>
                  <a:srgbClr val="FFFFFF"/>
                </a:solidFill>
                <a:latin typeface="宋体"/>
                <a:cs typeface="宋体"/>
              </a:rPr>
              <a:t>位产量消</a:t>
            </a:r>
            <a:r>
              <a:rPr sz="2400" spc="70" dirty="0">
                <a:solidFill>
                  <a:srgbClr val="FFFFFF"/>
                </a:solidFill>
                <a:latin typeface="宋体"/>
                <a:cs typeface="宋体"/>
              </a:rPr>
              <a:t>耗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、 原材料价格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之间的关系</a:t>
            </a:r>
            <a:endParaRPr sz="2400">
              <a:latin typeface="宋体"/>
              <a:cs typeface="宋体"/>
            </a:endParaRPr>
          </a:p>
          <a:p>
            <a:pPr marL="454659" algn="ctr">
              <a:lnSpc>
                <a:spcPct val="100000"/>
              </a:lnSpc>
              <a:spcBef>
                <a:spcPts val="2014"/>
              </a:spcBef>
            </a:pPr>
            <a:r>
              <a:rPr sz="2400" b="1" i="1" dirty="0">
                <a:solidFill>
                  <a:srgbClr val="FFFFFF"/>
                </a:solidFill>
                <a:latin typeface="Times New Roman"/>
                <a:cs typeface="Times New Roman"/>
              </a:rPr>
              <a:t>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sz="24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sz="24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5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="1" spc="-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1057" y="574624"/>
            <a:ext cx="4497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1530" algn="l"/>
              </a:tabLst>
            </a:pPr>
            <a:r>
              <a:rPr dirty="0">
                <a:latin typeface="Times New Roman"/>
                <a:cs typeface="Times New Roman"/>
              </a:rPr>
              <a:t>1.1	</a:t>
            </a:r>
            <a:r>
              <a:rPr spc="-5" dirty="0"/>
              <a:t>变量间的相关关系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1239806" y="1486315"/>
            <a:ext cx="7023100" cy="4356735"/>
          </a:xfrm>
          <a:custGeom>
            <a:avLst/>
            <a:gdLst/>
            <a:ahLst/>
            <a:cxnLst/>
            <a:rect l="l" t="t" r="r" b="b"/>
            <a:pathLst>
              <a:path w="7023100" h="4356735">
                <a:moveTo>
                  <a:pt x="0" y="4356450"/>
                </a:moveTo>
                <a:lnTo>
                  <a:pt x="7023039" y="4356450"/>
                </a:lnTo>
                <a:lnTo>
                  <a:pt x="7023039" y="0"/>
                </a:lnTo>
                <a:lnTo>
                  <a:pt x="0" y="0"/>
                </a:lnTo>
                <a:lnTo>
                  <a:pt x="0" y="4356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4249" y="1806981"/>
            <a:ext cx="4799330" cy="2512695"/>
          </a:xfrm>
          <a:custGeom>
            <a:avLst/>
            <a:gdLst/>
            <a:ahLst/>
            <a:cxnLst/>
            <a:rect l="l" t="t" r="r" b="b"/>
            <a:pathLst>
              <a:path w="4799330" h="2512695">
                <a:moveTo>
                  <a:pt x="0" y="2512178"/>
                </a:moveTo>
                <a:lnTo>
                  <a:pt x="4798717" y="2512178"/>
                </a:lnTo>
                <a:lnTo>
                  <a:pt x="4798717" y="0"/>
                </a:lnTo>
                <a:lnTo>
                  <a:pt x="0" y="0"/>
                </a:lnTo>
                <a:lnTo>
                  <a:pt x="0" y="2512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26704" y="1820268"/>
            <a:ext cx="4773930" cy="0"/>
          </a:xfrm>
          <a:custGeom>
            <a:avLst/>
            <a:gdLst/>
            <a:ahLst/>
            <a:cxnLst/>
            <a:rect l="l" t="t" r="r" b="b"/>
            <a:pathLst>
              <a:path w="4773930">
                <a:moveTo>
                  <a:pt x="0" y="0"/>
                </a:moveTo>
                <a:lnTo>
                  <a:pt x="4773640" y="0"/>
                </a:lnTo>
              </a:path>
            </a:pathLst>
          </a:custGeom>
          <a:ln w="26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5255" y="1820268"/>
            <a:ext cx="0" cy="2486025"/>
          </a:xfrm>
          <a:custGeom>
            <a:avLst/>
            <a:gdLst/>
            <a:ahLst/>
            <a:cxnLst/>
            <a:rect l="l" t="t" r="r" b="b"/>
            <a:pathLst>
              <a:path h="2486025">
                <a:moveTo>
                  <a:pt x="0" y="0"/>
                </a:moveTo>
                <a:lnTo>
                  <a:pt x="0" y="2485604"/>
                </a:lnTo>
              </a:path>
            </a:pathLst>
          </a:custGeom>
          <a:ln w="249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51614" y="4332447"/>
            <a:ext cx="4773930" cy="0"/>
          </a:xfrm>
          <a:custGeom>
            <a:avLst/>
            <a:gdLst/>
            <a:ahLst/>
            <a:cxnLst/>
            <a:rect l="l" t="t" r="r" b="b"/>
            <a:pathLst>
              <a:path w="4773930">
                <a:moveTo>
                  <a:pt x="4773640" y="0"/>
                </a:moveTo>
                <a:lnTo>
                  <a:pt x="0" y="0"/>
                </a:lnTo>
              </a:path>
            </a:pathLst>
          </a:custGeom>
          <a:ln w="26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6704" y="1846843"/>
            <a:ext cx="0" cy="2486025"/>
          </a:xfrm>
          <a:custGeom>
            <a:avLst/>
            <a:gdLst/>
            <a:ahLst/>
            <a:cxnLst/>
            <a:rect l="l" t="t" r="r" b="b"/>
            <a:pathLst>
              <a:path h="2486025">
                <a:moveTo>
                  <a:pt x="0" y="2485604"/>
                </a:moveTo>
                <a:lnTo>
                  <a:pt x="0" y="0"/>
                </a:lnTo>
              </a:path>
            </a:pathLst>
          </a:custGeom>
          <a:ln w="249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26704" y="1820268"/>
            <a:ext cx="0" cy="2486025"/>
          </a:xfrm>
          <a:custGeom>
            <a:avLst/>
            <a:gdLst/>
            <a:ahLst/>
            <a:cxnLst/>
            <a:rect l="l" t="t" r="r" b="b"/>
            <a:pathLst>
              <a:path h="2486025">
                <a:moveTo>
                  <a:pt x="0" y="0"/>
                </a:moveTo>
                <a:lnTo>
                  <a:pt x="0" y="2485604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26704" y="4332447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26704" y="3905482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26704" y="3504207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26704" y="3076357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26704" y="2648507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26704" y="2248295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26704" y="1820268"/>
            <a:ext cx="50165" cy="0"/>
          </a:xfrm>
          <a:custGeom>
            <a:avLst/>
            <a:gdLst/>
            <a:ahLst/>
            <a:cxnLst/>
            <a:rect l="l" t="t" r="r" b="b"/>
            <a:pathLst>
              <a:path w="50164">
                <a:moveTo>
                  <a:pt x="0" y="0"/>
                </a:moveTo>
                <a:lnTo>
                  <a:pt x="4982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26704" y="4332447"/>
            <a:ext cx="4773930" cy="0"/>
          </a:xfrm>
          <a:custGeom>
            <a:avLst/>
            <a:gdLst/>
            <a:ahLst/>
            <a:cxnLst/>
            <a:rect l="l" t="t" r="r" b="b"/>
            <a:pathLst>
              <a:path w="4773930">
                <a:moveTo>
                  <a:pt x="0" y="0"/>
                </a:moveTo>
                <a:lnTo>
                  <a:pt x="4773640" y="0"/>
                </a:lnTo>
              </a:path>
            </a:pathLst>
          </a:custGeom>
          <a:ln w="26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26704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26324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25778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26561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26015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25801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25255" y="4279298"/>
            <a:ext cx="0" cy="53340"/>
          </a:xfrm>
          <a:custGeom>
            <a:avLst/>
            <a:gdLst/>
            <a:ahLst/>
            <a:cxnLst/>
            <a:rect l="l" t="t" r="r" b="b"/>
            <a:pathLst>
              <a:path h="53339">
                <a:moveTo>
                  <a:pt x="0" y="53149"/>
                </a:moveTo>
                <a:lnTo>
                  <a:pt x="0" y="0"/>
                </a:lnTo>
              </a:path>
            </a:pathLst>
          </a:custGeom>
          <a:ln w="24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26324" y="3504207"/>
            <a:ext cx="774700" cy="401320"/>
          </a:xfrm>
          <a:custGeom>
            <a:avLst/>
            <a:gdLst/>
            <a:ahLst/>
            <a:cxnLst/>
            <a:rect l="l" t="t" r="r" b="b"/>
            <a:pathLst>
              <a:path w="774700" h="401320">
                <a:moveTo>
                  <a:pt x="0" y="401275"/>
                </a:moveTo>
                <a:lnTo>
                  <a:pt x="774543" y="0"/>
                </a:lnTo>
              </a:path>
            </a:pathLst>
          </a:custGeom>
          <a:ln w="26222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5778" y="3076357"/>
            <a:ext cx="775335" cy="427990"/>
          </a:xfrm>
          <a:custGeom>
            <a:avLst/>
            <a:gdLst/>
            <a:ahLst/>
            <a:cxnLst/>
            <a:rect l="l" t="t" r="r" b="b"/>
            <a:pathLst>
              <a:path w="775335" h="427989">
                <a:moveTo>
                  <a:pt x="0" y="427849"/>
                </a:moveTo>
                <a:lnTo>
                  <a:pt x="774875" y="0"/>
                </a:lnTo>
              </a:path>
            </a:pathLst>
          </a:custGeom>
          <a:ln w="2618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26561" y="2648507"/>
            <a:ext cx="774700" cy="427990"/>
          </a:xfrm>
          <a:custGeom>
            <a:avLst/>
            <a:gdLst/>
            <a:ahLst/>
            <a:cxnLst/>
            <a:rect l="l" t="t" r="r" b="b"/>
            <a:pathLst>
              <a:path w="774700" h="427989">
                <a:moveTo>
                  <a:pt x="0" y="427849"/>
                </a:moveTo>
                <a:lnTo>
                  <a:pt x="774543" y="0"/>
                </a:lnTo>
              </a:path>
            </a:pathLst>
          </a:custGeom>
          <a:ln w="26185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26015" y="2248295"/>
            <a:ext cx="775335" cy="400685"/>
          </a:xfrm>
          <a:custGeom>
            <a:avLst/>
            <a:gdLst/>
            <a:ahLst/>
            <a:cxnLst/>
            <a:rect l="l" t="t" r="r" b="b"/>
            <a:pathLst>
              <a:path w="775334" h="400685">
                <a:moveTo>
                  <a:pt x="0" y="400212"/>
                </a:moveTo>
                <a:lnTo>
                  <a:pt x="774875" y="0"/>
                </a:lnTo>
              </a:path>
            </a:pathLst>
          </a:custGeom>
          <a:ln w="2622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88959" y="3864735"/>
            <a:ext cx="25400" cy="27940"/>
          </a:xfrm>
          <a:custGeom>
            <a:avLst/>
            <a:gdLst/>
            <a:ahLst/>
            <a:cxnLst/>
            <a:rect l="l" t="t" r="r" b="b"/>
            <a:pathLst>
              <a:path w="25400" h="27939">
                <a:moveTo>
                  <a:pt x="24910" y="0"/>
                </a:moveTo>
                <a:lnTo>
                  <a:pt x="0" y="0"/>
                </a:lnTo>
                <a:lnTo>
                  <a:pt x="0" y="27460"/>
                </a:lnTo>
                <a:lnTo>
                  <a:pt x="14401" y="27031"/>
                </a:lnTo>
                <a:lnTo>
                  <a:pt x="21796" y="24027"/>
                </a:lnTo>
                <a:lnTo>
                  <a:pt x="24521" y="15875"/>
                </a:lnTo>
                <a:lnTo>
                  <a:pt x="249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88959" y="3864735"/>
            <a:ext cx="25400" cy="27940"/>
          </a:xfrm>
          <a:custGeom>
            <a:avLst/>
            <a:gdLst/>
            <a:ahLst/>
            <a:cxnLst/>
            <a:rect l="l" t="t" r="r" b="b"/>
            <a:pathLst>
              <a:path w="25400" h="27939">
                <a:moveTo>
                  <a:pt x="0" y="0"/>
                </a:moveTo>
                <a:lnTo>
                  <a:pt x="0" y="15875"/>
                </a:lnTo>
                <a:lnTo>
                  <a:pt x="0" y="24027"/>
                </a:lnTo>
                <a:lnTo>
                  <a:pt x="0" y="27031"/>
                </a:lnTo>
                <a:lnTo>
                  <a:pt x="0" y="27460"/>
                </a:lnTo>
                <a:lnTo>
                  <a:pt x="14401" y="27031"/>
                </a:lnTo>
                <a:lnTo>
                  <a:pt x="21796" y="24027"/>
                </a:lnTo>
                <a:lnTo>
                  <a:pt x="24521" y="15875"/>
                </a:lnTo>
                <a:lnTo>
                  <a:pt x="24910" y="0"/>
                </a:lnTo>
                <a:lnTo>
                  <a:pt x="0" y="0"/>
                </a:lnTo>
                <a:close/>
              </a:path>
            </a:pathLst>
          </a:custGeom>
          <a:ln w="2566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88579" y="3464345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70">
                <a:moveTo>
                  <a:pt x="24910" y="0"/>
                </a:moveTo>
                <a:lnTo>
                  <a:pt x="0" y="0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88579" y="3464345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70">
                <a:moveTo>
                  <a:pt x="0" y="0"/>
                </a:moveTo>
                <a:lnTo>
                  <a:pt x="0" y="15363"/>
                </a:lnTo>
                <a:lnTo>
                  <a:pt x="0" y="23252"/>
                </a:lnTo>
                <a:lnTo>
                  <a:pt x="0" y="26159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lnTo>
                  <a:pt x="0" y="0"/>
                </a:lnTo>
                <a:close/>
              </a:path>
            </a:pathLst>
          </a:custGeom>
          <a:ln w="25688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88365" y="3036496"/>
            <a:ext cx="26034" cy="26670"/>
          </a:xfrm>
          <a:custGeom>
            <a:avLst/>
            <a:gdLst/>
            <a:ahLst/>
            <a:cxnLst/>
            <a:rect l="l" t="t" r="r" b="b"/>
            <a:pathLst>
              <a:path w="26035" h="26669">
                <a:moveTo>
                  <a:pt x="25574" y="0"/>
                </a:moveTo>
                <a:lnTo>
                  <a:pt x="0" y="0"/>
                </a:lnTo>
                <a:lnTo>
                  <a:pt x="0" y="26574"/>
                </a:lnTo>
                <a:lnTo>
                  <a:pt x="14785" y="26159"/>
                </a:lnTo>
                <a:lnTo>
                  <a:pt x="22377" y="23252"/>
                </a:lnTo>
                <a:lnTo>
                  <a:pt x="25174" y="15363"/>
                </a:lnTo>
                <a:lnTo>
                  <a:pt x="2557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88365" y="3036496"/>
            <a:ext cx="26034" cy="26670"/>
          </a:xfrm>
          <a:custGeom>
            <a:avLst/>
            <a:gdLst/>
            <a:ahLst/>
            <a:cxnLst/>
            <a:rect l="l" t="t" r="r" b="b"/>
            <a:pathLst>
              <a:path w="26035" h="26669">
                <a:moveTo>
                  <a:pt x="0" y="0"/>
                </a:moveTo>
                <a:lnTo>
                  <a:pt x="0" y="15363"/>
                </a:lnTo>
                <a:lnTo>
                  <a:pt x="0" y="23252"/>
                </a:lnTo>
                <a:lnTo>
                  <a:pt x="0" y="26159"/>
                </a:lnTo>
                <a:lnTo>
                  <a:pt x="0" y="26574"/>
                </a:lnTo>
                <a:lnTo>
                  <a:pt x="14785" y="26159"/>
                </a:lnTo>
                <a:lnTo>
                  <a:pt x="22377" y="23252"/>
                </a:lnTo>
                <a:lnTo>
                  <a:pt x="25174" y="15363"/>
                </a:lnTo>
                <a:lnTo>
                  <a:pt x="25574" y="0"/>
                </a:lnTo>
                <a:lnTo>
                  <a:pt x="25174" y="0"/>
                </a:lnTo>
                <a:lnTo>
                  <a:pt x="22377" y="0"/>
                </a:lnTo>
                <a:lnTo>
                  <a:pt x="14785" y="0"/>
                </a:lnTo>
                <a:lnTo>
                  <a:pt x="0" y="0"/>
                </a:lnTo>
                <a:close/>
              </a:path>
            </a:pathLst>
          </a:custGeom>
          <a:ln w="25710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88816" y="2608646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69">
                <a:moveTo>
                  <a:pt x="24910" y="0"/>
                </a:moveTo>
                <a:lnTo>
                  <a:pt x="0" y="0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88816" y="2608646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69">
                <a:moveTo>
                  <a:pt x="0" y="0"/>
                </a:moveTo>
                <a:lnTo>
                  <a:pt x="0" y="15363"/>
                </a:lnTo>
                <a:lnTo>
                  <a:pt x="0" y="23252"/>
                </a:lnTo>
                <a:lnTo>
                  <a:pt x="0" y="26159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lnTo>
                  <a:pt x="0" y="0"/>
                </a:lnTo>
                <a:close/>
              </a:path>
            </a:pathLst>
          </a:custGeom>
          <a:ln w="25688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88270" y="2208256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69">
                <a:moveTo>
                  <a:pt x="24910" y="0"/>
                </a:moveTo>
                <a:lnTo>
                  <a:pt x="0" y="0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88270" y="2208256"/>
            <a:ext cx="25400" cy="26670"/>
          </a:xfrm>
          <a:custGeom>
            <a:avLst/>
            <a:gdLst/>
            <a:ahLst/>
            <a:cxnLst/>
            <a:rect l="l" t="t" r="r" b="b"/>
            <a:pathLst>
              <a:path w="25400" h="26669">
                <a:moveTo>
                  <a:pt x="0" y="0"/>
                </a:moveTo>
                <a:lnTo>
                  <a:pt x="0" y="15363"/>
                </a:lnTo>
                <a:lnTo>
                  <a:pt x="0" y="23252"/>
                </a:lnTo>
                <a:lnTo>
                  <a:pt x="0" y="26159"/>
                </a:lnTo>
                <a:lnTo>
                  <a:pt x="0" y="26574"/>
                </a:lnTo>
                <a:lnTo>
                  <a:pt x="14401" y="26159"/>
                </a:lnTo>
                <a:lnTo>
                  <a:pt x="21796" y="23252"/>
                </a:lnTo>
                <a:lnTo>
                  <a:pt x="24521" y="15363"/>
                </a:lnTo>
                <a:lnTo>
                  <a:pt x="24910" y="0"/>
                </a:lnTo>
                <a:lnTo>
                  <a:pt x="0" y="0"/>
                </a:lnTo>
                <a:close/>
              </a:path>
            </a:pathLst>
          </a:custGeom>
          <a:ln w="25688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26099" y="2033927"/>
            <a:ext cx="3975100" cy="2085339"/>
          </a:xfrm>
          <a:custGeom>
            <a:avLst/>
            <a:gdLst/>
            <a:ahLst/>
            <a:cxnLst/>
            <a:rect l="l" t="t" r="r" b="b"/>
            <a:pathLst>
              <a:path w="3975100" h="2085339">
                <a:moveTo>
                  <a:pt x="0" y="2085037"/>
                </a:moveTo>
                <a:lnTo>
                  <a:pt x="3975017" y="0"/>
                </a:lnTo>
              </a:path>
            </a:pathLst>
          </a:custGeom>
          <a:ln w="26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863321" y="1821033"/>
            <a:ext cx="136588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00" spc="30" dirty="0">
                <a:latin typeface="宋体"/>
                <a:cs typeface="宋体"/>
              </a:rPr>
              <a:t>y =</a:t>
            </a:r>
            <a:r>
              <a:rPr sz="2300" spc="-65" dirty="0">
                <a:latin typeface="宋体"/>
                <a:cs typeface="宋体"/>
              </a:rPr>
              <a:t> </a:t>
            </a:r>
            <a:r>
              <a:rPr sz="2300" spc="30" dirty="0">
                <a:latin typeface="宋体"/>
                <a:cs typeface="宋体"/>
              </a:rPr>
              <a:t>1000x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41" name="object 41"/>
          <p:cNvSpPr txBox="1"/>
          <p:nvPr/>
        </p:nvSpPr>
        <p:spPr>
          <a:xfrm>
            <a:off x="2213798" y="1533319"/>
            <a:ext cx="614045" cy="29648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2300" spc="30" dirty="0">
                <a:latin typeface="宋体"/>
                <a:cs typeface="宋体"/>
              </a:rPr>
              <a:t>6000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2300" spc="30" dirty="0">
                <a:latin typeface="宋体"/>
                <a:cs typeface="宋体"/>
              </a:rPr>
              <a:t>5000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2300" spc="30" dirty="0">
                <a:latin typeface="宋体"/>
                <a:cs typeface="宋体"/>
              </a:rPr>
              <a:t>4000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2300" spc="30" dirty="0">
                <a:latin typeface="宋体"/>
                <a:cs typeface="宋体"/>
              </a:rPr>
              <a:t>3000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2300" spc="30" dirty="0">
                <a:latin typeface="宋体"/>
                <a:cs typeface="宋体"/>
              </a:rPr>
              <a:t>2000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2300" spc="30" dirty="0">
                <a:latin typeface="宋体"/>
                <a:cs typeface="宋体"/>
              </a:rPr>
              <a:t>1000</a:t>
            </a:r>
            <a:endParaRPr sz="2300">
              <a:latin typeface="宋体"/>
              <a:cs typeface="宋体"/>
            </a:endParaRPr>
          </a:p>
          <a:p>
            <a:pPr marR="17780" algn="r">
              <a:lnSpc>
                <a:spcPct val="100000"/>
              </a:lnSpc>
              <a:spcBef>
                <a:spcPts val="610"/>
              </a:spcBef>
            </a:pPr>
            <a:r>
              <a:rPr sz="2300" spc="-65" dirty="0">
                <a:latin typeface="宋体"/>
                <a:cs typeface="宋体"/>
              </a:rPr>
              <a:t>0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38688" y="4520827"/>
            <a:ext cx="15113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00" spc="-65" dirty="0">
                <a:latin typeface="宋体"/>
                <a:cs typeface="宋体"/>
              </a:rPr>
              <a:t>0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89205" y="4520827"/>
            <a:ext cx="2486025" cy="12331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114"/>
              </a:spcBef>
              <a:tabLst>
                <a:tab pos="1049020" algn="l"/>
                <a:tab pos="1849120" algn="l"/>
              </a:tabLst>
            </a:pPr>
            <a:r>
              <a:rPr sz="2300" spc="-65" dirty="0">
                <a:latin typeface="宋体"/>
                <a:cs typeface="宋体"/>
              </a:rPr>
              <a:t>1	2	3</a:t>
            </a:r>
            <a:endParaRPr sz="23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r>
              <a:rPr sz="2300" spc="55" dirty="0">
                <a:latin typeface="宋体"/>
                <a:cs typeface="宋体"/>
              </a:rPr>
              <a:t>图</a:t>
            </a:r>
            <a:r>
              <a:rPr sz="2300" spc="-65" dirty="0">
                <a:latin typeface="宋体"/>
                <a:cs typeface="宋体"/>
              </a:rPr>
              <a:t>1</a:t>
            </a:r>
            <a:r>
              <a:rPr sz="2300" spc="-875" dirty="0">
                <a:latin typeface="宋体"/>
                <a:cs typeface="宋体"/>
              </a:rPr>
              <a:t> </a:t>
            </a:r>
            <a:r>
              <a:rPr sz="2300" spc="-65" dirty="0">
                <a:latin typeface="宋体"/>
                <a:cs typeface="宋体"/>
              </a:rPr>
              <a:t>.</a:t>
            </a:r>
            <a:r>
              <a:rPr sz="2300" spc="-869" dirty="0">
                <a:latin typeface="宋体"/>
                <a:cs typeface="宋体"/>
              </a:rPr>
              <a:t> </a:t>
            </a:r>
            <a:r>
              <a:rPr sz="2300" spc="-65" dirty="0">
                <a:latin typeface="宋体"/>
                <a:cs typeface="宋体"/>
              </a:rPr>
              <a:t>1</a:t>
            </a:r>
            <a:r>
              <a:rPr sz="2300" spc="450" dirty="0">
                <a:latin typeface="宋体"/>
                <a:cs typeface="宋体"/>
              </a:rPr>
              <a:t> </a:t>
            </a:r>
            <a:r>
              <a:rPr sz="2300" spc="55" dirty="0">
                <a:latin typeface="宋体"/>
                <a:cs typeface="宋体"/>
              </a:rPr>
              <a:t>函数关系</a:t>
            </a:r>
            <a:r>
              <a:rPr sz="2300" spc="-130" dirty="0">
                <a:latin typeface="宋体"/>
                <a:cs typeface="宋体"/>
              </a:rPr>
              <a:t>图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38663" y="4520827"/>
            <a:ext cx="15113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00" spc="-65" dirty="0">
                <a:latin typeface="宋体"/>
                <a:cs typeface="宋体"/>
              </a:rPr>
              <a:t>4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738235" y="4520827"/>
            <a:ext cx="15113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300" spc="-65" dirty="0">
                <a:latin typeface="宋体"/>
                <a:cs typeface="宋体"/>
              </a:rPr>
              <a:t>6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13672" y="4446773"/>
            <a:ext cx="1263015" cy="8794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R="67310" algn="ctr">
              <a:lnSpc>
                <a:spcPct val="100000"/>
              </a:lnSpc>
              <a:spcBef>
                <a:spcPts val="695"/>
              </a:spcBef>
            </a:pPr>
            <a:r>
              <a:rPr sz="2300" spc="-65" dirty="0">
                <a:latin typeface="宋体"/>
                <a:cs typeface="宋体"/>
              </a:rPr>
              <a:t>5</a:t>
            </a:r>
            <a:endParaRPr sz="2300">
              <a:latin typeface="宋体"/>
              <a:cs typeface="宋体"/>
            </a:endParaRPr>
          </a:p>
          <a:p>
            <a:pPr marR="5080" algn="ctr">
              <a:lnSpc>
                <a:spcPct val="100000"/>
              </a:lnSpc>
              <a:spcBef>
                <a:spcPts val="605"/>
              </a:spcBef>
            </a:pPr>
            <a:r>
              <a:rPr sz="2300" spc="30" dirty="0">
                <a:latin typeface="宋体"/>
                <a:cs typeface="宋体"/>
              </a:rPr>
              <a:t>x</a:t>
            </a:r>
            <a:r>
              <a:rPr sz="2300" spc="-140" dirty="0">
                <a:latin typeface="宋体"/>
                <a:cs typeface="宋体"/>
              </a:rPr>
              <a:t>（万辆</a:t>
            </a:r>
            <a:r>
              <a:rPr sz="2300" spc="-130" dirty="0">
                <a:latin typeface="宋体"/>
                <a:cs typeface="宋体"/>
              </a:rPr>
              <a:t>）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89348" y="1636942"/>
            <a:ext cx="301625" cy="1359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70"/>
              </a:lnSpc>
            </a:pPr>
            <a:r>
              <a:rPr sz="2150" spc="100" dirty="0">
                <a:latin typeface="宋体"/>
                <a:cs typeface="宋体"/>
              </a:rPr>
              <a:t>y</a:t>
            </a:r>
            <a:r>
              <a:rPr sz="2150" spc="-10" dirty="0">
                <a:latin typeface="宋体"/>
                <a:cs typeface="宋体"/>
              </a:rPr>
              <a:t>（万元</a:t>
            </a:r>
            <a:r>
              <a:rPr sz="2150" dirty="0">
                <a:latin typeface="宋体"/>
                <a:cs typeface="宋体"/>
              </a:rPr>
              <a:t>）</a:t>
            </a:r>
            <a:endParaRPr sz="21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  <a:tabLst>
                <a:tab pos="886460" algn="l"/>
              </a:tabLst>
            </a:pPr>
            <a:r>
              <a:rPr dirty="0">
                <a:latin typeface="Times New Roman"/>
                <a:cs typeface="Times New Roman"/>
              </a:rPr>
              <a:t>1.1	</a:t>
            </a:r>
            <a:r>
              <a:rPr spc="-5" dirty="0"/>
              <a:t>变量间的相关关系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3016" y="1403730"/>
            <a:ext cx="7764145" cy="40087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宋体"/>
                <a:cs typeface="宋体"/>
              </a:rPr>
              <a:t>相关关系的例子</a:t>
            </a:r>
            <a:endParaRPr sz="2800">
              <a:latin typeface="宋体"/>
              <a:cs typeface="宋体"/>
            </a:endParaRPr>
          </a:p>
          <a:p>
            <a:pPr marL="756285" indent="-286385">
              <a:lnSpc>
                <a:spcPct val="100000"/>
              </a:lnSpc>
              <a:spcBef>
                <a:spcPts val="208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子女身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sz="2400" spc="-62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与父亲身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之间的关系</a:t>
            </a:r>
            <a:endParaRPr sz="2400">
              <a:latin typeface="宋体"/>
              <a:cs typeface="宋体"/>
            </a:endParaRPr>
          </a:p>
          <a:p>
            <a:pPr marL="756285" indent="-286385">
              <a:lnSpc>
                <a:spcPct val="100000"/>
              </a:lnSpc>
              <a:spcBef>
                <a:spcPts val="202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收入水平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与受教育程度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之间的关系</a:t>
            </a:r>
            <a:endParaRPr sz="2400">
              <a:latin typeface="宋体"/>
              <a:cs typeface="宋体"/>
            </a:endParaRPr>
          </a:p>
          <a:p>
            <a:pPr marL="756285" marR="5080" indent="-286385">
              <a:lnSpc>
                <a:spcPct val="120000"/>
              </a:lnSpc>
              <a:spcBef>
                <a:spcPts val="144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60" dirty="0">
                <a:solidFill>
                  <a:srgbClr val="FFFFFF"/>
                </a:solidFill>
                <a:latin typeface="宋体"/>
                <a:cs typeface="宋体"/>
              </a:rPr>
              <a:t>粮食亩产量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55" dirty="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sz="2400" spc="45" dirty="0">
                <a:solidFill>
                  <a:srgbClr val="FFFFFF"/>
                </a:solidFill>
                <a:latin typeface="宋体"/>
                <a:cs typeface="宋体"/>
              </a:rPr>
              <a:t>施</a:t>
            </a:r>
            <a:r>
              <a:rPr sz="2400" spc="55" dirty="0">
                <a:solidFill>
                  <a:srgbClr val="FFFFFF"/>
                </a:solidFill>
                <a:latin typeface="宋体"/>
                <a:cs typeface="宋体"/>
              </a:rPr>
              <a:t>肥</a:t>
            </a:r>
            <a:r>
              <a:rPr sz="2400" spc="65" dirty="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4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400" spc="60" dirty="0">
                <a:solidFill>
                  <a:srgbClr val="FFFFFF"/>
                </a:solidFill>
                <a:latin typeface="宋体"/>
                <a:cs typeface="宋体"/>
              </a:rPr>
              <a:t>降雨量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60" dirty="0">
                <a:solidFill>
                  <a:srgbClr val="FFFFFF"/>
                </a:solidFill>
                <a:latin typeface="宋体"/>
                <a:cs typeface="宋体"/>
              </a:rPr>
              <a:t>和温度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之 间的关系</a:t>
            </a:r>
            <a:endParaRPr sz="2400">
              <a:latin typeface="宋体"/>
              <a:cs typeface="宋体"/>
            </a:endParaRPr>
          </a:p>
          <a:p>
            <a:pPr marL="756285" indent="-286385">
              <a:lnSpc>
                <a:spcPct val="100000"/>
              </a:lnSpc>
              <a:spcBef>
                <a:spcPts val="2014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商品的消费量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与居民收入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之间的关系</a:t>
            </a:r>
            <a:endParaRPr sz="2400">
              <a:latin typeface="宋体"/>
              <a:cs typeface="宋体"/>
            </a:endParaRPr>
          </a:p>
          <a:p>
            <a:pPr marL="756285" indent="-286385">
              <a:lnSpc>
                <a:spcPct val="100000"/>
              </a:lnSpc>
              <a:spcBef>
                <a:spcPts val="2020"/>
              </a:spcBef>
              <a:buClr>
                <a:srgbClr val="339933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商品销售额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与广告费支出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之间的关系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0492" y="358902"/>
            <a:ext cx="4519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>
                <a:latin typeface="Times New Roman"/>
                <a:cs typeface="Times New Roman"/>
              </a:rPr>
              <a:t>1.1	</a:t>
            </a:r>
            <a:r>
              <a:rPr spc="-5" dirty="0"/>
              <a:t>变量间的相关关系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1687269" y="1515076"/>
            <a:ext cx="5911215" cy="4103370"/>
          </a:xfrm>
          <a:custGeom>
            <a:avLst/>
            <a:gdLst/>
            <a:ahLst/>
            <a:cxnLst/>
            <a:rect l="l" t="t" r="r" b="b"/>
            <a:pathLst>
              <a:path w="5911215" h="4103370">
                <a:moveTo>
                  <a:pt x="0" y="4103354"/>
                </a:moveTo>
                <a:lnTo>
                  <a:pt x="5910789" y="4103354"/>
                </a:lnTo>
                <a:lnTo>
                  <a:pt x="5910789" y="0"/>
                </a:lnTo>
                <a:lnTo>
                  <a:pt x="0" y="0"/>
                </a:lnTo>
                <a:lnTo>
                  <a:pt x="0" y="41033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1501" y="2436261"/>
            <a:ext cx="0" cy="2086610"/>
          </a:xfrm>
          <a:custGeom>
            <a:avLst/>
            <a:gdLst/>
            <a:ahLst/>
            <a:cxnLst/>
            <a:rect l="l" t="t" r="r" b="b"/>
            <a:pathLst>
              <a:path h="2086610">
                <a:moveTo>
                  <a:pt x="0" y="0"/>
                </a:moveTo>
                <a:lnTo>
                  <a:pt x="0" y="2086178"/>
                </a:lnTo>
              </a:path>
            </a:pathLst>
          </a:custGeom>
          <a:ln w="28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51501" y="4558091"/>
            <a:ext cx="5433060" cy="0"/>
          </a:xfrm>
          <a:custGeom>
            <a:avLst/>
            <a:gdLst/>
            <a:ahLst/>
            <a:cxnLst/>
            <a:rect l="l" t="t" r="r" b="b"/>
            <a:pathLst>
              <a:path w="5433059">
                <a:moveTo>
                  <a:pt x="0" y="0"/>
                </a:moveTo>
                <a:lnTo>
                  <a:pt x="5432545" y="0"/>
                </a:lnTo>
              </a:path>
            </a:pathLst>
          </a:custGeom>
          <a:ln w="345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28756" y="4331532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28022" y="0"/>
                </a:moveTo>
                <a:lnTo>
                  <a:pt x="0" y="0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28756" y="4331532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0" y="0"/>
                </a:moveTo>
                <a:lnTo>
                  <a:pt x="0" y="19946"/>
                </a:lnTo>
                <a:lnTo>
                  <a:pt x="0" y="30188"/>
                </a:lnTo>
                <a:lnTo>
                  <a:pt x="0" y="33962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lnTo>
                  <a:pt x="27584" y="0"/>
                </a:lnTo>
                <a:lnTo>
                  <a:pt x="24519" y="0"/>
                </a:lnTo>
                <a:lnTo>
                  <a:pt x="16200" y="0"/>
                </a:lnTo>
                <a:lnTo>
                  <a:pt x="0" y="0"/>
                </a:lnTo>
                <a:close/>
              </a:path>
            </a:pathLst>
          </a:custGeom>
          <a:ln w="30597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20022" y="4018720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28022" y="0"/>
                </a:moveTo>
                <a:lnTo>
                  <a:pt x="0" y="0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0022" y="4018720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0" y="0"/>
                </a:moveTo>
                <a:lnTo>
                  <a:pt x="0" y="19946"/>
                </a:lnTo>
                <a:lnTo>
                  <a:pt x="0" y="30188"/>
                </a:lnTo>
                <a:lnTo>
                  <a:pt x="0" y="33962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lnTo>
                  <a:pt x="27584" y="0"/>
                </a:lnTo>
                <a:lnTo>
                  <a:pt x="24519" y="0"/>
                </a:lnTo>
                <a:lnTo>
                  <a:pt x="16200" y="0"/>
                </a:lnTo>
                <a:lnTo>
                  <a:pt x="0" y="0"/>
                </a:lnTo>
                <a:close/>
              </a:path>
            </a:pathLst>
          </a:custGeom>
          <a:ln w="30597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9309" y="4053222"/>
            <a:ext cx="28575" cy="36195"/>
          </a:xfrm>
          <a:custGeom>
            <a:avLst/>
            <a:gdLst/>
            <a:ahLst/>
            <a:cxnLst/>
            <a:rect l="l" t="t" r="r" b="b"/>
            <a:pathLst>
              <a:path w="28575" h="36195">
                <a:moveTo>
                  <a:pt x="28022" y="0"/>
                </a:moveTo>
                <a:lnTo>
                  <a:pt x="0" y="0"/>
                </a:lnTo>
                <a:lnTo>
                  <a:pt x="0" y="35651"/>
                </a:lnTo>
                <a:lnTo>
                  <a:pt x="16200" y="35094"/>
                </a:lnTo>
                <a:lnTo>
                  <a:pt x="24519" y="31194"/>
                </a:lnTo>
                <a:lnTo>
                  <a:pt x="27584" y="20610"/>
                </a:lnTo>
                <a:lnTo>
                  <a:pt x="28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9309" y="4053222"/>
            <a:ext cx="28575" cy="36195"/>
          </a:xfrm>
          <a:custGeom>
            <a:avLst/>
            <a:gdLst/>
            <a:ahLst/>
            <a:cxnLst/>
            <a:rect l="l" t="t" r="r" b="b"/>
            <a:pathLst>
              <a:path w="28575" h="36195">
                <a:moveTo>
                  <a:pt x="0" y="0"/>
                </a:moveTo>
                <a:lnTo>
                  <a:pt x="0" y="20610"/>
                </a:lnTo>
                <a:lnTo>
                  <a:pt x="0" y="31194"/>
                </a:lnTo>
                <a:lnTo>
                  <a:pt x="0" y="35094"/>
                </a:lnTo>
                <a:lnTo>
                  <a:pt x="0" y="35651"/>
                </a:lnTo>
                <a:lnTo>
                  <a:pt x="16200" y="35094"/>
                </a:lnTo>
                <a:lnTo>
                  <a:pt x="24519" y="31194"/>
                </a:lnTo>
                <a:lnTo>
                  <a:pt x="27584" y="20610"/>
                </a:lnTo>
                <a:lnTo>
                  <a:pt x="28022" y="0"/>
                </a:lnTo>
                <a:lnTo>
                  <a:pt x="27584" y="0"/>
                </a:lnTo>
                <a:lnTo>
                  <a:pt x="24519" y="0"/>
                </a:lnTo>
                <a:lnTo>
                  <a:pt x="16200" y="0"/>
                </a:lnTo>
                <a:lnTo>
                  <a:pt x="0" y="0"/>
                </a:lnTo>
                <a:close/>
              </a:path>
            </a:pathLst>
          </a:custGeom>
          <a:ln w="30496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29641" y="3774911"/>
            <a:ext cx="29209" cy="36195"/>
          </a:xfrm>
          <a:custGeom>
            <a:avLst/>
            <a:gdLst/>
            <a:ahLst/>
            <a:cxnLst/>
            <a:rect l="l" t="t" r="r" b="b"/>
            <a:pathLst>
              <a:path w="29210" h="36195">
                <a:moveTo>
                  <a:pt x="28956" y="0"/>
                </a:moveTo>
                <a:lnTo>
                  <a:pt x="0" y="0"/>
                </a:lnTo>
                <a:lnTo>
                  <a:pt x="0" y="35651"/>
                </a:lnTo>
                <a:lnTo>
                  <a:pt x="16740" y="35094"/>
                </a:lnTo>
                <a:lnTo>
                  <a:pt x="25336" y="31194"/>
                </a:lnTo>
                <a:lnTo>
                  <a:pt x="28503" y="20610"/>
                </a:lnTo>
                <a:lnTo>
                  <a:pt x="28956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29641" y="3774911"/>
            <a:ext cx="29209" cy="36195"/>
          </a:xfrm>
          <a:custGeom>
            <a:avLst/>
            <a:gdLst/>
            <a:ahLst/>
            <a:cxnLst/>
            <a:rect l="l" t="t" r="r" b="b"/>
            <a:pathLst>
              <a:path w="29210" h="36195">
                <a:moveTo>
                  <a:pt x="0" y="0"/>
                </a:moveTo>
                <a:lnTo>
                  <a:pt x="0" y="20610"/>
                </a:lnTo>
                <a:lnTo>
                  <a:pt x="0" y="31194"/>
                </a:lnTo>
                <a:lnTo>
                  <a:pt x="0" y="35094"/>
                </a:lnTo>
                <a:lnTo>
                  <a:pt x="0" y="35651"/>
                </a:lnTo>
                <a:lnTo>
                  <a:pt x="16740" y="35094"/>
                </a:lnTo>
                <a:lnTo>
                  <a:pt x="25336" y="31194"/>
                </a:lnTo>
                <a:lnTo>
                  <a:pt x="28503" y="20610"/>
                </a:lnTo>
                <a:lnTo>
                  <a:pt x="28956" y="0"/>
                </a:lnTo>
                <a:lnTo>
                  <a:pt x="28503" y="0"/>
                </a:lnTo>
                <a:lnTo>
                  <a:pt x="25336" y="0"/>
                </a:lnTo>
                <a:lnTo>
                  <a:pt x="16740" y="0"/>
                </a:lnTo>
                <a:lnTo>
                  <a:pt x="0" y="0"/>
                </a:lnTo>
                <a:close/>
              </a:path>
            </a:pathLst>
          </a:custGeom>
          <a:ln w="30597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48929" y="3601255"/>
            <a:ext cx="29209" cy="34925"/>
          </a:xfrm>
          <a:custGeom>
            <a:avLst/>
            <a:gdLst/>
            <a:ahLst/>
            <a:cxnLst/>
            <a:rect l="l" t="t" r="r" b="b"/>
            <a:pathLst>
              <a:path w="29210" h="34925">
                <a:moveTo>
                  <a:pt x="28956" y="0"/>
                </a:moveTo>
                <a:lnTo>
                  <a:pt x="0" y="0"/>
                </a:lnTo>
                <a:lnTo>
                  <a:pt x="0" y="34501"/>
                </a:lnTo>
                <a:lnTo>
                  <a:pt x="16740" y="33962"/>
                </a:lnTo>
                <a:lnTo>
                  <a:pt x="25336" y="30188"/>
                </a:lnTo>
                <a:lnTo>
                  <a:pt x="28503" y="19946"/>
                </a:lnTo>
                <a:lnTo>
                  <a:pt x="28956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48929" y="3601255"/>
            <a:ext cx="29209" cy="34925"/>
          </a:xfrm>
          <a:custGeom>
            <a:avLst/>
            <a:gdLst/>
            <a:ahLst/>
            <a:cxnLst/>
            <a:rect l="l" t="t" r="r" b="b"/>
            <a:pathLst>
              <a:path w="29210" h="34925">
                <a:moveTo>
                  <a:pt x="0" y="0"/>
                </a:moveTo>
                <a:lnTo>
                  <a:pt x="0" y="19946"/>
                </a:lnTo>
                <a:lnTo>
                  <a:pt x="0" y="30188"/>
                </a:lnTo>
                <a:lnTo>
                  <a:pt x="0" y="33962"/>
                </a:lnTo>
                <a:lnTo>
                  <a:pt x="0" y="34501"/>
                </a:lnTo>
                <a:lnTo>
                  <a:pt x="16740" y="33962"/>
                </a:lnTo>
                <a:lnTo>
                  <a:pt x="25336" y="30188"/>
                </a:lnTo>
                <a:lnTo>
                  <a:pt x="28503" y="19946"/>
                </a:lnTo>
                <a:lnTo>
                  <a:pt x="28956" y="0"/>
                </a:lnTo>
                <a:lnTo>
                  <a:pt x="28503" y="0"/>
                </a:lnTo>
                <a:lnTo>
                  <a:pt x="25336" y="0"/>
                </a:lnTo>
                <a:lnTo>
                  <a:pt x="16740" y="0"/>
                </a:lnTo>
                <a:lnTo>
                  <a:pt x="0" y="0"/>
                </a:lnTo>
                <a:close/>
              </a:path>
            </a:pathLst>
          </a:custGeom>
          <a:ln w="30699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40195" y="3497751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28022" y="0"/>
                </a:moveTo>
                <a:lnTo>
                  <a:pt x="0" y="0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0194" y="3497751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0" y="0"/>
                </a:moveTo>
                <a:lnTo>
                  <a:pt x="0" y="19946"/>
                </a:lnTo>
                <a:lnTo>
                  <a:pt x="0" y="30188"/>
                </a:lnTo>
                <a:lnTo>
                  <a:pt x="0" y="33962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lnTo>
                  <a:pt x="27584" y="0"/>
                </a:lnTo>
                <a:lnTo>
                  <a:pt x="24519" y="0"/>
                </a:lnTo>
                <a:lnTo>
                  <a:pt x="16200" y="0"/>
                </a:lnTo>
                <a:lnTo>
                  <a:pt x="0" y="0"/>
                </a:lnTo>
                <a:close/>
              </a:path>
            </a:pathLst>
          </a:custGeom>
          <a:ln w="30597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9669" y="3393097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28022" y="0"/>
                </a:moveTo>
                <a:lnTo>
                  <a:pt x="0" y="0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59669" y="3393097"/>
            <a:ext cx="28575" cy="34925"/>
          </a:xfrm>
          <a:custGeom>
            <a:avLst/>
            <a:gdLst/>
            <a:ahLst/>
            <a:cxnLst/>
            <a:rect l="l" t="t" r="r" b="b"/>
            <a:pathLst>
              <a:path w="28575" h="34925">
                <a:moveTo>
                  <a:pt x="0" y="0"/>
                </a:moveTo>
                <a:lnTo>
                  <a:pt x="0" y="19946"/>
                </a:lnTo>
                <a:lnTo>
                  <a:pt x="0" y="30188"/>
                </a:lnTo>
                <a:lnTo>
                  <a:pt x="0" y="33962"/>
                </a:lnTo>
                <a:lnTo>
                  <a:pt x="0" y="34501"/>
                </a:lnTo>
                <a:lnTo>
                  <a:pt x="16200" y="33962"/>
                </a:lnTo>
                <a:lnTo>
                  <a:pt x="24519" y="30188"/>
                </a:lnTo>
                <a:lnTo>
                  <a:pt x="27584" y="19946"/>
                </a:lnTo>
                <a:lnTo>
                  <a:pt x="28022" y="0"/>
                </a:lnTo>
                <a:lnTo>
                  <a:pt x="27584" y="0"/>
                </a:lnTo>
                <a:lnTo>
                  <a:pt x="24519" y="0"/>
                </a:lnTo>
                <a:lnTo>
                  <a:pt x="16200" y="0"/>
                </a:lnTo>
                <a:lnTo>
                  <a:pt x="0" y="0"/>
                </a:lnTo>
                <a:close/>
              </a:path>
            </a:pathLst>
          </a:custGeom>
          <a:ln w="30597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51501" y="3236691"/>
            <a:ext cx="4813935" cy="1251585"/>
          </a:xfrm>
          <a:custGeom>
            <a:avLst/>
            <a:gdLst/>
            <a:ahLst/>
            <a:cxnLst/>
            <a:rect l="l" t="t" r="r" b="b"/>
            <a:pathLst>
              <a:path w="4813934" h="1251585">
                <a:moveTo>
                  <a:pt x="0" y="1251247"/>
                </a:moveTo>
                <a:lnTo>
                  <a:pt x="4813444" y="0"/>
                </a:lnTo>
              </a:path>
            </a:pathLst>
          </a:custGeom>
          <a:ln w="340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53255" y="4597143"/>
            <a:ext cx="4347845" cy="873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1900" spc="-175" dirty="0">
                <a:latin typeface="宋体"/>
                <a:cs typeface="宋体"/>
              </a:rPr>
              <a:t>x</a:t>
            </a:r>
            <a:endParaRPr sz="19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135" dirty="0">
                <a:latin typeface="宋体"/>
                <a:cs typeface="宋体"/>
              </a:rPr>
              <a:t>图</a:t>
            </a:r>
            <a:r>
              <a:rPr sz="1900" b="1" spc="-120" dirty="0">
                <a:latin typeface="Times New Roman"/>
                <a:cs typeface="Times New Roman"/>
              </a:rPr>
              <a:t>1</a:t>
            </a:r>
            <a:r>
              <a:rPr sz="1900" spc="-120" dirty="0">
                <a:latin typeface="宋体"/>
                <a:cs typeface="宋体"/>
              </a:rPr>
              <a:t>.</a:t>
            </a:r>
            <a:r>
              <a:rPr sz="1900" spc="-630" dirty="0">
                <a:latin typeface="宋体"/>
                <a:cs typeface="宋体"/>
              </a:rPr>
              <a:t> </a:t>
            </a:r>
            <a:r>
              <a:rPr sz="1900" spc="-175" dirty="0">
                <a:latin typeface="宋体"/>
                <a:cs typeface="宋体"/>
              </a:rPr>
              <a:t>2</a:t>
            </a:r>
            <a:r>
              <a:rPr sz="1900" spc="30" dirty="0">
                <a:latin typeface="宋体"/>
                <a:cs typeface="宋体"/>
              </a:rPr>
              <a:t> </a:t>
            </a:r>
            <a:r>
              <a:rPr sz="1900" spc="-175" dirty="0">
                <a:latin typeface="宋体"/>
                <a:cs typeface="宋体"/>
              </a:rPr>
              <a:t>y</a:t>
            </a:r>
            <a:r>
              <a:rPr sz="1900" spc="-625" dirty="0">
                <a:latin typeface="宋体"/>
                <a:cs typeface="宋体"/>
              </a:rPr>
              <a:t> </a:t>
            </a:r>
            <a:r>
              <a:rPr sz="1900" spc="-135" dirty="0">
                <a:latin typeface="宋体"/>
                <a:cs typeface="宋体"/>
              </a:rPr>
              <a:t>与</a:t>
            </a:r>
            <a:r>
              <a:rPr sz="1900" spc="-175" dirty="0">
                <a:latin typeface="宋体"/>
                <a:cs typeface="宋体"/>
              </a:rPr>
              <a:t>x</a:t>
            </a:r>
            <a:r>
              <a:rPr sz="1900" spc="-630" dirty="0">
                <a:latin typeface="宋体"/>
                <a:cs typeface="宋体"/>
              </a:rPr>
              <a:t> </a:t>
            </a:r>
            <a:r>
              <a:rPr sz="1900" spc="-135" dirty="0">
                <a:latin typeface="宋体"/>
                <a:cs typeface="宋体"/>
              </a:rPr>
              <a:t>非确定性关系</a:t>
            </a:r>
            <a:r>
              <a:rPr sz="1900" spc="-345" dirty="0">
                <a:latin typeface="宋体"/>
                <a:cs typeface="宋体"/>
              </a:rPr>
              <a:t>图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535940" y="6409562"/>
            <a:ext cx="719455" cy="204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2017/8/6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 rot="60000">
            <a:off x="1860109" y="2349737"/>
            <a:ext cx="263674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20"/>
              </a:lnSpc>
            </a:pPr>
            <a:r>
              <a:rPr sz="1900" spc="-175" dirty="0">
                <a:latin typeface="宋体"/>
                <a:cs typeface="宋体"/>
              </a:rPr>
              <a:t>y</a:t>
            </a:r>
            <a:endParaRPr sz="19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9763" y="358902"/>
            <a:ext cx="6329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dirty="0">
                <a:latin typeface="Times New Roman"/>
                <a:cs typeface="Times New Roman"/>
              </a:rPr>
              <a:t>1.2	</a:t>
            </a:r>
            <a:r>
              <a:rPr spc="-5" dirty="0"/>
              <a:t>“回归”思想及名称的由来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215" y="1110233"/>
            <a:ext cx="802640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英国统计学家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F.Galton(1822-1911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和他的学生现代统计 学的奠基者之一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K.Pearson(1856-1936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在研究父母身高与其 子女身高的遗传问题时，观察</a:t>
            </a:r>
            <a:r>
              <a:rPr sz="2400" spc="5" dirty="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078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对夫妇，得到了父母平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均身高与子女身高之间的关系式：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8101" y="2982912"/>
            <a:ext cx="2592705" cy="4464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ts val="2920"/>
              </a:lnSpc>
            </a:pPr>
            <a:r>
              <a:rPr sz="2600" i="1" spc="-470" dirty="0">
                <a:latin typeface="Times New Roman"/>
                <a:cs typeface="Times New Roman"/>
              </a:rPr>
              <a:t>y</a:t>
            </a:r>
            <a:r>
              <a:rPr sz="3900" spc="-705" baseline="2136" dirty="0">
                <a:latin typeface="Times New Roman"/>
                <a:cs typeface="Times New Roman"/>
              </a:rPr>
              <a:t>ˆ</a:t>
            </a:r>
            <a:r>
              <a:rPr sz="3900" spc="-660" baseline="2136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Symbol"/>
                <a:cs typeface="Symbol"/>
              </a:rPr>
              <a:t>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33.73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Symbol"/>
                <a:cs typeface="Symbol"/>
              </a:rPr>
              <a:t></a:t>
            </a:r>
            <a:r>
              <a:rPr sz="2600" spc="-240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0.516</a:t>
            </a:r>
            <a:r>
              <a:rPr sz="2600" i="1" spc="40" dirty="0">
                <a:latin typeface="Times New Roman"/>
                <a:cs typeface="Times New Roman"/>
              </a:rPr>
              <a:t>x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5462" y="3429000"/>
            <a:ext cx="1701800" cy="2879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2475" y="3357626"/>
            <a:ext cx="1430274" cy="2951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43276" y="3662426"/>
            <a:ext cx="3528949" cy="2646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7939" y="424688"/>
            <a:ext cx="77063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dirty="0">
                <a:latin typeface="Times New Roman"/>
                <a:cs typeface="Times New Roman"/>
              </a:rPr>
              <a:t>1.3	</a:t>
            </a:r>
            <a:r>
              <a:rPr spc="-5" dirty="0"/>
              <a:t>回归分析的主要内容及其一般模型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84540" y="641156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3244" y="3085879"/>
            <a:ext cx="182245" cy="95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100" spc="-2640" dirty="0">
                <a:solidFill>
                  <a:srgbClr val="FFFFFF"/>
                </a:solidFill>
                <a:latin typeface="Symbol"/>
                <a:cs typeface="Symbol"/>
              </a:rPr>
              <a:t></a:t>
            </a:r>
            <a:endParaRPr sz="61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6873" y="1517870"/>
            <a:ext cx="184277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60425" algn="l"/>
              </a:tabLst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线性回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sz="1150" dirty="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多元线性回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7490" y="3129240"/>
            <a:ext cx="147891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选择回归函数的</a:t>
            </a:r>
            <a:r>
              <a:rPr sz="1150" spc="110" dirty="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9511" y="3542012"/>
            <a:ext cx="13176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自变量选择的准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4668" y="3827834"/>
            <a:ext cx="13176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逐步回归分析方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1905" y="6191472"/>
            <a:ext cx="147891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含有定性变量的回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52199" y="1050871"/>
            <a:ext cx="116268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6410" dirty="0">
                <a:solidFill>
                  <a:srgbClr val="FFFFFF"/>
                </a:solidFill>
                <a:latin typeface="Symbol"/>
                <a:cs typeface="Symbol"/>
              </a:rPr>
              <a:t>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一元线性回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52199" y="1393349"/>
            <a:ext cx="1892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-10" dirty="0">
                <a:solidFill>
                  <a:srgbClr val="FFFFFF"/>
                </a:solidFill>
                <a:latin typeface="Symbol"/>
                <a:cs typeface="Symbol"/>
              </a:rPr>
              <a:t>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47167" y="2030193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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7167" y="2090745"/>
            <a:ext cx="358584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75" baseline="-26709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讨论如何从数据</a:t>
            </a:r>
            <a:r>
              <a:rPr sz="1150" spc="110" dirty="0">
                <a:solidFill>
                  <a:srgbClr val="FFFFFF"/>
                </a:solidFill>
                <a:latin typeface="宋体"/>
                <a:cs typeface="宋体"/>
              </a:rPr>
              <a:t>推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断回归模型基本假设的合理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47167" y="2662391"/>
            <a:ext cx="196913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26709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判定回归方程拟合的效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7167" y="2969796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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71563" y="3961558"/>
            <a:ext cx="67627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15" baseline="-6410" dirty="0">
                <a:solidFill>
                  <a:srgbClr val="FFFFFF"/>
                </a:solidFill>
                <a:latin typeface="Symbol"/>
                <a:cs typeface="Symbol"/>
              </a:rPr>
              <a:t>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岭回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71563" y="4533204"/>
            <a:ext cx="116268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12820" dirty="0">
                <a:solidFill>
                  <a:srgbClr val="FFFFFF"/>
                </a:solidFill>
                <a:latin typeface="Symbol"/>
                <a:cs typeface="Symbol"/>
              </a:rPr>
              <a:t>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偏最小二乘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6039" y="4904354"/>
            <a:ext cx="132461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6410" dirty="0">
                <a:solidFill>
                  <a:srgbClr val="FFFFFF"/>
                </a:solidFill>
                <a:latin typeface="Symbol"/>
                <a:cs typeface="Symbol"/>
              </a:rPr>
              <a:t>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一元非线性回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16039" y="5476030"/>
            <a:ext cx="13195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-15" baseline="-12820" dirty="0">
                <a:solidFill>
                  <a:srgbClr val="FFFFFF"/>
                </a:solidFill>
                <a:latin typeface="Symbol"/>
                <a:cs typeface="Symbol"/>
              </a:rPr>
              <a:t>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多元非线性回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36247" y="5669181"/>
            <a:ext cx="182245" cy="95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100" spc="-1939" dirty="0">
                <a:solidFill>
                  <a:srgbClr val="FFFFFF"/>
                </a:solidFill>
                <a:latin typeface="Symbol"/>
                <a:cs typeface="Symbol"/>
              </a:rPr>
              <a:t></a:t>
            </a:r>
            <a:endParaRPr sz="61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62514" y="6019949"/>
            <a:ext cx="1816735" cy="597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305" marR="5080" indent="-15240">
              <a:lnSpc>
                <a:spcPct val="163100"/>
              </a:lnSpc>
              <a:spcBef>
                <a:spcPts val="90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自变量含定性变量的情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况 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因变量是定性</a:t>
            </a:r>
            <a:r>
              <a:rPr sz="1150" spc="110" dirty="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量的情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1146" y="975331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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1146" y="1298025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01146" y="1622666"/>
            <a:ext cx="3300095" cy="7448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825"/>
              </a:lnSpc>
              <a:spcBef>
                <a:spcPts val="110"/>
              </a:spcBef>
              <a:tabLst>
                <a:tab pos="863600" algn="l"/>
              </a:tabLst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2600" spc="1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3900" spc="-15" baseline="-12820" dirty="0">
                <a:solidFill>
                  <a:srgbClr val="FFFFFF"/>
                </a:solidFill>
                <a:latin typeface="Symbol"/>
                <a:cs typeface="Symbol"/>
              </a:rPr>
              <a:t>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多个因变量与多个自变量的回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  <a:p>
            <a:pPr marL="12700">
              <a:lnSpc>
                <a:spcPts val="2825"/>
              </a:lnSpc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01146" y="2267005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01146" y="2376568"/>
            <a:ext cx="393763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-127" baseline="-36324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725" spc="172" baseline="-26570" dirty="0">
                <a:solidFill>
                  <a:srgbClr val="FFFFFF"/>
                </a:solidFill>
                <a:latin typeface="宋体"/>
                <a:cs typeface="宋体"/>
              </a:rPr>
              <a:t>回归诊</a:t>
            </a:r>
            <a:r>
              <a:rPr sz="1725" spc="187" baseline="-26570" dirty="0">
                <a:solidFill>
                  <a:srgbClr val="FFFFFF"/>
                </a:solidFill>
                <a:latin typeface="宋体"/>
                <a:cs typeface="宋体"/>
              </a:rPr>
              <a:t>断</a:t>
            </a:r>
            <a:r>
              <a:rPr sz="1725" spc="-359" baseline="-2657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900" spc="-44" baseline="-20299" dirty="0">
                <a:solidFill>
                  <a:srgbClr val="FFFFFF"/>
                </a:solidFill>
                <a:latin typeface="Symbol"/>
                <a:cs typeface="Symbol"/>
              </a:rPr>
              <a:t>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当基本假设不成立时如何对数据进行</a:t>
            </a:r>
            <a:r>
              <a:rPr sz="1150" spc="110" dirty="0">
                <a:solidFill>
                  <a:srgbClr val="FFFFFF"/>
                </a:solidFill>
                <a:latin typeface="宋体"/>
                <a:cs typeface="宋体"/>
              </a:rPr>
              <a:t>修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01146" y="2912842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01146" y="3235535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01146" y="3427533"/>
            <a:ext cx="130937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-127" baseline="9615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回归变量的选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择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08455" y="3563624"/>
            <a:ext cx="89471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回归分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sz="1150" spc="-28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900" spc="150" baseline="-9615" dirty="0">
                <a:solidFill>
                  <a:srgbClr val="FFFFFF"/>
                </a:solidFill>
                <a:latin typeface="Symbol"/>
                <a:cs typeface="Symbol"/>
              </a:rPr>
              <a:t></a:t>
            </a:r>
            <a:endParaRPr sz="3900" baseline="-9615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01146" y="3943273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01146" y="4247381"/>
            <a:ext cx="267144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3205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参数估计方法的改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sz="1150" spc="-240" dirty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sz="3900" spc="44" baseline="-9615" dirty="0">
                <a:solidFill>
                  <a:srgbClr val="FFFFFF"/>
                </a:solidFill>
                <a:latin typeface="Symbol"/>
                <a:cs typeface="Symbol"/>
              </a:rPr>
              <a:t>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主成分回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01146" y="4589110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01146" y="4911878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01146" y="5190192"/>
            <a:ext cx="1852295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00" spc="44" baseline="-7478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非线性回</a:t>
            </a:r>
            <a:r>
              <a:rPr sz="1150" spc="430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r>
              <a:rPr sz="3900" spc="15" baseline="-9615" dirty="0">
                <a:solidFill>
                  <a:srgbClr val="FFFFFF"/>
                </a:solidFill>
                <a:latin typeface="Symbol"/>
                <a:cs typeface="Symbol"/>
              </a:rPr>
              <a:t></a:t>
            </a:r>
            <a:r>
              <a:rPr sz="1150" spc="114" dirty="0">
                <a:solidFill>
                  <a:srgbClr val="FFFFFF"/>
                </a:solidFill>
                <a:latin typeface="宋体"/>
                <a:cs typeface="宋体"/>
              </a:rPr>
              <a:t>分段回</a:t>
            </a:r>
            <a:r>
              <a:rPr sz="1150" spc="125" dirty="0">
                <a:solidFill>
                  <a:srgbClr val="FFFFFF"/>
                </a:solidFill>
                <a:latin typeface="宋体"/>
                <a:cs typeface="宋体"/>
              </a:rPr>
              <a:t>归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01146" y="5557700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01146" y="5880424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01146" y="6203513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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01146" y="6265479"/>
            <a:ext cx="20193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0" dirty="0">
                <a:solidFill>
                  <a:srgbClr val="FFFFFF"/>
                </a:solidFill>
                <a:latin typeface="Symbol"/>
                <a:cs typeface="Symbol"/>
              </a:rPr>
              <a:t></a:t>
            </a:r>
            <a:endParaRPr sz="2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8117" y="1154429"/>
            <a:ext cx="3076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回归模型的一般形式：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8117" y="4077461"/>
            <a:ext cx="277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多元线性回归模型：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3251" y="1804372"/>
            <a:ext cx="648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800" spc="-22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800" spc="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1541" y="1804372"/>
            <a:ext cx="1283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6900" algn="l"/>
              </a:tabLst>
            </a:pPr>
            <a:r>
              <a:rPr sz="280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8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800" spc="15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8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800" i="1" spc="-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400" baseline="-24305" dirty="0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sz="2800" spc="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51147" y="1784671"/>
            <a:ext cx="10922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5" dirty="0">
                <a:latin typeface="Times New Roman"/>
                <a:cs typeface="Times New Roman"/>
              </a:rPr>
              <a:t>,</a:t>
            </a:r>
            <a:r>
              <a:rPr sz="2800" b="0" spc="-310" dirty="0">
                <a:latin typeface="Times New Roman"/>
                <a:cs typeface="Times New Roman"/>
              </a:rPr>
              <a:t> </a:t>
            </a:r>
            <a:r>
              <a:rPr sz="2800" b="0" i="1" spc="95" dirty="0">
                <a:latin typeface="Times New Roman"/>
                <a:cs typeface="Times New Roman"/>
              </a:rPr>
              <a:t>x</a:t>
            </a:r>
            <a:r>
              <a:rPr sz="2400" b="0" i="1" spc="142" baseline="-24305" dirty="0">
                <a:latin typeface="Times New Roman"/>
                <a:cs typeface="Times New Roman"/>
              </a:rPr>
              <a:t>p</a:t>
            </a:r>
            <a:r>
              <a:rPr sz="2400" b="0" i="1" spc="-67" baseline="-24305" dirty="0">
                <a:latin typeface="Times New Roman"/>
                <a:cs typeface="Times New Roman"/>
              </a:rPr>
              <a:t> </a:t>
            </a:r>
            <a:r>
              <a:rPr sz="2800" b="0" spc="10" dirty="0">
                <a:latin typeface="Times New Roman"/>
                <a:cs typeface="Times New Roman"/>
              </a:rPr>
              <a:t>)</a:t>
            </a:r>
            <a:r>
              <a:rPr sz="2800" b="0" spc="-215" dirty="0">
                <a:latin typeface="Times New Roman"/>
                <a:cs typeface="Times New Roman"/>
              </a:rPr>
              <a:t> </a:t>
            </a:r>
            <a:r>
              <a:rPr sz="2800" b="0" spc="15" dirty="0">
                <a:latin typeface="Symbol"/>
                <a:cs typeface="Symbol"/>
              </a:rPr>
              <a:t></a:t>
            </a:r>
            <a:r>
              <a:rPr sz="2800" b="0" spc="-310" dirty="0">
                <a:latin typeface="Times New Roman"/>
                <a:cs typeface="Times New Roman"/>
              </a:rPr>
              <a:t> </a:t>
            </a:r>
            <a:r>
              <a:rPr sz="2950" b="0" i="1" spc="-55" dirty="0"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00288" y="1866883"/>
            <a:ext cx="1414213" cy="482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6984" y="3282543"/>
            <a:ext cx="64770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22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25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8117" y="2599571"/>
            <a:ext cx="4144645" cy="111696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一元线性回归模型：</a:t>
            </a:r>
            <a:endParaRPr sz="2400">
              <a:latin typeface="宋体"/>
              <a:cs typeface="宋体"/>
            </a:endParaRPr>
          </a:p>
          <a:p>
            <a:pPr marL="2237105">
              <a:lnSpc>
                <a:spcPct val="100000"/>
              </a:lnSpc>
              <a:spcBef>
                <a:spcPts val="1265"/>
              </a:spcBef>
            </a:pPr>
            <a:r>
              <a:rPr sz="26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6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2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650" spc="-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i="1" spc="-70" dirty="0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sz="2800" i="1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2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65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i="1" spc="-6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2800" i="1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i="1" spc="1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650" i="1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2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650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i="1" spc="-50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6823" y="4783127"/>
            <a:ext cx="6445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3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sz="2700" spc="-9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44371" y="4763589"/>
            <a:ext cx="3845560" cy="461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i="1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7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50" i="1" spc="15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2325" spc="22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325" spc="89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7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50" i="1" spc="-55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2325" spc="-82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325" spc="-284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i="1" spc="-9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325" spc="-135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325" spc="75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700" spc="-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...</a:t>
            </a:r>
            <a:r>
              <a:rPr sz="2700" spc="-3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7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50" i="1" spc="-45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2850" i="1" spc="-4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25" i="1" spc="37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325" i="1" spc="-52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i="1" spc="9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325" i="1" spc="142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325" i="1" spc="757" baseline="-250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4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2700" spc="-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50" i="1" spc="-35" dirty="0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8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864" y="432053"/>
            <a:ext cx="4953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895" algn="l"/>
              </a:tabLst>
            </a:pPr>
            <a:r>
              <a:rPr dirty="0">
                <a:latin typeface="Times New Roman"/>
                <a:cs typeface="Times New Roman"/>
              </a:rPr>
              <a:t>1.4	</a:t>
            </a:r>
            <a:r>
              <a:rPr spc="-5" dirty="0"/>
              <a:t>回归模型的建立过程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2986" y="1927961"/>
            <a:ext cx="1423035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设置指标变量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7488" y="2446248"/>
            <a:ext cx="1530985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宋体"/>
                <a:cs typeface="宋体"/>
              </a:rPr>
              <a:t>收集整理数据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2910" y="2924784"/>
            <a:ext cx="1602105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构造理论模型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6909" y="3431895"/>
            <a:ext cx="1619885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估计模型参数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87798" y="2241423"/>
            <a:ext cx="76200" cy="19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94197" y="4220692"/>
            <a:ext cx="69723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425"/>
              </a:spcBef>
            </a:pPr>
            <a:r>
              <a:rPr sz="1600" spc="-5" dirty="0">
                <a:latin typeface="宋体"/>
                <a:cs typeface="宋体"/>
              </a:rPr>
              <a:t>修改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7635" y="4025620"/>
            <a:ext cx="297180" cy="2984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3340" y="5073243"/>
            <a:ext cx="1338580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模型运用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02098" y="4750917"/>
            <a:ext cx="302260" cy="297180"/>
          </a:xfrm>
          <a:custGeom>
            <a:avLst/>
            <a:gdLst/>
            <a:ahLst/>
            <a:cxnLst/>
            <a:rect l="l" t="t" r="r" b="b"/>
            <a:pathLst>
              <a:path w="302260" h="297179">
                <a:moveTo>
                  <a:pt x="0" y="296824"/>
                </a:moveTo>
                <a:lnTo>
                  <a:pt x="301637" y="296824"/>
                </a:lnTo>
                <a:lnTo>
                  <a:pt x="301637" y="0"/>
                </a:lnTo>
                <a:lnTo>
                  <a:pt x="0" y="0"/>
                </a:lnTo>
                <a:lnTo>
                  <a:pt x="0" y="296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02098" y="4750917"/>
            <a:ext cx="302260" cy="297180"/>
          </a:xfrm>
          <a:custGeom>
            <a:avLst/>
            <a:gdLst/>
            <a:ahLst/>
            <a:cxnLst/>
            <a:rect l="l" t="t" r="r" b="b"/>
            <a:pathLst>
              <a:path w="302260" h="297179">
                <a:moveTo>
                  <a:pt x="0" y="296824"/>
                </a:moveTo>
                <a:lnTo>
                  <a:pt x="301637" y="296824"/>
                </a:lnTo>
                <a:lnTo>
                  <a:pt x="301637" y="0"/>
                </a:lnTo>
                <a:lnTo>
                  <a:pt x="0" y="0"/>
                </a:lnTo>
                <a:lnTo>
                  <a:pt x="0" y="296824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597336" y="4779009"/>
            <a:ext cx="311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5576" y="5685904"/>
            <a:ext cx="1492885" cy="3232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宋体"/>
                <a:cs typeface="宋体"/>
              </a:rPr>
              <a:t>经济因素分析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80028" y="5685904"/>
            <a:ext cx="1440180" cy="3232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25"/>
              </a:spcBef>
            </a:pPr>
            <a:r>
              <a:rPr sz="1600" spc="-5" dirty="0">
                <a:latin typeface="宋体"/>
                <a:cs typeface="宋体"/>
              </a:rPr>
              <a:t>经济变量控制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1172" y="5685904"/>
            <a:ext cx="1550035" cy="3232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宋体"/>
                <a:cs typeface="宋体"/>
              </a:rPr>
              <a:t>经济决策预测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69386" y="5177409"/>
            <a:ext cx="893444" cy="477520"/>
          </a:xfrm>
          <a:custGeom>
            <a:avLst/>
            <a:gdLst/>
            <a:ahLst/>
            <a:cxnLst/>
            <a:rect l="l" t="t" r="r" b="b"/>
            <a:pathLst>
              <a:path w="893445" h="477520">
                <a:moveTo>
                  <a:pt x="49402" y="407924"/>
                </a:moveTo>
                <a:lnTo>
                  <a:pt x="0" y="477304"/>
                </a:lnTo>
                <a:lnTo>
                  <a:pt x="85089" y="475310"/>
                </a:lnTo>
                <a:lnTo>
                  <a:pt x="73380" y="453199"/>
                </a:lnTo>
                <a:lnTo>
                  <a:pt x="59055" y="453199"/>
                </a:lnTo>
                <a:lnTo>
                  <a:pt x="53086" y="441972"/>
                </a:lnTo>
                <a:lnTo>
                  <a:pt x="64291" y="436037"/>
                </a:lnTo>
                <a:lnTo>
                  <a:pt x="49402" y="407924"/>
                </a:lnTo>
                <a:close/>
              </a:path>
              <a:path w="893445" h="477520">
                <a:moveTo>
                  <a:pt x="64291" y="436037"/>
                </a:moveTo>
                <a:lnTo>
                  <a:pt x="53086" y="441972"/>
                </a:lnTo>
                <a:lnTo>
                  <a:pt x="59055" y="453199"/>
                </a:lnTo>
                <a:lnTo>
                  <a:pt x="70241" y="447272"/>
                </a:lnTo>
                <a:lnTo>
                  <a:pt x="64291" y="436037"/>
                </a:lnTo>
                <a:close/>
              </a:path>
              <a:path w="893445" h="477520">
                <a:moveTo>
                  <a:pt x="70241" y="447272"/>
                </a:moveTo>
                <a:lnTo>
                  <a:pt x="59055" y="453199"/>
                </a:lnTo>
                <a:lnTo>
                  <a:pt x="73380" y="453199"/>
                </a:lnTo>
                <a:lnTo>
                  <a:pt x="70241" y="447272"/>
                </a:lnTo>
                <a:close/>
              </a:path>
              <a:path w="893445" h="477520">
                <a:moveTo>
                  <a:pt x="887476" y="0"/>
                </a:moveTo>
                <a:lnTo>
                  <a:pt x="64291" y="436037"/>
                </a:lnTo>
                <a:lnTo>
                  <a:pt x="70241" y="447272"/>
                </a:lnTo>
                <a:lnTo>
                  <a:pt x="893317" y="11176"/>
                </a:lnTo>
                <a:lnTo>
                  <a:pt x="8874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5573" y="5398642"/>
            <a:ext cx="76200" cy="298450"/>
          </a:xfrm>
          <a:custGeom>
            <a:avLst/>
            <a:gdLst/>
            <a:ahLst/>
            <a:cxnLst/>
            <a:rect l="l" t="t" r="r" b="b"/>
            <a:pathLst>
              <a:path w="76200" h="298450">
                <a:moveTo>
                  <a:pt x="31750" y="222173"/>
                </a:moveTo>
                <a:lnTo>
                  <a:pt x="0" y="222173"/>
                </a:lnTo>
                <a:lnTo>
                  <a:pt x="38100" y="298373"/>
                </a:lnTo>
                <a:lnTo>
                  <a:pt x="69850" y="234873"/>
                </a:lnTo>
                <a:lnTo>
                  <a:pt x="31750" y="234873"/>
                </a:lnTo>
                <a:lnTo>
                  <a:pt x="31750" y="222173"/>
                </a:lnTo>
                <a:close/>
              </a:path>
              <a:path w="76200" h="298450">
                <a:moveTo>
                  <a:pt x="44450" y="0"/>
                </a:moveTo>
                <a:lnTo>
                  <a:pt x="31750" y="0"/>
                </a:lnTo>
                <a:lnTo>
                  <a:pt x="31750" y="234873"/>
                </a:lnTo>
                <a:lnTo>
                  <a:pt x="44450" y="234873"/>
                </a:lnTo>
                <a:lnTo>
                  <a:pt x="44450" y="0"/>
                </a:lnTo>
                <a:close/>
              </a:path>
              <a:path w="76200" h="298450">
                <a:moveTo>
                  <a:pt x="76200" y="222173"/>
                </a:moveTo>
                <a:lnTo>
                  <a:pt x="44450" y="222173"/>
                </a:lnTo>
                <a:lnTo>
                  <a:pt x="44450" y="234873"/>
                </a:lnTo>
                <a:lnTo>
                  <a:pt x="69850" y="234873"/>
                </a:lnTo>
                <a:lnTo>
                  <a:pt x="76200" y="222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19700" y="5211826"/>
            <a:ext cx="909319" cy="417195"/>
          </a:xfrm>
          <a:custGeom>
            <a:avLst/>
            <a:gdLst/>
            <a:ahLst/>
            <a:cxnLst/>
            <a:rect l="l" t="t" r="r" b="b"/>
            <a:pathLst>
              <a:path w="909320" h="417195">
                <a:moveTo>
                  <a:pt x="836875" y="387856"/>
                </a:moveTo>
                <a:lnTo>
                  <a:pt x="823849" y="416826"/>
                </a:lnTo>
                <a:lnTo>
                  <a:pt x="909065" y="413334"/>
                </a:lnTo>
                <a:lnTo>
                  <a:pt x="892497" y="393077"/>
                </a:lnTo>
                <a:lnTo>
                  <a:pt x="848487" y="393077"/>
                </a:lnTo>
                <a:lnTo>
                  <a:pt x="836875" y="387856"/>
                </a:lnTo>
                <a:close/>
              </a:path>
              <a:path w="909320" h="417195">
                <a:moveTo>
                  <a:pt x="842082" y="376274"/>
                </a:moveTo>
                <a:lnTo>
                  <a:pt x="836875" y="387856"/>
                </a:lnTo>
                <a:lnTo>
                  <a:pt x="848487" y="393077"/>
                </a:lnTo>
                <a:lnTo>
                  <a:pt x="853694" y="381495"/>
                </a:lnTo>
                <a:lnTo>
                  <a:pt x="842082" y="376274"/>
                </a:lnTo>
                <a:close/>
              </a:path>
              <a:path w="909320" h="417195">
                <a:moveTo>
                  <a:pt x="855090" y="347345"/>
                </a:moveTo>
                <a:lnTo>
                  <a:pt x="842082" y="376274"/>
                </a:lnTo>
                <a:lnTo>
                  <a:pt x="853694" y="381495"/>
                </a:lnTo>
                <a:lnTo>
                  <a:pt x="848487" y="393077"/>
                </a:lnTo>
                <a:lnTo>
                  <a:pt x="892497" y="393077"/>
                </a:lnTo>
                <a:lnTo>
                  <a:pt x="855090" y="347345"/>
                </a:lnTo>
                <a:close/>
              </a:path>
              <a:path w="909320" h="417195">
                <a:moveTo>
                  <a:pt x="5207" y="0"/>
                </a:moveTo>
                <a:lnTo>
                  <a:pt x="0" y="11556"/>
                </a:lnTo>
                <a:lnTo>
                  <a:pt x="836875" y="387856"/>
                </a:lnTo>
                <a:lnTo>
                  <a:pt x="842082" y="376274"/>
                </a:lnTo>
                <a:lnTo>
                  <a:pt x="5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02323" y="1764792"/>
            <a:ext cx="13335" cy="2626360"/>
          </a:xfrm>
          <a:custGeom>
            <a:avLst/>
            <a:gdLst/>
            <a:ahLst/>
            <a:cxnLst/>
            <a:rect l="l" t="t" r="r" b="b"/>
            <a:pathLst>
              <a:path w="13335" h="2626360">
                <a:moveTo>
                  <a:pt x="12953" y="0"/>
                </a:moveTo>
                <a:lnTo>
                  <a:pt x="0" y="262585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87215" y="1341475"/>
            <a:ext cx="1267460" cy="2971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334"/>
              </a:spcBef>
            </a:pPr>
            <a:r>
              <a:rPr sz="1600" spc="-5" dirty="0">
                <a:latin typeface="宋体"/>
                <a:cs typeface="宋体"/>
              </a:rPr>
              <a:t>实际问题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87798" y="2736723"/>
            <a:ext cx="76200" cy="19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87798" y="3231895"/>
            <a:ext cx="76200" cy="198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90973" y="4822444"/>
            <a:ext cx="76200" cy="206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87798" y="3727196"/>
            <a:ext cx="76200" cy="198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62397" y="4352544"/>
            <a:ext cx="422275" cy="76200"/>
          </a:xfrm>
          <a:custGeom>
            <a:avLst/>
            <a:gdLst/>
            <a:ahLst/>
            <a:cxnLst/>
            <a:rect l="l" t="t" r="r" b="b"/>
            <a:pathLst>
              <a:path w="422275" h="76200">
                <a:moveTo>
                  <a:pt x="346075" y="0"/>
                </a:moveTo>
                <a:lnTo>
                  <a:pt x="346075" y="76199"/>
                </a:lnTo>
                <a:lnTo>
                  <a:pt x="409575" y="44449"/>
                </a:lnTo>
                <a:lnTo>
                  <a:pt x="358775" y="44449"/>
                </a:lnTo>
                <a:lnTo>
                  <a:pt x="358775" y="31749"/>
                </a:lnTo>
                <a:lnTo>
                  <a:pt x="409575" y="31749"/>
                </a:lnTo>
                <a:lnTo>
                  <a:pt x="346075" y="0"/>
                </a:lnTo>
                <a:close/>
              </a:path>
              <a:path w="422275" h="76200">
                <a:moveTo>
                  <a:pt x="346075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46075" y="44449"/>
                </a:lnTo>
                <a:lnTo>
                  <a:pt x="346075" y="31749"/>
                </a:lnTo>
                <a:close/>
              </a:path>
              <a:path w="422275" h="76200">
                <a:moveTo>
                  <a:pt x="409575" y="31749"/>
                </a:moveTo>
                <a:lnTo>
                  <a:pt x="358775" y="31749"/>
                </a:lnTo>
                <a:lnTo>
                  <a:pt x="358775" y="44449"/>
                </a:lnTo>
                <a:lnTo>
                  <a:pt x="409575" y="44449"/>
                </a:lnTo>
                <a:lnTo>
                  <a:pt x="422275" y="38099"/>
                </a:lnTo>
                <a:lnTo>
                  <a:pt x="409575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93133" y="1654048"/>
            <a:ext cx="76200" cy="249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02098" y="1708404"/>
            <a:ext cx="1809750" cy="76200"/>
          </a:xfrm>
          <a:custGeom>
            <a:avLst/>
            <a:gdLst/>
            <a:ahLst/>
            <a:cxnLst/>
            <a:rect l="l" t="t" r="r" b="b"/>
            <a:pathLst>
              <a:path w="180975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80975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809750" h="76200">
                <a:moveTo>
                  <a:pt x="1809368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809368" y="44450"/>
                </a:lnTo>
                <a:lnTo>
                  <a:pt x="180936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13398" y="4390644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28892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27372" y="3928745"/>
            <a:ext cx="792480" cy="865505"/>
          </a:xfrm>
          <a:custGeom>
            <a:avLst/>
            <a:gdLst/>
            <a:ahLst/>
            <a:cxnLst/>
            <a:rect l="l" t="t" r="r" b="b"/>
            <a:pathLst>
              <a:path w="792479" h="865504">
                <a:moveTo>
                  <a:pt x="396113" y="0"/>
                </a:moveTo>
                <a:lnTo>
                  <a:pt x="0" y="432561"/>
                </a:lnTo>
                <a:lnTo>
                  <a:pt x="396113" y="865123"/>
                </a:lnTo>
                <a:lnTo>
                  <a:pt x="792226" y="432561"/>
                </a:lnTo>
                <a:lnTo>
                  <a:pt x="396113" y="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27372" y="3928745"/>
            <a:ext cx="792480" cy="865505"/>
          </a:xfrm>
          <a:custGeom>
            <a:avLst/>
            <a:gdLst/>
            <a:ahLst/>
            <a:cxnLst/>
            <a:rect l="l" t="t" r="r" b="b"/>
            <a:pathLst>
              <a:path w="792479" h="865504">
                <a:moveTo>
                  <a:pt x="0" y="432561"/>
                </a:moveTo>
                <a:lnTo>
                  <a:pt x="396113" y="0"/>
                </a:lnTo>
                <a:lnTo>
                  <a:pt x="792226" y="432561"/>
                </a:lnTo>
                <a:lnTo>
                  <a:pt x="396113" y="865123"/>
                </a:lnTo>
                <a:lnTo>
                  <a:pt x="0" y="4325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309109" y="4102734"/>
            <a:ext cx="4311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模型 检验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26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644" y="1519173"/>
            <a:ext cx="2522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模型参数的估计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27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644" y="2196211"/>
            <a:ext cx="7613015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当变量及样本较多时，参数估计的计算量很大，只有 依靠计算机才能得到可靠的结果。现在这方面的现成计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算机软件有很多，如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Minitab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SPSS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SAS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等都是计算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参数估计结果的基本软件。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3123" y="424688"/>
            <a:ext cx="5875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dirty="0">
                <a:latin typeface="Times New Roman"/>
                <a:cs typeface="Times New Roman"/>
              </a:rPr>
              <a:t>1.5	</a:t>
            </a:r>
            <a:r>
              <a:rPr spc="-5" dirty="0"/>
              <a:t>回归分析应用与发展简评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28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1868" y="1337310"/>
            <a:ext cx="7950200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9245" indent="45720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回归分析的应用非常广泛，我们大概很难找到不用它 的领域，尤其在经济学领域，其中计量经济学的一个重要 理论支柱是回归分析理论。另外</a:t>
            </a:r>
            <a:r>
              <a:rPr sz="2400" spc="5" dirty="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矩阵理论和计算机技术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的发展为回归分析模型在经济研究中的应用提供了极大的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方便，因此计量经济学研究中涉及的变量和方程也越来越 多。</a:t>
            </a:r>
            <a:endParaRPr sz="2400">
              <a:latin typeface="宋体"/>
              <a:cs typeface="宋体"/>
            </a:endParaRPr>
          </a:p>
          <a:p>
            <a:pPr marL="12700" marR="5080" indent="457200">
              <a:lnSpc>
                <a:spcPct val="12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200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多年来回归分析的理论和方法研究也得到不断发展。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统计学中的许多重要方法都与回归分析有着密切的联系，  如时间序列分析、判别分析、主成分分析、因子分析、典 型相关分析等。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067" y="424688"/>
            <a:ext cx="6101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dirty="0">
                <a:latin typeface="Times New Roman"/>
                <a:cs typeface="Times New Roman"/>
              </a:rPr>
              <a:t>1.5	</a:t>
            </a:r>
            <a:r>
              <a:rPr spc="-5" dirty="0"/>
              <a:t>回归分析应用与发展简</a:t>
            </a:r>
            <a:r>
              <a:rPr spc="-20" dirty="0"/>
              <a:t>评</a:t>
            </a:r>
            <a:r>
              <a:rPr spc="-15" dirty="0"/>
              <a:t>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29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1397318"/>
            <a:ext cx="7188834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回归分析方法自身的完善和发展至今仍是统计学家 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研究的热点课题，如自变量的选择、稳健回归、回归 诊断、投影寻踪、非参数回归模型等方面的研究依旧 </a:t>
            </a: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很多。</a:t>
            </a:r>
            <a:endParaRPr sz="2400">
              <a:latin typeface="宋体"/>
              <a:cs typeface="宋体"/>
            </a:endParaRPr>
          </a:p>
          <a:p>
            <a:pPr marL="12700" marR="5080" indent="457200">
              <a:lnSpc>
                <a:spcPct val="120000"/>
              </a:lnSpc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近年来新的研究方法不断出现，如非参数统计、自 助法、刀切法、经验贝叶斯估计等方法都对回归分析 的发展起着促进作用。</a:t>
            </a:r>
            <a:endParaRPr sz="2400">
              <a:latin typeface="宋体"/>
              <a:cs typeface="宋体"/>
            </a:endParaRPr>
          </a:p>
          <a:p>
            <a:pPr marL="12700" marR="5080" indent="457200">
              <a:lnSpc>
                <a:spcPct val="12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另外，对于满足基本假设的回归模型，它的理论已 经成熟，但对于违背基本假设的回归模型的参数估计 问题近年仍有较多研究。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4556" y="381000"/>
            <a:ext cx="4572254" cy="574040"/>
          </a:xfrm>
        </p:spPr>
        <p:txBody>
          <a:bodyPr/>
          <a:lstStyle/>
          <a:p>
            <a:r>
              <a:rPr kumimoji="1" lang="en-US" altLang="zh-CN" dirty="0" smtClean="0"/>
              <a:t>1.6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</a:t>
            </a:r>
            <a:r>
              <a:rPr kumimoji="1" lang="zh-CN" altLang="en-US" dirty="0" smtClean="0"/>
              <a:t>语言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2000" y="1447800"/>
            <a:ext cx="7314184" cy="1969770"/>
          </a:xfrm>
        </p:spPr>
        <p:txBody>
          <a:bodyPr/>
          <a:lstStyle/>
          <a:p>
            <a:r>
              <a:rPr lang="en-US" altLang="zh-CN" b="0" dirty="0"/>
              <a:t>R</a:t>
            </a:r>
            <a:r>
              <a:rPr lang="zh-CN" altLang="en-US" b="0" dirty="0"/>
              <a:t>是用于统计分析、绘图的语言和操作环境。</a:t>
            </a:r>
            <a:r>
              <a:rPr lang="en-US" altLang="zh-CN" b="0" dirty="0"/>
              <a:t>R</a:t>
            </a:r>
            <a:r>
              <a:rPr lang="zh-CN" altLang="en-US" b="0" dirty="0"/>
              <a:t>是属于</a:t>
            </a:r>
            <a:r>
              <a:rPr lang="en-US" altLang="zh-CN" b="0" dirty="0"/>
              <a:t>GNU</a:t>
            </a:r>
            <a:r>
              <a:rPr lang="zh-CN" altLang="en-US" b="0" dirty="0"/>
              <a:t>系统的一个自由、免费、源代码开放的软件，它是一个用于统计计算和统计制图的优秀工具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0015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13152"/>
            <a:ext cx="4572254" cy="574040"/>
          </a:xfrm>
        </p:spPr>
        <p:txBody>
          <a:bodyPr/>
          <a:lstStyle/>
          <a:p>
            <a:r>
              <a:rPr kumimoji="1" lang="en-US" altLang="zh-CN" dirty="0" smtClean="0"/>
              <a:t>R</a:t>
            </a:r>
            <a:r>
              <a:rPr kumimoji="1" lang="zh-CN" altLang="en-US" dirty="0" smtClean="0"/>
              <a:t>语言特点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991600" cy="1785104"/>
          </a:xfrm>
        </p:spPr>
        <p:txBody>
          <a:bodyPr/>
          <a:lstStyle/>
          <a:p>
            <a:r>
              <a:rPr kumimoji="1" lang="en-US" altLang="zh-CN" sz="2800" dirty="0"/>
              <a:t>R</a:t>
            </a:r>
            <a:r>
              <a:rPr kumimoji="1" lang="zh-CN" altLang="en-US" sz="2800" dirty="0"/>
              <a:t>作为一种统计分析软件，是集统计分析与图形显示于一体的。它可以运行于</a:t>
            </a:r>
            <a:r>
              <a:rPr kumimoji="1" lang="en-US" altLang="zh-CN" sz="2800" dirty="0" err="1"/>
              <a:t>UNIX,Windows</a:t>
            </a:r>
            <a:r>
              <a:rPr kumimoji="1" lang="zh-CN" altLang="en-US" sz="2800" dirty="0"/>
              <a:t>和</a:t>
            </a:r>
            <a:r>
              <a:rPr kumimoji="1" lang="en-US" altLang="zh-CN" sz="2800" dirty="0"/>
              <a:t>Macintosh</a:t>
            </a:r>
            <a:r>
              <a:rPr kumimoji="1" lang="zh-CN" altLang="en-US" sz="2800" dirty="0"/>
              <a:t>的操作系统上，而且嵌入了一个非常方便实用的帮助系统，相比于其他统计分析软件，</a:t>
            </a:r>
            <a:r>
              <a:rPr kumimoji="1" lang="en-US" altLang="zh-CN" sz="2800" dirty="0"/>
              <a:t>R</a:t>
            </a:r>
            <a:r>
              <a:rPr kumimoji="1" lang="zh-CN" altLang="en-US" sz="2800" dirty="0"/>
              <a:t>还有以下特点</a:t>
            </a:r>
            <a:r>
              <a:rPr kumimoji="1" lang="zh-CN" altLang="en-US" dirty="0"/>
              <a:t>：</a:t>
            </a:r>
          </a:p>
        </p:txBody>
      </p:sp>
      <p:sp>
        <p:nvSpPr>
          <p:cNvPr id="4" name="矩形 3"/>
          <p:cNvSpPr/>
          <p:nvPr/>
        </p:nvSpPr>
        <p:spPr>
          <a:xfrm>
            <a:off x="487680" y="2954784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宋体"/>
                <a:cs typeface="宋体"/>
              </a:rPr>
              <a:t>1.R</a:t>
            </a:r>
            <a:r>
              <a:rPr kumimoji="1" lang="zh-CN" altLang="en-US" sz="2800" b="1" dirty="0">
                <a:solidFill>
                  <a:schemeClr val="bg1"/>
                </a:solidFill>
                <a:latin typeface="宋体"/>
                <a:cs typeface="宋体"/>
              </a:rPr>
              <a:t>是自由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宋体"/>
                <a:cs typeface="宋体"/>
              </a:rPr>
              <a:t>软件</a:t>
            </a:r>
            <a:endParaRPr kumimoji="1" lang="zh-CN" altLang="en-US" sz="2800" b="1" dirty="0">
              <a:solidFill>
                <a:schemeClr val="bg1"/>
              </a:solidFill>
              <a:latin typeface="宋体"/>
              <a:cs typeface="宋体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7680" y="3547462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宋体"/>
                <a:cs typeface="宋体"/>
              </a:rPr>
              <a:t>2.R</a:t>
            </a:r>
            <a:r>
              <a:rPr kumimoji="1" lang="zh-CN" altLang="en-US" sz="2800" b="1" dirty="0">
                <a:solidFill>
                  <a:schemeClr val="bg1"/>
                </a:solidFill>
                <a:latin typeface="宋体"/>
                <a:cs typeface="宋体"/>
              </a:rPr>
              <a:t>是一种可编程的语言</a:t>
            </a:r>
          </a:p>
        </p:txBody>
      </p:sp>
      <p:sp>
        <p:nvSpPr>
          <p:cNvPr id="6" name="矩形 5"/>
          <p:cNvSpPr/>
          <p:nvPr/>
        </p:nvSpPr>
        <p:spPr>
          <a:xfrm>
            <a:off x="487680" y="4175358"/>
            <a:ext cx="83515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宋体"/>
                <a:cs typeface="宋体"/>
              </a:rPr>
              <a:t>3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宋体"/>
                <a:cs typeface="宋体"/>
              </a:rPr>
              <a:t>.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宋体"/>
                <a:cs typeface="宋体"/>
              </a:rPr>
              <a:t>所有</a:t>
            </a:r>
            <a:r>
              <a:rPr kumimoji="1" lang="en-US" altLang="zh-CN" sz="2800" b="1" dirty="0">
                <a:solidFill>
                  <a:schemeClr val="bg1"/>
                </a:solidFill>
                <a:latin typeface="宋体"/>
                <a:cs typeface="宋体"/>
              </a:rPr>
              <a:t>R</a:t>
            </a:r>
            <a:r>
              <a:rPr kumimoji="1" lang="zh-CN" altLang="en-US" sz="2800" b="1" dirty="0">
                <a:solidFill>
                  <a:schemeClr val="bg1"/>
                </a:solidFill>
                <a:latin typeface="宋体"/>
                <a:cs typeface="宋体"/>
              </a:rPr>
              <a:t>的函数和数据集是保存在程序包里面的</a:t>
            </a:r>
          </a:p>
        </p:txBody>
      </p:sp>
      <p:sp>
        <p:nvSpPr>
          <p:cNvPr id="7" name="矩形 6"/>
          <p:cNvSpPr/>
          <p:nvPr/>
        </p:nvSpPr>
        <p:spPr>
          <a:xfrm>
            <a:off x="487944" y="4877906"/>
            <a:ext cx="3595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宋体"/>
                <a:cs typeface="宋体"/>
              </a:rPr>
              <a:t>4.R</a:t>
            </a:r>
            <a:r>
              <a:rPr kumimoji="1" lang="zh-CN" altLang="en-US" sz="2800" b="1" dirty="0">
                <a:solidFill>
                  <a:schemeClr val="bg1"/>
                </a:solidFill>
                <a:latin typeface="宋体"/>
                <a:cs typeface="宋体"/>
              </a:rPr>
              <a:t>具有很强的互动性</a:t>
            </a:r>
          </a:p>
        </p:txBody>
      </p:sp>
      <p:sp>
        <p:nvSpPr>
          <p:cNvPr id="8" name="矩形 7"/>
          <p:cNvSpPr/>
          <p:nvPr/>
        </p:nvSpPr>
        <p:spPr>
          <a:xfrm>
            <a:off x="487680" y="5552226"/>
            <a:ext cx="9074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chemeClr val="bg1"/>
                </a:solidFill>
                <a:latin typeface="宋体"/>
                <a:cs typeface="宋体"/>
              </a:rPr>
              <a:t>5.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宋体"/>
                <a:cs typeface="宋体"/>
              </a:rPr>
              <a:t>包含最多、</a:t>
            </a:r>
            <a:r>
              <a:rPr kumimoji="1" lang="zh-CN" altLang="en-US" sz="2800" b="1" dirty="0">
                <a:solidFill>
                  <a:schemeClr val="bg1"/>
                </a:solidFill>
                <a:latin typeface="宋体"/>
                <a:cs typeface="宋体"/>
              </a:rPr>
              <a:t>最前沿</a:t>
            </a:r>
            <a:r>
              <a:rPr kumimoji="1" lang="zh-CN" altLang="en-US" sz="2800" b="1" dirty="0" smtClean="0">
                <a:solidFill>
                  <a:schemeClr val="bg1"/>
                </a:solidFill>
                <a:latin typeface="宋体"/>
                <a:cs typeface="宋体"/>
              </a:rPr>
              <a:t>的统计算法实现</a:t>
            </a:r>
            <a:endParaRPr kumimoji="1" lang="zh-CN" altLang="en-US" sz="2800" b="1" dirty="0">
              <a:solidFill>
                <a:schemeClr val="bg1"/>
              </a:solidFill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808761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863" y="1698752"/>
            <a:ext cx="3924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C000"/>
                </a:solidFill>
              </a:rPr>
              <a:t>本课程学习目</a:t>
            </a:r>
            <a:r>
              <a:rPr dirty="0">
                <a:solidFill>
                  <a:srgbClr val="FFC000"/>
                </a:solidFill>
              </a:rPr>
              <a:t>标</a:t>
            </a:r>
            <a:r>
              <a:rPr spc="-5" dirty="0">
                <a:solidFill>
                  <a:srgbClr val="FFC000"/>
                </a:solidFill>
              </a:rPr>
              <a:t>：</a:t>
            </a:r>
            <a:r>
              <a:rPr spc="-15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1840" y="6428459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50"/>
              </a:lnSpc>
            </a:pPr>
            <a:fld id="{81D60167-4931-47E6-BA6A-407CBD079E47}" type="slidenum">
              <a:rPr sz="1400" dirty="0">
                <a:solidFill>
                  <a:srgbClr val="FFFFFF"/>
                </a:solidFill>
                <a:latin typeface="Arial"/>
                <a:cs typeface="Arial"/>
              </a:rPr>
              <a:t>32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3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掌</a:t>
            </a:r>
            <a:r>
              <a:rPr dirty="0"/>
              <a:t>握</a:t>
            </a:r>
            <a:r>
              <a:rPr dirty="0">
                <a:latin typeface="Times New Roman"/>
                <a:cs typeface="Times New Roman"/>
              </a:rPr>
              <a:t>RA</a:t>
            </a:r>
            <a:r>
              <a:rPr spc="-5" dirty="0"/>
              <a:t>的基本理论</a:t>
            </a:r>
          </a:p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dirty="0"/>
              <a:t>掌握</a:t>
            </a:r>
            <a:r>
              <a:rPr dirty="0">
                <a:latin typeface="Times New Roman"/>
                <a:cs typeface="Times New Roman"/>
              </a:rPr>
              <a:t>RA</a:t>
            </a:r>
            <a:r>
              <a:rPr dirty="0"/>
              <a:t>主流方法的思想和</a:t>
            </a:r>
            <a:r>
              <a:rPr spc="-15" dirty="0"/>
              <a:t>原</a:t>
            </a:r>
            <a:r>
              <a:rPr spc="-10" dirty="0"/>
              <a:t>理</a:t>
            </a:r>
          </a:p>
          <a:p>
            <a:pPr marL="355600" indent="-342900">
              <a:lnSpc>
                <a:spcPct val="100000"/>
              </a:lnSpc>
              <a:spcBef>
                <a:spcPts val="153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学以致用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888</Words>
  <Application>Microsoft Macintosh PowerPoint</Application>
  <PresentationFormat>全屏显示(4:3)</PresentationFormat>
  <Paragraphs>208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Calibri</vt:lpstr>
      <vt:lpstr>等线</vt:lpstr>
      <vt:lpstr>黑体</vt:lpstr>
      <vt:lpstr>华文新魏</vt:lpstr>
      <vt:lpstr>宋体</vt:lpstr>
      <vt:lpstr>Arial</vt:lpstr>
      <vt:lpstr>Symbol</vt:lpstr>
      <vt:lpstr>Times New Roman</vt:lpstr>
      <vt:lpstr>Wingdings</vt:lpstr>
      <vt:lpstr>Office Theme</vt:lpstr>
      <vt:lpstr>很高兴与各位共同 分享回归分析的乐趣！</vt:lpstr>
      <vt:lpstr>PowerPoint 演示文稿</vt:lpstr>
      <vt:lpstr>PowerPoint 演示文稿</vt:lpstr>
      <vt:lpstr>关于RA的发展情况</vt:lpstr>
      <vt:lpstr>参考文献 References</vt:lpstr>
      <vt:lpstr>PowerPoint 演示文稿</vt:lpstr>
      <vt:lpstr>［4］方开泰, 实 用回归分析, 北京:  科学出版社, 1988.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[11] 何晓群, 实用 回归分析, 北京:  高等教育出版社,  2008.</vt:lpstr>
      <vt:lpstr>PowerPoint 演示文稿</vt:lpstr>
      <vt:lpstr>有关RA应用的情况</vt:lpstr>
      <vt:lpstr>主要内容</vt:lpstr>
      <vt:lpstr>第1章 回归分析概述</vt:lpstr>
      <vt:lpstr>1.1 变量间的相关关系</vt:lpstr>
      <vt:lpstr>1.1 变量间的相关关系</vt:lpstr>
      <vt:lpstr>1.1 变量间的相关关系</vt:lpstr>
      <vt:lpstr>1.1 变量间的相关关系</vt:lpstr>
      <vt:lpstr>1.2 “回归”思想及名称的由来</vt:lpstr>
      <vt:lpstr>1.3 回归分析的主要内容及其一般模型</vt:lpstr>
      <vt:lpstr>, xp )  </vt:lpstr>
      <vt:lpstr>1.4 回归模型的建立过程</vt:lpstr>
      <vt:lpstr>模型参数的估计</vt:lpstr>
      <vt:lpstr>1.5 回归分析应用与发展简评</vt:lpstr>
      <vt:lpstr>1.5 回归分析应用与发展简评 </vt:lpstr>
      <vt:lpstr>1.6 R语言</vt:lpstr>
      <vt:lpstr>R语言特点</vt:lpstr>
      <vt:lpstr>本课程学习目标： </vt:lpstr>
    </vt:vector>
  </TitlesOfParts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Tao</dc:creator>
  <cp:lastModifiedBy>Microsoft Office 用户</cp:lastModifiedBy>
  <cp:revision>6</cp:revision>
  <dcterms:created xsi:type="dcterms:W3CDTF">2019-08-19T00:14:02Z</dcterms:created>
  <dcterms:modified xsi:type="dcterms:W3CDTF">2019-08-27T01:09:44Z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2017-08-06T00:00:00Z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2019-08-19T00:00:00Z</vt:filetime>
  </property>
</Properties>
</file>